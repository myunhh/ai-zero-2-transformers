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2" r:id="rId2"/>
  </p:sldMasterIdLst>
  <p:notesMasterIdLst>
    <p:notesMasterId r:id="rId6"/>
  </p:notesMasterIdLst>
  <p:sldIdLst>
    <p:sldId id="770" r:id="rId3"/>
    <p:sldId id="1002" r:id="rId11"/>
    <p:sldId id="1003" r:id="rId12"/>
    <p:sldId id="1004" r:id="rId13"/>
    <p:sldId id="1005" r:id="rId14"/>
    <p:sldId id="1006" r:id="rId15"/>
    <p:sldId id="1007" r:id="rId16"/>
    <p:sldId id="1008" r:id="rId17"/>
    <p:sldId id="1009" r:id="rId18"/>
    <p:sldId id="1010" r:id="rId19"/>
    <p:sldId id="1011" r:id="rId20"/>
    <p:sldId id="1012" r:id="rId21"/>
    <p:sldId id="1013" r:id="rId22"/>
    <p:sldId id="1014" r:id="rId23"/>
    <p:sldId id="1015" r:id="rId24"/>
    <p:sldId id="1016" r:id="rId25"/>
    <p:sldId id="1017" r:id="rId26"/>
    <p:sldId id="1018" r:id="rId27"/>
    <p:sldId id="1019" r:id="rId28"/>
    <p:sldId id="1020" r:id="rId29"/>
    <p:sldId id="1021" r:id="rId30"/>
    <p:sldId id="1022" r:id="rId31"/>
    <p:sldId id="1023" r:id="rId32"/>
    <p:sldId id="1024" r:id="rId33"/>
    <p:sldId id="1025" r:id="rId34"/>
    <p:sldId id="1026" r:id="rId35"/>
    <p:sldId id="1027" r:id="rId36"/>
    <p:sldId id="1028" r:id="rId37"/>
    <p:sldId id="1029" r:id="rId38"/>
    <p:sldId id="1030" r:id="rId39"/>
    <p:sldId id="1031" r:id="rId40"/>
    <p:sldId id="1032" r:id="rId41"/>
    <p:sldId id="1033" r:id="rId42"/>
    <p:sldId id="1034" r:id="rId43"/>
    <p:sldId id="1035" r:id="rId44"/>
    <p:sldId id="1036" r:id="rId45"/>
    <p:sldId id="1037" r:id="rId46"/>
    <p:sldId id="1038" r:id="rId47"/>
    <p:sldId id="1039" r:id="rId48"/>
    <p:sldId id="1040" r:id="rId49"/>
    <p:sldId id="1041" r:id="rId50"/>
    <p:sldId id="1042" r:id="rId51"/>
    <p:sldId id="1043" r:id="rId52"/>
    <p:sldId id="772" r:id="rId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F1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5" autoAdjust="0"/>
    <p:restoredTop sz="73176" autoAdjust="0"/>
  </p:normalViewPr>
  <p:slideViewPr>
    <p:cSldViewPr snapToGrid="0" showGuides="1">
      <p:cViewPr varScale="1">
        <p:scale>
          <a:sx n="85" d="100"/>
          <a:sy n="85" d="100"/>
        </p:scale>
        <p:origin x="1476" y="90"/>
      </p:cViewPr>
      <p:guideLst>
        <p:guide orient="horz" pos="2160"/>
        <p:guide pos="3840"/>
      </p:guideLst>
    </p:cSldViewPr>
  </p:slideViewPr>
  <p:notesTextViewPr>
    <p:cViewPr>
      <p:scale>
        <a:sx n="125" d="100"/>
        <a:sy n="125" d="100"/>
      </p:scale>
      <p:origin x="0" y="0"/>
    </p:cViewPr>
  </p:notesTextViewPr>
  <p:notesViewPr>
    <p:cSldViewPr snapToGrid="0" showGuides="1">
      <p:cViewPr varScale="1">
        <p:scale>
          <a:sx n="118" d="100"/>
          <a:sy n="118" d="100"/>
        </p:scale>
        <p:origin x="395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C70FBF-EBC7-48BC-9FF4-60E98111FAF8}" type="datetimeFigureOut">
              <a:rPr lang="ko-KR" altLang="en-US" smtClean="0"/>
              <a:t>2026-09-04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5A6E62-6464-48E3-A950-8B46B2C8108B}" type="slidenum">
              <a:rPr lang="ko-KR" altLang="en-US" smtClean="0"/>
              <a:t>‹#›</a:t>
            </a:fld>
            <a:endParaRPr lang="ko-KR" altLang="en-US"/>
          </a:p>
        </p:txBody>
      </p:sp>
    </p:spTree>
    <p:extLst>
      <p:ext uri="{BB962C8B-B14F-4D97-AF65-F5344CB8AC3E}">
        <p14:creationId xmlns:p14="http://schemas.microsoft.com/office/powerpoint/2010/main" val="291313675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txBody>
          <a:bodyPr/>
          <a:lstStyle/>
          <a:p>
            <a:endParaRPr lang="ko-KR" altLang="en-US"/>
          </a:p>
        </p:txBody>
      </p:sp>
      <p:sp>
        <p:nvSpPr>
          <p:cNvPr id="3" name="슬라이드 노트 개체 틀 2"/>
          <p:cNvSpPr>
            <a:spLocks noGrp="1"/>
          </p:cNvSpPr>
          <p:nvPr>
            <p:ph type="body" idx="1"/>
          </p:nvPr>
        </p:nvSpPr>
        <p:spPr/>
        <p:txBody>
          <a:bodyPr/>
          <a:lstStyle/>
          <a:p>
            <a:pPr lvl="0"/>
            <a:r>
              <a:rPr lang="en-US" altLang="ko-KR" dirty="0"/>
              <a:t> </a:t>
            </a:r>
            <a:r>
              <a:rPr lang="ko-KR" altLang="ko-KR" sz="1200" b="0" u="none" strike="noStrike" kern="1200" dirty="0">
                <a:solidFill>
                  <a:schemeClr val="tx1"/>
                </a:solidFill>
                <a:effectLst/>
                <a:latin typeface="+mn-lt"/>
                <a:ea typeface="+mn-ea"/>
                <a:cs typeface="+mn-cs"/>
              </a:rPr>
              <a:t>오른쪽: →</a:t>
            </a:r>
          </a:p>
          <a:p>
            <a:pPr lvl="0"/>
            <a:r>
              <a:rPr lang="ko-KR" altLang="ko-KR" sz="1200" b="0" u="none" strike="noStrike" kern="1200" dirty="0">
                <a:solidFill>
                  <a:schemeClr val="tx1"/>
                </a:solidFill>
                <a:effectLst/>
                <a:latin typeface="+mn-lt"/>
                <a:ea typeface="+mn-ea"/>
                <a:cs typeface="+mn-cs"/>
              </a:rPr>
              <a:t>왼쪽: ←</a:t>
            </a:r>
          </a:p>
          <a:p>
            <a:pPr lvl="0"/>
            <a:r>
              <a:rPr lang="ko-KR" altLang="ko-KR" sz="1200" b="0" u="none" strike="noStrike" kern="1200" dirty="0">
                <a:solidFill>
                  <a:schemeClr val="tx1"/>
                </a:solidFill>
                <a:effectLst/>
                <a:latin typeface="+mn-lt"/>
                <a:ea typeface="+mn-ea"/>
                <a:cs typeface="+mn-cs"/>
              </a:rPr>
              <a:t>위쪽: ↑</a:t>
            </a:r>
          </a:p>
          <a:p>
            <a:pPr lvl="0"/>
            <a:r>
              <a:rPr lang="ko-KR" altLang="ko-KR" sz="1200" b="0" u="none" strike="noStrike" kern="1200" dirty="0">
                <a:solidFill>
                  <a:schemeClr val="tx1"/>
                </a:solidFill>
                <a:effectLst/>
                <a:latin typeface="+mn-lt"/>
                <a:ea typeface="+mn-ea"/>
                <a:cs typeface="+mn-cs"/>
              </a:rPr>
              <a:t>아래쪽: ↓</a:t>
            </a:r>
          </a:p>
          <a:p>
            <a:pPr lvl="0"/>
            <a:r>
              <a:rPr lang="ko-KR" altLang="ko-KR" sz="1200" b="0" u="none" strike="noStrike" kern="1200" dirty="0">
                <a:solidFill>
                  <a:schemeClr val="tx1"/>
                </a:solidFill>
                <a:effectLst/>
                <a:latin typeface="+mn-lt"/>
                <a:ea typeface="+mn-ea"/>
                <a:cs typeface="+mn-cs"/>
              </a:rPr>
              <a:t>좌우 양방향: ↔ ⇔</a:t>
            </a:r>
          </a:p>
          <a:p>
            <a:pPr lvl="0"/>
            <a:r>
              <a:rPr lang="ko-KR" altLang="ko-KR" sz="1200" b="0" u="none" strike="noStrike" kern="1200" dirty="0">
                <a:solidFill>
                  <a:schemeClr val="tx1"/>
                </a:solidFill>
                <a:effectLst/>
                <a:latin typeface="+mn-lt"/>
                <a:ea typeface="+mn-ea"/>
                <a:cs typeface="+mn-cs"/>
              </a:rPr>
              <a:t>상하 양방향: ↕</a:t>
            </a:r>
          </a:p>
          <a:p>
            <a:pPr lvl="0"/>
            <a:r>
              <a:rPr lang="ko-KR" altLang="ko-KR" sz="1200" b="0" u="none" strike="noStrike" kern="1200" dirty="0">
                <a:solidFill>
                  <a:schemeClr val="tx1"/>
                </a:solidFill>
                <a:effectLst/>
                <a:latin typeface="+mn-lt"/>
                <a:ea typeface="+mn-ea"/>
                <a:cs typeface="+mn-cs"/>
              </a:rPr>
              <a:t>대각선: ↗ ↘ ↖ ↙</a:t>
            </a:r>
          </a:p>
          <a:p>
            <a:endParaRPr lang="ko-KR" altLang="en-US"/>
          </a:p>
          <a:p>
            <a:endParaRPr lang="en-US" altLang="ko-KR" dirty="0"/>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1" hangingPunct="1">
              <a:lnSpc>
                <a:spcPct val="100000"/>
              </a:lnSpc>
              <a:spcBef>
                <a:spcPts val="0"/>
              </a:spcBef>
              <a:spcAft>
                <a:spcPts val="0"/>
              </a:spcAft>
              <a:buClrTx/>
              <a:buSzTx/>
              <a:buFontTx/>
              <a:buNone/>
              <a:tabLst/>
              <a:defRPr/>
            </a:pPr>
            <a:fld id="{59F891E5-1CD2-4B05-8178-8C49B58924F9}"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914400" rtl="0" eaLnBrk="1" fontAlgn="auto" latinLnBrk="1"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357702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 </a:t>
            </a:r>
            <a:endParaRPr lang="ko-KR" altLang="en-US" dirty="0"/>
          </a:p>
        </p:txBody>
      </p:sp>
      <p:sp>
        <p:nvSpPr>
          <p:cNvPr id="4" name="슬라이드 번호 개체 틀 3"/>
          <p:cNvSpPr>
            <a:spLocks noGrp="1"/>
          </p:cNvSpPr>
          <p:nvPr>
            <p:ph type="sldNum" sz="quarter" idx="5"/>
          </p:nvPr>
        </p:nvSpPr>
        <p:spPr/>
        <p:txBody>
          <a:bodyPr/>
          <a:lstStyle/>
          <a:p>
            <a:fld id="{EE5A6E62-6464-48E3-A950-8B46B2C8108B}" type="slidenum">
              <a:rPr lang="ko-KR" altLang="en-US" smtClean="0"/>
              <a:t>3</a:t>
            </a:fld>
            <a:endParaRPr lang="ko-KR" altLang="en-US"/>
          </a:p>
        </p:txBody>
      </p:sp>
    </p:spTree>
    <p:extLst>
      <p:ext uri="{BB962C8B-B14F-4D97-AF65-F5344CB8AC3E}">
        <p14:creationId xmlns:p14="http://schemas.microsoft.com/office/powerpoint/2010/main" val="1613747473"/>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주에는 Seq2Seq의 고정 문맥 벡터 병목에서 출발해 Attention을 가중합으로 이해했고, Q/K/V 투영과 Multi-head의 shape를 d=8, H=2, N=5 예시로 추적했습니다. 오늘은 그 Attention 블록이 실제 Transformer가 되기 위해 필요한 나머지 부품(FFN, Residual, LayerNorm, Mask)과 학습·추론 절차를 완성합니다. 시작 전에 학생에게 QKᵀ의 shape와 Softmax 축을 한 번 더 말하게 하면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5주차까지는 2014년 Attention에서 2017년 Transformer의 핵심 연산까지 왔습니다. 오늘은 2017년 원형의 블록을 끝까지 조립하고 학습·추론을 다룬 뒤, 2018년 BERT·GPT, 2020년 ViT와 Pre-LN 분석(Xiong 등), 2022년 FlashAttention과 DiT(arXiv 2022, ICCV 2023)로 이어지는 길을 봅니다. 이후 연구는 최신 순위표가 아니라 원형과 무엇이 달라졌는지 비교하는 틀로만 다룬다는 점을 먼저 밝힙니다.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목표는 여섯 가지입니다. 앞의 다섯은 2017년 원형 Transformer를 입력부터 다음 토큰까지 완전히 설명하는 것이고, 마지막은 그 지식을 실험과 후속 모델 읽기로 옮기는 것입니다. 수업 끝에 빈 종이에 전체 구조를 그리는 과제로 목표 달성 여부를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파트에서는 Attention 주변의 부품을 채웁니다. FFN, Residual, LayerNorm으로 한 블록을 완성하고, Decoder 학습에 꼭 필요한 target shift와 mask를 다룹니다. 원자료 14–15장에 해당합니다.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FFN은 각 위치에 똑같이 적용되는 2층 MLP입니다. d=512를 d_ff=2048로 넓혔다가 다시 512로 줄이는데, 마지막이 d로 돌아와야 residual 합이 가능합니다. FFN 자체는 위치 간 결합을 하지 않지만, 입력 x가 이미 Attention을 거쳐 다른 토큰 정보를 담고 있을 수 있습니다. '토큰 믹싱 vs 특징 변환'은 첫 설명으로 좋지만 Q/K/V 투영도 특징을 바꾼다는 점을 함께 말해 줍니다.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LayerNorm(d)는 (B,N,d) 입력에서 각 토큰의 마지막 d축으로 평균과 분산을 구합니다. BatchNorm처럼 배치 전체의 같은 특징을 묶지 않습니다. x=(1,2,3,4)로 손계산하면 평균 2.5, 분산 1.25이고 정규화 결과는 약 ±1.34, ±0.45입니다. γ=2, β=1을 적용하면 평균 1, 분산 4가 되므로 최종 출력이 항상 평균 0·분산 1일 필요는 없습니다. γ, β는 토큰마다 따로 있는 것이 아니라 특징 축에 공유됩니다. [20][30]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Residual은 기존 표현을 보존하는 통로입니다. 더하려면 shape가 같아야 하므로 원형의 모든 sublayer는 d차원으로 돌아옵니다. Post-LN은 합한 뒤 정규화하고(y=LN(x+F(x))), Pre-LN은 sublayer 입력을 정규화한 뒤 더합니다(y=x+F(LN(x))). Pre-LN에서는 잔차 경로에 정규화가 끼지 않아 초기 gradient가 안정적이라는 분석이 있지만, 한 설정의 결과로 보편적 우열을 결론 내리지 않도록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설명용 문장 I am a student로 Decoder 입력은 BOS부터, 정답은 EOS까지 한 칸 어긋나게 둡니다. 학습 때 이전 정답을 입력으로 쓰는 것을 teacher forcing이라 합니다. 정답 prefix가 모두 있으므로 위치별 예측을 병렬로 계산하고, causal mask로 미래 접근만 막습니다. 생성 때는 다음 입력이 아직 없으므로 순차성이 남고, 층 사이의 의존성도 있으므로 '모든 계산을 한 번에 병렬화한다'고 말하지 않습니다. [26]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누출 탐지기 그림에서 행은 Query 위치, 열은 참조할 Decoder 입력 위치입니다. 예측할 위치 2(입력 I, 정답 am)는 BOS와 I만 볼 수 있습니다. 차단은 Softmax 전에 점수에 −∞를 더하는 방식이어야 exp(−∞)=0으로 가중치가 사라집니다. 점수를 0으로 바꾸면 exp(0)=1이라 미래 가중치가 남습니다. FP16에서 큰 음수를 직접 쓸 때는 dtype 범위와 수치 안정성을 확인합니다. 실습으로 causal mask만 제거해 보면 훈련 손실은 낮아지지만 실제 생성은 망가지는 누출 효과를 볼 수 있습니다(결과 정도는 데이터에 따라 다름). [27]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mask는 막는 대상과 적용 위치가 다릅니다. Key padding mask는 PAD 위치를 Key로 참조하지 못하게 할 뿐, PAD 위치 Query의 출력을 자동으로 0으로 만들지 않으므로 loss·pooling·평가에서 별도로 빼야 합니다. API마다 boolean 의미가 반대라는 점도 중요합니다. PyTorch scaled_dot_product_attention은 True가 허용, nn.MultiheadAttention의 attn_mask/key_padding_mask는 True가 차단입니다. 이 강의 실습 코드는 allow=True(허용)로 통일합니다. [27][28][29]</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파트는 원자료 16–17장입니다. 한 층의 수식, 출력 head, 한 샘플의 shape 추적, 파라미터 수를 유도한 뒤 학습 손실과 한 학습 step, 원논문의 학습 조건과 지표를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Encoder 층은 self-attention과 FFN 두 sublayer, Decoder 층은 masked self-attention, cross-attention, FFN 세 sublayer입니다. 여기서 MHA(Q원본,K원본,V원본)는 내부 투영을 포함한 모듈 표기입니다. Cross-attention의 K, V는 Encoder stack의 최종 출력 E에서 오며, 각 Decoder 층은 자신만의 cross-attention 투영 가중치를 가집니다. 마지막 선형층 W_vocab이 d를 |V|개 점수로 바꾸고 softmax가 다음 토큰 확률을 줍니다. 모든 Transformer가 weight tying을 쓰는 것은 아닙니다. [22 §3.1, §3.4]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5주차의 d=8, H=2 설정으로 한 배치를 끝까지 따라갑니다. Cross-attention 표 (2,2,3,5)는 T=3개 Query가 S=5개 source Key를 보는 표이고, 출력은 Query 길이 3을 유지합니다. 보드 활동: 빈 Encoder/Decoder 박스를 보여 주고 Attention의 출처, mask, residual, FFN, output head를 채우게 한 뒤 '어느 단계에서 길이가 바뀌나?'를 묻습니다.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Self-attention의 네 투영 행렬이 4d², FFN이 2d·d_ff이므로 d_ff=4d이면 Encoder 층 약 12d², cross-attention이 더해진 Decoder 층 약 16d²입니다. Base에 대입하면 층당 3.15M, 4.19M이고 12개 층 합이 약 44M입니다. 약 37,000개 공유 BPE 어휘 embedding(약 18.9M)을 더하면 63M 정도로, 논문의 65M과 가깝습니다(bias·Norm 포함 여부에 따라 차이). Python으로 재계산해 확인한 수치입니다. [22 §3, Table 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각 위치에서 정답 다음 토큰의 로그 확률을 높이는 것, 즉 음의 로그 가능도(NLL)를 줄이는 것입니다. PAD가 아닌 토큰 수로 정규화하며, 긴 시퀀스와 짧은 시퀀스를 어떤 단위로 평균하는지에 따라 가중이 달라지므로 집계 규칙을 명시합니다. PyTorch CrossEntropyLoss는 softmax 전 logits를 받습니다. 예시에서 네 토큰의 평균 NLL 0.69는 perplexity 약 2, 즉 '평균적으로 두 후보 중 고르는 정도의 불확실성'으로 읽을 수 있습니다. [29]</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step은 train 모드 → gradient 초기화 → forward → masked cross-entropy → backward → (clipping) → optimizer step 순서입니다. logits (B,T,|V|)를 (B·T,|V|)로, 정답을 (B·T)로 펼쳐 class 축을 맞춥니다. 평가 때 model.eval()과 torch.no_grad()는 서로 다른 일을 하므로 둘 다 필요할 수 있습니다. [27][29]</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원논문은 Adam(β₁=0.9, β₂=0.98, ε=10⁻⁹)과 warm-up 후 감소하는 학습률을 씁니다. d=512, w=4000이면 최고 학습률은 약 7.0×10⁻⁴입니다(재계산). Label smoothing은 정답을 확률 1로 몰지 않게 하며, 논문은 perplexity는 나빠지지만 정확도와 BLEU는 좋아진다고 보고합니다. 학습 loss 하나가 평가 목표 전체를 대변하지 않는다는 사례입니다. 이 조건들은 모델 구조와 별개인 실험 조건입니다. [22 §5–6][24]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Perplexity는 raw NLL로 계산해야 해석이 됩니다. Token accuracy는 teacher forcing 조건의 값이라 실제 생성 성능과 다릅니다. 학습 loss가 떨어지지 않으면 층 수나 GPU를 늘리기 전에 작은 샘플 과적합부터 확인하고, 그마저 안 되면 데이터 정렬, target shift, mask 방향, logits shape, ignore_index, optimizer에 파라미터가 들어갔는지를 점검합니다.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파트는 원자료 18–19장입니다. 자기회귀 생성과 토큰 선택 정책, KV Cache의 정확한 역할, 그리고 O(N²)만으로는 부족한 비용 분석을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추론에서는 source를 Encoder로 한 번 처리하고 BOS로 Decoder를 시작합니다. 마지막 위치 logits에서 다음 토큰을 골라 prefix에 붙이고, EOS나 최대 길이에서 멈춥니다. 토큰을 고르는 정책은 모델과 별개입니다. 원논문 번역 실험은 beam size 4, length penalty α=0.6을 썼습니다. 정답 prefix를 주었을 때의 token accuracy와 처음부터 생성했을 때의 exact match를 같이 보여 주면 teacher forcing과 생성의 차이를 체감할 수 있습니다. [22 §6.1][26]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 Cache는 과거 토큰의 K, V가 미래 토큰 추가로 바뀌지 않는다는 성질을 이용합니다. Cache를 쓰든 안 쓰든 올바른 구현은 같은 결과를 목표로 하며, 수치 오차·커널 차이 정도만 생길 수 있습니다. Prefill은 주어진 prefix를 한꺼번에 처리하는 단계, Decode는 토큰을 하나씩 늘리는 단계로 병목이 다르므로 TTFT와 token당 지연을 나눠 기록합니다. 이 강의의 Python 실습은 흐름을 보이려고 KV Cache 없이 prefix를 재계산하며, Cache 적용은 확장 과제입니다. [26][37]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길이 N, 폭 d의 dense self-attention 블록에서 주요 행렬 곱을 직접 세면 4Nd² + 2N²d + 2Nd·d_ff MAC입니다. d=512, d_ff=2048에서 N=512이면 투영·FFN 항이 대부분이고, N=4096이 되어야 Attention 항이 가장 커집니다(Python 재계산). 그래서 'O(N²)'만 말하면 짧은 입력에서의 실제 비용 구조를 놓칩니다. 계산기 활동: d를 고정하고 N을 두 배로, 다음엔 N을 고정하고 d를 두 배로 바꿔 각 항이 몇 배가 되는지 먼저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K와 V를 각각 저장하므로 2가 붙고, 층 수 L, 배치 B, 길이 N, KV head 수 H_kv, head 차원 dₕ, 원소당 bytes를 곱합니다. MHA에서는 H_kv·dₕ = d이므로 2·L·B·N·d·bytes입니다. 원형 Base 디코더(6층, d=512)는 N=1024, FP16에서 12 MiB에 불과하지만, L=32·d=4096 가정의 큰 모델은 N=4096에서 2 GiB, 배치 8이면 16 GiB입니다. GQA로 KV head를 8개로 줄이면 1/4이 됩니다. 순수 K/V 데이터만의 크기이며 allocator·padding·metadata는 제외입니다. [37]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연산량 계산기 값은 이론 추정이지 실제 지연·GPU peak memory 예측기가 아닙니다. FlashAttention은 정확한 attention을 IO 효율적으로 계산할 뿐, dense 상호작용의 산술량을 줄이지는 않습니다. 경로 길이가 짧다는 것과 원하는 의미 관계를 잘 학습한다는 것은 다릅니다. 실험에서는 조건을 기록하고, 식으로 비율을 예측한 뒤 실행 시간은 따로 잽니다.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파트는 원자료 20–21장입니다. 교육용 transformer_lab.py를 실행하고 검사하며 결과를 해석한 뒤, ablation 실험과 최종 프로젝트를 설계합니다.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파일은 명시적 Q/K/V, causal·padding mask, Post-LN, sinusoidal position, cross-attention, loss, greedy generation을 모두 포함하는 작은 Encoder–Decoder입니다(d=64, H=4, 각 2층, 출력 head는 embedding과 묶지 않음). 먼저 --mode check로 아홉 검사를 통과시키고 학습합니다. 검사에서는 dropout을 끄고 허용 오차를 명시합니다. 자료 제작 시 PyTorch 2.10.0/CPU에서 아홉 검사를 통과했지만, 이것이 다른 장치의 성능이나 400 step 수렴을 보장하지는 않습니다. 코드 리뷰는 mask·shape·loss/metric·generation을 한 명씩 맡겨 설명하게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제작 시 실제 실행 사례입니다. 각 길이 구간 평가 예시는 72개이며, 9–12 구간의 token accuracy는 33.82%였습니다. 400 step은 실행 예시일 뿐 충분한 학습의 보장이 아니고, 이 결과만으로 Transformer의 구조적 한계를 결론 내리지 않습니다. 교육용 코드는 mask 검증을 위해 GPU 동기화가 있으므로 그대로 성능 벤치마크로 쓰지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'Transformer가 더 좋다'가 아니라 통제된 비교 질문으로 바꿉니다. RNN Seq2Seq, Attention Seq2Seq, 작은 Transformer를 비교할 수 있고, 구현이 부담스러우면 기준 모델을 제공하고 한 모델만 작성하게 합니다. Pre-LN/Post-LN 비교도 한 설정으로 보편적 우열을 결론 내리지 않습니다. [25]</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작은 task부터 시작합니다. 복사는 output=input, 반전은 순서 뒤집기, 기호 치환은 정해진 매핑으로 토큰을 바꾸는 과제로 필요한 순서 정보가 다릅니다. seed 개수만 늘린다고 편향된 실험이 해결되지는 않습니다. 그래프의 범위를 바꿔 효과를 과장하지 않도록 하고, 각 그림은 한 가지 질문만 답하게 분리합니다.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배점은 멘토링 운영을 위한 제안입니다. 예상과 다른 결과를 얻어도 실험 조건과 가능한 설명을 정확히 정리했다면 좋은 연구 연습이며, 정해 둔 결론에 맞춰 데이터나 조건을 숨기지 않습니다. 구술 평가에서는 처음 보는 d, H, S, T 설정으로 입력부터 logits까지 추적하게 하고, 위치 정보 제거·잘못된 mask·KV Cache 추가 중 하나의 효과를 설명하게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파트는 원자료 23–27장입니다. 후속 구조를 원형과 비교하는 틀을 세우고, 오개념·개념 확인·마지막 설명 과제로 과정 전체를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BERT, GPT, T5는 같은 부품을 쓰지만 mask와 학습 목표, output head, 데이터가 함께 다릅니다. BERT의 masked language modeling은 입력에서 가린 위치를 복원하는 목표라서, '미래 정답을 보고 다음 토큰을 예측하는' 누출과 다릅니다. 각 설명은 대표 원형 연구 기준이며 모든 후속 변형의 정의는 아닙니다. [31][32][33]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이미지를 16×16 patch로 나누면 224×224 이미지는 14×14=196개 patch가 되고, 각 patch(16·16·3=768개 값)를 선형 투영해 token으로 씁니다. CLS 사용, 위치 임베딩, pooling은 모델별로 확인해야 하며 모든 Vision Transformer가 CLS를 갖는 것은 아닙니다. ViT는 arXiv 2020, ICLR 2021입니다. DiT는 diffusion의 denoising 예측에 Transformer block을 쓰며, timestep과 class 조건을 넣는 방식을 비교합니다. [34 §3][41 §3]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후속 변형이 존재한다고 특정 조합이 모든 모델의 표준이라는 뜻은 아닙니다. 각 변형을 원형 표의 한 칸에 꽂아 넣고 무엇이 바뀌는지 설명할 수 있을 정도로만 다룹니다. SwiGLU 등 GLU 변형(Shazeer 2020), RoPE(Su 등 2021), GQA(Ainslie 등 2023), FlashAttention(Dao 등 2022)이 대표 예입니다. GQA는 Grouped-query Attention이며 시각 질의응답 데이터셋 GQA와 다릅니다. 강의 목표를 달성하기 전에는 세부 구현까지 확장하지 않습니다. [35][36][37][38]</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오개념 20가지 중 6주차 내용과 직결되는 것들입니다. 실무에서 추가로 틀리기 쉬운 것: softmax(dim=-1)의 마지막 축이 정말 Key 축인지, reshape가 token과 head를 의도대로 합치는지, model.eval()과 gradient 비활성화의 구분, padding mask와 loss의 PAD 제외 둘 다 적용했는지, teacher forcing 평가를 생성 성능으로 보고하지 않았는지. 경고 신호: 너무 빨리 낮아지는 loss, PAD를 맞히는 높은 accuracy, EOS 없이 계속되는 생성, 모든 위치가 비슷한 출력.</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강의와 보고서에서 쓰는 문장의 형식을 바꾸는 연습입니다. '이해한다', '항상'처럼 검증 범위를 넘는 표현 대신, 어떤 입력·장치·조건에서 무엇을 관찰·측정했는지를 씁니다. Attention 가중치에는 V의 크기와 방향, output projection, residual과 후속 층도 관여하므로 큰 가중치 하나로 인과를 결론 내리지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개념 확인 11–14번입니다. 정답보다 틀린 보기가 왜 틀렸는지 계산 언어로 설명하게 합니다.</a:t>
            </a:r>
          </a:p>
          <a:p/>
          <a:p>
            <a:r>
              <a:t>[정답]</a:t>
            </a:r>
          </a:p>
          <a:p>
            <a:r>
              <a:t>Q1. FFN은 어떤 계산인가? (A) 위치 간 Value 가중합 (B) 시간 step 순환 갱신 (C) 각 위치 특징의 비선형 변환</a:t>
            </a:r>
          </a:p>
          <a:p>
            <a:r>
              <a:t>  → C. 동일 FFN을 각 위치에 적용 — 입력에 문맥이 있을 수 있지만 FFN 자체는 새 위치 결합을 하지 않는다.</a:t>
            </a:r>
          </a:p>
          <a:p>
            <a:r>
              <a:t>Q2. LayerNorm(d)의 전형적인 정규화 범위는? (A) 각 token의 d개 특징 (B) Batch 전체의 같은 특징 (C) token ID 번호</a:t>
            </a:r>
          </a:p>
          <a:p>
            <a:r>
              <a:t>  → A. (B,N,d) 입력이면 마지막 d축의 평균·분산.</a:t>
            </a:r>
          </a:p>
          <a:p>
            <a:r>
              <a:t>Q3. 위치·mask가 없는 self-attention에서 입력 순서를 섞으면? (A) 출력이 완전히 같다 (B) 출력도 같은 순열로 섞인다 (C) 0이 된다</a:t>
            </a:r>
          </a:p>
          <a:p>
            <a:r>
              <a:t>  → B. SA(PX) = P·SA(X), 순열 등변성 — 불변성과 구분.</a:t>
            </a:r>
          </a:p>
          <a:p>
            <a:r>
              <a:t>Q4. CrossEntropyLoss에 일반적으로 전달하는 값은? (A) softmax를 두 번 한 확률 (B) argmax token ID (C) 정규화 전 logits</a:t>
            </a:r>
          </a:p>
          <a:p>
            <a:r>
              <a:t>  → C. logits를 전달하고 PAD 제외(ignore_index)와 class 축을 확인.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개념 확인 15–18번입니다. 16번은 4Nd² + 2N²d + 2Nd·d_ff 식에 N 대신 2N을 넣어 직접 확인하게 합니다.</a:t>
            </a:r>
          </a:p>
          <a:p/>
          <a:p>
            <a:r>
              <a:t>[정답]</a:t>
            </a:r>
          </a:p>
          <a:p>
            <a:r>
              <a:t>Q1. 병렬 학습과 자기회귀 생성은? (A) 동시에 성립할 수 있다 (B) 서로 모순이다 (C) 둘 다 미래 정답이 필요하다</a:t>
            </a:r>
          </a:p>
          <a:p>
            <a:r>
              <a:t>  → A. 학습은 정답 prefix가 주어져 위치별 병렬, 생성은 다음 입력이 아직 없어 순차.</a:t>
            </a:r>
          </a:p>
          <a:p>
            <a:r>
              <a:t>Q2. d를 고정하고 N을 2배로 하면 주요 항은? (A) 모두 4배 (B) Attention 곱셈 항 4배, 투영·FFN 항 2배 (C) 모두 2배</a:t>
            </a:r>
          </a:p>
          <a:p>
            <a:r>
              <a:t>  → B. N²d와 Nd² 항이 함께 있다. 실제 시간에는 overhead·kernel 특성도 작용.</a:t>
            </a:r>
          </a:p>
          <a:p>
            <a:r>
              <a:t>Q3. KV Cache가 하는 일은? (A) 미래 정답을 미리 저장 (B) Attention을 제거 (C) 과거 위치의 K/V 재계산을 줄임</a:t>
            </a:r>
          </a:p>
          <a:p>
            <a:r>
              <a:t>  → C. 새 Query의 문맥 참조와 자기회귀 루프는 남는다.</a:t>
            </a:r>
          </a:p>
          <a:p>
            <a:r>
              <a:t>Q4. 큰 Attention 가중치를 관찰했다면? (A) 큰 참조 비중이 '관찰'되었다고 말하고 인과는 추가 검증 (B) 유일한 원인 (C) 사람처럼 이해</a:t>
            </a:r>
          </a:p>
          <a:p>
            <a:r>
              <a:t>  → A. V·output projection·residual·후속 층도 관여 — 관찰과 인과 검증을 구분.</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주 과제이자 과정의 마지막 과제입니다. 빈 종이에 입력 ID부터 다음 토큰까지 그리고 각 구간의 shape, 학습 파라미터, mask를 적은 뒤 학습과 생성의 차이를 다른 사람에게 설명합니다. 설명 중 막힌 위치가 복습할 장입니다. 그림에는 입력·출력 shape, 학습되는 파라미터, 정보가 이동하는 방향, mask가 막는 연결 네 가지를 반드시 적습니다. 오른쪽 기호 사전으로 표기를 통일합니다. 'Layer'가 block 전체인지 sublayer인지, 0-based인지 1-based인지도 명시하게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전체를 한 장으로 되돌아봅니다. 규칙을 다 쓰지 않고 배울 수 있을까(1주, 학습·Tensor) → 직선으로 안 되는 문제는(2주, Perceptron과 MLP·역전파) → 공간 구조는(3주, CNN·ResNet·정규화) → 순서와 먼 기억은(4주, RNN·LSTM·Seq2Seq) → 필요할 때 원문을 찾아보면(5주, Attention) → 참조만으로 시퀀스 표현을 만들면(6주, Transformer)의 순서였습니다. 연도는 대표 논문 기준이며 역전파가 1986년에 처음 발명된 것은 아니고, Word2Vec이 embedding을 처음 만든 것도 아닙니다. 2017년 이후 칸은 확장 학습으로 구분합니다.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관심사에 따라 다음 방향을 고릅니다. 언어 생성이면 Decoder-only와 KV Cache, 시각이면 patch·공간 위치·CLS와 pooling, 최적화면 실제 병목·kernel·메모리 이동, 생성 모델이면 diffusion 목표와 timestep conditioning입니다. 처음부터 모든 논문의 모든 실험을 읽기보다 질문에 맞는 그림·식·절을 지정해 읽습니다. 공식 구현 참고: TensorFlow Transformer 튜토리얼 [26], PyTorch SDPA·MultiheadAttention·CrossEntropyLoss·LayerNorm 문서 [27–30]. API 문서는 버전마다 바뀔 수 있으므로 설치한 버전에서 mask와 shape 규약을 다시 확인합니다. 원자료의 식·손계산·toy model 결과는 교육용 재구성이며 원논문의 실험 결과가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오늘은 2017년 원형을 입력 ID부터 다음 토큰까지 완성했고, 학습과 추론의 차이, 비용 분석, 후속 구조 읽는 법까지 다뤘습니다. 6주 과정 전체로 보면 '왜 이 계산이 필요한가?'라는 질문에 답하며 Tensor에서 Transformer까지 왔습니다. 다음 주는 없으며, 최종 프로젝트 발표와 구술 평가로 과정을 마무리합니다.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microsoft.com/office/2007/relationships/hdphoto" Target="../media/hdphoto1.wdp"/></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3252A1B-C763-C9A6-AADD-43FBC3B7C80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F423261-3F68-B8A6-DA8C-C1B31F16FB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2A705C5-459B-96C8-2CA2-5E12914FA3C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86D39F56-7BCA-57D8-9039-ED968753E2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646A04-24C2-3C45-EE21-FB23BA2FAB74}"/>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670187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DC6883-1C8A-9E20-19B7-877053834C3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7B08F0A-0E00-18F3-9E65-0314486465CB}"/>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0560133-C35C-8C4F-328E-8E9B79F4019C}"/>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E29A8A1F-82FA-EC9E-A4C5-677BD6CE24C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E6DF691-3C61-A125-27FF-5EF0B518102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9697548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95DA7-E147-5F92-926F-DEBDF033276E}"/>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E113DEB-D6E9-DC7D-3B33-DF60095FA2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477413F7-6293-669A-C49C-CBD4B87F49B7}"/>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659463A-8506-F832-BF63-0AB5383242C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2153CB-E77A-DDE1-B666-3A7483A0575B}"/>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232836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CAB2C3-915D-1F0F-FD8B-8851B2DCE0C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543B65-182A-1AF8-1ADF-73493AE2568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01FC3C4-0188-7117-4A57-48CDCD1BFD7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75573293-D299-1ACC-B5F6-5249201C598A}"/>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92E0B931-ECD0-9014-3A6C-96A43323538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05D45AC-93A5-F441-B0D9-C72C7D96150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0617928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8F5203-0A0C-E761-43DC-1E4FCF63286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4B12E34-F53B-1A87-9EF2-C6C9AD4AF59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4B2005B8-C78F-3258-A421-5AEC2A338E4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36FCEAEE-2647-1263-6BFA-6783FEEA7D2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A19C9D7-D5A0-149F-D2A7-61824E4EF9E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FEE39A88-1C17-B89B-34ED-6E5C1BFC2E6C}"/>
              </a:ext>
            </a:extLst>
          </p:cNvPr>
          <p:cNvSpPr>
            <a:spLocks noGrp="1"/>
          </p:cNvSpPr>
          <p:nvPr>
            <p:ph type="dt" sz="half" idx="10"/>
          </p:nvPr>
        </p:nvSpPr>
        <p:spPr/>
        <p:txBody>
          <a:bodyPr/>
          <a:lstStyle/>
          <a:p>
            <a:r>
              <a:rPr lang="en-US" altLang="ko-KR"/>
              <a:t>2026-07-31</a:t>
            </a:r>
            <a:endParaRPr lang="ko-KR" altLang="en-US"/>
          </a:p>
        </p:txBody>
      </p:sp>
      <p:sp>
        <p:nvSpPr>
          <p:cNvPr id="8" name="바닥글 개체 틀 7">
            <a:extLst>
              <a:ext uri="{FF2B5EF4-FFF2-40B4-BE49-F238E27FC236}">
                <a16:creationId xmlns:a16="http://schemas.microsoft.com/office/drawing/2014/main" id="{939754EA-D4D9-36B7-2239-6BD62CA32B0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ADA14D8B-D0E2-0987-5C43-F597C8B9EA1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9709874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1830CA-B77F-223E-2F40-8194C04C978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7D32D80-AD85-E48F-7B4C-3514085491DC}"/>
              </a:ext>
            </a:extLst>
          </p:cNvPr>
          <p:cNvSpPr>
            <a:spLocks noGrp="1"/>
          </p:cNvSpPr>
          <p:nvPr>
            <p:ph type="dt" sz="half" idx="10"/>
          </p:nvPr>
        </p:nvSpPr>
        <p:spPr/>
        <p:txBody>
          <a:bodyPr/>
          <a:lstStyle/>
          <a:p>
            <a:r>
              <a:rPr lang="en-US" altLang="ko-KR"/>
              <a:t>2026-07-31</a:t>
            </a:r>
            <a:endParaRPr lang="ko-KR" altLang="en-US"/>
          </a:p>
        </p:txBody>
      </p:sp>
      <p:sp>
        <p:nvSpPr>
          <p:cNvPr id="4" name="바닥글 개체 틀 3">
            <a:extLst>
              <a:ext uri="{FF2B5EF4-FFF2-40B4-BE49-F238E27FC236}">
                <a16:creationId xmlns:a16="http://schemas.microsoft.com/office/drawing/2014/main" id="{09BC26F6-F455-63DE-95C5-F4225A6E755A}"/>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011D057-29DE-8E21-B820-9373E1D5021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1465805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EE82FB6-0C07-5848-5C12-3916F5909A16}"/>
              </a:ext>
            </a:extLst>
          </p:cNvPr>
          <p:cNvSpPr>
            <a:spLocks noGrp="1"/>
          </p:cNvSpPr>
          <p:nvPr>
            <p:ph type="dt" sz="half" idx="10"/>
          </p:nvPr>
        </p:nvSpPr>
        <p:spPr/>
        <p:txBody>
          <a:bodyPr/>
          <a:lstStyle/>
          <a:p>
            <a:r>
              <a:rPr lang="en-US" altLang="ko-KR"/>
              <a:t>2026-07-31</a:t>
            </a:r>
            <a:endParaRPr lang="ko-KR" altLang="en-US"/>
          </a:p>
        </p:txBody>
      </p:sp>
      <p:sp>
        <p:nvSpPr>
          <p:cNvPr id="3" name="바닥글 개체 틀 2">
            <a:extLst>
              <a:ext uri="{FF2B5EF4-FFF2-40B4-BE49-F238E27FC236}">
                <a16:creationId xmlns:a16="http://schemas.microsoft.com/office/drawing/2014/main" id="{8479ED77-F80B-BC2E-F13C-AB7A6DF0B6DA}"/>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264ADE3-6C32-5057-058C-6C8D737E194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60625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103ECFF-667E-1220-0A59-5BE19AED98A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194255F-D651-1764-0366-FBA95DFD92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A834124B-2B82-BDE2-890E-BFD9AA2DEA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2860289-4016-BA2D-B545-D07153FC5F29}"/>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4CF585F0-BA8F-2A7C-DBB7-F2289CD192C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4C75D0-17A4-045E-30A7-0DCE3A8774C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529143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4F30D40-10EB-DE9D-C961-CAA1D931B49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D68E722-038F-3A9D-65EF-E5304FA2E3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9E95962-4F65-7241-5E2C-05F96638FD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22B0918-E7F3-D78C-44EF-462950321D01}"/>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2D36987F-BD53-DD08-6650-29BA313C1CD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921EE29-1D4F-8E30-549E-5034953BA9A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78817587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D828FF4-3094-9A4A-896C-406EBC406D66}"/>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2622EFE7-558D-D0D6-ABB0-E152FCD2D929}"/>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0959EF9-421B-0B42-076F-3EAADFF2E3A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5A93E55E-A7CF-31DF-B702-56441B2DDE61}"/>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63FED1B-F32D-7F6B-C465-88AC6049622F}"/>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12504597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3380E2CC-C4B8-964B-F70D-8574A5993A8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F1FADE95-344E-A9E2-C2C0-7DA9EBB50DB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5B0CF5E-5337-96DA-CF9F-4B18025AFB39}"/>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FC46605-06E8-BD79-FC4E-DE74549757F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CE113-CD48-4415-1206-5002C02997CE}"/>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7059601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31259890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254662564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2A8795-CAE2-41A2-9830-252F1DB8D40B}"/>
              </a:ext>
            </a:extLst>
          </p:cNvPr>
          <p:cNvSpPr>
            <a:spLocks noGrp="1"/>
          </p:cNvSpPr>
          <p:nvPr>
            <p:ph type="ctrTitle"/>
          </p:nvPr>
        </p:nvSpPr>
        <p:spPr>
          <a:xfrm>
            <a:off x="1524001"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95D3D744-13EB-4EFF-AE30-0C7AE227FE8A}"/>
              </a:ext>
            </a:extLst>
          </p:cNvPr>
          <p:cNvSpPr>
            <a:spLocks noGrp="1"/>
          </p:cNvSpPr>
          <p:nvPr>
            <p:ph type="subTitle" idx="1"/>
          </p:nvPr>
        </p:nvSpPr>
        <p:spPr>
          <a:xfrm>
            <a:off x="1524001" y="3602038"/>
            <a:ext cx="9144000" cy="1655762"/>
          </a:xfrm>
        </p:spPr>
        <p:txBody>
          <a:bodyPr/>
          <a:lstStyle>
            <a:lvl1pPr marL="0" indent="0" algn="ctr">
              <a:buNone/>
              <a:defRPr sz="2400"/>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ko-KR" altLang="en-US"/>
              <a:t>클릭하여 마스터 부제목 스타일 편집</a:t>
            </a:r>
          </a:p>
        </p:txBody>
      </p:sp>
      <p:sp>
        <p:nvSpPr>
          <p:cNvPr id="4" name="부제목 2">
            <a:extLst>
              <a:ext uri="{FF2B5EF4-FFF2-40B4-BE49-F238E27FC236}">
                <a16:creationId xmlns:a16="http://schemas.microsoft.com/office/drawing/2014/main" id="{A9E79BC4-6998-EDEE-667D-B7C17B3A08C0}"/>
              </a:ext>
            </a:extLst>
          </p:cNvPr>
          <p:cNvSpPr txBox="1">
            <a:spLocks/>
          </p:cNvSpPr>
          <p:nvPr userDrawn="1"/>
        </p:nvSpPr>
        <p:spPr>
          <a:xfrm>
            <a:off x="3787205" y="5907650"/>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565CA89F-D0E9-8CE5-22B9-51E7DE7904E7}"/>
              </a:ext>
            </a:extLst>
          </p:cNvPr>
          <p:cNvGrpSpPr/>
          <p:nvPr userDrawn="1"/>
        </p:nvGrpSpPr>
        <p:grpSpPr>
          <a:xfrm>
            <a:off x="5196905" y="5156355"/>
            <a:ext cx="1798190" cy="646162"/>
            <a:chOff x="5976117" y="116467"/>
            <a:chExt cx="4341047" cy="1559914"/>
          </a:xfrm>
        </p:grpSpPr>
        <p:sp>
          <p:nvSpPr>
            <p:cNvPr id="6" name="사각형: 둥근 모서리 5">
              <a:extLst>
                <a:ext uri="{FF2B5EF4-FFF2-40B4-BE49-F238E27FC236}">
                  <a16:creationId xmlns:a16="http://schemas.microsoft.com/office/drawing/2014/main" id="{633F487C-A200-17BE-5341-37611BF8FBFD}"/>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2F47E4AB-6462-333C-8B2F-30524FE22205}"/>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34">
              <a:extLst>
                <a:ext uri="{FF2B5EF4-FFF2-40B4-BE49-F238E27FC236}">
                  <a16:creationId xmlns:a16="http://schemas.microsoft.com/office/drawing/2014/main" id="{0A103168-CD94-921E-63B0-D7B6F62E3E6E}"/>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7589D919-CBEB-F8FB-07F2-12CA9E166B19}"/>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7C46F0AE-DB11-EB8B-FE86-FF73BA879CF9}"/>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4" name="사각형: 둥근 모서리 13">
              <a:extLst>
                <a:ext uri="{FF2B5EF4-FFF2-40B4-BE49-F238E27FC236}">
                  <a16:creationId xmlns:a16="http://schemas.microsoft.com/office/drawing/2014/main" id="{2F1B7618-3197-6105-6B9F-CD50533BC4C8}"/>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34">
              <a:extLst>
                <a:ext uri="{FF2B5EF4-FFF2-40B4-BE49-F238E27FC236}">
                  <a16:creationId xmlns:a16="http://schemas.microsoft.com/office/drawing/2014/main" id="{DAEE3283-E646-D165-09D4-A4EBC9383BD5}"/>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FA0B60E4-48DD-E363-AC71-B8FE6390DD39}"/>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2DBD4F83-0783-F1C4-F273-6EE7BA9AA761}"/>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A22CD0BC-B38F-EAB9-1662-E8974A393956}"/>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4A5B8AFF-1462-C09E-526A-01C1EF6A27BF}"/>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1E327536-D68A-677A-9C59-B2F87215F482}"/>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4437FD44-BC56-6D38-BDF7-4B95F0F58D4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01FAF00-B3B6-32CC-742D-42EABD4FD45C}"/>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8FC12012-F3C1-1E96-C679-68B7DA64D4C2}"/>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E85CAABF-CB4B-2B7D-A895-75F478F9E0A3}"/>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977AD124-2D48-82D1-BF1E-379401F23CBF}"/>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935C0909-CA27-0C56-8530-67186FB3D7CC}"/>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E9BDEEAD-DED1-28AC-8118-7CB4F7F9A7B3}"/>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A120A2F1-9E2F-DE3C-9C0D-767223CCDCC3}"/>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9C708ECA-1A72-51DA-2BCE-82E60DF885CF}"/>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02233A34-DD1A-0CFF-EE55-E7D78EE182A5}"/>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14AC34DC-FFAD-AE9B-6155-5A249659B17A}"/>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7276A3FC-BAB7-29FF-28AD-B77DB9D0D8E8}"/>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307824EB-7201-2EC4-BDA2-3CA8ECC4C4E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D724357C-B669-4A76-895B-80CA83451CEE}"/>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Tree>
    <p:extLst>
      <p:ext uri="{BB962C8B-B14F-4D97-AF65-F5344CB8AC3E}">
        <p14:creationId xmlns:p14="http://schemas.microsoft.com/office/powerpoint/2010/main" val="1152379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18610629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AEBF52-76E9-B938-4862-6D13627AFD4C}"/>
              </a:ext>
            </a:extLst>
          </p:cNvPr>
          <p:cNvSpPr/>
          <p:nvPr userDrawn="1"/>
        </p:nvSpPr>
        <p:spPr>
          <a:xfrm>
            <a:off x="2" y="-1"/>
            <a:ext cx="12191999" cy="681037"/>
          </a:xfrm>
          <a:prstGeom prst="rect">
            <a:avLst/>
          </a:prstGeom>
          <a:gradFill flip="none" rotWithShape="1">
            <a:gsLst>
              <a:gs pos="0">
                <a:srgbClr val="01688F"/>
              </a:gs>
              <a:gs pos="100000">
                <a:schemeClr val="bg1">
                  <a:alpha val="0"/>
                </a:schemeClr>
              </a:gs>
              <a:gs pos="70000">
                <a:srgbClr val="72ABC8"/>
              </a:gs>
              <a:gs pos="85000">
                <a:schemeClr val="accent1">
                  <a:lumMod val="40000"/>
                  <a:lumOff val="6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latin typeface="Trebuchet MS" panose="020B0703020202090204" pitchFamily="34" charset="0"/>
            </a:endParaRPr>
          </a:p>
        </p:txBody>
      </p:sp>
      <p:pic>
        <p:nvPicPr>
          <p:cNvPr id="8" name="그림 7" descr="옥외설치물이(가) 표시된 사진&#10;&#10;자동 생성된 설명">
            <a:extLst>
              <a:ext uri="{FF2B5EF4-FFF2-40B4-BE49-F238E27FC236}">
                <a16:creationId xmlns:a16="http://schemas.microsoft.com/office/drawing/2014/main" id="{F966DF82-ED07-FCE8-124A-FFE8ACAFE184}"/>
              </a:ext>
            </a:extLst>
          </p:cNvPr>
          <p:cNvPicPr>
            <a:picLocks noChangeAspect="1"/>
          </p:cNvPicPr>
          <p:nvPr userDrawn="1"/>
        </p:nvPicPr>
        <p:blipFill rotWithShape="1">
          <a:blip r:embed="rId2" cstate="print">
            <a:alphaModFix amt="70000"/>
            <a:duotone>
              <a:schemeClr val="accent5">
                <a:shade val="45000"/>
                <a:satMod val="135000"/>
              </a:schemeClr>
              <a:prstClr val="white"/>
            </a:duotone>
            <a:extLst>
              <a:ext uri="{BEBA8EAE-BF5A-486C-A8C5-ECC9F3942E4B}">
                <a14:imgProps xmlns:a14="http://schemas.microsoft.com/office/drawing/2010/main">
                  <a14:imgLayer r:embed="rId3">
                    <a14:imgEffect>
                      <a14:colorTemperature colorTemp="11200"/>
                    </a14:imgEffect>
                  </a14:imgLayer>
                </a14:imgProps>
              </a:ext>
              <a:ext uri="{28A0092B-C50C-407E-A947-70E740481C1C}">
                <a14:useLocalDpi xmlns:a14="http://schemas.microsoft.com/office/drawing/2010/main" val="0"/>
              </a:ext>
            </a:extLst>
          </a:blip>
          <a:srcRect/>
          <a:stretch/>
        </p:blipFill>
        <p:spPr>
          <a:xfrm>
            <a:off x="9593627" y="-1"/>
            <a:ext cx="2598373" cy="681037"/>
          </a:xfrm>
          <a:prstGeom prst="rect">
            <a:avLst/>
          </a:prstGeom>
        </p:spPr>
      </p:pic>
      <p:sp>
        <p:nvSpPr>
          <p:cNvPr id="2" name="Title 1"/>
          <p:cNvSpPr>
            <a:spLocks noGrp="1"/>
          </p:cNvSpPr>
          <p:nvPr>
            <p:ph type="title"/>
          </p:nvPr>
        </p:nvSpPr>
        <p:spPr>
          <a:xfrm>
            <a:off x="367749" y="150607"/>
            <a:ext cx="11456504" cy="530430"/>
          </a:xfrm>
          <a:prstGeom prst="rect">
            <a:avLst/>
          </a:prstGeom>
        </p:spPr>
        <p:txBody>
          <a:bodyPr anchor="ctr"/>
          <a:lstStyle>
            <a:lvl1pPr>
              <a:defRPr sz="3200" b="1">
                <a:solidFill>
                  <a:schemeClr val="bg1"/>
                </a:solidFill>
                <a:latin typeface="Trebuchet MS" panose="020B0703020202090204" pitchFamily="34" charset="0"/>
              </a:defRPr>
            </a:lvl1pPr>
          </a:lstStyle>
          <a:p>
            <a:r>
              <a:rPr lang="en-US" dirty="0"/>
              <a:t>Click to edit Master title style</a:t>
            </a:r>
          </a:p>
        </p:txBody>
      </p:sp>
      <p:sp>
        <p:nvSpPr>
          <p:cNvPr id="3" name="Content Placeholder 2"/>
          <p:cNvSpPr>
            <a:spLocks noGrp="1"/>
          </p:cNvSpPr>
          <p:nvPr>
            <p:ph idx="1" hasCustomPrompt="1"/>
          </p:nvPr>
        </p:nvSpPr>
        <p:spPr>
          <a:xfrm>
            <a:off x="367749" y="1172818"/>
            <a:ext cx="11456504" cy="5004146"/>
          </a:xfrm>
        </p:spPr>
        <p:txBody>
          <a:bodyPr>
            <a:normAutofit/>
          </a:bodyPr>
          <a:lstStyle>
            <a:lvl1pPr marL="228601" indent="-228601">
              <a:lnSpc>
                <a:spcPct val="150000"/>
              </a:lnSpc>
              <a:buFont typeface="Wingdings" pitchFamily="2" charset="2"/>
              <a:buChar char="§"/>
              <a:defRPr sz="2000" b="1">
                <a:latin typeface="Trebuchet MS" panose="020B0703020202090204" pitchFamily="34" charset="0"/>
              </a:defRPr>
            </a:lvl1pPr>
            <a:lvl2pPr marL="685803" indent="-228601">
              <a:lnSpc>
                <a:spcPct val="150000"/>
              </a:lnSpc>
              <a:buFont typeface="시스템 서체 일반체"/>
              <a:buChar char="-"/>
              <a:defRPr sz="1600">
                <a:latin typeface="Trebuchet MS" panose="020B0703020202090204" pitchFamily="34" charset="0"/>
              </a:defRPr>
            </a:lvl2pPr>
            <a:lvl3pPr>
              <a:lnSpc>
                <a:spcPct val="150000"/>
              </a:lnSpc>
              <a:defRPr sz="1400">
                <a:latin typeface="Trebuchet MS" panose="020B0703020202090204" pitchFamily="34" charset="0"/>
              </a:defRPr>
            </a:lvl3pPr>
            <a:lvl4pPr marL="1600206" indent="-228601">
              <a:lnSpc>
                <a:spcPct val="150000"/>
              </a:lnSpc>
              <a:buFont typeface="Trebuchet MS" panose="020B0603020202020204" pitchFamily="34" charset="0"/>
              <a:buChar char=":"/>
              <a:defRPr sz="1050">
                <a:latin typeface="Trebuchet MS" panose="020B0703020202090204" pitchFamily="34" charset="0"/>
              </a:defRPr>
            </a:lvl4pPr>
            <a:lvl5pPr marL="2057408" indent="-228601">
              <a:lnSpc>
                <a:spcPct val="150000"/>
              </a:lnSpc>
              <a:buFont typeface="Wingdings" panose="05000000000000000000" pitchFamily="2" charset="2"/>
              <a:buChar char="ü"/>
              <a:defRPr sz="1000">
                <a:latin typeface="Trebuchet MS" panose="020B070302020209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B74EEE4B-5648-1141-8DE7-F35CCED6ABC8}"/>
              </a:ext>
            </a:extLst>
          </p:cNvPr>
          <p:cNvSpPr>
            <a:spLocks noGrp="1"/>
          </p:cNvSpPr>
          <p:nvPr>
            <p:ph type="dt" sz="half" idx="10"/>
          </p:nvPr>
        </p:nvSpPr>
        <p:spPr>
          <a:xfrm>
            <a:off x="1016996" y="6598733"/>
            <a:ext cx="2564404" cy="213734"/>
          </a:xfrm>
          <a:prstGeom prst="rect">
            <a:avLst/>
          </a:prstGeom>
        </p:spPr>
        <p:txBody>
          <a:bodyPr/>
          <a:lstStyle>
            <a:lvl1pPr>
              <a:defRPr>
                <a:latin typeface="Trebuchet MS" panose="020B0703020202090204" pitchFamily="34" charset="0"/>
              </a:defRPr>
            </a:lvl1pPr>
          </a:lstStyle>
          <a:p>
            <a:r>
              <a:rPr lang="en-US" altLang="ko-KR"/>
              <a:t>2026-07-31</a:t>
            </a:r>
            <a:endParaRPr lang="en-US" dirty="0"/>
          </a:p>
        </p:txBody>
      </p:sp>
      <p:sp>
        <p:nvSpPr>
          <p:cNvPr id="14" name="Footer Placeholder 4">
            <a:extLst>
              <a:ext uri="{FF2B5EF4-FFF2-40B4-BE49-F238E27FC236}">
                <a16:creationId xmlns:a16="http://schemas.microsoft.com/office/drawing/2014/main" id="{B95CB966-C0B0-BF40-9B2D-EFD92EBA5955}"/>
              </a:ext>
            </a:extLst>
          </p:cNvPr>
          <p:cNvSpPr>
            <a:spLocks noGrp="1"/>
          </p:cNvSpPr>
          <p:nvPr>
            <p:ph type="ftr" sz="quarter" idx="11"/>
          </p:nvPr>
        </p:nvSpPr>
        <p:spPr>
          <a:xfrm>
            <a:off x="4038601" y="6598733"/>
            <a:ext cx="4114800" cy="213734"/>
          </a:xfrm>
          <a:prstGeom prst="rect">
            <a:avLst/>
          </a:prstGeom>
        </p:spPr>
        <p:txBody>
          <a:bodyPr/>
          <a:lstStyle>
            <a:lvl1pPr>
              <a:defRPr>
                <a:latin typeface="Trebuchet MS" panose="020B0703020202090204" pitchFamily="34" charset="0"/>
              </a:defRPr>
            </a:lvl1pPr>
          </a:lstStyle>
          <a:p>
            <a:endParaRPr lang="en-US" dirty="0"/>
          </a:p>
        </p:txBody>
      </p:sp>
      <p:sp>
        <p:nvSpPr>
          <p:cNvPr id="15" name="Slide Number Placeholder 5">
            <a:extLst>
              <a:ext uri="{FF2B5EF4-FFF2-40B4-BE49-F238E27FC236}">
                <a16:creationId xmlns:a16="http://schemas.microsoft.com/office/drawing/2014/main" id="{812EEE38-D0A6-0A45-82F8-581A904D7C8A}"/>
              </a:ext>
            </a:extLst>
          </p:cNvPr>
          <p:cNvSpPr>
            <a:spLocks noGrp="1"/>
          </p:cNvSpPr>
          <p:nvPr>
            <p:ph type="sldNum" sz="quarter" idx="12"/>
          </p:nvPr>
        </p:nvSpPr>
        <p:spPr>
          <a:xfrm>
            <a:off x="9006309" y="6598733"/>
            <a:ext cx="3110345" cy="213734"/>
          </a:xfrm>
          <a:prstGeom prst="rect">
            <a:avLst/>
          </a:prstGeom>
        </p:spPr>
        <p:txBody>
          <a:bodyPr/>
          <a:lstStyle>
            <a:lvl1pPr>
              <a:defRPr>
                <a:latin typeface="Trebuchet MS" panose="020B0703020202090204" pitchFamily="34" charset="0"/>
              </a:defRPr>
            </a:lvl1pPr>
          </a:lstStyle>
          <a:p>
            <a:r>
              <a:rPr lang="en-US" altLang="ko-KR" dirty="0"/>
              <a:t>Sang-Jun Moon | </a:t>
            </a:r>
            <a:r>
              <a:rPr lang="en-US" altLang="ko-KR" dirty="0">
                <a:solidFill>
                  <a:prstClr val="black">
                    <a:tint val="75000"/>
                  </a:prstClr>
                </a:solidFill>
              </a:rPr>
              <a:t>AICA Lab Meeting</a:t>
            </a:r>
            <a:r>
              <a:rPr lang="en-US" altLang="ko-KR" dirty="0"/>
              <a:t> | </a:t>
            </a:r>
            <a:fld id="{48F63A3B-78C7-47BE-AE5E-E10140E04643}" type="slidenum">
              <a:rPr lang="en-US" smtClean="0"/>
              <a:pPr/>
              <a:t>‹#›</a:t>
            </a:fld>
            <a:endParaRPr lang="en-US" dirty="0"/>
          </a:p>
        </p:txBody>
      </p:sp>
      <p:grpSp>
        <p:nvGrpSpPr>
          <p:cNvPr id="4" name="그룹 3">
            <a:extLst>
              <a:ext uri="{FF2B5EF4-FFF2-40B4-BE49-F238E27FC236}">
                <a16:creationId xmlns:a16="http://schemas.microsoft.com/office/drawing/2014/main" id="{AF465BD3-D334-A698-AE1D-AAE802C779D9}"/>
              </a:ext>
            </a:extLst>
          </p:cNvPr>
          <p:cNvGrpSpPr/>
          <p:nvPr userDrawn="1"/>
        </p:nvGrpSpPr>
        <p:grpSpPr>
          <a:xfrm>
            <a:off x="135856" y="6450684"/>
            <a:ext cx="899987" cy="323081"/>
            <a:chOff x="5976117" y="116467"/>
            <a:chExt cx="4341047" cy="1559914"/>
          </a:xfrm>
        </p:grpSpPr>
        <p:sp>
          <p:nvSpPr>
            <p:cNvPr id="5" name="사각형: 둥근 모서리 4">
              <a:extLst>
                <a:ext uri="{FF2B5EF4-FFF2-40B4-BE49-F238E27FC236}">
                  <a16:creationId xmlns:a16="http://schemas.microsoft.com/office/drawing/2014/main" id="{09E45834-AE31-A9B9-9BE3-8876DD4BFA7F}"/>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 name="사각형: 둥근 모서리 5">
              <a:extLst>
                <a:ext uri="{FF2B5EF4-FFF2-40B4-BE49-F238E27FC236}">
                  <a16:creationId xmlns:a16="http://schemas.microsoft.com/office/drawing/2014/main" id="{09BE6CC6-B0C2-D1F8-C568-1636306F8597}"/>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34">
              <a:extLst>
                <a:ext uri="{FF2B5EF4-FFF2-40B4-BE49-F238E27FC236}">
                  <a16:creationId xmlns:a16="http://schemas.microsoft.com/office/drawing/2014/main" id="{372FB6C3-D418-1840-6AE7-B37D603006F2}"/>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19B36722-692B-8A85-ABBD-C0C3519B7975}"/>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27978080-5DA3-C7AF-D53C-7B04AA55674D}"/>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D2E2207A-833C-96F1-DDEA-EAD252C6E34C}"/>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34">
              <a:extLst>
                <a:ext uri="{FF2B5EF4-FFF2-40B4-BE49-F238E27FC236}">
                  <a16:creationId xmlns:a16="http://schemas.microsoft.com/office/drawing/2014/main" id="{B9063DDA-A961-FAC9-63D8-26984466EFA9}"/>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9449855F-497C-8550-D86C-A828CBDE267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1476E7BE-7201-2BAA-2109-35756C4E0B96}"/>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B59F5F96-C357-E1E5-2993-D5FD41332B5F}"/>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DB242B9F-572D-693F-C111-AAC93D5DB279}"/>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160EE91-D1F0-219D-E7ED-4A5F2BBB074B}"/>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055F6797-B96E-6564-AB39-222EF22DE18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22">
              <a:extLst>
                <a:ext uri="{FF2B5EF4-FFF2-40B4-BE49-F238E27FC236}">
                  <a16:creationId xmlns:a16="http://schemas.microsoft.com/office/drawing/2014/main" id="{5C206942-3972-3DDD-C25C-F55CC59874CB}"/>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48">
              <a:extLst>
                <a:ext uri="{FF2B5EF4-FFF2-40B4-BE49-F238E27FC236}">
                  <a16:creationId xmlns:a16="http://schemas.microsoft.com/office/drawing/2014/main" id="{45C36541-3C29-52C7-87AA-2CE2ECC800FB}"/>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D08F501E-0785-E0FC-C8AB-E929D4BE4665}"/>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6670ADF1-C53B-D670-DE1C-F0C3990DDD82}"/>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728DC771-DBFE-4F81-F2CA-992EBFCE0D41}"/>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3D8C4B1D-A6E0-AEF3-4AED-22807E641D72}"/>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28">
              <a:extLst>
                <a:ext uri="{FF2B5EF4-FFF2-40B4-BE49-F238E27FC236}">
                  <a16:creationId xmlns:a16="http://schemas.microsoft.com/office/drawing/2014/main" id="{74FAB4B6-B9C7-9AEC-57FF-C2E4371644E2}"/>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48">
              <a:extLst>
                <a:ext uri="{FF2B5EF4-FFF2-40B4-BE49-F238E27FC236}">
                  <a16:creationId xmlns:a16="http://schemas.microsoft.com/office/drawing/2014/main" id="{E70AF9CE-687E-9C42-5294-C1A0274A53D2}"/>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552996F6-B24D-378B-A68E-04BDE56A165D}"/>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2" name="사각형: 둥근 모서리 31">
              <a:extLst>
                <a:ext uri="{FF2B5EF4-FFF2-40B4-BE49-F238E27FC236}">
                  <a16:creationId xmlns:a16="http://schemas.microsoft.com/office/drawing/2014/main" id="{C7522EE9-1A44-8DCD-2F6A-7CD0BF51F0FD}"/>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6997598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1286820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1736D39C-E17C-A364-3719-16AC7911DC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EE6840F-8B5F-3FBD-6419-8AFE6AC600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70AEC86-6903-7FA5-5907-91F1DC80DF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620C5AA7-AF4B-27BC-291C-EB359758B7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0BDF7195-719B-0ADE-61C3-943AD6227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7980330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5E567E6-AE26-4E8E-B312-C95BB81BBEF2}"/>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230C5C33-B2C4-4686-B825-1347A5F7C4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6300B2AC-F741-4F9D-88DA-C2BBCD28AA5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82A871F7-7716-4B35-B16F-5215D47AEF08}"/>
              </a:ext>
            </a:extLst>
          </p:cNvPr>
          <p:cNvSpPr>
            <a:spLocks noGrp="1"/>
          </p:cNvSpPr>
          <p:nvPr>
            <p:ph type="ftr" sz="quarter" idx="3"/>
          </p:nvPr>
        </p:nvSpPr>
        <p:spPr>
          <a:xfrm>
            <a:off x="4038601"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16B17825-BD73-4B44-AE33-E311A76C2BA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D3D6F-2C60-4B7A-8BF3-E953E669A38A}" type="slidenum">
              <a:rPr lang="ko-KR" altLang="en-US" smtClean="0"/>
              <a:t>‹#›</a:t>
            </a:fld>
            <a:endParaRPr lang="ko-KR" altLang="en-US"/>
          </a:p>
        </p:txBody>
      </p:sp>
    </p:spTree>
    <p:extLst>
      <p:ext uri="{BB962C8B-B14F-4D97-AF65-F5344CB8AC3E}">
        <p14:creationId xmlns:p14="http://schemas.microsoft.com/office/powerpoint/2010/main" val="1529771404"/>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Lst>
  <p:hf hdr="0" ftr="0"/>
  <p:txStyles>
    <p:titleStyle>
      <a:lvl1pPr algn="l" defTabSz="914404"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1" indent="-228601" algn="l" defTabSz="914404"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3" indent="-228601" algn="l" defTabSz="914404"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5" indent="-228601" algn="l" defTabSz="914404"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8"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10"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12"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14"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1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4" rtl="0" eaLnBrk="1" latinLnBrk="1" hangingPunct="1">
        <a:defRPr sz="1800" kern="1200">
          <a:solidFill>
            <a:schemeClr val="tx1"/>
          </a:solidFill>
          <a:latin typeface="+mn-lt"/>
          <a:ea typeface="+mn-ea"/>
          <a:cs typeface="+mn-cs"/>
        </a:defRPr>
      </a:lvl1pPr>
      <a:lvl2pPr marL="457202" algn="l" defTabSz="914404" rtl="0" eaLnBrk="1" latinLnBrk="1" hangingPunct="1">
        <a:defRPr sz="1800" kern="1200">
          <a:solidFill>
            <a:schemeClr val="tx1"/>
          </a:solidFill>
          <a:latin typeface="+mn-lt"/>
          <a:ea typeface="+mn-ea"/>
          <a:cs typeface="+mn-cs"/>
        </a:defRPr>
      </a:lvl2pPr>
      <a:lvl3pPr marL="914404" algn="l" defTabSz="914404" rtl="0" eaLnBrk="1" latinLnBrk="1" hangingPunct="1">
        <a:defRPr sz="1800" kern="1200">
          <a:solidFill>
            <a:schemeClr val="tx1"/>
          </a:solidFill>
          <a:latin typeface="+mn-lt"/>
          <a:ea typeface="+mn-ea"/>
          <a:cs typeface="+mn-cs"/>
        </a:defRPr>
      </a:lvl3pPr>
      <a:lvl4pPr marL="1371605" algn="l" defTabSz="914404" rtl="0" eaLnBrk="1" latinLnBrk="1" hangingPunct="1">
        <a:defRPr sz="1800" kern="1200">
          <a:solidFill>
            <a:schemeClr val="tx1"/>
          </a:solidFill>
          <a:latin typeface="+mn-lt"/>
          <a:ea typeface="+mn-ea"/>
          <a:cs typeface="+mn-cs"/>
        </a:defRPr>
      </a:lvl4pPr>
      <a:lvl5pPr marL="1828807" algn="l" defTabSz="914404" rtl="0" eaLnBrk="1" latinLnBrk="1" hangingPunct="1">
        <a:defRPr sz="1800" kern="1200">
          <a:solidFill>
            <a:schemeClr val="tx1"/>
          </a:solidFill>
          <a:latin typeface="+mn-lt"/>
          <a:ea typeface="+mn-ea"/>
          <a:cs typeface="+mn-cs"/>
        </a:defRPr>
      </a:lvl5pPr>
      <a:lvl6pPr marL="2286009" algn="l" defTabSz="914404" rtl="0" eaLnBrk="1" latinLnBrk="1" hangingPunct="1">
        <a:defRPr sz="1800" kern="1200">
          <a:solidFill>
            <a:schemeClr val="tx1"/>
          </a:solidFill>
          <a:latin typeface="+mn-lt"/>
          <a:ea typeface="+mn-ea"/>
          <a:cs typeface="+mn-cs"/>
        </a:defRPr>
      </a:lvl6pPr>
      <a:lvl7pPr marL="2743211" algn="l" defTabSz="914404" rtl="0" eaLnBrk="1" latinLnBrk="1" hangingPunct="1">
        <a:defRPr sz="1800" kern="1200">
          <a:solidFill>
            <a:schemeClr val="tx1"/>
          </a:solidFill>
          <a:latin typeface="+mn-lt"/>
          <a:ea typeface="+mn-ea"/>
          <a:cs typeface="+mn-cs"/>
        </a:defRPr>
      </a:lvl7pPr>
      <a:lvl8pPr marL="3200413" algn="l" defTabSz="914404" rtl="0" eaLnBrk="1" latinLnBrk="1" hangingPunct="1">
        <a:defRPr sz="1800" kern="1200">
          <a:solidFill>
            <a:schemeClr val="tx1"/>
          </a:solidFill>
          <a:latin typeface="+mn-lt"/>
          <a:ea typeface="+mn-ea"/>
          <a:cs typeface="+mn-cs"/>
        </a:defRPr>
      </a:lvl8pPr>
      <a:lvl9pPr marL="3657615" algn="l" defTabSz="914404"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5.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6.xml"/><Relationship Id="rId3" Type="http://schemas.openxmlformats.org/officeDocument/2006/relationships/image" Target="../media/image1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3.xml"/><Relationship Id="rId3" Type="http://schemas.openxmlformats.org/officeDocument/2006/relationships/image" Target="../media/image1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E8A260-966E-CEEB-B2DB-29375CB554B9}"/>
              </a:ext>
            </a:extLst>
          </p:cNvPr>
          <p:cNvSpPr>
            <a:spLocks noGrp="1"/>
          </p:cNvSpPr>
          <p:nvPr>
            <p:ph type="ctrTitle"/>
          </p:nvPr>
        </p:nvSpPr>
        <p:spPr>
          <a:xfrm>
            <a:off x="1524000" y="2506243"/>
            <a:ext cx="9144000" cy="855184"/>
          </a:xfrm>
        </p:spPr>
        <p:txBody>
          <a:bodyPr>
            <a:noAutofit/>
          </a:bodyPr>
          <a:lstStyle/>
          <a:p>
            <a:r>
              <a:rPr lang="en-US" altLang="ko-KR" sz="3200" dirty="0"/>
              <a:t>Week 6. Transformer 완성: 학습·추론·그 이후</a:t>
            </a:r>
            <a:endParaRPr lang="ko-KR" altLang="en-US" sz="3200" dirty="0"/>
          </a:p>
        </p:txBody>
      </p:sp>
      <p:sp>
        <p:nvSpPr>
          <p:cNvPr id="3" name="부제목 2">
            <a:extLst>
              <a:ext uri="{FF2B5EF4-FFF2-40B4-BE49-F238E27FC236}">
                <a16:creationId xmlns:a16="http://schemas.microsoft.com/office/drawing/2014/main" id="{3D781DF1-B9BC-46C6-B822-1CB5D8F2272D}"/>
              </a:ext>
            </a:extLst>
          </p:cNvPr>
          <p:cNvSpPr>
            <a:spLocks noGrp="1"/>
          </p:cNvSpPr>
          <p:nvPr>
            <p:ph type="subTitle" idx="1"/>
          </p:nvPr>
        </p:nvSpPr>
        <p:spPr>
          <a:xfrm>
            <a:off x="1537062" y="3602039"/>
            <a:ext cx="9144000" cy="1655762"/>
          </a:xfrm>
        </p:spPr>
        <p:txBody>
          <a:bodyPr/>
          <a:lstStyle/>
          <a:p>
            <a:pPr>
              <a:lnSpc>
                <a:spcPct val="100000"/>
              </a:lnSpc>
              <a:spcBef>
                <a:spcPts val="0"/>
              </a:spcBef>
              <a:defRPr/>
            </a:pPr>
            <a:r>
              <a:rPr lang="en-US" altLang="ko-KR" dirty="0" sz="1800" b="0">
                <a:ea typeface="맑은 고딕" panose="020B0503020000020004" pitchFamily="50" charset="-127"/>
                <a:cs typeface="Calibri" panose="020F0502020204030204" pitchFamily="34" charset="0"/>
              </a:rPr>
              <a:t>AI Zero 2 Transformer · 6주차 (과정 마무리)</a:t>
            </a:r>
          </a:p>
          <a:p>
            <a:pPr>
              <a:lnSpc>
                <a:spcPct val="100000"/>
              </a:lnSpc>
              <a:spcBef>
                <a:spcPts val="0"/>
              </a:spcBef>
              <a:defRPr/>
            </a:pPr>
            <a:r>
              <a:rPr lang="en-US" altLang="ko-KR" dirty="0" sz="1500">
                <a:ea typeface="맑은 고딕" panose="020B0503020000020004" pitchFamily="50" charset="-127"/>
                <a:cs typeface="Calibri" panose="020F0502020204030204" pitchFamily="34" charset="0"/>
              </a:rPr>
              <a:t>Yun-Hong Min (picomin1027@gmail.com)</a:t>
            </a:r>
          </a:p>
        </p:txBody>
      </p:sp>
      <p:sp>
        <p:nvSpPr>
          <p:cNvPr id="4" name="내용 개체 틀 3">
            <a:extLst>
              <a:ext uri="{FF2B5EF4-FFF2-40B4-BE49-F238E27FC236}">
                <a16:creationId xmlns:a16="http://schemas.microsoft.com/office/drawing/2014/main" id="{A71A4431-2231-1E65-66CF-DEB583250F5E}"/>
              </a:ext>
            </a:extLst>
          </p:cNvPr>
          <p:cNvSpPr>
            <a:spLocks noGrp="1"/>
          </p:cNvSpPr>
          <p:nvPr>
            <p:ph sz="quarter" idx="10"/>
          </p:nvPr>
        </p:nvSpPr>
        <p:spPr/>
        <p:txBody>
          <a:bodyPr/>
          <a:lstStyle/>
          <a:p>
            <a:r>
              <a:rPr lang="en-US" altLang="ko-KR" dirty="0"/>
              <a:t>AI Zero 2 Transformer</a:t>
            </a:r>
            <a:endParaRPr lang="ko-KR" altLang="en-US" dirty="0"/>
          </a:p>
        </p:txBody>
      </p:sp>
    </p:spTree>
    <p:extLst>
      <p:ext uri="{BB962C8B-B14F-4D97-AF65-F5344CB8AC3E}">
        <p14:creationId xmlns:p14="http://schemas.microsoft.com/office/powerpoint/2010/main" val="414700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3116ECB-EA11-2EAA-88FA-7B43A1F5A66F}"/>
              </a:ext>
            </a:extLst>
          </p:cNvPr>
          <p:cNvSpPr>
            <a:spLocks noGrp="1"/>
          </p:cNvSpPr>
          <p:nvPr>
            <p:ph type="ctrTitle"/>
          </p:nvPr>
        </p:nvSpPr>
        <p:spPr/>
        <p:txBody>
          <a:bodyPr/>
          <a:lstStyle/>
          <a:p>
            <a:r>
              <a:rPr lang="en-US" altLang="ko-KR"/>
              <a:t>Question ?</a:t>
            </a:r>
            <a:endParaRPr lang="ko-KR" altLang="en-US"/>
          </a:p>
        </p:txBody>
      </p:sp>
      <p:sp>
        <p:nvSpPr>
          <p:cNvPr id="3" name="텍스트 개체 틀 2">
            <a:extLst>
              <a:ext uri="{FF2B5EF4-FFF2-40B4-BE49-F238E27FC236}">
                <a16:creationId xmlns:a16="http://schemas.microsoft.com/office/drawing/2014/main" id="{A8D9C941-A705-0CAA-855B-4FB547507C02}"/>
              </a:ext>
            </a:extLst>
          </p:cNvPr>
          <p:cNvSpPr>
            <a:spLocks noGrp="1"/>
          </p:cNvSpPr>
          <p:nvPr>
            <p:ph type="body" sz="quarter" idx="10"/>
          </p:nvPr>
        </p:nvSpPr>
        <p:spPr>
          <a:xfrm>
            <a:off x="1197391" y="6261267"/>
            <a:ext cx="3896261" cy="385267"/>
          </a:xfrm>
        </p:spPr>
        <p:txBody>
          <a:bodyPr vert="horz" lIns="91440" tIns="45720" rIns="91440" bIns="45720" rtlCol="0" anchor="t">
            <a:noAutofit/>
          </a:bodyPr>
          <a:lstStyle/>
          <a:p>
            <a:r>
              <a:rPr lang="en-US" altLang="ko-KR" dirty="0">
                <a:latin typeface="Trebuchet MS"/>
                <a:ea typeface="맑은 고딕"/>
              </a:rPr>
              <a:t>E-mail: picomin1027@gmail.com</a:t>
            </a:r>
            <a:endParaRPr lang="ko-KR" altLang="en-US" dirty="0">
              <a:latin typeface="Trebuchet MS"/>
              <a:ea typeface="맑은 고딕"/>
            </a:endParaRPr>
          </a:p>
        </p:txBody>
      </p:sp>
    </p:spTree>
    <p:extLst>
      <p:ext uri="{BB962C8B-B14F-4D97-AF65-F5344CB8AC3E}">
        <p14:creationId xmlns:p14="http://schemas.microsoft.com/office/powerpoint/2010/main" val="395950946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지난 주 복습: Attention의 핵심</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5주차: 고정 벡터 병목 → Attention → Transformer의 핵심 연산</a:t>
            </a:r>
          </a:p>
        </p:txBody>
      </p:sp>
      <p:sp>
        <p:nvSpPr>
          <p:cNvPr id="8" name="Rounded Rectangle 7"/>
          <p:cNvSpPr/>
          <p:nvPr/>
        </p:nvSpPr>
        <p:spPr>
          <a:xfrm>
            <a:off x="457200" y="1691640"/>
            <a:ext cx="2612898" cy="3977640"/>
          </a:xfrm>
          <a:prstGeom prst="roundRect">
            <a:avLst>
              <a:gd name="adj" fmla="val 2799"/>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40080" y="1828800"/>
            <a:ext cx="2292858" cy="320040"/>
          </a:xfrm>
          <a:prstGeom prst="rect">
            <a:avLst/>
          </a:prstGeom>
          <a:noFill/>
        </p:spPr>
        <p:txBody>
          <a:bodyPr wrap="square" lIns="73152" rIns="73152" tIns="36576" bIns="36576" anchor="ctr"/>
          <a:lstStyle/>
          <a:p>
            <a:pPr algn="l" marL="0" indent="0">
              <a:lnSpc>
                <a:spcPct val="115000"/>
              </a:lnSpc>
              <a:spcAft>
                <a:spcPts val="350"/>
              </a:spcAft>
              <a:buNone/>
            </a:pPr>
            <a:r>
              <a:rPr sz="1000" b="1">
                <a:solidFill>
                  <a:srgbClr val="3FA7B8"/>
                </a:solidFill>
                <a:latin typeface="맑은 고딕"/>
                <a:ea typeface="맑은 고딕"/>
                <a:cs typeface="맑은 고딕"/>
              </a:rPr>
              <a:t>병목 해소</a:t>
            </a:r>
          </a:p>
        </p:txBody>
      </p:sp>
      <p:sp>
        <p:nvSpPr>
          <p:cNvPr id="10" name="TextBox 9"/>
          <p:cNvSpPr txBox="1"/>
          <p:nvPr/>
        </p:nvSpPr>
        <p:spPr>
          <a:xfrm>
            <a:off x="640080" y="2148840"/>
            <a:ext cx="2292858" cy="566928"/>
          </a:xfrm>
          <a:prstGeom prst="rect">
            <a:avLst/>
          </a:prstGeom>
          <a:noFill/>
        </p:spPr>
        <p:txBody>
          <a:bodyPr wrap="square" lIns="73152" rIns="73152" tIns="36576" bIns="36576" anchor="ctr"/>
          <a:lstStyle/>
          <a:p>
            <a:pPr algn="l" marL="0" indent="0">
              <a:lnSpc>
                <a:spcPct val="115000"/>
              </a:lnSpc>
              <a:spcAft>
                <a:spcPts val="577"/>
              </a:spcAft>
              <a:buNone/>
            </a:pPr>
            <a:r>
              <a:rPr sz="1650" b="1">
                <a:solidFill>
                  <a:srgbClr val="0F6C8C"/>
                </a:solidFill>
                <a:latin typeface="맑은 고딕"/>
                <a:ea typeface="맑은 고딕"/>
                <a:cs typeface="맑은 고딕"/>
              </a:rPr>
              <a:t>Attention = 가중합</a:t>
            </a:r>
          </a:p>
        </p:txBody>
      </p:sp>
      <p:sp>
        <p:nvSpPr>
          <p:cNvPr id="11" name="TextBox 10"/>
          <p:cNvSpPr txBox="1"/>
          <p:nvPr/>
        </p:nvSpPr>
        <p:spPr>
          <a:xfrm>
            <a:off x="640080" y="2788920"/>
            <a:ext cx="2292858" cy="2770632"/>
          </a:xfrm>
          <a:prstGeom prst="rect">
            <a:avLst/>
          </a:prstGeom>
          <a:noFill/>
        </p:spPr>
        <p:txBody>
          <a:bodyPr wrap="square" lIns="73152" rIns="73152" tIns="36576" bIns="36576" anchor="t"/>
          <a:lstStyle/>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점수 → Softmax → Value 가중합</a:t>
            </a:r>
          </a:p>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출력 위치마다 입력 전체를 다시 참조</a:t>
            </a:r>
          </a:p>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고정 문맥 벡터 하나의 병목을 푼다</a:t>
            </a:r>
          </a:p>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가중치 A는 입력마다 계산되는 값</a:t>
            </a:r>
          </a:p>
        </p:txBody>
      </p:sp>
      <p:sp>
        <p:nvSpPr>
          <p:cNvPr id="12" name="Rounded Rectangle 11"/>
          <p:cNvSpPr/>
          <p:nvPr/>
        </p:nvSpPr>
        <p:spPr>
          <a:xfrm>
            <a:off x="3344418" y="1691640"/>
            <a:ext cx="2612898" cy="3977640"/>
          </a:xfrm>
          <a:prstGeom prst="roundRect">
            <a:avLst>
              <a:gd name="adj" fmla="val 2799"/>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27298" y="1828800"/>
            <a:ext cx="2292858" cy="320040"/>
          </a:xfrm>
          <a:prstGeom prst="rect">
            <a:avLst/>
          </a:prstGeom>
          <a:noFill/>
        </p:spPr>
        <p:txBody>
          <a:bodyPr wrap="square" lIns="73152" rIns="73152" tIns="36576" bIns="36576" anchor="ctr"/>
          <a:lstStyle/>
          <a:p>
            <a:pPr algn="l" marL="0" indent="0">
              <a:lnSpc>
                <a:spcPct val="115000"/>
              </a:lnSpc>
              <a:spcAft>
                <a:spcPts val="350"/>
              </a:spcAft>
              <a:buNone/>
            </a:pPr>
            <a:r>
              <a:rPr sz="1000" b="1">
                <a:solidFill>
                  <a:srgbClr val="3FA7B8"/>
                </a:solidFill>
                <a:latin typeface="맑은 고딕"/>
                <a:ea typeface="맑은 고딕"/>
                <a:cs typeface="맑은 고딕"/>
              </a:rPr>
              <a:t>역할 분리</a:t>
            </a:r>
          </a:p>
        </p:txBody>
      </p:sp>
      <p:sp>
        <p:nvSpPr>
          <p:cNvPr id="14" name="TextBox 13"/>
          <p:cNvSpPr txBox="1"/>
          <p:nvPr/>
        </p:nvSpPr>
        <p:spPr>
          <a:xfrm>
            <a:off x="3527298" y="2148840"/>
            <a:ext cx="2292858" cy="566928"/>
          </a:xfrm>
          <a:prstGeom prst="rect">
            <a:avLst/>
          </a:prstGeom>
          <a:noFill/>
        </p:spPr>
        <p:txBody>
          <a:bodyPr wrap="square" lIns="73152" rIns="73152" tIns="36576" bIns="36576" anchor="ctr"/>
          <a:lstStyle/>
          <a:p>
            <a:pPr algn="l" marL="0" indent="0">
              <a:lnSpc>
                <a:spcPct val="115000"/>
              </a:lnSpc>
              <a:spcAft>
                <a:spcPts val="665"/>
              </a:spcAft>
              <a:buNone/>
            </a:pPr>
            <a:r>
              <a:rPr sz="1900" b="1">
                <a:solidFill>
                  <a:srgbClr val="0F6C8C"/>
                </a:solidFill>
                <a:latin typeface="맑은 고딕"/>
                <a:ea typeface="맑은 고딕"/>
                <a:cs typeface="맑은 고딕"/>
              </a:rPr>
              <a:t>Q · K · V 투영</a:t>
            </a:r>
          </a:p>
        </p:txBody>
      </p:sp>
      <p:sp>
        <p:nvSpPr>
          <p:cNvPr id="15" name="TextBox 14"/>
          <p:cNvSpPr txBox="1"/>
          <p:nvPr/>
        </p:nvSpPr>
        <p:spPr>
          <a:xfrm>
            <a:off x="3527298" y="2788920"/>
            <a:ext cx="2292858" cy="2770632"/>
          </a:xfrm>
          <a:prstGeom prst="rect">
            <a:avLst/>
          </a:prstGeom>
          <a:noFill/>
        </p:spPr>
        <p:txBody>
          <a:bodyPr wrap="square" lIns="73152" rIns="73152" tIns="36576" bIns="36576" anchor="t"/>
          <a:lstStyle/>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같은 X라도 W_Q, W_K, W_V가 다르다</a:t>
            </a:r>
          </a:p>
          <a:p>
            <a:pPr algn="l" marL="306324" indent="-260604">
              <a:lnSpc>
                <a:spcPct val="115000"/>
              </a:lnSpc>
              <a:spcAft>
                <a:spcPts val="600"/>
              </a:spcAft>
              <a:buClr>
                <a:srgbClr val="0F6C8C"/>
              </a:buClr>
              <a:buFont typeface="Arial"/>
              <a:buChar char="•"/>
            </a:pPr>
            <a:r>
              <a:rPr sz="1500" b="0">
                <a:solidFill>
                  <a:srgbClr val="1F2D3D"/>
                </a:solidFill>
                <a:latin typeface="Courier New"/>
                <a:ea typeface="맑은 고딕"/>
                <a:cs typeface="Courier New"/>
              </a:rPr>
              <a:t>softmax(QKᵀ/√dₕ)·V</a:t>
            </a:r>
          </a:p>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√dₕ로 점수 분산 조절</a:t>
            </a:r>
          </a:p>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Softmax는 Key 축(마지막 축)</a:t>
            </a:r>
          </a:p>
        </p:txBody>
      </p:sp>
      <p:sp>
        <p:nvSpPr>
          <p:cNvPr id="16" name="Rounded Rectangle 15"/>
          <p:cNvSpPr/>
          <p:nvPr/>
        </p:nvSpPr>
        <p:spPr>
          <a:xfrm>
            <a:off x="6231636" y="1691640"/>
            <a:ext cx="2612898" cy="3977640"/>
          </a:xfrm>
          <a:prstGeom prst="roundRect">
            <a:avLst>
              <a:gd name="adj" fmla="val 2799"/>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4516" y="1828800"/>
            <a:ext cx="2292858" cy="320040"/>
          </a:xfrm>
          <a:prstGeom prst="rect">
            <a:avLst/>
          </a:prstGeom>
          <a:noFill/>
        </p:spPr>
        <p:txBody>
          <a:bodyPr wrap="square" lIns="73152" rIns="73152" tIns="36576" bIns="36576" anchor="ctr"/>
          <a:lstStyle/>
          <a:p>
            <a:pPr algn="l" marL="0" indent="0">
              <a:lnSpc>
                <a:spcPct val="115000"/>
              </a:lnSpc>
              <a:spcAft>
                <a:spcPts val="350"/>
              </a:spcAft>
              <a:buNone/>
            </a:pPr>
            <a:r>
              <a:rPr sz="1000" b="1">
                <a:solidFill>
                  <a:srgbClr val="3FA7B8"/>
                </a:solidFill>
                <a:latin typeface="맑은 고딕"/>
                <a:ea typeface="맑은 고딕"/>
                <a:cs typeface="맑은 고딕"/>
              </a:rPr>
              <a:t>dₕ = d/H</a:t>
            </a:r>
          </a:p>
        </p:txBody>
      </p:sp>
      <p:sp>
        <p:nvSpPr>
          <p:cNvPr id="18" name="TextBox 17"/>
          <p:cNvSpPr txBox="1"/>
          <p:nvPr/>
        </p:nvSpPr>
        <p:spPr>
          <a:xfrm>
            <a:off x="6414516" y="2148840"/>
            <a:ext cx="2292858" cy="566928"/>
          </a:xfrm>
          <a:prstGeom prst="rect">
            <a:avLst/>
          </a:prstGeom>
          <a:noFill/>
        </p:spPr>
        <p:txBody>
          <a:bodyPr wrap="square" lIns="73152" rIns="73152" tIns="36576" bIns="36576" anchor="ctr"/>
          <a:lstStyle/>
          <a:p>
            <a:pPr algn="l" marL="0" indent="0">
              <a:lnSpc>
                <a:spcPct val="115000"/>
              </a:lnSpc>
              <a:spcAft>
                <a:spcPts val="665"/>
              </a:spcAft>
              <a:buNone/>
            </a:pPr>
            <a:r>
              <a:rPr sz="1900" b="1">
                <a:solidFill>
                  <a:srgbClr val="0F6C8C"/>
                </a:solidFill>
                <a:latin typeface="맑은 고딕"/>
                <a:ea typeface="맑은 고딕"/>
                <a:cs typeface="맑은 고딕"/>
              </a:rPr>
              <a:t>Multi-head</a:t>
            </a:r>
          </a:p>
        </p:txBody>
      </p:sp>
      <p:sp>
        <p:nvSpPr>
          <p:cNvPr id="19" name="TextBox 18"/>
          <p:cNvSpPr txBox="1"/>
          <p:nvPr/>
        </p:nvSpPr>
        <p:spPr>
          <a:xfrm>
            <a:off x="6414516" y="2788920"/>
            <a:ext cx="2292858" cy="2770632"/>
          </a:xfrm>
          <a:prstGeom prst="rect">
            <a:avLst/>
          </a:prstGeom>
          <a:noFill/>
        </p:spPr>
        <p:txBody>
          <a:bodyPr wrap="square" lIns="73152" rIns="73152" tIns="36576" bIns="36576" anchor="t"/>
          <a:lstStyle/>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특징 투영을 H개로 나눈다</a:t>
            </a:r>
          </a:p>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각 head는 </a:t>
            </a:r>
            <a:r>
              <a:rPr sz="1500" b="1">
                <a:solidFill>
                  <a:srgbClr val="1F2D3D"/>
                </a:solidFill>
                <a:latin typeface="맑은 고딕"/>
                <a:ea typeface="맑은 고딕"/>
                <a:cs typeface="맑은 고딕"/>
              </a:rPr>
              <a:t>전체 위치</a:t>
            </a:r>
            <a:r>
              <a:rPr sz="1500" b="0">
                <a:solidFill>
                  <a:srgbClr val="1F2D3D"/>
                </a:solidFill>
                <a:latin typeface="맑은 고딕"/>
                <a:ea typeface="맑은 고딕"/>
                <a:cs typeface="맑은 고딕"/>
              </a:rPr>
              <a:t>를 처리</a:t>
            </a:r>
          </a:p>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concat → W_O로 다시 d차원</a:t>
            </a:r>
          </a:p>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H를 늘려도 d가 같으면 dₕ만 줄어듦</a:t>
            </a:r>
          </a:p>
        </p:txBody>
      </p:sp>
      <p:sp>
        <p:nvSpPr>
          <p:cNvPr id="20" name="Rounded Rectangle 19"/>
          <p:cNvSpPr/>
          <p:nvPr/>
        </p:nvSpPr>
        <p:spPr>
          <a:xfrm>
            <a:off x="9118854" y="1691640"/>
            <a:ext cx="2612898" cy="3977640"/>
          </a:xfrm>
          <a:prstGeom prst="roundRect">
            <a:avLst>
              <a:gd name="adj" fmla="val 2799"/>
            </a:avLst>
          </a:prstGeom>
          <a:solidFill>
            <a:srgbClr val="FD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01734" y="1828800"/>
            <a:ext cx="2292858" cy="320040"/>
          </a:xfrm>
          <a:prstGeom prst="rect">
            <a:avLst/>
          </a:prstGeom>
          <a:noFill/>
        </p:spPr>
        <p:txBody>
          <a:bodyPr wrap="square" lIns="73152" rIns="73152" tIns="36576" bIns="36576" anchor="ctr"/>
          <a:lstStyle/>
          <a:p>
            <a:pPr algn="l" marL="0" indent="0">
              <a:lnSpc>
                <a:spcPct val="115000"/>
              </a:lnSpc>
              <a:spcAft>
                <a:spcPts val="350"/>
              </a:spcAft>
              <a:buNone/>
            </a:pPr>
            <a:r>
              <a:rPr sz="1000" b="1">
                <a:solidFill>
                  <a:srgbClr val="E07A2F"/>
                </a:solidFill>
                <a:latin typeface="맑은 고딕"/>
                <a:ea typeface="맑은 고딕"/>
                <a:cs typeface="맑은 고딕"/>
              </a:rPr>
              <a:t>d=8, H=2, N=5</a:t>
            </a:r>
          </a:p>
        </p:txBody>
      </p:sp>
      <p:sp>
        <p:nvSpPr>
          <p:cNvPr id="22" name="TextBox 21"/>
          <p:cNvSpPr txBox="1"/>
          <p:nvPr/>
        </p:nvSpPr>
        <p:spPr>
          <a:xfrm>
            <a:off x="9301734" y="2148840"/>
            <a:ext cx="2292858" cy="566928"/>
          </a:xfrm>
          <a:prstGeom prst="rect">
            <a:avLst/>
          </a:prstGeom>
          <a:noFill/>
        </p:spPr>
        <p:txBody>
          <a:bodyPr wrap="square" lIns="73152" rIns="73152" tIns="36576" bIns="36576" anchor="ctr"/>
          <a:lstStyle/>
          <a:p>
            <a:pPr algn="l" marL="0" indent="0">
              <a:lnSpc>
                <a:spcPct val="115000"/>
              </a:lnSpc>
              <a:spcAft>
                <a:spcPts val="665"/>
              </a:spcAft>
              <a:buNone/>
            </a:pPr>
            <a:r>
              <a:rPr sz="1900" b="1">
                <a:solidFill>
                  <a:srgbClr val="E07A2F"/>
                </a:solidFill>
                <a:latin typeface="맑은 고딕"/>
                <a:ea typeface="맑은 고딕"/>
                <a:cs typeface="맑은 고딕"/>
              </a:rPr>
              <a:t>Shape 추적</a:t>
            </a:r>
          </a:p>
        </p:txBody>
      </p:sp>
      <p:sp>
        <p:nvSpPr>
          <p:cNvPr id="23" name="TextBox 22"/>
          <p:cNvSpPr txBox="1"/>
          <p:nvPr/>
        </p:nvSpPr>
        <p:spPr>
          <a:xfrm>
            <a:off x="9301734" y="2788920"/>
            <a:ext cx="2292858" cy="2770632"/>
          </a:xfrm>
          <a:prstGeom prst="rect">
            <a:avLst/>
          </a:prstGeom>
          <a:noFill/>
        </p:spPr>
        <p:txBody>
          <a:bodyPr wrap="square" lIns="73152" rIns="73152" tIns="36576" bIns="36576" anchor="t"/>
          <a:lstStyle/>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X </a:t>
            </a:r>
            <a:r>
              <a:rPr sz="1500" b="0">
                <a:solidFill>
                  <a:srgbClr val="1F2D3D"/>
                </a:solidFill>
                <a:latin typeface="Courier New"/>
                <a:ea typeface="맑은 고딕"/>
                <a:cs typeface="Courier New"/>
              </a:rPr>
              <a:t>(B,5,8)</a:t>
            </a:r>
            <a:r>
              <a:rPr sz="1500" b="0">
                <a:solidFill>
                  <a:srgbClr val="1F2D3D"/>
                </a:solidFill>
                <a:latin typeface="맑은 고딕"/>
                <a:ea typeface="맑은 고딕"/>
                <a:cs typeface="맑은 고딕"/>
              </a:rPr>
              <a:t> → Q </a:t>
            </a:r>
            <a:r>
              <a:rPr sz="1500" b="0">
                <a:solidFill>
                  <a:srgbClr val="1F2D3D"/>
                </a:solidFill>
                <a:latin typeface="Courier New"/>
                <a:ea typeface="맑은 고딕"/>
                <a:cs typeface="Courier New"/>
              </a:rPr>
              <a:t>(B,2,5,4)</a:t>
            </a:r>
          </a:p>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QKᵀ </a:t>
            </a:r>
            <a:r>
              <a:rPr sz="1500" b="0">
                <a:solidFill>
                  <a:srgbClr val="1F2D3D"/>
                </a:solidFill>
                <a:latin typeface="Courier New"/>
                <a:ea typeface="맑은 고딕"/>
                <a:cs typeface="Courier New"/>
              </a:rPr>
              <a:t>(B,2,5,5)</a:t>
            </a:r>
            <a:r>
              <a:rPr sz="1500" b="0">
                <a:solidFill>
                  <a:srgbClr val="1F2D3D"/>
                </a:solidFill>
                <a:latin typeface="맑은 고딕"/>
                <a:ea typeface="맑은 고딕"/>
                <a:cs typeface="맑은 고딕"/>
              </a:rPr>
              <a:t>: Query×Key 표</a:t>
            </a:r>
          </a:p>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합치기 → </a:t>
            </a:r>
            <a:r>
              <a:rPr sz="1500" b="0">
                <a:solidFill>
                  <a:srgbClr val="1F2D3D"/>
                </a:solidFill>
                <a:latin typeface="Courier New"/>
                <a:ea typeface="맑은 고딕"/>
                <a:cs typeface="Courier New"/>
              </a:rPr>
              <a:t>(B,5,8)</a:t>
            </a:r>
            <a:r>
              <a:rPr sz="1500" b="0">
                <a:solidFill>
                  <a:srgbClr val="1F2D3D"/>
                </a:solidFill>
                <a:latin typeface="맑은 고딕"/>
                <a:ea typeface="맑은 고딕"/>
                <a:cs typeface="맑은 고딕"/>
              </a:rPr>
              <a:t>: 길이·폭 유지</a:t>
            </a:r>
          </a:p>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Cross: 출력 길이 = Query 길이</a:t>
            </a:r>
          </a:p>
        </p:txBody>
      </p:sp>
      <p:sp>
        <p:nvSpPr>
          <p:cNvPr id="24" name="Rounded Rectangle 23"/>
          <p:cNvSpPr/>
          <p:nvPr/>
        </p:nvSpPr>
        <p:spPr>
          <a:xfrm>
            <a:off x="457200" y="5788152"/>
            <a:ext cx="11274552" cy="548640"/>
          </a:xfrm>
          <a:prstGeom prst="roundRect">
            <a:avLst>
              <a:gd name="adj" fmla="val 13333"/>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Aft>
                <a:spcPts val="400"/>
              </a:spcAft>
              <a:buNone/>
            </a:pPr>
            <a:r>
              <a:rPr sz="1600" b="1">
                <a:solidFill>
                  <a:srgbClr val="FFFFFF"/>
                </a:solidFill>
                <a:latin typeface="맑은 고딕"/>
                <a:ea typeface="맑은 고딕"/>
                <a:cs typeface="맑은 고딕"/>
              </a:rPr>
              <a:t>오늘: 이 블록에 FFN·Residual·Norm·Mask를 붙여 학습·추론까지 완성한다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위치: 2017년 원형과 그 이후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6주차는 2017년 원형을 완성하고, 이후 갈래를 '비교하는 틀'로 연결한다</a:t>
            </a:r>
          </a:p>
        </p:txBody>
      </p:sp>
      <p:sp>
        <p:nvSpPr>
          <p:cNvPr id="8" name="Rectangle 7"/>
          <p:cNvSpPr/>
          <p:nvPr/>
        </p:nvSpPr>
        <p:spPr>
          <a:xfrm>
            <a:off x="457200" y="2532888"/>
            <a:ext cx="11274552" cy="54864"/>
          </a:xfrm>
          <a:prstGeom prst="rect">
            <a:avLst/>
          </a:prstGeom>
          <a:solidFill>
            <a:srgbClr val="B9CB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57200" y="1600200"/>
            <a:ext cx="1469571" cy="548640"/>
          </a:xfrm>
          <a:prstGeom prst="rect">
            <a:avLst/>
          </a:prstGeom>
          <a:noFill/>
        </p:spPr>
        <p:txBody>
          <a:bodyPr wrap="square" lIns="73152" rIns="73152" tIns="36576" bIns="36576" anchor="b"/>
          <a:lstStyle/>
          <a:p>
            <a:pPr algn="ctr" marL="0" indent="0">
              <a:lnSpc>
                <a:spcPct val="115000"/>
              </a:lnSpc>
              <a:spcAft>
                <a:spcPts val="752"/>
              </a:spcAft>
              <a:buNone/>
            </a:pPr>
            <a:r>
              <a:rPr sz="2150" b="1">
                <a:solidFill>
                  <a:srgbClr val="0F6C8C"/>
                </a:solidFill>
                <a:latin typeface="맑은 고딕"/>
                <a:ea typeface="맑은 고딕"/>
                <a:cs typeface="맑은 고딕"/>
              </a:rPr>
              <a:t>2014</a:t>
            </a:r>
          </a:p>
        </p:txBody>
      </p:sp>
      <p:sp>
        <p:nvSpPr>
          <p:cNvPr id="10" name="Oval 9"/>
          <p:cNvSpPr/>
          <p:nvPr/>
        </p:nvSpPr>
        <p:spPr>
          <a:xfrm>
            <a:off x="1073113" y="2441448"/>
            <a:ext cx="237744" cy="237744"/>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457200" y="2880360"/>
            <a:ext cx="1469571" cy="3474720"/>
          </a:xfrm>
          <a:prstGeom prst="roundRect">
            <a:avLst>
              <a:gd name="adj" fmla="val 4977"/>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2971800"/>
            <a:ext cx="1286691" cy="822960"/>
          </a:xfrm>
          <a:prstGeom prst="rect">
            <a:avLst/>
          </a:prstGeom>
          <a:noFill/>
        </p:spPr>
        <p:txBody>
          <a:bodyPr wrap="square" lIns="73152" rIns="73152" tIns="36576" bIns="36576" anchor="ctr"/>
          <a:lstStyle/>
          <a:p>
            <a:pPr algn="ctr" marL="0" indent="0">
              <a:lnSpc>
                <a:spcPct val="115000"/>
              </a:lnSpc>
              <a:spcAft>
                <a:spcPts val="560"/>
              </a:spcAft>
              <a:buNone/>
            </a:pPr>
            <a:r>
              <a:rPr sz="1600" b="1">
                <a:solidFill>
                  <a:srgbClr val="0F6C8C"/>
                </a:solidFill>
                <a:latin typeface="맑은 고딕"/>
                <a:ea typeface="맑은 고딕"/>
                <a:cs typeface="맑은 고딕"/>
              </a:rPr>
              <a:t>Attention</a:t>
            </a:r>
          </a:p>
        </p:txBody>
      </p:sp>
      <p:sp>
        <p:nvSpPr>
          <p:cNvPr id="13" name="TextBox 12"/>
          <p:cNvSpPr txBox="1"/>
          <p:nvPr/>
        </p:nvSpPr>
        <p:spPr>
          <a:xfrm>
            <a:off x="548640" y="3840480"/>
            <a:ext cx="1286691" cy="2423160"/>
          </a:xfrm>
          <a:prstGeom prst="rect">
            <a:avLst/>
          </a:prstGeom>
          <a:noFill/>
        </p:spPr>
        <p:txBody>
          <a:bodyPr wrap="square" lIns="73152" rIns="73152" tIns="36576" bIns="36576" anchor="t"/>
          <a:lstStyle/>
          <a:p>
            <a:pPr algn="l" marL="0" indent="0">
              <a:lnSpc>
                <a:spcPct val="115000"/>
              </a:lnSpc>
              <a:spcAft>
                <a:spcPts val="390"/>
              </a:spcAft>
              <a:buNone/>
            </a:pPr>
            <a:r>
              <a:rPr sz="1300" b="0">
                <a:solidFill>
                  <a:srgbClr val="1F2D3D"/>
                </a:solidFill>
                <a:latin typeface="맑은 고딕"/>
                <a:ea typeface="맑은 고딕"/>
                <a:cs typeface="맑은 고딕"/>
              </a:rPr>
              <a:t>Bahdanau 등: 정렬과 문맥 가중합</a:t>
            </a:r>
          </a:p>
        </p:txBody>
      </p:sp>
      <p:sp>
        <p:nvSpPr>
          <p:cNvPr id="14" name="TextBox 13"/>
          <p:cNvSpPr txBox="1"/>
          <p:nvPr/>
        </p:nvSpPr>
        <p:spPr>
          <a:xfrm>
            <a:off x="2091363" y="1600200"/>
            <a:ext cx="1469571" cy="548640"/>
          </a:xfrm>
          <a:prstGeom prst="rect">
            <a:avLst/>
          </a:prstGeom>
          <a:noFill/>
        </p:spPr>
        <p:txBody>
          <a:bodyPr wrap="square" lIns="73152" rIns="73152" tIns="36576" bIns="36576" anchor="b"/>
          <a:lstStyle/>
          <a:p>
            <a:pPr algn="ctr" marL="0" indent="0">
              <a:lnSpc>
                <a:spcPct val="115000"/>
              </a:lnSpc>
              <a:spcAft>
                <a:spcPts val="752"/>
              </a:spcAft>
              <a:buNone/>
            </a:pPr>
            <a:r>
              <a:rPr sz="2150" b="1">
                <a:solidFill>
                  <a:srgbClr val="0F6C8C"/>
                </a:solidFill>
                <a:latin typeface="맑은 고딕"/>
                <a:ea typeface="맑은 고딕"/>
                <a:cs typeface="맑은 고딕"/>
              </a:rPr>
              <a:t>2015</a:t>
            </a:r>
          </a:p>
        </p:txBody>
      </p:sp>
      <p:sp>
        <p:nvSpPr>
          <p:cNvPr id="15" name="Oval 14"/>
          <p:cNvSpPr/>
          <p:nvPr/>
        </p:nvSpPr>
        <p:spPr>
          <a:xfrm>
            <a:off x="2707277" y="2441448"/>
            <a:ext cx="237744" cy="237744"/>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2091363" y="2880360"/>
            <a:ext cx="1469571" cy="3474720"/>
          </a:xfrm>
          <a:prstGeom prst="roundRect">
            <a:avLst>
              <a:gd name="adj" fmla="val 4977"/>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2182803" y="2971800"/>
            <a:ext cx="1286691" cy="822960"/>
          </a:xfrm>
          <a:prstGeom prst="rect">
            <a:avLst/>
          </a:prstGeom>
          <a:noFill/>
        </p:spPr>
        <p:txBody>
          <a:bodyPr wrap="square" lIns="73152" rIns="73152" tIns="36576" bIns="36576" anchor="ctr"/>
          <a:lstStyle/>
          <a:p>
            <a:pPr algn="ctr" marL="0" indent="0">
              <a:lnSpc>
                <a:spcPct val="115000"/>
              </a:lnSpc>
              <a:spcAft>
                <a:spcPts val="560"/>
              </a:spcAft>
              <a:buNone/>
            </a:pPr>
            <a:r>
              <a:rPr sz="1600" b="1">
                <a:solidFill>
                  <a:srgbClr val="0F6C8C"/>
                </a:solidFill>
                <a:latin typeface="맑은 고딕"/>
                <a:ea typeface="맑은 고딕"/>
                <a:cs typeface="맑은 고딕"/>
              </a:rPr>
              <a:t>ResNet</a:t>
            </a:r>
          </a:p>
        </p:txBody>
      </p:sp>
      <p:sp>
        <p:nvSpPr>
          <p:cNvPr id="18" name="TextBox 17"/>
          <p:cNvSpPr txBox="1"/>
          <p:nvPr/>
        </p:nvSpPr>
        <p:spPr>
          <a:xfrm>
            <a:off x="2182803" y="3840480"/>
            <a:ext cx="1286691" cy="2423160"/>
          </a:xfrm>
          <a:prstGeom prst="rect">
            <a:avLst/>
          </a:prstGeom>
          <a:noFill/>
        </p:spPr>
        <p:txBody>
          <a:bodyPr wrap="square" lIns="73152" rIns="73152" tIns="36576" bIns="36576" anchor="t"/>
          <a:lstStyle/>
          <a:p>
            <a:pPr algn="l" marL="0" indent="0">
              <a:lnSpc>
                <a:spcPct val="115000"/>
              </a:lnSpc>
              <a:spcAft>
                <a:spcPts val="390"/>
              </a:spcAft>
              <a:buNone/>
            </a:pPr>
            <a:r>
              <a:rPr sz="1300" b="0">
                <a:solidFill>
                  <a:srgbClr val="1F2D3D"/>
                </a:solidFill>
                <a:latin typeface="맑은 고딕"/>
                <a:ea typeface="맑은 고딕"/>
                <a:cs typeface="맑은 고딕"/>
              </a:rPr>
              <a:t>잔차 연결로 깊은 모델 최적화</a:t>
            </a:r>
          </a:p>
        </p:txBody>
      </p:sp>
      <p:sp>
        <p:nvSpPr>
          <p:cNvPr id="19" name="TextBox 18"/>
          <p:cNvSpPr txBox="1"/>
          <p:nvPr/>
        </p:nvSpPr>
        <p:spPr>
          <a:xfrm>
            <a:off x="3725526" y="1600200"/>
            <a:ext cx="1469571" cy="548640"/>
          </a:xfrm>
          <a:prstGeom prst="rect">
            <a:avLst/>
          </a:prstGeom>
          <a:noFill/>
        </p:spPr>
        <p:txBody>
          <a:bodyPr wrap="square" lIns="73152" rIns="73152" tIns="36576" bIns="36576" anchor="b"/>
          <a:lstStyle/>
          <a:p>
            <a:pPr algn="ctr" marL="0" indent="0">
              <a:lnSpc>
                <a:spcPct val="115000"/>
              </a:lnSpc>
              <a:spcAft>
                <a:spcPts val="752"/>
              </a:spcAft>
              <a:buNone/>
            </a:pPr>
            <a:r>
              <a:rPr sz="2150" b="1">
                <a:solidFill>
                  <a:srgbClr val="0F6C8C"/>
                </a:solidFill>
                <a:latin typeface="맑은 고딕"/>
                <a:ea typeface="맑은 고딕"/>
                <a:cs typeface="맑은 고딕"/>
              </a:rPr>
              <a:t>2016</a:t>
            </a:r>
          </a:p>
        </p:txBody>
      </p:sp>
      <p:sp>
        <p:nvSpPr>
          <p:cNvPr id="20" name="Oval 19"/>
          <p:cNvSpPr/>
          <p:nvPr/>
        </p:nvSpPr>
        <p:spPr>
          <a:xfrm>
            <a:off x="4341440" y="2441448"/>
            <a:ext cx="237744" cy="237744"/>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725526" y="2880360"/>
            <a:ext cx="1469571" cy="3474720"/>
          </a:xfrm>
          <a:prstGeom prst="roundRect">
            <a:avLst>
              <a:gd name="adj" fmla="val 4977"/>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16966" y="2971800"/>
            <a:ext cx="1286691" cy="822960"/>
          </a:xfrm>
          <a:prstGeom prst="rect">
            <a:avLst/>
          </a:prstGeom>
          <a:noFill/>
        </p:spPr>
        <p:txBody>
          <a:bodyPr wrap="square" lIns="73152" rIns="73152" tIns="36576" bIns="36576" anchor="ctr"/>
          <a:lstStyle/>
          <a:p>
            <a:pPr algn="ctr" marL="0" indent="0">
              <a:lnSpc>
                <a:spcPct val="115000"/>
              </a:lnSpc>
              <a:spcAft>
                <a:spcPts val="560"/>
              </a:spcAft>
              <a:buNone/>
            </a:pPr>
            <a:r>
              <a:rPr sz="1600" b="1">
                <a:solidFill>
                  <a:srgbClr val="0F6C8C"/>
                </a:solidFill>
                <a:latin typeface="맑은 고딕"/>
                <a:ea typeface="맑은 고딕"/>
                <a:cs typeface="맑은 고딕"/>
              </a:rPr>
              <a:t>LayerNorm</a:t>
            </a:r>
          </a:p>
        </p:txBody>
      </p:sp>
      <p:sp>
        <p:nvSpPr>
          <p:cNvPr id="23" name="TextBox 22"/>
          <p:cNvSpPr txBox="1"/>
          <p:nvPr/>
        </p:nvSpPr>
        <p:spPr>
          <a:xfrm>
            <a:off x="3816966" y="3840480"/>
            <a:ext cx="1286691" cy="2423160"/>
          </a:xfrm>
          <a:prstGeom prst="rect">
            <a:avLst/>
          </a:prstGeom>
          <a:noFill/>
        </p:spPr>
        <p:txBody>
          <a:bodyPr wrap="square" lIns="73152" rIns="73152" tIns="36576" bIns="36576" anchor="t"/>
          <a:lstStyle/>
          <a:p>
            <a:pPr algn="l" marL="0" indent="0">
              <a:lnSpc>
                <a:spcPct val="115000"/>
              </a:lnSpc>
              <a:spcAft>
                <a:spcPts val="390"/>
              </a:spcAft>
              <a:buNone/>
            </a:pPr>
            <a:r>
              <a:rPr sz="1300" b="0">
                <a:solidFill>
                  <a:srgbClr val="1F2D3D"/>
                </a:solidFill>
                <a:latin typeface="맑은 고딕"/>
                <a:ea typeface="맑은 고딕"/>
                <a:cs typeface="맑은 고딕"/>
              </a:rPr>
              <a:t>특징 축 정규화 (Ba 등)</a:t>
            </a:r>
          </a:p>
        </p:txBody>
      </p:sp>
      <p:sp>
        <p:nvSpPr>
          <p:cNvPr id="24" name="TextBox 23"/>
          <p:cNvSpPr txBox="1"/>
          <p:nvPr/>
        </p:nvSpPr>
        <p:spPr>
          <a:xfrm>
            <a:off x="5359690" y="1600200"/>
            <a:ext cx="1469571" cy="548640"/>
          </a:xfrm>
          <a:prstGeom prst="rect">
            <a:avLst/>
          </a:prstGeom>
          <a:noFill/>
        </p:spPr>
        <p:txBody>
          <a:bodyPr wrap="square" lIns="73152" rIns="73152" tIns="36576" bIns="36576" anchor="b"/>
          <a:lstStyle/>
          <a:p>
            <a:pPr algn="ctr" marL="0" indent="0">
              <a:lnSpc>
                <a:spcPct val="115000"/>
              </a:lnSpc>
              <a:spcAft>
                <a:spcPts val="752"/>
              </a:spcAft>
              <a:buNone/>
            </a:pPr>
            <a:r>
              <a:rPr sz="2150" b="1">
                <a:solidFill>
                  <a:srgbClr val="E07A2F"/>
                </a:solidFill>
                <a:latin typeface="맑은 고딕"/>
                <a:ea typeface="맑은 고딕"/>
                <a:cs typeface="맑은 고딕"/>
              </a:rPr>
              <a:t>2017</a:t>
            </a:r>
          </a:p>
        </p:txBody>
      </p:sp>
      <p:sp>
        <p:nvSpPr>
          <p:cNvPr id="25" name="Oval 24"/>
          <p:cNvSpPr/>
          <p:nvPr/>
        </p:nvSpPr>
        <p:spPr>
          <a:xfrm>
            <a:off x="5975604" y="2441448"/>
            <a:ext cx="237744" cy="237744"/>
          </a:xfrm>
          <a:prstGeom prst="ellipse">
            <a:avLst/>
          </a:prstGeom>
          <a:solidFill>
            <a:srgbClr val="E07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359690" y="2880360"/>
            <a:ext cx="1469571" cy="3474720"/>
          </a:xfrm>
          <a:prstGeom prst="roundRect">
            <a:avLst>
              <a:gd name="adj" fmla="val 4977"/>
            </a:avLst>
          </a:prstGeom>
          <a:solidFill>
            <a:srgbClr val="FD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451130" y="2971800"/>
            <a:ext cx="1286691" cy="822960"/>
          </a:xfrm>
          <a:prstGeom prst="rect">
            <a:avLst/>
          </a:prstGeom>
          <a:noFill/>
        </p:spPr>
        <p:txBody>
          <a:bodyPr wrap="square" lIns="73152" rIns="73152" tIns="36576" bIns="36576" anchor="ctr"/>
          <a:lstStyle/>
          <a:p>
            <a:pPr algn="ctr" marL="0" indent="0">
              <a:lnSpc>
                <a:spcPct val="115000"/>
              </a:lnSpc>
              <a:spcAft>
                <a:spcPts val="560"/>
              </a:spcAft>
              <a:buNone/>
            </a:pPr>
            <a:r>
              <a:rPr sz="1600" b="1">
                <a:solidFill>
                  <a:srgbClr val="E07A2F"/>
                </a:solidFill>
                <a:latin typeface="맑은 고딕"/>
                <a:ea typeface="맑은 고딕"/>
                <a:cs typeface="맑은 고딕"/>
              </a:rPr>
              <a:t>Transformer</a:t>
            </a:r>
          </a:p>
        </p:txBody>
      </p:sp>
      <p:sp>
        <p:nvSpPr>
          <p:cNvPr id="28" name="TextBox 27"/>
          <p:cNvSpPr txBox="1"/>
          <p:nvPr/>
        </p:nvSpPr>
        <p:spPr>
          <a:xfrm>
            <a:off x="5451130" y="3840480"/>
            <a:ext cx="1286691" cy="2423160"/>
          </a:xfrm>
          <a:prstGeom prst="rect">
            <a:avLst/>
          </a:prstGeom>
          <a:noFill/>
        </p:spPr>
        <p:txBody>
          <a:bodyPr wrap="square" lIns="73152" rIns="73152" tIns="36576" bIns="36576" anchor="t"/>
          <a:lstStyle/>
          <a:p>
            <a:pPr algn="l" marL="0" indent="0">
              <a:lnSpc>
                <a:spcPct val="115000"/>
              </a:lnSpc>
              <a:spcAft>
                <a:spcPts val="390"/>
              </a:spcAft>
              <a:buNone/>
            </a:pPr>
            <a:r>
              <a:rPr sz="1300" b="0">
                <a:solidFill>
                  <a:srgbClr val="1F2D3D"/>
                </a:solidFill>
                <a:latin typeface="맑은 고딕"/>
                <a:ea typeface="맑은 고딕"/>
                <a:cs typeface="맑은 고딕"/>
              </a:rPr>
              <a:t>Attention·FFN·잔차·정규화·위치 정보의 조합</a:t>
            </a:r>
          </a:p>
        </p:txBody>
      </p:sp>
      <p:sp>
        <p:nvSpPr>
          <p:cNvPr id="29" name="TextBox 28"/>
          <p:cNvSpPr txBox="1"/>
          <p:nvPr/>
        </p:nvSpPr>
        <p:spPr>
          <a:xfrm>
            <a:off x="6993853" y="1600200"/>
            <a:ext cx="1469571" cy="548640"/>
          </a:xfrm>
          <a:prstGeom prst="rect">
            <a:avLst/>
          </a:prstGeom>
          <a:noFill/>
        </p:spPr>
        <p:txBody>
          <a:bodyPr wrap="square" lIns="73152" rIns="73152" tIns="36576" bIns="36576" anchor="b"/>
          <a:lstStyle/>
          <a:p>
            <a:pPr algn="ctr" marL="0" indent="0">
              <a:lnSpc>
                <a:spcPct val="115000"/>
              </a:lnSpc>
              <a:spcAft>
                <a:spcPts val="752"/>
              </a:spcAft>
              <a:buNone/>
            </a:pPr>
            <a:r>
              <a:rPr sz="2150" b="1">
                <a:solidFill>
                  <a:srgbClr val="0F6C8C"/>
                </a:solidFill>
                <a:latin typeface="맑은 고딕"/>
                <a:ea typeface="맑은 고딕"/>
                <a:cs typeface="맑은 고딕"/>
              </a:rPr>
              <a:t>2018</a:t>
            </a:r>
          </a:p>
        </p:txBody>
      </p:sp>
      <p:sp>
        <p:nvSpPr>
          <p:cNvPr id="30" name="Oval 29"/>
          <p:cNvSpPr/>
          <p:nvPr/>
        </p:nvSpPr>
        <p:spPr>
          <a:xfrm>
            <a:off x="7609767" y="2441448"/>
            <a:ext cx="237744" cy="237744"/>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993853" y="2880360"/>
            <a:ext cx="1469571" cy="3474720"/>
          </a:xfrm>
          <a:prstGeom prst="roundRect">
            <a:avLst>
              <a:gd name="adj" fmla="val 4977"/>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085293" y="2971800"/>
            <a:ext cx="1286691" cy="822960"/>
          </a:xfrm>
          <a:prstGeom prst="rect">
            <a:avLst/>
          </a:prstGeom>
          <a:noFill/>
        </p:spPr>
        <p:txBody>
          <a:bodyPr wrap="square" lIns="73152" rIns="73152" tIns="36576" bIns="36576" anchor="ctr"/>
          <a:lstStyle/>
          <a:p>
            <a:pPr algn="ctr" marL="0" indent="0">
              <a:lnSpc>
                <a:spcPct val="115000"/>
              </a:lnSpc>
              <a:spcAft>
                <a:spcPts val="560"/>
              </a:spcAft>
              <a:buNone/>
            </a:pPr>
            <a:r>
              <a:rPr sz="1600" b="1">
                <a:solidFill>
                  <a:srgbClr val="0F6C8C"/>
                </a:solidFill>
                <a:latin typeface="맑은 고딕"/>
                <a:ea typeface="맑은 고딕"/>
                <a:cs typeface="맑은 고딕"/>
              </a:rPr>
              <a:t>BERT · GPT</a:t>
            </a:r>
          </a:p>
        </p:txBody>
      </p:sp>
      <p:sp>
        <p:nvSpPr>
          <p:cNvPr id="33" name="TextBox 32"/>
          <p:cNvSpPr txBox="1"/>
          <p:nvPr/>
        </p:nvSpPr>
        <p:spPr>
          <a:xfrm>
            <a:off x="7085293" y="3840480"/>
            <a:ext cx="1286691" cy="2423160"/>
          </a:xfrm>
          <a:prstGeom prst="rect">
            <a:avLst/>
          </a:prstGeom>
          <a:noFill/>
        </p:spPr>
        <p:txBody>
          <a:bodyPr wrap="square" lIns="73152" rIns="73152" tIns="36576" bIns="36576" anchor="t"/>
          <a:lstStyle/>
          <a:p>
            <a:pPr algn="l" marL="0" indent="0">
              <a:lnSpc>
                <a:spcPct val="115000"/>
              </a:lnSpc>
              <a:spcAft>
                <a:spcPts val="390"/>
              </a:spcAft>
              <a:buNone/>
            </a:pPr>
            <a:r>
              <a:rPr sz="1300" b="0">
                <a:solidFill>
                  <a:srgbClr val="1F2D3D"/>
                </a:solidFill>
                <a:latin typeface="맑은 고딕"/>
                <a:ea typeface="맑은 고딕"/>
                <a:cs typeface="맑은 고딕"/>
              </a:rPr>
              <a:t>Encoder-only / Decoder-only 사전학습</a:t>
            </a:r>
          </a:p>
        </p:txBody>
      </p:sp>
      <p:sp>
        <p:nvSpPr>
          <p:cNvPr id="34" name="TextBox 33"/>
          <p:cNvSpPr txBox="1"/>
          <p:nvPr/>
        </p:nvSpPr>
        <p:spPr>
          <a:xfrm>
            <a:off x="8628017" y="1600200"/>
            <a:ext cx="1469571" cy="548640"/>
          </a:xfrm>
          <a:prstGeom prst="rect">
            <a:avLst/>
          </a:prstGeom>
          <a:noFill/>
        </p:spPr>
        <p:txBody>
          <a:bodyPr wrap="square" lIns="73152" rIns="73152" tIns="36576" bIns="36576" anchor="b"/>
          <a:lstStyle/>
          <a:p>
            <a:pPr algn="ctr" marL="0" indent="0">
              <a:lnSpc>
                <a:spcPct val="115000"/>
              </a:lnSpc>
              <a:spcAft>
                <a:spcPts val="752"/>
              </a:spcAft>
              <a:buNone/>
            </a:pPr>
            <a:r>
              <a:rPr sz="2150" b="1">
                <a:solidFill>
                  <a:srgbClr val="0F6C8C"/>
                </a:solidFill>
                <a:latin typeface="맑은 고딕"/>
                <a:ea typeface="맑은 고딕"/>
                <a:cs typeface="맑은 고딕"/>
              </a:rPr>
              <a:t>2020</a:t>
            </a:r>
          </a:p>
        </p:txBody>
      </p:sp>
      <p:sp>
        <p:nvSpPr>
          <p:cNvPr id="35" name="Oval 34"/>
          <p:cNvSpPr/>
          <p:nvPr/>
        </p:nvSpPr>
        <p:spPr>
          <a:xfrm>
            <a:off x="9243930" y="2441448"/>
            <a:ext cx="237744" cy="237744"/>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8628017" y="2880360"/>
            <a:ext cx="1469571" cy="3474720"/>
          </a:xfrm>
          <a:prstGeom prst="roundRect">
            <a:avLst>
              <a:gd name="adj" fmla="val 4977"/>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719457" y="2971800"/>
            <a:ext cx="1286691" cy="822960"/>
          </a:xfrm>
          <a:prstGeom prst="rect">
            <a:avLst/>
          </a:prstGeom>
          <a:noFill/>
        </p:spPr>
        <p:txBody>
          <a:bodyPr wrap="square" lIns="73152" rIns="73152" tIns="36576" bIns="36576" anchor="ctr"/>
          <a:lstStyle/>
          <a:p>
            <a:pPr algn="ctr" marL="0" indent="0">
              <a:lnSpc>
                <a:spcPct val="115000"/>
              </a:lnSpc>
              <a:spcAft>
                <a:spcPts val="560"/>
              </a:spcAft>
              <a:buNone/>
            </a:pPr>
            <a:r>
              <a:rPr sz="1600" b="1">
                <a:solidFill>
                  <a:srgbClr val="0F6C8C"/>
                </a:solidFill>
                <a:latin typeface="맑은 고딕"/>
                <a:ea typeface="맑은 고딕"/>
                <a:cs typeface="맑은 고딕"/>
              </a:rPr>
              <a:t>ViT · Pre-LN</a:t>
            </a:r>
          </a:p>
        </p:txBody>
      </p:sp>
      <p:sp>
        <p:nvSpPr>
          <p:cNvPr id="38" name="TextBox 37"/>
          <p:cNvSpPr txBox="1"/>
          <p:nvPr/>
        </p:nvSpPr>
        <p:spPr>
          <a:xfrm>
            <a:off x="8719457" y="3840480"/>
            <a:ext cx="1286691" cy="2423160"/>
          </a:xfrm>
          <a:prstGeom prst="rect">
            <a:avLst/>
          </a:prstGeom>
          <a:noFill/>
        </p:spPr>
        <p:txBody>
          <a:bodyPr wrap="square" lIns="73152" rIns="73152" tIns="36576" bIns="36576" anchor="t"/>
          <a:lstStyle/>
          <a:p>
            <a:pPr algn="l" marL="0" indent="0">
              <a:lnSpc>
                <a:spcPct val="115000"/>
              </a:lnSpc>
              <a:spcAft>
                <a:spcPts val="390"/>
              </a:spcAft>
              <a:buNone/>
            </a:pPr>
            <a:r>
              <a:rPr sz="1300" b="0">
                <a:solidFill>
                  <a:srgbClr val="1F2D3D"/>
                </a:solidFill>
                <a:latin typeface="맑은 고딕"/>
                <a:ea typeface="맑은 고딕"/>
                <a:cs typeface="맑은 고딕"/>
              </a:rPr>
              <a:t>이미지 patch를 token으로 / 정규화 위치 분석</a:t>
            </a:r>
          </a:p>
        </p:txBody>
      </p:sp>
      <p:sp>
        <p:nvSpPr>
          <p:cNvPr id="39" name="TextBox 38"/>
          <p:cNvSpPr txBox="1"/>
          <p:nvPr/>
        </p:nvSpPr>
        <p:spPr>
          <a:xfrm>
            <a:off x="10262180" y="1600200"/>
            <a:ext cx="1469571" cy="548640"/>
          </a:xfrm>
          <a:prstGeom prst="rect">
            <a:avLst/>
          </a:prstGeom>
          <a:noFill/>
        </p:spPr>
        <p:txBody>
          <a:bodyPr wrap="square" lIns="73152" rIns="73152" tIns="36576" bIns="36576" anchor="b"/>
          <a:lstStyle/>
          <a:p>
            <a:pPr algn="ctr" marL="0" indent="0">
              <a:lnSpc>
                <a:spcPct val="115000"/>
              </a:lnSpc>
              <a:spcAft>
                <a:spcPts val="752"/>
              </a:spcAft>
              <a:buNone/>
            </a:pPr>
            <a:r>
              <a:rPr sz="2150" b="1">
                <a:solidFill>
                  <a:srgbClr val="0F6C8C"/>
                </a:solidFill>
                <a:latin typeface="맑은 고딕"/>
                <a:ea typeface="맑은 고딕"/>
                <a:cs typeface="맑은 고딕"/>
              </a:rPr>
              <a:t>2022</a:t>
            </a:r>
          </a:p>
        </p:txBody>
      </p:sp>
      <p:sp>
        <p:nvSpPr>
          <p:cNvPr id="40" name="Oval 39"/>
          <p:cNvSpPr/>
          <p:nvPr/>
        </p:nvSpPr>
        <p:spPr>
          <a:xfrm>
            <a:off x="10878094" y="2441448"/>
            <a:ext cx="237744" cy="237744"/>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10262180" y="2880360"/>
            <a:ext cx="1469571" cy="3474720"/>
          </a:xfrm>
          <a:prstGeom prst="roundRect">
            <a:avLst>
              <a:gd name="adj" fmla="val 4977"/>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0353620" y="2971800"/>
            <a:ext cx="1286691" cy="822960"/>
          </a:xfrm>
          <a:prstGeom prst="rect">
            <a:avLst/>
          </a:prstGeom>
          <a:noFill/>
        </p:spPr>
        <p:txBody>
          <a:bodyPr wrap="square" lIns="73152" rIns="73152" tIns="36576" bIns="36576" anchor="ctr"/>
          <a:lstStyle/>
          <a:p>
            <a:pPr algn="ctr" marL="0" indent="0">
              <a:lnSpc>
                <a:spcPct val="115000"/>
              </a:lnSpc>
              <a:spcAft>
                <a:spcPts val="560"/>
              </a:spcAft>
              <a:buNone/>
            </a:pPr>
            <a:r>
              <a:rPr sz="1600" b="1">
                <a:solidFill>
                  <a:srgbClr val="0F6C8C"/>
                </a:solidFill>
                <a:latin typeface="맑은 고딕"/>
                <a:ea typeface="맑은 고딕"/>
                <a:cs typeface="맑은 고딕"/>
              </a:rPr>
              <a:t>FlashAttn · DiT</a:t>
            </a:r>
          </a:p>
        </p:txBody>
      </p:sp>
      <p:sp>
        <p:nvSpPr>
          <p:cNvPr id="43" name="TextBox 42"/>
          <p:cNvSpPr txBox="1"/>
          <p:nvPr/>
        </p:nvSpPr>
        <p:spPr>
          <a:xfrm>
            <a:off x="10353620" y="3840480"/>
            <a:ext cx="1286691" cy="2423160"/>
          </a:xfrm>
          <a:prstGeom prst="rect">
            <a:avLst/>
          </a:prstGeom>
          <a:noFill/>
        </p:spPr>
        <p:txBody>
          <a:bodyPr wrap="square" lIns="73152" rIns="73152" tIns="36576" bIns="36576" anchor="t"/>
          <a:lstStyle/>
          <a:p>
            <a:pPr algn="l" marL="0" indent="0">
              <a:lnSpc>
                <a:spcPct val="115000"/>
              </a:lnSpc>
              <a:spcAft>
                <a:spcPts val="390"/>
              </a:spcAft>
              <a:buNone/>
            </a:pPr>
            <a:r>
              <a:rPr sz="1300" b="0">
                <a:solidFill>
                  <a:srgbClr val="1F2D3D"/>
                </a:solidFill>
                <a:latin typeface="맑은 고딕"/>
                <a:ea typeface="맑은 고딕"/>
                <a:cs typeface="맑은 고딕"/>
              </a:rPr>
              <a:t>IO 효율 exact attention / Diffusion + Transformer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학습 목표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Rounded Rectangle 6"/>
          <p:cNvSpPr/>
          <p:nvPr/>
        </p:nvSpPr>
        <p:spPr>
          <a:xfrm>
            <a:off x="457200" y="1051560"/>
            <a:ext cx="3575304" cy="2514600"/>
          </a:xfrm>
          <a:prstGeom prst="roundRect">
            <a:avLst>
              <a:gd name="adj" fmla="val 2909"/>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640080" y="1234440"/>
            <a:ext cx="457200" cy="457200"/>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37"/>
              </a:spcAft>
              <a:buNone/>
            </a:pPr>
            <a:r>
              <a:rPr sz="1350" b="1">
                <a:solidFill>
                  <a:srgbClr val="FFFFFF"/>
                </a:solidFill>
                <a:latin typeface="맑은 고딕"/>
                <a:ea typeface="맑은 고딕"/>
                <a:cs typeface="맑은 고딕"/>
              </a:rPr>
              <a:t>1</a:t>
            </a:r>
          </a:p>
        </p:txBody>
      </p:sp>
      <p:sp>
        <p:nvSpPr>
          <p:cNvPr id="9" name="TextBox 8"/>
          <p:cNvSpPr txBox="1"/>
          <p:nvPr/>
        </p:nvSpPr>
        <p:spPr>
          <a:xfrm>
            <a:off x="1234440" y="1188720"/>
            <a:ext cx="2660904" cy="566928"/>
          </a:xfrm>
          <a:prstGeom prst="rect">
            <a:avLst/>
          </a:prstGeom>
          <a:noFill/>
        </p:spPr>
        <p:txBody>
          <a:bodyPr wrap="square" lIns="73152" rIns="73152" tIns="36576" bIns="36576" anchor="ctr"/>
          <a:lstStyle/>
          <a:p>
            <a:pPr algn="l" marL="0" indent="0">
              <a:lnSpc>
                <a:spcPct val="115000"/>
              </a:lnSpc>
              <a:spcAft>
                <a:spcPts val="665"/>
              </a:spcAft>
              <a:buNone/>
            </a:pPr>
            <a:r>
              <a:rPr sz="1900" b="1">
                <a:solidFill>
                  <a:srgbClr val="0F6C8C"/>
                </a:solidFill>
                <a:latin typeface="맑은 고딕"/>
                <a:ea typeface="맑은 고딕"/>
                <a:cs typeface="맑은 고딕"/>
              </a:rPr>
              <a:t>블록 완성</a:t>
            </a:r>
          </a:p>
        </p:txBody>
      </p:sp>
      <p:sp>
        <p:nvSpPr>
          <p:cNvPr id="10" name="TextBox 9"/>
          <p:cNvSpPr txBox="1"/>
          <p:nvPr/>
        </p:nvSpPr>
        <p:spPr>
          <a:xfrm>
            <a:off x="640080" y="1828800"/>
            <a:ext cx="3255264" cy="1627632"/>
          </a:xfrm>
          <a:prstGeom prst="rect">
            <a:avLst/>
          </a:prstGeom>
          <a:noFill/>
        </p:spPr>
        <p:txBody>
          <a:bodyPr wrap="square" lIns="73152" rIns="73152" tIns="36576" bIns="36576" anchor="t"/>
          <a:lstStyle/>
          <a:p>
            <a:pPr algn="l" marL="0" indent="0">
              <a:lnSpc>
                <a:spcPct val="115000"/>
              </a:lnSpc>
              <a:spcAft>
                <a:spcPts val="600"/>
              </a:spcAft>
              <a:buNone/>
            </a:pPr>
            <a:r>
              <a:rPr sz="1500" b="0">
                <a:solidFill>
                  <a:srgbClr val="1F2D3D"/>
                </a:solidFill>
                <a:latin typeface="맑은 고딕"/>
                <a:ea typeface="맑은 고딕"/>
                <a:cs typeface="맑은 고딕"/>
              </a:rPr>
              <a:t>FFN·Residual·LayerNorm의 역할과 Post-LN / Pre-LN의 차이를 설명한다</a:t>
            </a:r>
          </a:p>
        </p:txBody>
      </p:sp>
      <p:sp>
        <p:nvSpPr>
          <p:cNvPr id="11" name="Rounded Rectangle 10"/>
          <p:cNvSpPr/>
          <p:nvPr/>
        </p:nvSpPr>
        <p:spPr>
          <a:xfrm>
            <a:off x="4306824" y="1051560"/>
            <a:ext cx="3575304" cy="2514600"/>
          </a:xfrm>
          <a:prstGeom prst="roundRect">
            <a:avLst>
              <a:gd name="adj" fmla="val 2909"/>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489704" y="1234440"/>
            <a:ext cx="457200" cy="457200"/>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37"/>
              </a:spcAft>
              <a:buNone/>
            </a:pPr>
            <a:r>
              <a:rPr sz="1350" b="1">
                <a:solidFill>
                  <a:srgbClr val="FFFFFF"/>
                </a:solidFill>
                <a:latin typeface="맑은 고딕"/>
                <a:ea typeface="맑은 고딕"/>
                <a:cs typeface="맑은 고딕"/>
              </a:rPr>
              <a:t>2</a:t>
            </a:r>
          </a:p>
        </p:txBody>
      </p:sp>
      <p:sp>
        <p:nvSpPr>
          <p:cNvPr id="13" name="TextBox 12"/>
          <p:cNvSpPr txBox="1"/>
          <p:nvPr/>
        </p:nvSpPr>
        <p:spPr>
          <a:xfrm>
            <a:off x="5084064" y="1188720"/>
            <a:ext cx="2660904" cy="566928"/>
          </a:xfrm>
          <a:prstGeom prst="rect">
            <a:avLst/>
          </a:prstGeom>
          <a:noFill/>
        </p:spPr>
        <p:txBody>
          <a:bodyPr wrap="square" lIns="73152" rIns="73152" tIns="36576" bIns="36576" anchor="ctr"/>
          <a:lstStyle/>
          <a:p>
            <a:pPr algn="l" marL="0" indent="0">
              <a:lnSpc>
                <a:spcPct val="115000"/>
              </a:lnSpc>
              <a:spcAft>
                <a:spcPts val="665"/>
              </a:spcAft>
              <a:buNone/>
            </a:pPr>
            <a:r>
              <a:rPr sz="1900" b="1">
                <a:solidFill>
                  <a:srgbClr val="0F6C8C"/>
                </a:solidFill>
                <a:latin typeface="맑은 고딕"/>
                <a:ea typeface="맑은 고딕"/>
                <a:cs typeface="맑은 고딕"/>
              </a:rPr>
              <a:t>누출 없는 학습</a:t>
            </a:r>
          </a:p>
        </p:txBody>
      </p:sp>
      <p:sp>
        <p:nvSpPr>
          <p:cNvPr id="14" name="TextBox 13"/>
          <p:cNvSpPr txBox="1"/>
          <p:nvPr/>
        </p:nvSpPr>
        <p:spPr>
          <a:xfrm>
            <a:off x="4489704" y="1828800"/>
            <a:ext cx="3255264" cy="1627632"/>
          </a:xfrm>
          <a:prstGeom prst="rect">
            <a:avLst/>
          </a:prstGeom>
          <a:noFill/>
        </p:spPr>
        <p:txBody>
          <a:bodyPr wrap="square" lIns="73152" rIns="73152" tIns="36576" bIns="36576" anchor="t"/>
          <a:lstStyle/>
          <a:p>
            <a:pPr algn="l" marL="0" indent="0">
              <a:lnSpc>
                <a:spcPct val="115000"/>
              </a:lnSpc>
              <a:spcAft>
                <a:spcPts val="600"/>
              </a:spcAft>
              <a:buNone/>
            </a:pPr>
            <a:r>
              <a:rPr sz="1500" b="0">
                <a:solidFill>
                  <a:srgbClr val="1F2D3D"/>
                </a:solidFill>
                <a:latin typeface="맑은 고딕"/>
                <a:ea typeface="맑은 고딕"/>
                <a:cs typeface="맑은 고딕"/>
              </a:rPr>
              <a:t>Target shift와 causal mask(−∞)를 이해하고 세 종류 mask를 구분한다</a:t>
            </a:r>
          </a:p>
        </p:txBody>
      </p:sp>
      <p:sp>
        <p:nvSpPr>
          <p:cNvPr id="15" name="Rounded Rectangle 14"/>
          <p:cNvSpPr/>
          <p:nvPr/>
        </p:nvSpPr>
        <p:spPr>
          <a:xfrm>
            <a:off x="8156448" y="1051560"/>
            <a:ext cx="3575304" cy="2514600"/>
          </a:xfrm>
          <a:prstGeom prst="roundRect">
            <a:avLst>
              <a:gd name="adj" fmla="val 2909"/>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339327" y="1234440"/>
            <a:ext cx="457200" cy="457200"/>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37"/>
              </a:spcAft>
              <a:buNone/>
            </a:pPr>
            <a:r>
              <a:rPr sz="1350" b="1">
                <a:solidFill>
                  <a:srgbClr val="FFFFFF"/>
                </a:solidFill>
                <a:latin typeface="맑은 고딕"/>
                <a:ea typeface="맑은 고딕"/>
                <a:cs typeface="맑은 고딕"/>
              </a:rPr>
              <a:t>3</a:t>
            </a:r>
          </a:p>
        </p:txBody>
      </p:sp>
      <p:sp>
        <p:nvSpPr>
          <p:cNvPr id="17" name="TextBox 16"/>
          <p:cNvSpPr txBox="1"/>
          <p:nvPr/>
        </p:nvSpPr>
        <p:spPr>
          <a:xfrm>
            <a:off x="8933688" y="1188720"/>
            <a:ext cx="2660904" cy="566928"/>
          </a:xfrm>
          <a:prstGeom prst="rect">
            <a:avLst/>
          </a:prstGeom>
          <a:noFill/>
        </p:spPr>
        <p:txBody>
          <a:bodyPr wrap="square" lIns="73152" rIns="73152" tIns="36576" bIns="36576" anchor="ctr"/>
          <a:lstStyle/>
          <a:p>
            <a:pPr algn="l" marL="0" indent="0">
              <a:lnSpc>
                <a:spcPct val="115000"/>
              </a:lnSpc>
              <a:spcAft>
                <a:spcPts val="665"/>
              </a:spcAft>
              <a:buNone/>
            </a:pPr>
            <a:r>
              <a:rPr sz="1900" b="1">
                <a:solidFill>
                  <a:srgbClr val="0F6C8C"/>
                </a:solidFill>
                <a:latin typeface="맑은 고딕"/>
                <a:ea typeface="맑은 고딕"/>
                <a:cs typeface="맑은 고딕"/>
              </a:rPr>
              <a:t>조립과 계산</a:t>
            </a:r>
          </a:p>
        </p:txBody>
      </p:sp>
      <p:sp>
        <p:nvSpPr>
          <p:cNvPr id="18" name="TextBox 17"/>
          <p:cNvSpPr txBox="1"/>
          <p:nvPr/>
        </p:nvSpPr>
        <p:spPr>
          <a:xfrm>
            <a:off x="8339327" y="1828800"/>
            <a:ext cx="3255264" cy="1627632"/>
          </a:xfrm>
          <a:prstGeom prst="rect">
            <a:avLst/>
          </a:prstGeom>
          <a:noFill/>
        </p:spPr>
        <p:txBody>
          <a:bodyPr wrap="square" lIns="73152" rIns="73152" tIns="36576" bIns="36576" anchor="t"/>
          <a:lstStyle/>
          <a:p>
            <a:pPr algn="l" marL="0" indent="0">
              <a:lnSpc>
                <a:spcPct val="115000"/>
              </a:lnSpc>
              <a:spcAft>
                <a:spcPts val="600"/>
              </a:spcAft>
              <a:buNone/>
            </a:pPr>
            <a:r>
              <a:rPr sz="1500" b="0">
                <a:solidFill>
                  <a:srgbClr val="1F2D3D"/>
                </a:solidFill>
                <a:latin typeface="맑은 고딕"/>
                <a:ea typeface="맑은 고딕"/>
                <a:cs typeface="맑은 고딕"/>
              </a:rPr>
              <a:t>Encoder·Decoder 층의 shape를 추적하고 파라미터 수 ≈ 4d²+2d·d_ff를 유도한다</a:t>
            </a:r>
          </a:p>
        </p:txBody>
      </p:sp>
      <p:sp>
        <p:nvSpPr>
          <p:cNvPr id="19" name="Rounded Rectangle 18"/>
          <p:cNvSpPr/>
          <p:nvPr/>
        </p:nvSpPr>
        <p:spPr>
          <a:xfrm>
            <a:off x="457200" y="3840480"/>
            <a:ext cx="3575304" cy="2514600"/>
          </a:xfrm>
          <a:prstGeom prst="roundRect">
            <a:avLst>
              <a:gd name="adj" fmla="val 2909"/>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40080" y="4023360"/>
            <a:ext cx="457200" cy="457200"/>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37"/>
              </a:spcAft>
              <a:buNone/>
            </a:pPr>
            <a:r>
              <a:rPr sz="1350" b="1">
                <a:solidFill>
                  <a:srgbClr val="FFFFFF"/>
                </a:solidFill>
                <a:latin typeface="맑은 고딕"/>
                <a:ea typeface="맑은 고딕"/>
                <a:cs typeface="맑은 고딕"/>
              </a:rPr>
              <a:t>4</a:t>
            </a:r>
          </a:p>
        </p:txBody>
      </p:sp>
      <p:sp>
        <p:nvSpPr>
          <p:cNvPr id="21" name="TextBox 20"/>
          <p:cNvSpPr txBox="1"/>
          <p:nvPr/>
        </p:nvSpPr>
        <p:spPr>
          <a:xfrm>
            <a:off x="1234440" y="3977640"/>
            <a:ext cx="2660904" cy="566928"/>
          </a:xfrm>
          <a:prstGeom prst="rect">
            <a:avLst/>
          </a:prstGeom>
          <a:noFill/>
        </p:spPr>
        <p:txBody>
          <a:bodyPr wrap="square" lIns="73152" rIns="73152" tIns="36576" bIns="36576" anchor="ctr"/>
          <a:lstStyle/>
          <a:p>
            <a:pPr algn="l" marL="0" indent="0">
              <a:lnSpc>
                <a:spcPct val="115000"/>
              </a:lnSpc>
              <a:spcAft>
                <a:spcPts val="665"/>
              </a:spcAft>
              <a:buNone/>
            </a:pPr>
            <a:r>
              <a:rPr sz="1900" b="1">
                <a:solidFill>
                  <a:srgbClr val="0F6C8C"/>
                </a:solidFill>
                <a:latin typeface="맑은 고딕"/>
                <a:ea typeface="맑은 고딕"/>
                <a:cs typeface="맑은 고딕"/>
              </a:rPr>
              <a:t>학습 recipe</a:t>
            </a:r>
          </a:p>
        </p:txBody>
      </p:sp>
      <p:sp>
        <p:nvSpPr>
          <p:cNvPr id="22" name="TextBox 21"/>
          <p:cNvSpPr txBox="1"/>
          <p:nvPr/>
        </p:nvSpPr>
        <p:spPr>
          <a:xfrm>
            <a:off x="640080" y="4617720"/>
            <a:ext cx="3255264" cy="1627632"/>
          </a:xfrm>
          <a:prstGeom prst="rect">
            <a:avLst/>
          </a:prstGeom>
          <a:noFill/>
        </p:spPr>
        <p:txBody>
          <a:bodyPr wrap="square" lIns="73152" rIns="73152" tIns="36576" bIns="36576" anchor="t"/>
          <a:lstStyle/>
          <a:p>
            <a:pPr algn="l" marL="0" indent="0">
              <a:lnSpc>
                <a:spcPct val="115000"/>
              </a:lnSpc>
              <a:spcAft>
                <a:spcPts val="600"/>
              </a:spcAft>
              <a:buNone/>
            </a:pPr>
            <a:r>
              <a:rPr sz="1500" b="0">
                <a:solidFill>
                  <a:srgbClr val="1F2D3D"/>
                </a:solidFill>
                <a:latin typeface="맑은 고딕"/>
                <a:ea typeface="맑은 고딕"/>
                <a:cs typeface="맑은 고딕"/>
              </a:rPr>
              <a:t>NLL 손실, 학습 step 순서, 원논문 학습 조건과 평가 지표를 설명한다</a:t>
            </a:r>
          </a:p>
        </p:txBody>
      </p:sp>
      <p:sp>
        <p:nvSpPr>
          <p:cNvPr id="23" name="Rounded Rectangle 22"/>
          <p:cNvSpPr/>
          <p:nvPr/>
        </p:nvSpPr>
        <p:spPr>
          <a:xfrm>
            <a:off x="4306824" y="3840480"/>
            <a:ext cx="3575304" cy="2514600"/>
          </a:xfrm>
          <a:prstGeom prst="roundRect">
            <a:avLst>
              <a:gd name="adj" fmla="val 2909"/>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489704" y="4023360"/>
            <a:ext cx="457200" cy="457200"/>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37"/>
              </a:spcAft>
              <a:buNone/>
            </a:pPr>
            <a:r>
              <a:rPr sz="1350" b="1">
                <a:solidFill>
                  <a:srgbClr val="FFFFFF"/>
                </a:solidFill>
                <a:latin typeface="맑은 고딕"/>
                <a:ea typeface="맑은 고딕"/>
                <a:cs typeface="맑은 고딕"/>
              </a:rPr>
              <a:t>5</a:t>
            </a:r>
          </a:p>
        </p:txBody>
      </p:sp>
      <p:sp>
        <p:nvSpPr>
          <p:cNvPr id="25" name="TextBox 24"/>
          <p:cNvSpPr txBox="1"/>
          <p:nvPr/>
        </p:nvSpPr>
        <p:spPr>
          <a:xfrm>
            <a:off x="5084064" y="3977640"/>
            <a:ext cx="2660904" cy="566928"/>
          </a:xfrm>
          <a:prstGeom prst="rect">
            <a:avLst/>
          </a:prstGeom>
          <a:noFill/>
        </p:spPr>
        <p:txBody>
          <a:bodyPr wrap="square" lIns="73152" rIns="73152" tIns="36576" bIns="36576" anchor="ctr"/>
          <a:lstStyle/>
          <a:p>
            <a:pPr algn="l" marL="0" indent="0">
              <a:lnSpc>
                <a:spcPct val="115000"/>
              </a:lnSpc>
              <a:spcAft>
                <a:spcPts val="665"/>
              </a:spcAft>
              <a:buNone/>
            </a:pPr>
            <a:r>
              <a:rPr sz="1900" b="1">
                <a:solidFill>
                  <a:srgbClr val="0F6C8C"/>
                </a:solidFill>
                <a:latin typeface="맑은 고딕"/>
                <a:ea typeface="맑은 고딕"/>
                <a:cs typeface="맑은 고딕"/>
              </a:rPr>
              <a:t>추론과 효율</a:t>
            </a:r>
          </a:p>
        </p:txBody>
      </p:sp>
      <p:sp>
        <p:nvSpPr>
          <p:cNvPr id="26" name="TextBox 25"/>
          <p:cNvSpPr txBox="1"/>
          <p:nvPr/>
        </p:nvSpPr>
        <p:spPr>
          <a:xfrm>
            <a:off x="4489704" y="4617720"/>
            <a:ext cx="3255264" cy="1627632"/>
          </a:xfrm>
          <a:prstGeom prst="rect">
            <a:avLst/>
          </a:prstGeom>
          <a:noFill/>
        </p:spPr>
        <p:txBody>
          <a:bodyPr wrap="square" lIns="73152" rIns="73152" tIns="36576" bIns="36576" anchor="t"/>
          <a:lstStyle/>
          <a:p>
            <a:pPr algn="l" marL="0" indent="0">
              <a:lnSpc>
                <a:spcPct val="115000"/>
              </a:lnSpc>
              <a:spcAft>
                <a:spcPts val="600"/>
              </a:spcAft>
              <a:buNone/>
            </a:pPr>
            <a:r>
              <a:rPr sz="1500" b="0">
                <a:solidFill>
                  <a:srgbClr val="1F2D3D"/>
                </a:solidFill>
                <a:latin typeface="맑은 고딕"/>
                <a:ea typeface="맑은 고딕"/>
                <a:cs typeface="맑은 고딕"/>
              </a:rPr>
              <a:t>자기회귀 생성, KV Cache, 연산량과 메모리를 따로 계산한다</a:t>
            </a:r>
          </a:p>
        </p:txBody>
      </p:sp>
      <p:sp>
        <p:nvSpPr>
          <p:cNvPr id="27" name="Rounded Rectangle 26"/>
          <p:cNvSpPr/>
          <p:nvPr/>
        </p:nvSpPr>
        <p:spPr>
          <a:xfrm>
            <a:off x="8156448" y="3840480"/>
            <a:ext cx="3575304" cy="2514600"/>
          </a:xfrm>
          <a:prstGeom prst="roundRect">
            <a:avLst>
              <a:gd name="adj" fmla="val 2909"/>
            </a:avLst>
          </a:prstGeom>
          <a:solidFill>
            <a:srgbClr val="FD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8339327" y="4023360"/>
            <a:ext cx="457200" cy="457200"/>
          </a:xfrm>
          <a:prstGeom prst="ellipse">
            <a:avLst/>
          </a:prstGeom>
          <a:solidFill>
            <a:srgbClr val="E07A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37"/>
              </a:spcAft>
              <a:buNone/>
            </a:pPr>
            <a:r>
              <a:rPr sz="1350" b="1">
                <a:solidFill>
                  <a:srgbClr val="FFFFFF"/>
                </a:solidFill>
                <a:latin typeface="맑은 고딕"/>
                <a:ea typeface="맑은 고딕"/>
                <a:cs typeface="맑은 고딕"/>
              </a:rPr>
              <a:t>6</a:t>
            </a:r>
          </a:p>
        </p:txBody>
      </p:sp>
      <p:sp>
        <p:nvSpPr>
          <p:cNvPr id="29" name="TextBox 28"/>
          <p:cNvSpPr txBox="1"/>
          <p:nvPr/>
        </p:nvSpPr>
        <p:spPr>
          <a:xfrm>
            <a:off x="8933688" y="3977640"/>
            <a:ext cx="2660904" cy="566928"/>
          </a:xfrm>
          <a:prstGeom prst="rect">
            <a:avLst/>
          </a:prstGeom>
          <a:noFill/>
        </p:spPr>
        <p:txBody>
          <a:bodyPr wrap="square" lIns="73152" rIns="73152" tIns="36576" bIns="36576" anchor="ctr"/>
          <a:lstStyle/>
          <a:p>
            <a:pPr algn="l" marL="0" indent="0">
              <a:lnSpc>
                <a:spcPct val="115000"/>
              </a:lnSpc>
              <a:spcAft>
                <a:spcPts val="665"/>
              </a:spcAft>
              <a:buNone/>
            </a:pPr>
            <a:r>
              <a:rPr sz="1900" b="1">
                <a:solidFill>
                  <a:srgbClr val="E07A2F"/>
                </a:solidFill>
                <a:latin typeface="맑은 고딕"/>
                <a:ea typeface="맑은 고딕"/>
                <a:cs typeface="맑은 고딕"/>
              </a:rPr>
              <a:t>실험과 그 이후</a:t>
            </a:r>
          </a:p>
        </p:txBody>
      </p:sp>
      <p:sp>
        <p:nvSpPr>
          <p:cNvPr id="30" name="TextBox 29"/>
          <p:cNvSpPr txBox="1"/>
          <p:nvPr/>
        </p:nvSpPr>
        <p:spPr>
          <a:xfrm>
            <a:off x="8339327" y="4617720"/>
            <a:ext cx="3255264" cy="1627632"/>
          </a:xfrm>
          <a:prstGeom prst="rect">
            <a:avLst/>
          </a:prstGeom>
          <a:noFill/>
        </p:spPr>
        <p:txBody>
          <a:bodyPr wrap="square" lIns="73152" rIns="73152" tIns="36576" bIns="36576" anchor="t"/>
          <a:lstStyle/>
          <a:p>
            <a:pPr algn="l" marL="0" indent="0">
              <a:lnSpc>
                <a:spcPct val="115000"/>
              </a:lnSpc>
              <a:spcAft>
                <a:spcPts val="600"/>
              </a:spcAft>
              <a:buNone/>
            </a:pPr>
            <a:r>
              <a:rPr sz="1500" b="0">
                <a:solidFill>
                  <a:srgbClr val="1F2D3D"/>
                </a:solidFill>
                <a:latin typeface="맑은 고딕"/>
                <a:ea typeface="맑은 고딕"/>
                <a:cs typeface="맑은 고딕"/>
              </a:rPr>
              <a:t>작은 Transformer 실험을 설계하고 BERT·GPT·ViT·DiT를 원형과 비교한다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Week 6 · Part 01</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Rounded Rectangle 6"/>
          <p:cNvSpPr/>
          <p:nvPr/>
        </p:nvSpPr>
        <p:spPr>
          <a:xfrm>
            <a:off x="822960" y="1828800"/>
            <a:ext cx="10515600" cy="3017520"/>
          </a:xfrm>
          <a:prstGeom prst="roundRect">
            <a:avLst>
              <a:gd name="adj" fmla="val 2424"/>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188720" y="2057400"/>
            <a:ext cx="2194560" cy="2560320"/>
          </a:xfrm>
          <a:prstGeom prst="rect">
            <a:avLst/>
          </a:prstGeom>
          <a:noFill/>
        </p:spPr>
        <p:txBody>
          <a:bodyPr wrap="square" lIns="73152" rIns="73152" tIns="36576" bIns="36576" anchor="ctr"/>
          <a:lstStyle/>
          <a:p>
            <a:pPr algn="l" marL="0" indent="0">
              <a:lnSpc>
                <a:spcPct val="115000"/>
              </a:lnSpc>
              <a:spcAft>
                <a:spcPts val="2800"/>
              </a:spcAft>
              <a:buNone/>
            </a:pPr>
            <a:r>
              <a:rPr sz="8000" b="1">
                <a:solidFill>
                  <a:srgbClr val="0F6C8C"/>
                </a:solidFill>
                <a:latin typeface="맑은 고딕"/>
                <a:ea typeface="맑은 고딕"/>
                <a:cs typeface="맑은 고딕"/>
              </a:rPr>
              <a:t>01</a:t>
            </a:r>
          </a:p>
        </p:txBody>
      </p:sp>
      <p:sp>
        <p:nvSpPr>
          <p:cNvPr id="9" name="TextBox 8"/>
          <p:cNvSpPr txBox="1"/>
          <p:nvPr/>
        </p:nvSpPr>
        <p:spPr>
          <a:xfrm>
            <a:off x="3474720" y="2148840"/>
            <a:ext cx="7589520" cy="1280160"/>
          </a:xfrm>
          <a:prstGeom prst="rect">
            <a:avLst/>
          </a:prstGeom>
          <a:noFill/>
        </p:spPr>
        <p:txBody>
          <a:bodyPr wrap="square" lIns="73152" rIns="73152" tIns="36576" bIns="36576" anchor="b"/>
          <a:lstStyle/>
          <a:p>
            <a:pPr algn="l" marL="0" indent="0">
              <a:lnSpc>
                <a:spcPct val="115000"/>
              </a:lnSpc>
              <a:spcAft>
                <a:spcPts val="1120"/>
              </a:spcAft>
              <a:buNone/>
            </a:pPr>
            <a:r>
              <a:rPr sz="3200" b="1">
                <a:solidFill>
                  <a:srgbClr val="1F2D3D"/>
                </a:solidFill>
                <a:latin typeface="맑은 고딕"/>
                <a:ea typeface="맑은 고딕"/>
                <a:cs typeface="맑은 고딕"/>
              </a:rPr>
              <a:t>블록 완성: FFN · Residual · Norm · Mask</a:t>
            </a:r>
          </a:p>
        </p:txBody>
      </p:sp>
      <p:sp>
        <p:nvSpPr>
          <p:cNvPr id="10" name="TextBox 9"/>
          <p:cNvSpPr txBox="1"/>
          <p:nvPr/>
        </p:nvSpPr>
        <p:spPr>
          <a:xfrm>
            <a:off x="3474720" y="3520440"/>
            <a:ext cx="7589520" cy="1097280"/>
          </a:xfrm>
          <a:prstGeom prst="rect">
            <a:avLst/>
          </a:prstGeom>
          <a:noFill/>
        </p:spPr>
        <p:txBody>
          <a:bodyPr wrap="square" lIns="73152" rIns="73152" tIns="36576" bIns="36576" anchor="t"/>
          <a:lstStyle/>
          <a:p>
            <a:pPr algn="l" marL="0" indent="0">
              <a:lnSpc>
                <a:spcPct val="115000"/>
              </a:lnSpc>
              <a:spcAft>
                <a:spcPts val="630"/>
              </a:spcAft>
              <a:buNone/>
            </a:pPr>
            <a:r>
              <a:rPr sz="1800" b="0">
                <a:solidFill>
                  <a:srgbClr val="5B6770"/>
                </a:solidFill>
                <a:latin typeface="맑은 고딕"/>
                <a:ea typeface="맑은 고딕"/>
                <a:cs typeface="맑은 고딕"/>
              </a:rPr>
              <a:t>Attention이 전부가 아니다 — 위치별 변환, 깊은 계산의 기반, 정답 누출 방지</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FFN: 위치별 비선형 변환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모인 정보를 각 위치에서 비선형적으로 바꾼다 [22 §3.3]</a:t>
            </a:r>
          </a:p>
        </p:txBody>
      </p:sp>
      <p:sp>
        <p:nvSpPr>
          <p:cNvPr id="8" name="Rounded Rectangle 7"/>
          <p:cNvSpPr/>
          <p:nvPr/>
        </p:nvSpPr>
        <p:spPr>
          <a:xfrm>
            <a:off x="457200" y="1691640"/>
            <a:ext cx="11274552" cy="886968"/>
          </a:xfrm>
          <a:prstGeom prst="roundRect">
            <a:avLst>
              <a:gd name="adj" fmla="val 8247"/>
            </a:avLst>
          </a:prstGeom>
          <a:solidFill>
            <a:srgbClr val="F3F6F8"/>
          </a:solidFill>
          <a:ln w="12700">
            <a:solidFill>
              <a:srgbClr val="B9CB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40080" y="1737360"/>
            <a:ext cx="10908792" cy="795528"/>
          </a:xfrm>
          <a:prstGeom prst="rect">
            <a:avLst/>
          </a:prstGeom>
          <a:noFill/>
        </p:spPr>
        <p:txBody>
          <a:bodyPr wrap="square" anchor="ctr">
            <a:spAutoFit/>
          </a:bodyPr>
          <a:lstStyle/>
          <a:p>
            <a:pPr algn="ctr" marL="0" indent="0">
              <a:buNone/>
            </a:pPr>
            <a:r>
              <a:rPr sz="2600" b="1">
                <a:solidFill>
                  <a:srgbClr val="1F2D3D"/>
                </a:solidFill>
                <a:latin typeface="Courier New"/>
                <a:ea typeface="맑은 고딕"/>
                <a:cs typeface="Courier New"/>
              </a:rPr>
              <a:t>FFN(x) = max(0, x·W₁ + b₁)·W₂ + b₂</a:t>
            </a:r>
          </a:p>
        </p:txBody>
      </p:sp>
      <p:sp>
        <p:nvSpPr>
          <p:cNvPr id="10" name="Rounded Rectangle 9"/>
          <p:cNvSpPr/>
          <p:nvPr/>
        </p:nvSpPr>
        <p:spPr>
          <a:xfrm>
            <a:off x="457200" y="2889504"/>
            <a:ext cx="1737360" cy="493776"/>
          </a:xfrm>
          <a:prstGeom prst="roundRect">
            <a:avLst>
              <a:gd name="adj" fmla="val 14814"/>
            </a:avLst>
          </a:prstGeom>
          <a:solidFill>
            <a:srgbClr val="CFE8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7200" y="2889504"/>
            <a:ext cx="1737360" cy="493776"/>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1F2D3D"/>
                </a:solidFill>
                <a:latin typeface="Courier New"/>
                <a:ea typeface="맑은 고딕"/>
                <a:cs typeface="Courier New"/>
              </a:rPr>
              <a:t>x</a:t>
            </a:r>
          </a:p>
        </p:txBody>
      </p:sp>
      <p:sp>
        <p:nvSpPr>
          <p:cNvPr id="12" name="TextBox 11"/>
          <p:cNvSpPr txBox="1"/>
          <p:nvPr/>
        </p:nvSpPr>
        <p:spPr>
          <a:xfrm>
            <a:off x="2286000" y="2852928"/>
            <a:ext cx="4480560" cy="566928"/>
          </a:xfrm>
          <a:prstGeom prst="rect">
            <a:avLst/>
          </a:prstGeom>
          <a:noFill/>
        </p:spPr>
        <p:txBody>
          <a:bodyPr wrap="square" lIns="73152" rIns="73152" tIns="36576" bIns="36576" anchor="ctr"/>
          <a:lstStyle/>
          <a:p>
            <a:pPr algn="l" marL="0" indent="0">
              <a:lnSpc>
                <a:spcPct val="115000"/>
              </a:lnSpc>
              <a:spcAft>
                <a:spcPts val="525"/>
              </a:spcAft>
              <a:buNone/>
            </a:pPr>
            <a:r>
              <a:rPr sz="1500" b="0">
                <a:solidFill>
                  <a:srgbClr val="1F2D3D"/>
                </a:solidFill>
                <a:latin typeface="맑은 고딕"/>
                <a:ea typeface="맑은 고딕"/>
                <a:cs typeface="맑은 고딕"/>
              </a:rPr>
              <a:t>한 위치의 d차원 벡터 (행벡터 관례)</a:t>
            </a:r>
          </a:p>
        </p:txBody>
      </p:sp>
      <p:sp>
        <p:nvSpPr>
          <p:cNvPr id="13" name="Rounded Rectangle 12"/>
          <p:cNvSpPr/>
          <p:nvPr/>
        </p:nvSpPr>
        <p:spPr>
          <a:xfrm>
            <a:off x="457200" y="3456432"/>
            <a:ext cx="1737360" cy="493776"/>
          </a:xfrm>
          <a:prstGeom prst="roundRect">
            <a:avLst>
              <a:gd name="adj" fmla="val 14814"/>
            </a:avLst>
          </a:prstGeom>
          <a:solidFill>
            <a:srgbClr val="CFE8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7200" y="3456432"/>
            <a:ext cx="1737360" cy="493776"/>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1F2D3D"/>
                </a:solidFill>
                <a:latin typeface="Courier New"/>
                <a:ea typeface="맑은 고딕"/>
                <a:cs typeface="Courier New"/>
              </a:rPr>
              <a:t>W₁ (d×d_ff)</a:t>
            </a:r>
          </a:p>
        </p:txBody>
      </p:sp>
      <p:sp>
        <p:nvSpPr>
          <p:cNvPr id="15" name="TextBox 14"/>
          <p:cNvSpPr txBox="1"/>
          <p:nvPr/>
        </p:nvSpPr>
        <p:spPr>
          <a:xfrm>
            <a:off x="2286000" y="3419856"/>
            <a:ext cx="4480560" cy="566928"/>
          </a:xfrm>
          <a:prstGeom prst="rect">
            <a:avLst/>
          </a:prstGeom>
          <a:noFill/>
        </p:spPr>
        <p:txBody>
          <a:bodyPr wrap="square" lIns="73152" rIns="73152" tIns="36576" bIns="36576" anchor="ctr"/>
          <a:lstStyle/>
          <a:p>
            <a:pPr algn="l" marL="0" indent="0">
              <a:lnSpc>
                <a:spcPct val="115000"/>
              </a:lnSpc>
              <a:spcAft>
                <a:spcPts val="525"/>
              </a:spcAft>
              <a:buNone/>
            </a:pPr>
            <a:r>
              <a:rPr sz="1500" b="0">
                <a:solidFill>
                  <a:srgbClr val="1F2D3D"/>
                </a:solidFill>
                <a:latin typeface="맑은 고딕"/>
                <a:ea typeface="맑은 고딕"/>
                <a:cs typeface="맑은 고딕"/>
              </a:rPr>
              <a:t>확장: 원형 Base 512 → 2048</a:t>
            </a:r>
          </a:p>
        </p:txBody>
      </p:sp>
      <p:sp>
        <p:nvSpPr>
          <p:cNvPr id="16" name="Rounded Rectangle 15"/>
          <p:cNvSpPr/>
          <p:nvPr/>
        </p:nvSpPr>
        <p:spPr>
          <a:xfrm>
            <a:off x="457200" y="4023360"/>
            <a:ext cx="1737360" cy="493776"/>
          </a:xfrm>
          <a:prstGeom prst="roundRect">
            <a:avLst>
              <a:gd name="adj" fmla="val 14814"/>
            </a:avLst>
          </a:prstGeom>
          <a:solidFill>
            <a:srgbClr val="CFE8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57200" y="4023360"/>
            <a:ext cx="1737360" cy="493776"/>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1F2D3D"/>
                </a:solidFill>
                <a:latin typeface="Courier New"/>
                <a:ea typeface="맑은 고딕"/>
                <a:cs typeface="Courier New"/>
              </a:rPr>
              <a:t>max(0,·)</a:t>
            </a:r>
          </a:p>
        </p:txBody>
      </p:sp>
      <p:sp>
        <p:nvSpPr>
          <p:cNvPr id="18" name="TextBox 17"/>
          <p:cNvSpPr txBox="1"/>
          <p:nvPr/>
        </p:nvSpPr>
        <p:spPr>
          <a:xfrm>
            <a:off x="2286000" y="3986784"/>
            <a:ext cx="4480560" cy="566928"/>
          </a:xfrm>
          <a:prstGeom prst="rect">
            <a:avLst/>
          </a:prstGeom>
          <a:noFill/>
        </p:spPr>
        <p:txBody>
          <a:bodyPr wrap="square" lIns="73152" rIns="73152" tIns="36576" bIns="36576" anchor="ctr"/>
          <a:lstStyle/>
          <a:p>
            <a:pPr algn="l" marL="0" indent="0">
              <a:lnSpc>
                <a:spcPct val="115000"/>
              </a:lnSpc>
              <a:spcAft>
                <a:spcPts val="455"/>
              </a:spcAft>
              <a:buNone/>
            </a:pPr>
            <a:r>
              <a:rPr sz="1300" b="0">
                <a:solidFill>
                  <a:srgbClr val="1F2D3D"/>
                </a:solidFill>
                <a:latin typeface="맑은 고딕"/>
                <a:ea typeface="맑은 고딕"/>
                <a:cs typeface="맑은 고딕"/>
              </a:rPr>
              <a:t>ReLU 비선형성 — 없으면 두 선형층이 하나로 합쳐진다</a:t>
            </a:r>
          </a:p>
        </p:txBody>
      </p:sp>
      <p:sp>
        <p:nvSpPr>
          <p:cNvPr id="19" name="Rounded Rectangle 18"/>
          <p:cNvSpPr/>
          <p:nvPr/>
        </p:nvSpPr>
        <p:spPr>
          <a:xfrm>
            <a:off x="457200" y="4590288"/>
            <a:ext cx="1737360" cy="493776"/>
          </a:xfrm>
          <a:prstGeom prst="roundRect">
            <a:avLst>
              <a:gd name="adj" fmla="val 14814"/>
            </a:avLst>
          </a:prstGeom>
          <a:solidFill>
            <a:srgbClr val="CFE8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57200" y="4590288"/>
            <a:ext cx="1737360" cy="493776"/>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1F2D3D"/>
                </a:solidFill>
                <a:latin typeface="Courier New"/>
                <a:ea typeface="맑은 고딕"/>
                <a:cs typeface="Courier New"/>
              </a:rPr>
              <a:t>W₂ (d_ff×d)</a:t>
            </a:r>
          </a:p>
        </p:txBody>
      </p:sp>
      <p:sp>
        <p:nvSpPr>
          <p:cNvPr id="21" name="TextBox 20"/>
          <p:cNvSpPr txBox="1"/>
          <p:nvPr/>
        </p:nvSpPr>
        <p:spPr>
          <a:xfrm>
            <a:off x="2286000" y="4553712"/>
            <a:ext cx="4480560" cy="566928"/>
          </a:xfrm>
          <a:prstGeom prst="rect">
            <a:avLst/>
          </a:prstGeom>
          <a:noFill/>
        </p:spPr>
        <p:txBody>
          <a:bodyPr wrap="square" lIns="73152" rIns="73152" tIns="36576" bIns="36576" anchor="ctr"/>
          <a:lstStyle/>
          <a:p>
            <a:pPr algn="l" marL="0" indent="0">
              <a:lnSpc>
                <a:spcPct val="115000"/>
              </a:lnSpc>
              <a:spcAft>
                <a:spcPts val="525"/>
              </a:spcAft>
              <a:buNone/>
            </a:pPr>
            <a:r>
              <a:rPr sz="1500" b="0">
                <a:solidFill>
                  <a:srgbClr val="1F2D3D"/>
                </a:solidFill>
                <a:latin typeface="맑은 고딕"/>
                <a:ea typeface="맑은 고딕"/>
                <a:cs typeface="맑은 고딕"/>
              </a:rPr>
              <a:t>축소: 다시 d=512 → residual과 더할 수 있다</a:t>
            </a:r>
          </a:p>
        </p:txBody>
      </p:sp>
      <p:sp>
        <p:nvSpPr>
          <p:cNvPr id="22" name="Rounded Rectangle 21"/>
          <p:cNvSpPr/>
          <p:nvPr/>
        </p:nvSpPr>
        <p:spPr>
          <a:xfrm>
            <a:off x="7040880" y="2852928"/>
            <a:ext cx="4690872" cy="2752344"/>
          </a:xfrm>
          <a:prstGeom prst="roundRect">
            <a:avLst>
              <a:gd name="adj" fmla="val 2657"/>
            </a:avLst>
          </a:prstGeom>
          <a:solidFill>
            <a:srgbClr val="FD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23760" y="2944368"/>
            <a:ext cx="4325112" cy="411480"/>
          </a:xfrm>
          <a:prstGeom prst="rect">
            <a:avLst/>
          </a:prstGeom>
          <a:noFill/>
        </p:spPr>
        <p:txBody>
          <a:bodyPr wrap="square" lIns="73152" rIns="73152" tIns="36576" bIns="36576" anchor="ctr"/>
          <a:lstStyle/>
          <a:p>
            <a:pPr algn="l" marL="0" indent="0">
              <a:lnSpc>
                <a:spcPct val="115000"/>
              </a:lnSpc>
              <a:spcAft>
                <a:spcPts val="507"/>
              </a:spcAft>
              <a:buNone/>
            </a:pPr>
            <a:r>
              <a:rPr sz="1450" b="1">
                <a:solidFill>
                  <a:srgbClr val="E07A2F"/>
                </a:solidFill>
                <a:latin typeface="맑은 고딕"/>
                <a:ea typeface="맑은 고딕"/>
                <a:cs typeface="맑은 고딕"/>
              </a:rPr>
              <a:t>숫자로 확인</a:t>
            </a:r>
          </a:p>
        </p:txBody>
      </p:sp>
      <p:sp>
        <p:nvSpPr>
          <p:cNvPr id="24" name="TextBox 23"/>
          <p:cNvSpPr txBox="1"/>
          <p:nvPr/>
        </p:nvSpPr>
        <p:spPr>
          <a:xfrm>
            <a:off x="7223760" y="3401568"/>
            <a:ext cx="4325112" cy="2112264"/>
          </a:xfrm>
          <a:prstGeom prst="rect">
            <a:avLst/>
          </a:prstGeom>
          <a:noFill/>
        </p:spPr>
        <p:txBody>
          <a:bodyPr wrap="square" lIns="73152" rIns="73152" tIns="36576" bIns="36576" anchor="t"/>
          <a:lstStyle/>
          <a:p>
            <a:pPr algn="l" marL="0" indent="0">
              <a:lnSpc>
                <a:spcPct val="115000"/>
              </a:lnSpc>
              <a:spcAft>
                <a:spcPts val="420"/>
              </a:spcAft>
              <a:buNone/>
            </a:pPr>
            <a:r>
              <a:rPr sz="1400" b="0">
                <a:solidFill>
                  <a:srgbClr val="1F2D3D"/>
                </a:solidFill>
                <a:latin typeface="맑은 고딕"/>
                <a:ea typeface="맑은 고딕"/>
                <a:cs typeface="맑은 고딕"/>
              </a:rPr>
              <a:t>파라미터 ≈ 2·d·d_ff = 2·512·2048 ≈ </a:t>
            </a:r>
            <a:r>
              <a:rPr sz="1400" b="1">
                <a:solidFill>
                  <a:srgbClr val="1F2D3D"/>
                </a:solidFill>
                <a:latin typeface="맑은 고딕"/>
                <a:ea typeface="맑은 고딕"/>
                <a:cs typeface="맑은 고딕"/>
              </a:rPr>
              <a:t>2.1M</a:t>
            </a:r>
          </a:p>
          <a:p>
            <a:pPr algn="l" marL="0" indent="0">
              <a:lnSpc>
                <a:spcPct val="115000"/>
              </a:lnSpc>
              <a:spcAft>
                <a:spcPts val="420"/>
              </a:spcAft>
              <a:buNone/>
            </a:pPr>
            <a:r>
              <a:rPr sz="1400" b="0">
                <a:solidFill>
                  <a:srgbClr val="1F2D3D"/>
                </a:solidFill>
                <a:latin typeface="맑은 고딕"/>
                <a:ea typeface="맑은 고딕"/>
                <a:cs typeface="맑은 고딕"/>
              </a:rPr>
              <a:t>모든 위치에 같은 W₁, W₂ / 층마다는 별도</a:t>
            </a:r>
          </a:p>
          <a:p>
            <a:pPr algn="l" marL="0" indent="0">
              <a:lnSpc>
                <a:spcPct val="115000"/>
              </a:lnSpc>
              <a:spcAft>
                <a:spcPts val="420"/>
              </a:spcAft>
              <a:buNone/>
            </a:pPr>
            <a:r>
              <a:rPr sz="1400" b="1">
                <a:solidFill>
                  <a:srgbClr val="1F2D3D"/>
                </a:solidFill>
                <a:latin typeface="맑은 고딕"/>
                <a:ea typeface="맑은 고딕"/>
                <a:cs typeface="맑은 고딕"/>
              </a:rPr>
              <a:t>Attention A·V</a:t>
            </a:r>
            <a:r>
              <a:rPr sz="1400" b="0">
                <a:solidFill>
                  <a:srgbClr val="1F2D3D"/>
                </a:solidFill>
                <a:latin typeface="맑은 고딕"/>
                <a:ea typeface="맑은 고딕"/>
                <a:cs typeface="맑은 고딕"/>
              </a:rPr>
              <a:t>: 위치 간 정보 결합</a:t>
            </a:r>
          </a:p>
          <a:p>
            <a:pPr algn="l" marL="0" indent="0">
              <a:lnSpc>
                <a:spcPct val="115000"/>
              </a:lnSpc>
              <a:spcAft>
                <a:spcPts val="420"/>
              </a:spcAft>
              <a:buNone/>
            </a:pPr>
            <a:r>
              <a:rPr sz="1400" b="1">
                <a:solidFill>
                  <a:srgbClr val="1F2D3D"/>
                </a:solidFill>
                <a:latin typeface="맑은 고딕"/>
                <a:ea typeface="맑은 고딕"/>
                <a:cs typeface="맑은 고딕"/>
              </a:rPr>
              <a:t>Q/K/V, W_O</a:t>
            </a:r>
            <a:r>
              <a:rPr sz="1400" b="0">
                <a:solidFill>
                  <a:srgbClr val="1F2D3D"/>
                </a:solidFill>
                <a:latin typeface="맑은 고딕"/>
                <a:ea typeface="맑은 고딕"/>
                <a:cs typeface="맑은 고딕"/>
              </a:rPr>
              <a:t>: 특징 공간 선형 투영</a:t>
            </a:r>
          </a:p>
          <a:p>
            <a:pPr algn="l" marL="0" indent="0">
              <a:lnSpc>
                <a:spcPct val="115000"/>
              </a:lnSpc>
              <a:spcAft>
                <a:spcPts val="420"/>
              </a:spcAft>
              <a:buNone/>
            </a:pPr>
            <a:r>
              <a:rPr sz="1400" b="1">
                <a:solidFill>
                  <a:srgbClr val="1F2D3D"/>
                </a:solidFill>
                <a:latin typeface="맑은 고딕"/>
                <a:ea typeface="맑은 고딕"/>
                <a:cs typeface="맑은 고딕"/>
              </a:rPr>
              <a:t>FFN</a:t>
            </a:r>
            <a:r>
              <a:rPr sz="1400" b="0">
                <a:solidFill>
                  <a:srgbClr val="1F2D3D"/>
                </a:solidFill>
                <a:latin typeface="맑은 고딕"/>
                <a:ea typeface="맑은 고딕"/>
                <a:cs typeface="맑은 고딕"/>
              </a:rPr>
              <a:t>: 위치별 특징 변환, 길이 유지</a:t>
            </a:r>
          </a:p>
        </p:txBody>
      </p:sp>
      <p:sp>
        <p:nvSpPr>
          <p:cNvPr id="25" name="Rounded Rectangle 24"/>
          <p:cNvSpPr/>
          <p:nvPr/>
        </p:nvSpPr>
        <p:spPr>
          <a:xfrm>
            <a:off x="457200" y="5788152"/>
            <a:ext cx="11274552" cy="548640"/>
          </a:xfrm>
          <a:prstGeom prst="roundRect">
            <a:avLst>
              <a:gd name="adj" fmla="val 13333"/>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Aft>
                <a:spcPts val="400"/>
              </a:spcAft>
              <a:buNone/>
            </a:pPr>
            <a:r>
              <a:rPr sz="1600" b="1">
                <a:solidFill>
                  <a:srgbClr val="FFFFFF"/>
                </a:solidFill>
                <a:latin typeface="맑은 고딕"/>
                <a:ea typeface="맑은 고딕"/>
                <a:cs typeface="맑은 고딕"/>
              </a:rPr>
              <a:t>Attention = token mixing, FFN = feature transformation (단, 투영도 특징을 바꾼다)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LayerNorm은 어느 축을 정규화하나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토큰 하나 x ∈ ℝᵈ의 d개 특징으로 평균·분산을 구한다 — Batch·sequence 전체가 아니다</a:t>
            </a:r>
          </a:p>
        </p:txBody>
      </p:sp>
      <p:pic>
        <p:nvPicPr>
          <p:cNvPr id="8" name="Picture 7" descr="ln_axis.png"/>
          <p:cNvPicPr>
            <a:picLocks noChangeAspect="1"/>
          </p:cNvPicPr>
          <p:nvPr/>
        </p:nvPicPr>
        <p:blipFill>
          <a:blip r:embed="rId3"/>
          <a:stretch>
            <a:fillRect/>
          </a:stretch>
        </p:blipFill>
        <p:spPr>
          <a:xfrm>
            <a:off x="457200" y="1688981"/>
            <a:ext cx="6035040" cy="2977116"/>
          </a:xfrm>
          <a:prstGeom prst="rect">
            <a:avLst/>
          </a:prstGeom>
        </p:spPr>
      </p:pic>
      <p:sp>
        <p:nvSpPr>
          <p:cNvPr id="9" name="TextBox 8"/>
          <p:cNvSpPr txBox="1"/>
          <p:nvPr/>
        </p:nvSpPr>
        <p:spPr>
          <a:xfrm>
            <a:off x="457200" y="4800600"/>
            <a:ext cx="6035040" cy="1554480"/>
          </a:xfrm>
          <a:prstGeom prst="rect">
            <a:avLst/>
          </a:prstGeom>
          <a:noFill/>
        </p:spPr>
        <p:txBody>
          <a:bodyPr wrap="square" lIns="73152" rIns="73152" tIns="36576" bIns="36576" anchor="t"/>
          <a:lstStyle/>
          <a:p>
            <a:pPr algn="l" marL="306324" indent="-260604">
              <a:lnSpc>
                <a:spcPct val="115000"/>
              </a:lnSpc>
              <a:spcAft>
                <a:spcPts val="525"/>
              </a:spcAft>
              <a:buClr>
                <a:srgbClr val="0F6C8C"/>
              </a:buClr>
              <a:buFont typeface="Arial"/>
              <a:buChar char="•"/>
            </a:pPr>
            <a:r>
              <a:rPr sz="1500" b="1">
                <a:solidFill>
                  <a:srgbClr val="1F2D3D"/>
                </a:solidFill>
                <a:latin typeface="맑은 고딕"/>
                <a:ea typeface="맑은 고딕"/>
                <a:cs typeface="맑은 고딕"/>
              </a:rPr>
              <a:t>γ, β</a:t>
            </a:r>
            <a:r>
              <a:rPr sz="1500" b="0">
                <a:solidFill>
                  <a:srgbClr val="1F2D3D"/>
                </a:solidFill>
                <a:latin typeface="맑은 고딕"/>
                <a:ea typeface="맑은 고딕"/>
                <a:cs typeface="맑은 고딕"/>
              </a:rPr>
              <a:t>: 학습되는 scale·shift — 특징 축에 공유 (토큰마다 별개 아님)</a:t>
            </a:r>
          </a:p>
          <a:p>
            <a:pPr algn="l" marL="306324" indent="-260604">
              <a:lnSpc>
                <a:spcPct val="115000"/>
              </a:lnSpc>
              <a:spcAft>
                <a:spcPts val="525"/>
              </a:spcAft>
              <a:buClr>
                <a:srgbClr val="0F6C8C"/>
              </a:buClr>
              <a:buFont typeface="Arial"/>
              <a:buChar char="•"/>
            </a:pPr>
            <a:r>
              <a:rPr sz="1500" b="1">
                <a:solidFill>
                  <a:srgbClr val="1F2D3D"/>
                </a:solidFill>
                <a:latin typeface="맑은 고딕"/>
                <a:ea typeface="맑은 고딕"/>
                <a:cs typeface="맑은 고딕"/>
              </a:rPr>
              <a:t>ε</a:t>
            </a:r>
            <a:r>
              <a:rPr sz="1500" b="0">
                <a:solidFill>
                  <a:srgbClr val="1F2D3D"/>
                </a:solidFill>
                <a:latin typeface="맑은 고딕"/>
                <a:ea typeface="맑은 고딕"/>
                <a:cs typeface="맑은 고딕"/>
              </a:rPr>
              <a:t>: 0으로 나누는 수치 문제 완화</a:t>
            </a:r>
          </a:p>
          <a:p>
            <a:pPr algn="l" marL="306324" indent="-260604">
              <a:lnSpc>
                <a:spcPct val="115000"/>
              </a:lnSpc>
              <a:spcAft>
                <a:spcPts val="525"/>
              </a:spcAft>
              <a:buClr>
                <a:srgbClr val="0F6C8C"/>
              </a:buClr>
              <a:buFont typeface="Arial"/>
              <a:buChar char="•"/>
            </a:pPr>
            <a:r>
              <a:rPr sz="1500" b="0">
                <a:solidFill>
                  <a:srgbClr val="1F2D3D"/>
                </a:solidFill>
                <a:latin typeface="맑은 고딕"/>
                <a:ea typeface="맑은 고딕"/>
                <a:cs typeface="맑은 고딕"/>
              </a:rPr>
              <a:t>그림의 주황 칸 = 평균·분산을 함께 계산하는 묶음</a:t>
            </a:r>
          </a:p>
        </p:txBody>
      </p:sp>
      <p:sp>
        <p:nvSpPr>
          <p:cNvPr id="10" name="Rounded Rectangle 9"/>
          <p:cNvSpPr/>
          <p:nvPr/>
        </p:nvSpPr>
        <p:spPr>
          <a:xfrm>
            <a:off x="6766560" y="1645920"/>
            <a:ext cx="4965192" cy="1554480"/>
          </a:xfrm>
          <a:prstGeom prst="roundRect">
            <a:avLst>
              <a:gd name="adj" fmla="val 4705"/>
            </a:avLst>
          </a:prstGeom>
          <a:solidFill>
            <a:srgbClr val="F3F6F8"/>
          </a:solidFill>
          <a:ln w="12700">
            <a:solidFill>
              <a:srgbClr val="B9CB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903720" y="1691640"/>
            <a:ext cx="4690872" cy="1463039"/>
          </a:xfrm>
          <a:prstGeom prst="rect">
            <a:avLst/>
          </a:prstGeom>
          <a:noFill/>
        </p:spPr>
        <p:txBody>
          <a:bodyPr wrap="square" anchor="ctr">
            <a:spAutoFit/>
          </a:bodyPr>
          <a:lstStyle/>
          <a:p>
            <a:pPr algn="ctr" marL="0" indent="0">
              <a:spcAft>
                <a:spcPts val="400"/>
              </a:spcAft>
              <a:buNone/>
            </a:pPr>
            <a:r>
              <a:rPr sz="1500" b="1">
                <a:solidFill>
                  <a:srgbClr val="1F2D3D"/>
                </a:solidFill>
                <a:latin typeface="Courier New"/>
                <a:ea typeface="맑은 고딕"/>
                <a:cs typeface="Courier New"/>
              </a:rPr>
              <a:t>μ = (1/d)·Σ x_r</a:t>
            </a:r>
          </a:p>
          <a:p>
            <a:pPr algn="ctr" marL="0" indent="0">
              <a:spcAft>
                <a:spcPts val="400"/>
              </a:spcAft>
              <a:buNone/>
            </a:pPr>
            <a:r>
              <a:rPr sz="1500" b="1">
                <a:solidFill>
                  <a:srgbClr val="1F2D3D"/>
                </a:solidFill>
                <a:latin typeface="Courier New"/>
                <a:ea typeface="맑은 고딕"/>
                <a:cs typeface="Courier New"/>
              </a:rPr>
              <a:t>σ² = (1/d)·Σ (x_r − μ)²</a:t>
            </a:r>
          </a:p>
          <a:p>
            <a:pPr algn="ctr" marL="0" indent="0">
              <a:spcAft>
                <a:spcPts val="400"/>
              </a:spcAft>
              <a:buNone/>
            </a:pPr>
            <a:r>
              <a:rPr sz="1500" b="1">
                <a:solidFill>
                  <a:srgbClr val="1F2D3D"/>
                </a:solidFill>
                <a:latin typeface="Courier New"/>
                <a:ea typeface="맑은 고딕"/>
                <a:cs typeface="Courier New"/>
              </a:rPr>
              <a:t>LN(x) = γ⊙(x − μ)/√(σ² + ε) + β</a:t>
            </a:r>
          </a:p>
        </p:txBody>
      </p:sp>
      <p:sp>
        <p:nvSpPr>
          <p:cNvPr id="12" name="Rounded Rectangle 11"/>
          <p:cNvSpPr/>
          <p:nvPr/>
        </p:nvSpPr>
        <p:spPr>
          <a:xfrm>
            <a:off x="6766560" y="3337560"/>
            <a:ext cx="4965192" cy="3017520"/>
          </a:xfrm>
          <a:prstGeom prst="roundRect">
            <a:avLst>
              <a:gd name="adj" fmla="val 2424"/>
            </a:avLst>
          </a:prstGeom>
          <a:solidFill>
            <a:srgbClr val="FD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49440" y="3429000"/>
            <a:ext cx="4599431" cy="457200"/>
          </a:xfrm>
          <a:prstGeom prst="rect">
            <a:avLst/>
          </a:prstGeom>
          <a:noFill/>
        </p:spPr>
        <p:txBody>
          <a:bodyPr wrap="square" lIns="73152" rIns="73152" tIns="36576" bIns="36576" anchor="ctr"/>
          <a:lstStyle/>
          <a:p>
            <a:pPr algn="l" marL="0" indent="0">
              <a:lnSpc>
                <a:spcPct val="115000"/>
              </a:lnSpc>
              <a:spcAft>
                <a:spcPts val="560"/>
              </a:spcAft>
              <a:buNone/>
            </a:pPr>
            <a:r>
              <a:rPr sz="1600" b="1">
                <a:solidFill>
                  <a:srgbClr val="E07A2F"/>
                </a:solidFill>
                <a:latin typeface="맑은 고딕"/>
                <a:ea typeface="맑은 고딕"/>
                <a:cs typeface="맑은 고딕"/>
              </a:rPr>
              <a:t>숫자로 확인: x = (1, 2, 3, 4)</a:t>
            </a:r>
          </a:p>
        </p:txBody>
      </p:sp>
      <p:sp>
        <p:nvSpPr>
          <p:cNvPr id="14" name="TextBox 13"/>
          <p:cNvSpPr txBox="1"/>
          <p:nvPr/>
        </p:nvSpPr>
        <p:spPr>
          <a:xfrm>
            <a:off x="6949440" y="3931920"/>
            <a:ext cx="4645152" cy="2331720"/>
          </a:xfrm>
          <a:prstGeom prst="rect">
            <a:avLst/>
          </a:prstGeom>
          <a:noFill/>
        </p:spPr>
        <p:txBody>
          <a:bodyPr wrap="square" lIns="73152" rIns="73152" tIns="36576" bIns="36576" anchor="t"/>
          <a:lstStyle/>
          <a:p>
            <a:pPr algn="l" marL="306324" indent="-260604">
              <a:lnSpc>
                <a:spcPct val="115000"/>
              </a:lnSpc>
              <a:spcAft>
                <a:spcPts val="525"/>
              </a:spcAft>
              <a:buClr>
                <a:srgbClr val="0F6C8C"/>
              </a:buClr>
              <a:buFont typeface="Arial"/>
              <a:buChar char="•"/>
            </a:pPr>
            <a:r>
              <a:rPr sz="1500" b="0">
                <a:solidFill>
                  <a:srgbClr val="1F2D3D"/>
                </a:solidFill>
                <a:latin typeface="맑은 고딕"/>
                <a:ea typeface="맑은 고딕"/>
                <a:cs typeface="맑은 고딕"/>
              </a:rPr>
              <a:t>μ = 2.5,  σ² = 1.25</a:t>
            </a:r>
          </a:p>
          <a:p>
            <a:pPr algn="l" marL="306324" indent="-260604">
              <a:lnSpc>
                <a:spcPct val="115000"/>
              </a:lnSpc>
              <a:spcAft>
                <a:spcPts val="525"/>
              </a:spcAft>
              <a:buClr>
                <a:srgbClr val="0F6C8C"/>
              </a:buClr>
              <a:buFont typeface="Arial"/>
              <a:buChar char="•"/>
            </a:pPr>
            <a:r>
              <a:rPr sz="1500" b="0">
                <a:solidFill>
                  <a:srgbClr val="1F2D3D"/>
                </a:solidFill>
                <a:latin typeface="맑은 고딕"/>
                <a:ea typeface="맑은 고딕"/>
                <a:cs typeface="맑은 고딕"/>
              </a:rPr>
              <a:t>정규화 → (−1.34, −0.45, 0.45, 1.34)</a:t>
            </a:r>
          </a:p>
          <a:p>
            <a:pPr algn="l" marL="306324" indent="-260604">
              <a:lnSpc>
                <a:spcPct val="115000"/>
              </a:lnSpc>
              <a:spcAft>
                <a:spcPts val="525"/>
              </a:spcAft>
              <a:buClr>
                <a:srgbClr val="0F6C8C"/>
              </a:buClr>
              <a:buFont typeface="Arial"/>
              <a:buChar char="•"/>
            </a:pPr>
            <a:r>
              <a:rPr sz="1500" b="0">
                <a:solidFill>
                  <a:srgbClr val="1F2D3D"/>
                </a:solidFill>
                <a:latin typeface="맑은 고딕"/>
                <a:ea typeface="맑은 고딕"/>
                <a:cs typeface="맑은 고딕"/>
              </a:rPr>
              <a:t>γ=1, β=0 → 평균 0 · 분산 ≈ 1</a:t>
            </a:r>
          </a:p>
          <a:p>
            <a:pPr algn="l" marL="306324" indent="-260604">
              <a:lnSpc>
                <a:spcPct val="115000"/>
              </a:lnSpc>
              <a:spcAft>
                <a:spcPts val="525"/>
              </a:spcAft>
              <a:buClr>
                <a:srgbClr val="0F6C8C"/>
              </a:buClr>
              <a:buFont typeface="Arial"/>
              <a:buChar char="•"/>
            </a:pPr>
            <a:r>
              <a:rPr sz="1500" b="0">
                <a:solidFill>
                  <a:srgbClr val="1F2D3D"/>
                </a:solidFill>
                <a:latin typeface="맑은 고딕"/>
                <a:ea typeface="맑은 고딕"/>
                <a:cs typeface="맑은 고딕"/>
              </a:rPr>
              <a:t>γ=2, β=1 → (−1.68, 0.11, 1.89, 3.68) → 평균 1 · 분산 ≈ 4</a:t>
            </a:r>
          </a:p>
          <a:p>
            <a:pPr algn="l" marL="306324" indent="-260604">
              <a:lnSpc>
                <a:spcPct val="115000"/>
              </a:lnSpc>
              <a:spcAft>
                <a:spcPts val="525"/>
              </a:spcAft>
              <a:buClr>
                <a:srgbClr val="0F6C8C"/>
              </a:buClr>
              <a:buFont typeface="Arial"/>
              <a:buChar char="•"/>
            </a:pPr>
            <a:r>
              <a:rPr sz="1500" b="0">
                <a:solidFill>
                  <a:srgbClr val="1F2D3D"/>
                </a:solidFill>
                <a:latin typeface="맑은 고딕"/>
                <a:ea typeface="맑은 고딕"/>
                <a:cs typeface="맑은 고딕"/>
              </a:rPr>
              <a:t>→ 최종 출력이 항상 평균 0·분산 1은 아니다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Residual과 Post-LN vs Pre-LN</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잔차 y = x + Dropout(F(x)) — 정규화를 어디에 두느냐가 다르다</a:t>
            </a:r>
          </a:p>
        </p:txBody>
      </p:sp>
      <p:pic>
        <p:nvPicPr>
          <p:cNvPr id="8" name="Picture 7" descr="postpre_ln.png"/>
          <p:cNvPicPr>
            <a:picLocks noChangeAspect="1"/>
          </p:cNvPicPr>
          <p:nvPr/>
        </p:nvPicPr>
        <p:blipFill>
          <a:blip r:embed="rId3"/>
          <a:stretch>
            <a:fillRect/>
          </a:stretch>
        </p:blipFill>
        <p:spPr>
          <a:xfrm>
            <a:off x="457199" y="2008335"/>
            <a:ext cx="5862767" cy="3984328"/>
          </a:xfrm>
          <a:prstGeom prst="rect">
            <a:avLst/>
          </a:prstGeom>
        </p:spPr>
      </p:pic>
      <p:sp>
        <p:nvSpPr>
          <p:cNvPr id="9" name="Rounded Rectangle 8"/>
          <p:cNvSpPr/>
          <p:nvPr/>
        </p:nvSpPr>
        <p:spPr>
          <a:xfrm>
            <a:off x="6594287" y="1691640"/>
            <a:ext cx="5137464" cy="4617720"/>
          </a:xfrm>
          <a:prstGeom prst="roundRect">
            <a:avLst>
              <a:gd name="adj" fmla="val 1584"/>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77167" y="1874520"/>
            <a:ext cx="4771704" cy="502920"/>
          </a:xfrm>
          <a:prstGeom prst="rect">
            <a:avLst/>
          </a:prstGeom>
          <a:noFill/>
        </p:spPr>
        <p:txBody>
          <a:bodyPr wrap="square" lIns="73152" rIns="73152" tIns="36576" bIns="36576" anchor="ctr"/>
          <a:lstStyle/>
          <a:p>
            <a:pPr algn="l" marL="0" indent="0">
              <a:lnSpc>
                <a:spcPct val="115000"/>
              </a:lnSpc>
              <a:spcAft>
                <a:spcPts val="630"/>
              </a:spcAft>
              <a:buNone/>
            </a:pPr>
            <a:r>
              <a:rPr sz="1800" b="1">
                <a:solidFill>
                  <a:srgbClr val="0F6C8C"/>
                </a:solidFill>
                <a:latin typeface="맑은 고딕"/>
                <a:ea typeface="맑은 고딕"/>
                <a:cs typeface="맑은 고딕"/>
              </a:rPr>
              <a:t>기억할 것</a:t>
            </a:r>
          </a:p>
        </p:txBody>
      </p:sp>
      <p:sp>
        <p:nvSpPr>
          <p:cNvPr id="11" name="TextBox 10"/>
          <p:cNvSpPr txBox="1"/>
          <p:nvPr/>
        </p:nvSpPr>
        <p:spPr>
          <a:xfrm>
            <a:off x="6777167" y="2468880"/>
            <a:ext cx="4771704" cy="3703320"/>
          </a:xfrm>
          <a:prstGeom prst="rect">
            <a:avLst/>
          </a:prstGeom>
          <a:noFill/>
        </p:spPr>
        <p:txBody>
          <a:bodyPr wrap="square" lIns="73152" rIns="73152" tIns="36576" bIns="36576" anchor="t"/>
          <a:lstStyle/>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잔차 합은 원소별 덧셈 → 입력과 F(x)의 </a:t>
            </a:r>
            <a:r>
              <a:rPr sz="1500" b="1">
                <a:solidFill>
                  <a:srgbClr val="1F2D3D"/>
                </a:solidFill>
                <a:latin typeface="맑은 고딕"/>
                <a:ea typeface="맑은 고딕"/>
                <a:cs typeface="맑은 고딕"/>
              </a:rPr>
              <a:t>shape가 같아야</a:t>
            </a:r>
            <a:r>
              <a:rPr sz="1500" b="0">
                <a:solidFill>
                  <a:srgbClr val="1F2D3D"/>
                </a:solidFill>
                <a:latin typeface="맑은 고딕"/>
                <a:ea typeface="맑은 고딕"/>
                <a:cs typeface="맑은 고딕"/>
              </a:rPr>
              <a:t> 한다 (각 sublayer가 d로 복귀)</a:t>
            </a:r>
          </a:p>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잔차는 깊은 모델의 최적화를 돕지만 모든 설정의 안정성을 보장하는 마법은 아니다 [19]</a:t>
            </a:r>
          </a:p>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원형은 </a:t>
            </a:r>
            <a:r>
              <a:rPr sz="1500" b="1">
                <a:solidFill>
                  <a:srgbClr val="1F2D3D"/>
                </a:solidFill>
                <a:latin typeface="맑은 고딕"/>
                <a:ea typeface="맑은 고딕"/>
                <a:cs typeface="맑은 고딕"/>
              </a:rPr>
              <a:t>Post-LN</a:t>
            </a:r>
            <a:r>
              <a:rPr sz="1500" b="0">
                <a:solidFill>
                  <a:srgbClr val="1F2D3D"/>
                </a:solidFill>
                <a:latin typeface="맑은 고딕"/>
                <a:ea typeface="맑은 고딕"/>
                <a:cs typeface="맑은 고딕"/>
              </a:rPr>
              <a:t>. Pre-LN은 Norm을 sublayer 입력 안으로 옮기고 stack 끝에 최종 Norm을 두는 경우가 많다</a:t>
            </a:r>
          </a:p>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정규화 위치는 초기 gradient·학습 안정성에 영향 (Xiong 등 2020) — 비교 시 optimizer·학습률·warm-up·깊이를 통제 [25]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Decoder 입력과 정답을 한 칸 어긋나게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Teacher forcing: 이전 '정답' 토큰을 입력으로 — 정답은 한 칸 뒤에 있다</a:t>
            </a:r>
          </a:p>
        </p:txBody>
      </p:sp>
      <p:pic>
        <p:nvPicPr>
          <p:cNvPr id="8" name="Picture 7" descr="shift.png"/>
          <p:cNvPicPr>
            <a:picLocks noChangeAspect="1"/>
          </p:cNvPicPr>
          <p:nvPr/>
        </p:nvPicPr>
        <p:blipFill>
          <a:blip r:embed="rId3"/>
          <a:stretch>
            <a:fillRect/>
          </a:stretch>
        </p:blipFill>
        <p:spPr>
          <a:xfrm>
            <a:off x="457200" y="2629165"/>
            <a:ext cx="6201003" cy="2742669"/>
          </a:xfrm>
          <a:prstGeom prst="rect">
            <a:avLst/>
          </a:prstGeom>
        </p:spPr>
      </p:pic>
      <p:sp>
        <p:nvSpPr>
          <p:cNvPr id="9" name="Rounded Rectangle 8"/>
          <p:cNvSpPr/>
          <p:nvPr/>
        </p:nvSpPr>
        <p:spPr>
          <a:xfrm>
            <a:off x="6932523" y="1691640"/>
            <a:ext cx="4799228" cy="4617720"/>
          </a:xfrm>
          <a:prstGeom prst="roundRect">
            <a:avLst>
              <a:gd name="adj" fmla="val 1584"/>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15403" y="1874520"/>
            <a:ext cx="4433468" cy="502920"/>
          </a:xfrm>
          <a:prstGeom prst="rect">
            <a:avLst/>
          </a:prstGeom>
          <a:noFill/>
        </p:spPr>
        <p:txBody>
          <a:bodyPr wrap="square" lIns="73152" rIns="73152" tIns="36576" bIns="36576" anchor="ctr"/>
          <a:lstStyle/>
          <a:p>
            <a:pPr algn="l" marL="0" indent="0">
              <a:lnSpc>
                <a:spcPct val="115000"/>
              </a:lnSpc>
              <a:spcAft>
                <a:spcPts val="630"/>
              </a:spcAft>
              <a:buNone/>
            </a:pPr>
            <a:r>
              <a:rPr sz="1800" b="1">
                <a:solidFill>
                  <a:srgbClr val="0F6C8C"/>
                </a:solidFill>
                <a:latin typeface="맑은 고딕"/>
                <a:ea typeface="맑은 고딕"/>
                <a:cs typeface="맑은 고딕"/>
              </a:rPr>
              <a:t>왜 학습은 병렬로 되나</a:t>
            </a:r>
          </a:p>
        </p:txBody>
      </p:sp>
      <p:sp>
        <p:nvSpPr>
          <p:cNvPr id="11" name="TextBox 10"/>
          <p:cNvSpPr txBox="1"/>
          <p:nvPr/>
        </p:nvSpPr>
        <p:spPr>
          <a:xfrm>
            <a:off x="7115403" y="2468880"/>
            <a:ext cx="4433468" cy="3703320"/>
          </a:xfrm>
          <a:prstGeom prst="rect">
            <a:avLst/>
          </a:prstGeom>
          <a:noFill/>
        </p:spPr>
        <p:txBody>
          <a:bodyPr wrap="square" lIns="73152" rIns="73152" tIns="36576" bIns="36576" anchor="t"/>
          <a:lstStyle/>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입력이 I인 위치의 목표는 am → 현재 입력(대각선)을 보는 것은 </a:t>
            </a:r>
            <a:r>
              <a:rPr sz="1500" b="1">
                <a:solidFill>
                  <a:srgbClr val="1F2D3D"/>
                </a:solidFill>
                <a:latin typeface="맑은 고딕"/>
                <a:ea typeface="맑은 고딕"/>
                <a:cs typeface="맑은 고딕"/>
              </a:rPr>
              <a:t>괜찮다</a:t>
            </a:r>
          </a:p>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첫 위치가 뒤의 I를 보면 자기 정답을 보는 </a:t>
            </a:r>
            <a:r>
              <a:rPr sz="1500" b="1">
                <a:solidFill>
                  <a:srgbClr val="1F2D3D"/>
                </a:solidFill>
                <a:latin typeface="맑은 고딕"/>
                <a:ea typeface="맑은 고딕"/>
                <a:cs typeface="맑은 고딕"/>
              </a:rPr>
              <a:t>누출</a:t>
            </a:r>
          </a:p>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학습에서는 정답 prefix가 이미 모두 주어짐 → 모든 위치의 다음 토큰 예측을 한 번에 계산하고 mask로 의존성만 제한</a:t>
            </a:r>
          </a:p>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미래 값이 tensor에 </a:t>
            </a:r>
            <a:r>
              <a:rPr sz="1500" b="1">
                <a:solidFill>
                  <a:srgbClr val="1F2D3D"/>
                </a:solidFill>
                <a:latin typeface="맑은 고딕"/>
                <a:ea typeface="맑은 고딕"/>
                <a:cs typeface="맑은 고딕"/>
              </a:rPr>
              <a:t>있는 것</a:t>
            </a:r>
            <a:r>
              <a:rPr sz="1500" b="0">
                <a:solidFill>
                  <a:srgbClr val="1F2D3D"/>
                </a:solidFill>
                <a:latin typeface="맑은 고딕"/>
                <a:ea typeface="맑은 고딕"/>
                <a:cs typeface="맑은 고딕"/>
              </a:rPr>
              <a:t> ≠ Query가 </a:t>
            </a:r>
            <a:r>
              <a:rPr sz="1500" b="1">
                <a:solidFill>
                  <a:srgbClr val="1F2D3D"/>
                </a:solidFill>
                <a:latin typeface="맑은 고딕"/>
                <a:ea typeface="맑은 고딕"/>
                <a:cs typeface="맑은 고딕"/>
              </a:rPr>
              <a:t>접근하는 것</a:t>
            </a:r>
          </a:p>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BOS·EOS·PAD의 이름·ID는 tokenizer마다 다르다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Causal mask는 Softmax 이전에: −∞</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정답 누출 탐지기: 예측할 위치 2(입력 I → 정답 am)는 BOS와 I만 참조한다</a:t>
            </a:r>
          </a:p>
        </p:txBody>
      </p:sp>
      <p:pic>
        <p:nvPicPr>
          <p:cNvPr id="8" name="Picture 7" descr="causal_mask.png"/>
          <p:cNvPicPr>
            <a:picLocks noChangeAspect="1"/>
          </p:cNvPicPr>
          <p:nvPr/>
        </p:nvPicPr>
        <p:blipFill>
          <a:blip r:embed="rId3"/>
          <a:stretch>
            <a:fillRect/>
          </a:stretch>
        </p:blipFill>
        <p:spPr>
          <a:xfrm>
            <a:off x="457200" y="1655122"/>
            <a:ext cx="4846320" cy="4645035"/>
          </a:xfrm>
          <a:prstGeom prst="rect">
            <a:avLst/>
          </a:prstGeom>
        </p:spPr>
      </p:pic>
      <p:sp>
        <p:nvSpPr>
          <p:cNvPr id="9" name="Rounded Rectangle 8"/>
          <p:cNvSpPr/>
          <p:nvPr/>
        </p:nvSpPr>
        <p:spPr>
          <a:xfrm>
            <a:off x="5577840" y="1645920"/>
            <a:ext cx="6153912" cy="1188720"/>
          </a:xfrm>
          <a:prstGeom prst="roundRect">
            <a:avLst>
              <a:gd name="adj" fmla="val 6153"/>
            </a:avLst>
          </a:prstGeom>
          <a:solidFill>
            <a:srgbClr val="F3F6F8"/>
          </a:solidFill>
          <a:ln w="12700">
            <a:solidFill>
              <a:srgbClr val="B9CB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715000" y="1691640"/>
            <a:ext cx="5879592" cy="1097280"/>
          </a:xfrm>
          <a:prstGeom prst="rect">
            <a:avLst/>
          </a:prstGeom>
          <a:noFill/>
        </p:spPr>
        <p:txBody>
          <a:bodyPr wrap="square" anchor="ctr">
            <a:spAutoFit/>
          </a:bodyPr>
          <a:lstStyle/>
          <a:p>
            <a:pPr algn="ctr" marL="0" indent="0">
              <a:spcAft>
                <a:spcPts val="400"/>
              </a:spcAft>
              <a:buNone/>
            </a:pPr>
            <a:r>
              <a:rPr sz="1700" b="1">
                <a:solidFill>
                  <a:srgbClr val="1F2D3D"/>
                </a:solidFill>
                <a:latin typeface="Courier New"/>
                <a:ea typeface="맑은 고딕"/>
                <a:cs typeface="Courier New"/>
              </a:rPr>
              <a:t>M_ij = 0 (j ≤ i),  −∞ (j &gt; i)</a:t>
            </a:r>
          </a:p>
          <a:p>
            <a:pPr algn="ctr" marL="0" indent="0">
              <a:spcAft>
                <a:spcPts val="400"/>
              </a:spcAft>
              <a:buNone/>
            </a:pPr>
            <a:r>
              <a:rPr sz="1700" b="1">
                <a:solidFill>
                  <a:srgbClr val="1F2D3D"/>
                </a:solidFill>
                <a:latin typeface="Courier New"/>
                <a:ea typeface="맑은 고딕"/>
                <a:cs typeface="Courier New"/>
              </a:rPr>
              <a:t>A = softmax(QKᵀ/√dₕ + M)</a:t>
            </a:r>
          </a:p>
        </p:txBody>
      </p:sp>
      <p:sp>
        <p:nvSpPr>
          <p:cNvPr id="11" name="Rounded Rectangle 10"/>
          <p:cNvSpPr/>
          <p:nvPr/>
        </p:nvSpPr>
        <p:spPr>
          <a:xfrm>
            <a:off x="5577840" y="2971800"/>
            <a:ext cx="2962656" cy="2331720"/>
          </a:xfrm>
          <a:prstGeom prst="roundRect">
            <a:avLst>
              <a:gd name="adj" fmla="val 3137"/>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760720" y="3063240"/>
            <a:ext cx="2596896" cy="457200"/>
          </a:xfrm>
          <a:prstGeom prst="rect">
            <a:avLst/>
          </a:prstGeom>
          <a:noFill/>
        </p:spPr>
        <p:txBody>
          <a:bodyPr wrap="square" lIns="73152" rIns="73152" tIns="36576" bIns="36576" anchor="ctr"/>
          <a:lstStyle/>
          <a:p>
            <a:pPr algn="l" marL="0" indent="0">
              <a:lnSpc>
                <a:spcPct val="115000"/>
              </a:lnSpc>
              <a:spcAft>
                <a:spcPts val="560"/>
              </a:spcAft>
              <a:buNone/>
            </a:pPr>
            <a:r>
              <a:rPr sz="1600" b="1">
                <a:solidFill>
                  <a:srgbClr val="0F6C8C"/>
                </a:solidFill>
                <a:latin typeface="맑은 고딕"/>
                <a:ea typeface="맑은 고딕"/>
                <a:cs typeface="맑은 고딕"/>
              </a:rPr>
              <a:t>−∞를 더하면 (정답)</a:t>
            </a:r>
          </a:p>
        </p:txBody>
      </p:sp>
      <p:sp>
        <p:nvSpPr>
          <p:cNvPr id="13" name="TextBox 12"/>
          <p:cNvSpPr txBox="1"/>
          <p:nvPr/>
        </p:nvSpPr>
        <p:spPr>
          <a:xfrm>
            <a:off x="5760720" y="3566160"/>
            <a:ext cx="2642616" cy="1645919"/>
          </a:xfrm>
          <a:prstGeom prst="rect">
            <a:avLst/>
          </a:prstGeom>
          <a:noFill/>
        </p:spPr>
        <p:txBody>
          <a:bodyPr wrap="square" lIns="73152" rIns="73152" tIns="36576" bIns="36576" anchor="t"/>
          <a:lstStyle/>
          <a:p>
            <a:pPr algn="l" marL="0" indent="0">
              <a:lnSpc>
                <a:spcPct val="115000"/>
              </a:lnSpc>
              <a:spcAft>
                <a:spcPts val="455"/>
              </a:spcAft>
              <a:buNone/>
            </a:pPr>
            <a:r>
              <a:rPr sz="1300" b="0">
                <a:solidFill>
                  <a:srgbClr val="1F2D3D"/>
                </a:solidFill>
                <a:latin typeface="맑은 고딕"/>
                <a:ea typeface="맑은 고딕"/>
                <a:cs typeface="맑은 고딕"/>
              </a:rPr>
              <a:t>점수 [2, 1, 3]</a:t>
            </a:r>
          </a:p>
          <a:p>
            <a:pPr algn="l" marL="0" indent="0">
              <a:lnSpc>
                <a:spcPct val="115000"/>
              </a:lnSpc>
              <a:spcAft>
                <a:spcPts val="455"/>
              </a:spcAft>
              <a:buNone/>
            </a:pPr>
            <a:r>
              <a:rPr sz="1300" b="0">
                <a:solidFill>
                  <a:srgbClr val="1F2D3D"/>
                </a:solidFill>
                <a:latin typeface="맑은 고딕"/>
                <a:ea typeface="맑은 고딕"/>
                <a:cs typeface="맑은 고딕"/>
              </a:rPr>
              <a:t>→ [2, 1, −∞]</a:t>
            </a:r>
          </a:p>
          <a:p>
            <a:pPr algn="l" marL="0" indent="0">
              <a:lnSpc>
                <a:spcPct val="115000"/>
              </a:lnSpc>
              <a:spcAft>
                <a:spcPts val="455"/>
              </a:spcAft>
              <a:buNone/>
            </a:pPr>
            <a:r>
              <a:rPr sz="1300" b="0">
                <a:solidFill>
                  <a:srgbClr val="1F2D3D"/>
                </a:solidFill>
                <a:latin typeface="맑은 고딕"/>
                <a:ea typeface="맑은 고딕"/>
                <a:cs typeface="맑은 고딕"/>
              </a:rPr>
              <a:t>softmax → [0.73, 0.27, </a:t>
            </a:r>
            <a:r>
              <a:rPr sz="1300" b="1">
                <a:solidFill>
                  <a:srgbClr val="1F2D3D"/>
                </a:solidFill>
                <a:latin typeface="맑은 고딕"/>
                <a:ea typeface="맑은 고딕"/>
                <a:cs typeface="맑은 고딕"/>
              </a:rPr>
              <a:t>0.00</a:t>
            </a:r>
            <a:r>
              <a:rPr sz="1300" b="0">
                <a:solidFill>
                  <a:srgbClr val="1F2D3D"/>
                </a:solidFill>
                <a:latin typeface="맑은 고딕"/>
                <a:ea typeface="맑은 고딕"/>
                <a:cs typeface="맑은 고딕"/>
              </a:rPr>
              <a:t>]</a:t>
            </a:r>
          </a:p>
          <a:p>
            <a:pPr algn="l" marL="0" indent="0">
              <a:lnSpc>
                <a:spcPct val="115000"/>
              </a:lnSpc>
              <a:spcAft>
                <a:spcPts val="455"/>
              </a:spcAft>
              <a:buNone/>
            </a:pPr>
            <a:r>
              <a:rPr sz="1300" b="0">
                <a:solidFill>
                  <a:srgbClr val="1F2D3D"/>
                </a:solidFill>
                <a:latin typeface="맑은 고딕"/>
                <a:ea typeface="맑은 고딕"/>
                <a:cs typeface="맑은 고딕"/>
              </a:rPr>
              <a:t>미래 가중치 정확히 0</a:t>
            </a:r>
          </a:p>
        </p:txBody>
      </p:sp>
      <p:sp>
        <p:nvSpPr>
          <p:cNvPr id="14" name="Rounded Rectangle 13"/>
          <p:cNvSpPr/>
          <p:nvPr/>
        </p:nvSpPr>
        <p:spPr>
          <a:xfrm>
            <a:off x="8769096" y="2971800"/>
            <a:ext cx="2962656" cy="2331720"/>
          </a:xfrm>
          <a:prstGeom prst="roundRect">
            <a:avLst>
              <a:gd name="adj" fmla="val 3137"/>
            </a:avLst>
          </a:prstGeom>
          <a:solidFill>
            <a:srgbClr val="FD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951976" y="3063240"/>
            <a:ext cx="2596896" cy="457200"/>
          </a:xfrm>
          <a:prstGeom prst="rect">
            <a:avLst/>
          </a:prstGeom>
          <a:noFill/>
        </p:spPr>
        <p:txBody>
          <a:bodyPr wrap="square" lIns="73152" rIns="73152" tIns="36576" bIns="36576" anchor="ctr"/>
          <a:lstStyle/>
          <a:p>
            <a:pPr algn="l" marL="0" indent="0">
              <a:lnSpc>
                <a:spcPct val="115000"/>
              </a:lnSpc>
              <a:spcAft>
                <a:spcPts val="560"/>
              </a:spcAft>
              <a:buNone/>
            </a:pPr>
            <a:r>
              <a:rPr sz="1600" b="1">
                <a:solidFill>
                  <a:srgbClr val="E07A2F"/>
                </a:solidFill>
                <a:latin typeface="맑은 고딕"/>
                <a:ea typeface="맑은 고딕"/>
                <a:cs typeface="맑은 고딕"/>
              </a:rPr>
              <a:t>0으로 바꾸면 (오류)</a:t>
            </a:r>
          </a:p>
        </p:txBody>
      </p:sp>
      <p:sp>
        <p:nvSpPr>
          <p:cNvPr id="16" name="TextBox 15"/>
          <p:cNvSpPr txBox="1"/>
          <p:nvPr/>
        </p:nvSpPr>
        <p:spPr>
          <a:xfrm>
            <a:off x="8951976" y="3566160"/>
            <a:ext cx="2642616" cy="1645919"/>
          </a:xfrm>
          <a:prstGeom prst="rect">
            <a:avLst/>
          </a:prstGeom>
          <a:noFill/>
        </p:spPr>
        <p:txBody>
          <a:bodyPr wrap="square" lIns="73152" rIns="73152" tIns="36576" bIns="36576" anchor="t"/>
          <a:lstStyle/>
          <a:p>
            <a:pPr algn="l" marL="0" indent="0">
              <a:lnSpc>
                <a:spcPct val="115000"/>
              </a:lnSpc>
              <a:spcAft>
                <a:spcPts val="455"/>
              </a:spcAft>
              <a:buNone/>
            </a:pPr>
            <a:r>
              <a:rPr sz="1300" b="0">
                <a:solidFill>
                  <a:srgbClr val="1F2D3D"/>
                </a:solidFill>
                <a:latin typeface="맑은 고딕"/>
                <a:ea typeface="맑은 고딕"/>
                <a:cs typeface="맑은 고딕"/>
              </a:rPr>
              <a:t>점수 [2, 1, 3]</a:t>
            </a:r>
          </a:p>
          <a:p>
            <a:pPr algn="l" marL="0" indent="0">
              <a:lnSpc>
                <a:spcPct val="115000"/>
              </a:lnSpc>
              <a:spcAft>
                <a:spcPts val="455"/>
              </a:spcAft>
              <a:buNone/>
            </a:pPr>
            <a:r>
              <a:rPr sz="1300" b="0">
                <a:solidFill>
                  <a:srgbClr val="1F2D3D"/>
                </a:solidFill>
                <a:latin typeface="맑은 고딕"/>
                <a:ea typeface="맑은 고딕"/>
                <a:cs typeface="맑은 고딕"/>
              </a:rPr>
              <a:t>→ [2, 1, 0]</a:t>
            </a:r>
          </a:p>
          <a:p>
            <a:pPr algn="l" marL="0" indent="0">
              <a:lnSpc>
                <a:spcPct val="115000"/>
              </a:lnSpc>
              <a:spcAft>
                <a:spcPts val="455"/>
              </a:spcAft>
              <a:buNone/>
            </a:pPr>
            <a:r>
              <a:rPr sz="1300" b="0">
                <a:solidFill>
                  <a:srgbClr val="1F2D3D"/>
                </a:solidFill>
                <a:latin typeface="맑은 고딕"/>
                <a:ea typeface="맑은 고딕"/>
                <a:cs typeface="맑은 고딕"/>
              </a:rPr>
              <a:t>softmax → [0.67, 0.24, </a:t>
            </a:r>
            <a:r>
              <a:rPr sz="1300" b="1">
                <a:solidFill>
                  <a:srgbClr val="E07A2F"/>
                </a:solidFill>
                <a:latin typeface="맑은 고딕"/>
                <a:ea typeface="맑은 고딕"/>
                <a:cs typeface="맑은 고딕"/>
              </a:rPr>
              <a:t>0.09</a:t>
            </a:r>
            <a:r>
              <a:rPr sz="1300" b="0">
                <a:solidFill>
                  <a:srgbClr val="1F2D3D"/>
                </a:solidFill>
                <a:latin typeface="맑은 고딕"/>
                <a:ea typeface="맑은 고딕"/>
                <a:cs typeface="맑은 고딕"/>
              </a:rPr>
              <a:t>]</a:t>
            </a:r>
          </a:p>
          <a:p>
            <a:pPr algn="l" marL="0" indent="0">
              <a:lnSpc>
                <a:spcPct val="115000"/>
              </a:lnSpc>
              <a:spcAft>
                <a:spcPts val="455"/>
              </a:spcAft>
              <a:buNone/>
            </a:pPr>
            <a:r>
              <a:rPr sz="1300" b="0">
                <a:solidFill>
                  <a:srgbClr val="1F2D3D"/>
                </a:solidFill>
                <a:latin typeface="맑은 고딕"/>
                <a:ea typeface="맑은 고딕"/>
                <a:cs typeface="맑은 고딕"/>
              </a:rPr>
              <a:t>exp(0)=1 → 차단이 아니다</a:t>
            </a:r>
          </a:p>
        </p:txBody>
      </p:sp>
      <p:sp>
        <p:nvSpPr>
          <p:cNvPr id="17" name="Rounded Rectangle 16"/>
          <p:cNvSpPr/>
          <p:nvPr/>
        </p:nvSpPr>
        <p:spPr>
          <a:xfrm>
            <a:off x="5577840" y="5440680"/>
            <a:ext cx="6153912" cy="914400"/>
          </a:xfrm>
          <a:prstGeom prst="roundRect">
            <a:avLst>
              <a:gd name="adj" fmla="val 8000"/>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Aft>
                <a:spcPts val="375"/>
              </a:spcAft>
              <a:buNone/>
            </a:pPr>
            <a:r>
              <a:rPr sz="1500" b="1">
                <a:solidFill>
                  <a:srgbClr val="FFFFFF"/>
                </a:solidFill>
                <a:latin typeface="맑은 고딕"/>
                <a:ea typeface="맑은 고딕"/>
                <a:cs typeface="맑은 고딕"/>
              </a:rPr>
              <a:t>대각선(j = i)은 허용: target이 한 칸 shift되어 있으므로 현재 입력 ≠ 현재 정답</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Causal · Padding · Loss mask는 다르다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Key padding mask는 PAD Query의 출력을 0으로 만들지 않는다 → loss·pooling·평가에서 따로 제외</a:t>
            </a:r>
          </a:p>
        </p:txBody>
      </p:sp>
      <p:graphicFrame>
        <p:nvGraphicFramePr>
          <p:cNvPr id="8" name="Table 7"/>
          <p:cNvGraphicFramePr>
            <a:graphicFrameLocks noGrp="1"/>
          </p:cNvGraphicFramePr>
          <p:nvPr/>
        </p:nvGraphicFramePr>
        <p:xfrm>
          <a:off x="457200" y="1691640"/>
          <a:ext cx="11274551" cy="3718560"/>
        </p:xfrm>
        <a:graphic>
          <a:graphicData uri="http://schemas.openxmlformats.org/drawingml/2006/table">
            <a:tbl>
              <a:tblPr firstRow="0" bandRow="0">
                <a:tableStyleId>{5940675A-B579-460E-94D1-54222C63F5DA}</a:tableStyleId>
              </a:tblPr>
              <a:tblGrid>
                <a:gridCol w="4033173"/>
                <a:gridCol w="4033173"/>
                <a:gridCol w="3208205"/>
              </a:tblGrid>
              <a:tr h="426720">
                <a:tc>
                  <a:txBody>
                    <a:bodyPr wrap="square" lIns="54864" rIns="54864" tIns="36576" bIns="36576" anchor="t"/>
                    <a:lstStyle/>
                    <a:p>
                      <a:pPr algn="ctr" marL="0" indent="0">
                        <a:lnSpc>
                          <a:spcPct val="115000"/>
                        </a:lnSpc>
                        <a:spcAft>
                          <a:spcPts val="0"/>
                        </a:spcAft>
                        <a:buNone/>
                      </a:pPr>
                      <a:r>
                        <a:rPr sz="1600" b="1">
                          <a:solidFill>
                            <a:srgbClr val="FFFFFF"/>
                          </a:solidFill>
                          <a:latin typeface="맑은 고딕"/>
                          <a:ea typeface="맑은 고딕"/>
                          <a:cs typeface="맑은 고딕"/>
                        </a:rPr>
                        <a:t>구분</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c>
                  <a:txBody>
                    <a:bodyPr wrap="square" lIns="54864" rIns="54864" tIns="36576" bIns="36576" anchor="t"/>
                    <a:lstStyle/>
                    <a:p>
                      <a:pPr algn="ctr" marL="0" indent="0">
                        <a:lnSpc>
                          <a:spcPct val="115000"/>
                        </a:lnSpc>
                        <a:spcAft>
                          <a:spcPts val="0"/>
                        </a:spcAft>
                        <a:buNone/>
                      </a:pPr>
                      <a:r>
                        <a:rPr sz="1600" b="1">
                          <a:solidFill>
                            <a:srgbClr val="FFFFFF"/>
                          </a:solidFill>
                          <a:latin typeface="맑은 고딕"/>
                          <a:ea typeface="맑은 고딕"/>
                          <a:cs typeface="맑은 고딕"/>
                        </a:rPr>
                        <a:t>무엇을 막나</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c>
                  <a:txBody>
                    <a:bodyPr wrap="square" lIns="54864" rIns="54864" tIns="36576" bIns="36576" anchor="t"/>
                    <a:lstStyle/>
                    <a:p>
                      <a:pPr algn="ctr" marL="0" indent="0">
                        <a:lnSpc>
                          <a:spcPct val="115000"/>
                        </a:lnSpc>
                        <a:spcAft>
                          <a:spcPts val="0"/>
                        </a:spcAft>
                        <a:buNone/>
                      </a:pPr>
                      <a:r>
                        <a:rPr sz="1600" b="1">
                          <a:solidFill>
                            <a:srgbClr val="FFFFFF"/>
                          </a:solidFill>
                          <a:latin typeface="맑은 고딕"/>
                          <a:ea typeface="맑은 고딕"/>
                          <a:cs typeface="맑은 고딕"/>
                        </a:rPr>
                        <a:t>어디에 적용하나</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r>
              <a:tr h="426720">
                <a:tc>
                  <a:txBody>
                    <a:bodyPr wrap="square" lIns="54864" rIns="54864" tIns="36576" bIns="36576" anchor="t"/>
                    <a:lstStyle/>
                    <a:p>
                      <a:pPr algn="l" marL="0" indent="0">
                        <a:lnSpc>
                          <a:spcPct val="115000"/>
                        </a:lnSpc>
                        <a:spcAft>
                          <a:spcPts val="0"/>
                        </a:spcAft>
                        <a:buNone/>
                      </a:pPr>
                      <a:r>
                        <a:rPr sz="1600" b="1">
                          <a:solidFill>
                            <a:srgbClr val="1F2D3D"/>
                          </a:solidFill>
                          <a:latin typeface="맑은 고딕"/>
                          <a:ea typeface="맑은 고딕"/>
                          <a:cs typeface="맑은 고딕"/>
                        </a:rPr>
                        <a:t>Causal mask</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미래 target 위치 참조</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Decoder self-attention 점수</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670560">
                <a:tc>
                  <a:txBody>
                    <a:bodyPr wrap="square" lIns="54864" rIns="54864" tIns="36576" bIns="36576" anchor="t"/>
                    <a:lstStyle/>
                    <a:p>
                      <a:pPr algn="l" marL="0" indent="0">
                        <a:lnSpc>
                          <a:spcPct val="115000"/>
                        </a:lnSpc>
                        <a:spcAft>
                          <a:spcPts val="0"/>
                        </a:spcAft>
                        <a:buNone/>
                      </a:pPr>
                      <a:r>
                        <a:rPr sz="1600" b="1">
                          <a:solidFill>
                            <a:srgbClr val="1F2D3D"/>
                          </a:solidFill>
                          <a:latin typeface="맑은 고딕"/>
                          <a:ea typeface="맑은 고딕"/>
                          <a:cs typeface="맑은 고딕"/>
                        </a:rPr>
                        <a:t>Source key padding mask</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source의 채움(PAD) 위치 참조</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Encoder self-attention / cross-attention</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r h="426720">
                <a:tc>
                  <a:txBody>
                    <a:bodyPr wrap="square" lIns="54864" rIns="54864" tIns="36576" bIns="36576" anchor="t"/>
                    <a:lstStyle/>
                    <a:p>
                      <a:pPr algn="l" marL="0" indent="0">
                        <a:lnSpc>
                          <a:spcPct val="115000"/>
                        </a:lnSpc>
                        <a:spcAft>
                          <a:spcPts val="0"/>
                        </a:spcAft>
                        <a:buNone/>
                      </a:pPr>
                      <a:r>
                        <a:rPr sz="1600" b="1">
                          <a:solidFill>
                            <a:srgbClr val="1F2D3D"/>
                          </a:solidFill>
                          <a:latin typeface="맑은 고딕"/>
                          <a:ea typeface="맑은 고딕"/>
                          <a:cs typeface="맑은 고딕"/>
                        </a:rPr>
                        <a:t>Target key padding mask</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target의 채움 위치 참조</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Decoder self-attention</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426720">
                <a:tc>
                  <a:txBody>
                    <a:bodyPr wrap="square" lIns="54864" rIns="54864" tIns="36576" bIns="36576" anchor="t"/>
                    <a:lstStyle/>
                    <a:p>
                      <a:pPr algn="l" marL="0" indent="0">
                        <a:lnSpc>
                          <a:spcPct val="115000"/>
                        </a:lnSpc>
                        <a:spcAft>
                          <a:spcPts val="0"/>
                        </a:spcAft>
                        <a:buNone/>
                      </a:pPr>
                      <a:r>
                        <a:rPr sz="1600" b="1">
                          <a:solidFill>
                            <a:srgbClr val="1F2D3D"/>
                          </a:solidFill>
                          <a:latin typeface="맑은 고딕"/>
                          <a:ea typeface="맑은 고딕"/>
                          <a:cs typeface="맑은 고딕"/>
                        </a:rPr>
                        <a:t>Loss ignore mask</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PAD 정답이 학습 손실에 포함되는 것</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Cross-entropy 및 metric 집계</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r h="670560">
                <a:tc>
                  <a:txBody>
                    <a:bodyPr wrap="square" lIns="54864" rIns="54864" tIns="36576" bIns="36576" anchor="t"/>
                    <a:lstStyle/>
                    <a:p>
                      <a:pPr algn="l" marL="0" indent="0">
                        <a:lnSpc>
                          <a:spcPct val="115000"/>
                        </a:lnSpc>
                        <a:spcAft>
                          <a:spcPts val="0"/>
                        </a:spcAft>
                        <a:buNone/>
                      </a:pPr>
                      <a:r>
                        <a:rPr sz="1600" b="1">
                          <a:solidFill>
                            <a:srgbClr val="1F2D3D"/>
                          </a:solidFill>
                          <a:latin typeface="맑은 고딕"/>
                          <a:ea typeface="맑은 고딕"/>
                          <a:cs typeface="맑은 고딕"/>
                        </a:rPr>
                        <a:t>API: F.scaled_dot_product_attention</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DF1E8"/>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boolean attn_mask에서 True = 참조 </a:t>
                      </a:r>
                      <a:r>
                        <a:rPr sz="1600" b="1">
                          <a:solidFill>
                            <a:srgbClr val="1F2D3D"/>
                          </a:solidFill>
                          <a:latin typeface="맑은 고딕"/>
                          <a:ea typeface="맑은 고딕"/>
                          <a:cs typeface="맑은 고딕"/>
                        </a:rPr>
                        <a:t>허용</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DF1E8"/>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PyTorch 함수형 SDPA [27]</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DF1E8"/>
                    </a:solidFill>
                  </a:tcPr>
                </a:tc>
              </a:tr>
              <a:tr h="670560">
                <a:tc>
                  <a:txBody>
                    <a:bodyPr wrap="square" lIns="54864" rIns="54864" tIns="36576" bIns="36576" anchor="t"/>
                    <a:lstStyle/>
                    <a:p>
                      <a:pPr algn="l" marL="0" indent="0">
                        <a:lnSpc>
                          <a:spcPct val="115000"/>
                        </a:lnSpc>
                        <a:spcAft>
                          <a:spcPts val="0"/>
                        </a:spcAft>
                        <a:buNone/>
                      </a:pPr>
                      <a:r>
                        <a:rPr sz="1600" b="1">
                          <a:solidFill>
                            <a:srgbClr val="1F2D3D"/>
                          </a:solidFill>
                          <a:latin typeface="맑은 고딕"/>
                          <a:ea typeface="맑은 고딕"/>
                          <a:cs typeface="맑은 고딕"/>
                        </a:rPr>
                        <a:t>API: nn.MultiheadAttention</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DF1E8"/>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attn_mask·key_padding_mask에서 True = 참조 </a:t>
                      </a:r>
                      <a:r>
                        <a:rPr sz="1600" b="1">
                          <a:solidFill>
                            <a:srgbClr val="1F2D3D"/>
                          </a:solidFill>
                          <a:latin typeface="맑은 고딕"/>
                          <a:ea typeface="맑은 고딕"/>
                          <a:cs typeface="맑은 고딕"/>
                        </a:rPr>
                        <a:t>차단</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DF1E8"/>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PyTorch 모듈 [28]</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DF1E8"/>
                    </a:solidFill>
                  </a:tcPr>
                </a:tc>
              </a:tr>
            </a:tbl>
          </a:graphicData>
        </a:graphic>
      </p:graphicFrame>
      <p:sp>
        <p:nvSpPr>
          <p:cNvPr id="9" name="Rounded Rectangle 8"/>
          <p:cNvSpPr/>
          <p:nvPr/>
        </p:nvSpPr>
        <p:spPr>
          <a:xfrm>
            <a:off x="457200" y="5788152"/>
            <a:ext cx="11274552" cy="548640"/>
          </a:xfrm>
          <a:prstGeom prst="roundRect">
            <a:avLst>
              <a:gd name="adj" fmla="val 13333"/>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Aft>
                <a:spcPts val="400"/>
              </a:spcAft>
              <a:buNone/>
            </a:pPr>
            <a:r>
              <a:rPr sz="1600" b="1">
                <a:solidFill>
                  <a:srgbClr val="FFFFFF"/>
                </a:solidFill>
                <a:latin typeface="맑은 고딕"/>
                <a:ea typeface="맑은 고딕"/>
                <a:cs typeface="맑은 고딕"/>
              </a:rPr>
              <a:t>이름이 같아 보여도 그대로 복사하면 의미가 뒤집힌다 — 이 강의 직접 구현은 allow=True(허용)로 통일</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Week 6 · Part 02</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Rounded Rectangle 6"/>
          <p:cNvSpPr/>
          <p:nvPr/>
        </p:nvSpPr>
        <p:spPr>
          <a:xfrm>
            <a:off x="822960" y="1828800"/>
            <a:ext cx="10515600" cy="3017520"/>
          </a:xfrm>
          <a:prstGeom prst="roundRect">
            <a:avLst>
              <a:gd name="adj" fmla="val 2424"/>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188720" y="2057400"/>
            <a:ext cx="2194560" cy="2560320"/>
          </a:xfrm>
          <a:prstGeom prst="rect">
            <a:avLst/>
          </a:prstGeom>
          <a:noFill/>
        </p:spPr>
        <p:txBody>
          <a:bodyPr wrap="square" lIns="73152" rIns="73152" tIns="36576" bIns="36576" anchor="ctr"/>
          <a:lstStyle/>
          <a:p>
            <a:pPr algn="l" marL="0" indent="0">
              <a:lnSpc>
                <a:spcPct val="115000"/>
              </a:lnSpc>
              <a:spcAft>
                <a:spcPts val="2800"/>
              </a:spcAft>
              <a:buNone/>
            </a:pPr>
            <a:r>
              <a:rPr sz="8000" b="1">
                <a:solidFill>
                  <a:srgbClr val="0F6C8C"/>
                </a:solidFill>
                <a:latin typeface="맑은 고딕"/>
                <a:ea typeface="맑은 고딕"/>
                <a:cs typeface="맑은 고딕"/>
              </a:rPr>
              <a:t>02</a:t>
            </a:r>
          </a:p>
        </p:txBody>
      </p:sp>
      <p:sp>
        <p:nvSpPr>
          <p:cNvPr id="9" name="TextBox 8"/>
          <p:cNvSpPr txBox="1"/>
          <p:nvPr/>
        </p:nvSpPr>
        <p:spPr>
          <a:xfrm>
            <a:off x="3474720" y="2148840"/>
            <a:ext cx="7589520" cy="1280160"/>
          </a:xfrm>
          <a:prstGeom prst="rect">
            <a:avLst/>
          </a:prstGeom>
          <a:noFill/>
        </p:spPr>
        <p:txBody>
          <a:bodyPr wrap="square" lIns="73152" rIns="73152" tIns="36576" bIns="36576" anchor="b"/>
          <a:lstStyle/>
          <a:p>
            <a:pPr algn="l" marL="0" indent="0">
              <a:lnSpc>
                <a:spcPct val="115000"/>
              </a:lnSpc>
              <a:spcAft>
                <a:spcPts val="1260"/>
              </a:spcAft>
              <a:buNone/>
            </a:pPr>
            <a:r>
              <a:rPr sz="3600" b="1">
                <a:solidFill>
                  <a:srgbClr val="1F2D3D"/>
                </a:solidFill>
                <a:latin typeface="맑은 고딕"/>
                <a:ea typeface="맑은 고딕"/>
                <a:cs typeface="맑은 고딕"/>
              </a:rPr>
              <a:t>Encoder·Decoder 조립과 학습</a:t>
            </a:r>
          </a:p>
        </p:txBody>
      </p:sp>
      <p:sp>
        <p:nvSpPr>
          <p:cNvPr id="10" name="TextBox 9"/>
          <p:cNvSpPr txBox="1"/>
          <p:nvPr/>
        </p:nvSpPr>
        <p:spPr>
          <a:xfrm>
            <a:off x="3474720" y="3520440"/>
            <a:ext cx="7589520" cy="1097280"/>
          </a:xfrm>
          <a:prstGeom prst="rect">
            <a:avLst/>
          </a:prstGeom>
          <a:noFill/>
        </p:spPr>
        <p:txBody>
          <a:bodyPr wrap="square" lIns="73152" rIns="73152" tIns="36576" bIns="36576" anchor="t"/>
          <a:lstStyle/>
          <a:p>
            <a:pPr algn="l" marL="0" indent="0">
              <a:lnSpc>
                <a:spcPct val="115000"/>
              </a:lnSpc>
              <a:spcAft>
                <a:spcPts val="630"/>
              </a:spcAft>
              <a:buNone/>
            </a:pPr>
            <a:r>
              <a:rPr sz="1800" b="0">
                <a:solidFill>
                  <a:srgbClr val="5B6770"/>
                </a:solidFill>
                <a:latin typeface="맑은 고딕"/>
                <a:ea typeface="맑은 고딕"/>
                <a:cs typeface="맑은 고딕"/>
              </a:rPr>
              <a:t>모든 부품을 수식과 shape로 다시 조립하고, 확률을 학습 목표로 바꾼다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Encoder 한 층, Decoder 한 층</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각 sublayer = Dropout → 잔차 합 → LayerNorm (원형 Post-LN)</a:t>
            </a:r>
          </a:p>
        </p:txBody>
      </p:sp>
      <p:pic>
        <p:nvPicPr>
          <p:cNvPr id="8" name="Picture 7" descr="encdec_layer.png"/>
          <p:cNvPicPr>
            <a:picLocks noChangeAspect="1"/>
          </p:cNvPicPr>
          <p:nvPr/>
        </p:nvPicPr>
        <p:blipFill>
          <a:blip r:embed="rId3"/>
          <a:stretch>
            <a:fillRect/>
          </a:stretch>
        </p:blipFill>
        <p:spPr>
          <a:xfrm>
            <a:off x="593100" y="1691640"/>
            <a:ext cx="5365475" cy="4617720"/>
          </a:xfrm>
          <a:prstGeom prst="rect">
            <a:avLst/>
          </a:prstGeom>
        </p:spPr>
      </p:pic>
      <p:sp>
        <p:nvSpPr>
          <p:cNvPr id="9" name="TextBox 8"/>
          <p:cNvSpPr txBox="1"/>
          <p:nvPr/>
        </p:nvSpPr>
        <p:spPr>
          <a:xfrm>
            <a:off x="6368796" y="1691640"/>
            <a:ext cx="5362956" cy="4617720"/>
          </a:xfrm>
          <a:prstGeom prst="rect">
            <a:avLst/>
          </a:prstGeom>
          <a:noFill/>
        </p:spPr>
        <p:txBody>
          <a:bodyPr wrap="square" lIns="73152" rIns="73152" tIns="36576" bIns="36576" anchor="t"/>
          <a:lstStyle/>
          <a:p>
            <a:pPr algn="l" marL="310896" indent="-265176">
              <a:lnSpc>
                <a:spcPct val="115000"/>
              </a:lnSpc>
              <a:spcAft>
                <a:spcPts val="800"/>
              </a:spcAft>
              <a:buClr>
                <a:srgbClr val="0F6C8C"/>
              </a:buClr>
              <a:buFont typeface="Arial"/>
              <a:buChar char="•"/>
            </a:pPr>
            <a:r>
              <a:rPr sz="1600" b="0">
                <a:solidFill>
                  <a:srgbClr val="1F2D3D"/>
                </a:solidFill>
                <a:latin typeface="맑은 고딕"/>
                <a:ea typeface="맑은 고딕"/>
                <a:cs typeface="맑은 고딕"/>
              </a:rPr>
              <a:t>Encoder: </a:t>
            </a:r>
            <a:r>
              <a:rPr sz="1600" b="0">
                <a:solidFill>
                  <a:srgbClr val="1F2D3D"/>
                </a:solidFill>
                <a:latin typeface="Courier New"/>
                <a:ea typeface="맑은 고딕"/>
                <a:cs typeface="Courier New"/>
              </a:rPr>
              <a:t>U = LN₁(X + Drop(MHA(X,X,X)))</a:t>
            </a:r>
            <a:r>
              <a:rPr sz="1600" b="0">
                <a:solidFill>
                  <a:srgbClr val="1F2D3D"/>
                </a:solidFill>
                <a:latin typeface="맑은 고딕"/>
                <a:ea typeface="맑은 고딕"/>
                <a:cs typeface="맑은 고딕"/>
              </a:rPr>
              <a:t>, </a:t>
            </a:r>
            <a:r>
              <a:rPr sz="1600" b="0">
                <a:solidFill>
                  <a:srgbClr val="1F2D3D"/>
                </a:solidFill>
                <a:latin typeface="Courier New"/>
                <a:ea typeface="맑은 고딕"/>
                <a:cs typeface="Courier New"/>
              </a:rPr>
              <a:t>X′ = LN₂(U + Drop(FFN(U)))</a:t>
            </a:r>
            <a:r>
              <a:rPr sz="1600" b="0">
                <a:solidFill>
                  <a:srgbClr val="1F2D3D"/>
                </a:solidFill>
                <a:latin typeface="맑은 고딕"/>
                <a:ea typeface="맑은 고딕"/>
                <a:cs typeface="맑은 고딕"/>
              </a:rPr>
              <a:t> — 입출력 </a:t>
            </a:r>
            <a:r>
              <a:rPr sz="1600" b="0">
                <a:solidFill>
                  <a:srgbClr val="1F2D3D"/>
                </a:solidFill>
                <a:latin typeface="Courier New"/>
                <a:ea typeface="맑은 고딕"/>
                <a:cs typeface="Courier New"/>
              </a:rPr>
              <a:t>(B,S,d)</a:t>
            </a:r>
          </a:p>
          <a:p>
            <a:pPr algn="l" marL="310896" indent="-265176">
              <a:lnSpc>
                <a:spcPct val="115000"/>
              </a:lnSpc>
              <a:spcAft>
                <a:spcPts val="800"/>
              </a:spcAft>
              <a:buClr>
                <a:srgbClr val="0F6C8C"/>
              </a:buClr>
              <a:buFont typeface="Arial"/>
              <a:buChar char="•"/>
            </a:pPr>
            <a:r>
              <a:rPr sz="1600" b="0">
                <a:solidFill>
                  <a:srgbClr val="1F2D3D"/>
                </a:solidFill>
                <a:latin typeface="맑은 고딕"/>
                <a:ea typeface="맑은 고딕"/>
                <a:cs typeface="맑은 고딕"/>
              </a:rPr>
              <a:t>Decoder: masked self → cross </a:t>
            </a:r>
            <a:r>
              <a:rPr sz="1600" b="0">
                <a:solidFill>
                  <a:srgbClr val="1F2D3D"/>
                </a:solidFill>
                <a:latin typeface="Courier New"/>
                <a:ea typeface="맑은 고딕"/>
                <a:cs typeface="Courier New"/>
              </a:rPr>
              <a:t>MHA(U, E, E)</a:t>
            </a:r>
            <a:r>
              <a:rPr sz="1600" b="0">
                <a:solidFill>
                  <a:srgbClr val="1F2D3D"/>
                </a:solidFill>
                <a:latin typeface="맑은 고딕"/>
                <a:ea typeface="맑은 고딕"/>
                <a:cs typeface="맑은 고딕"/>
              </a:rPr>
              <a:t> → FFN, 각각 Add &amp; LN (3개)</a:t>
            </a:r>
          </a:p>
          <a:p>
            <a:pPr algn="l" marL="310896" indent="-265176">
              <a:lnSpc>
                <a:spcPct val="115000"/>
              </a:lnSpc>
              <a:spcAft>
                <a:spcPts val="800"/>
              </a:spcAft>
              <a:buClr>
                <a:srgbClr val="0F6C8C"/>
              </a:buClr>
              <a:buFont typeface="Arial"/>
              <a:buChar char="•"/>
            </a:pPr>
            <a:r>
              <a:rPr sz="1600" b="0">
                <a:solidFill>
                  <a:srgbClr val="1F2D3D"/>
                </a:solidFill>
                <a:latin typeface="맑은 고딕"/>
                <a:ea typeface="맑은 고딕"/>
                <a:cs typeface="맑은 고딕"/>
              </a:rPr>
              <a:t>모든 Decoder 층이 Encoder </a:t>
            </a:r>
            <a:r>
              <a:rPr sz="1600" b="1">
                <a:solidFill>
                  <a:srgbClr val="1F2D3D"/>
                </a:solidFill>
                <a:latin typeface="맑은 고딕"/>
                <a:ea typeface="맑은 고딕"/>
                <a:cs typeface="맑은 고딕"/>
              </a:rPr>
              <a:t>최종</a:t>
            </a:r>
            <a:r>
              <a:rPr sz="1600" b="0">
                <a:solidFill>
                  <a:srgbClr val="1F2D3D"/>
                </a:solidFill>
                <a:latin typeface="맑은 고딕"/>
                <a:ea typeface="맑은 고딕"/>
                <a:cs typeface="맑은 고딕"/>
              </a:rPr>
              <a:t> 출력 E를 참조 — 층마다 Encoder를 다시 실행하지 않음, cross 투영은 층마다 별도</a:t>
            </a:r>
          </a:p>
          <a:p>
            <a:pPr algn="l" marL="310896" indent="-265176">
              <a:lnSpc>
                <a:spcPct val="115000"/>
              </a:lnSpc>
              <a:spcAft>
                <a:spcPts val="800"/>
              </a:spcAft>
              <a:buClr>
                <a:srgbClr val="0F6C8C"/>
              </a:buClr>
              <a:buFont typeface="Arial"/>
              <a:buChar char="•"/>
            </a:pPr>
            <a:r>
              <a:rPr sz="1600" b="0">
                <a:solidFill>
                  <a:srgbClr val="1F2D3D"/>
                </a:solidFill>
                <a:latin typeface="맑은 고딕"/>
                <a:ea typeface="맑은 고딕"/>
                <a:cs typeface="맑은 고딕"/>
              </a:rPr>
              <a:t>출력 head: </a:t>
            </a:r>
            <a:r>
              <a:rPr sz="1600" b="0">
                <a:solidFill>
                  <a:srgbClr val="1F2D3D"/>
                </a:solidFill>
                <a:latin typeface="Courier New"/>
                <a:ea typeface="맑은 고딕"/>
                <a:cs typeface="Courier New"/>
              </a:rPr>
              <a:t>Z = D·W_vocab + b</a:t>
            </a:r>
            <a:r>
              <a:rPr sz="1600" b="0">
                <a:solidFill>
                  <a:srgbClr val="1F2D3D"/>
                </a:solidFill>
                <a:latin typeface="맑은 고딕"/>
                <a:ea typeface="맑은 고딕"/>
                <a:cs typeface="맑은 고딕"/>
              </a:rPr>
              <a:t>, W_vocab </a:t>
            </a:r>
            <a:r>
              <a:rPr sz="1600" b="0">
                <a:solidFill>
                  <a:srgbClr val="1F2D3D"/>
                </a:solidFill>
                <a:latin typeface="Courier New"/>
                <a:ea typeface="맑은 고딕"/>
                <a:cs typeface="Courier New"/>
              </a:rPr>
              <a:t>d×|V|</a:t>
            </a:r>
            <a:r>
              <a:rPr sz="1600" b="0">
                <a:solidFill>
                  <a:srgbClr val="1F2D3D"/>
                </a:solidFill>
                <a:latin typeface="맑은 고딕"/>
                <a:ea typeface="맑은 고딕"/>
                <a:cs typeface="맑은 고딕"/>
              </a:rPr>
              <a:t> → logits </a:t>
            </a:r>
            <a:r>
              <a:rPr sz="1600" b="0">
                <a:solidFill>
                  <a:srgbClr val="1F2D3D"/>
                </a:solidFill>
                <a:latin typeface="Courier New"/>
                <a:ea typeface="맑은 고딕"/>
                <a:cs typeface="Courier New"/>
              </a:rPr>
              <a:t>(B,T,|V|)</a:t>
            </a:r>
          </a:p>
          <a:p>
            <a:pPr algn="l" marL="310896" indent="-265176">
              <a:lnSpc>
                <a:spcPct val="115000"/>
              </a:lnSpc>
              <a:spcAft>
                <a:spcPts val="800"/>
              </a:spcAft>
              <a:buClr>
                <a:srgbClr val="0F6C8C"/>
              </a:buClr>
              <a:buFont typeface="Arial"/>
              <a:buChar char="•"/>
            </a:pPr>
            <a:r>
              <a:rPr sz="1600" b="0">
                <a:solidFill>
                  <a:srgbClr val="1F2D3D"/>
                </a:solidFill>
                <a:latin typeface="맑은 고딕"/>
                <a:ea typeface="맑은 고딕"/>
                <a:cs typeface="맑은 고딕"/>
              </a:rPr>
              <a:t>원논문은 embedding과 출력층의 </a:t>
            </a:r>
            <a:r>
              <a:rPr sz="1600" b="1">
                <a:solidFill>
                  <a:srgbClr val="1F2D3D"/>
                </a:solidFill>
                <a:latin typeface="맑은 고딕"/>
                <a:ea typeface="맑은 고딕"/>
                <a:cs typeface="맑은 고딕"/>
              </a:rPr>
              <a:t>weight tying</a:t>
            </a:r>
            <a:r>
              <a:rPr sz="1600" b="0">
                <a:solidFill>
                  <a:srgbClr val="1F2D3D"/>
                </a:solidFill>
                <a:latin typeface="맑은 고딕"/>
                <a:ea typeface="맑은 고딕"/>
                <a:cs typeface="맑은 고딕"/>
              </a:rPr>
              <a:t> — 공유 어휘 등 조건이 맞아야 하는 설계 선택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샘플을 끝까지 추적하기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B=2, S=5, T=3, d=8, H=2, |V|=16</a:t>
            </a:r>
          </a:p>
        </p:txBody>
      </p:sp>
      <p:graphicFrame>
        <p:nvGraphicFramePr>
          <p:cNvPr id="8" name="Table 7"/>
          <p:cNvGraphicFramePr>
            <a:graphicFrameLocks noGrp="1"/>
          </p:cNvGraphicFramePr>
          <p:nvPr/>
        </p:nvGraphicFramePr>
        <p:xfrm>
          <a:off x="457200" y="1691640"/>
          <a:ext cx="11274552" cy="3977640"/>
        </p:xfrm>
        <a:graphic>
          <a:graphicData uri="http://schemas.openxmlformats.org/drawingml/2006/table">
            <a:tbl>
              <a:tblPr firstRow="0" bandRow="0">
                <a:tableStyleId>{5940675A-B579-460E-94D1-54222C63F5DA}</a:tableStyleId>
              </a:tblPr>
              <a:tblGrid>
                <a:gridCol w="3758184"/>
                <a:gridCol w="2348865"/>
                <a:gridCol w="5167503"/>
              </a:tblGrid>
              <a:tr h="441960">
                <a:tc>
                  <a:txBody>
                    <a:bodyPr wrap="square" lIns="54864" rIns="54864" tIns="36576" bIns="36576" anchor="t"/>
                    <a:lstStyle/>
                    <a:p>
                      <a:pPr algn="ctr" marL="0" indent="0">
                        <a:lnSpc>
                          <a:spcPct val="115000"/>
                        </a:lnSpc>
                        <a:spcAft>
                          <a:spcPts val="0"/>
                        </a:spcAft>
                        <a:buNone/>
                      </a:pPr>
                      <a:r>
                        <a:rPr sz="1700" b="1">
                          <a:solidFill>
                            <a:srgbClr val="FFFFFF"/>
                          </a:solidFill>
                          <a:latin typeface="맑은 고딕"/>
                          <a:ea typeface="맑은 고딕"/>
                          <a:cs typeface="맑은 고딕"/>
                        </a:rPr>
                        <a:t>구간</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c>
                  <a:txBody>
                    <a:bodyPr wrap="square" lIns="54864" rIns="54864" tIns="36576" bIns="36576" anchor="t"/>
                    <a:lstStyle/>
                    <a:p>
                      <a:pPr algn="ctr" marL="0" indent="0">
                        <a:lnSpc>
                          <a:spcPct val="115000"/>
                        </a:lnSpc>
                        <a:spcAft>
                          <a:spcPts val="0"/>
                        </a:spcAft>
                        <a:buNone/>
                      </a:pPr>
                      <a:r>
                        <a:rPr sz="1700" b="1">
                          <a:solidFill>
                            <a:srgbClr val="FFFFFF"/>
                          </a:solidFill>
                          <a:latin typeface="맑은 고딕"/>
                          <a:ea typeface="맑은 고딕"/>
                          <a:cs typeface="맑은 고딕"/>
                        </a:rPr>
                        <a:t>Shape</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c>
                  <a:txBody>
                    <a:bodyPr wrap="square" lIns="54864" rIns="54864" tIns="36576" bIns="36576" anchor="t"/>
                    <a:lstStyle/>
                    <a:p>
                      <a:pPr algn="ctr" marL="0" indent="0">
                        <a:lnSpc>
                          <a:spcPct val="115000"/>
                        </a:lnSpc>
                        <a:spcAft>
                          <a:spcPts val="0"/>
                        </a:spcAft>
                        <a:buNone/>
                      </a:pPr>
                      <a:r>
                        <a:rPr sz="1700" b="1">
                          <a:solidFill>
                            <a:srgbClr val="FFFFFF"/>
                          </a:solidFill>
                          <a:latin typeface="맑은 고딕"/>
                          <a:ea typeface="맑은 고딕"/>
                          <a:cs typeface="맑은 고딕"/>
                        </a:rPr>
                        <a:t>해석</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r>
              <a:tr h="441960">
                <a:tc>
                  <a:txBody>
                    <a:bodyPr wrap="square" lIns="54864" rIns="54864" tIns="36576" bIns="36576" anchor="t"/>
                    <a:lstStyle/>
                    <a:p>
                      <a:pPr algn="l" marL="0" indent="0">
                        <a:lnSpc>
                          <a:spcPct val="115000"/>
                        </a:lnSpc>
                        <a:spcAft>
                          <a:spcPts val="0"/>
                        </a:spcAft>
                        <a:buNone/>
                      </a:pPr>
                      <a:r>
                        <a:rPr sz="1700" b="1">
                          <a:solidFill>
                            <a:srgbClr val="1F2D3D"/>
                          </a:solidFill>
                          <a:latin typeface="맑은 고딕"/>
                          <a:ea typeface="맑은 고딕"/>
                          <a:cs typeface="맑은 고딕"/>
                        </a:rPr>
                        <a:t>Source IDs</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700" b="0">
                          <a:solidFill>
                            <a:srgbClr val="1F2D3D"/>
                          </a:solidFill>
                          <a:latin typeface="맑은 고딕"/>
                          <a:ea typeface="맑은 고딕"/>
                          <a:cs typeface="맑은 고딕"/>
                        </a:rPr>
                        <a:t>(2, 5)</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700" b="0">
                          <a:solidFill>
                            <a:srgbClr val="1F2D3D"/>
                          </a:solidFill>
                          <a:latin typeface="맑은 고딕"/>
                          <a:ea typeface="맑은 고딕"/>
                          <a:cs typeface="맑은 고딕"/>
                        </a:rPr>
                        <a:t>padding된 입력</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441960">
                <a:tc>
                  <a:txBody>
                    <a:bodyPr wrap="square" lIns="54864" rIns="54864" tIns="36576" bIns="36576" anchor="t"/>
                    <a:lstStyle/>
                    <a:p>
                      <a:pPr algn="l" marL="0" indent="0">
                        <a:lnSpc>
                          <a:spcPct val="115000"/>
                        </a:lnSpc>
                        <a:spcAft>
                          <a:spcPts val="0"/>
                        </a:spcAft>
                        <a:buNone/>
                      </a:pPr>
                      <a:r>
                        <a:rPr sz="1700" b="1">
                          <a:solidFill>
                            <a:srgbClr val="1F2D3D"/>
                          </a:solidFill>
                          <a:latin typeface="맑은 고딕"/>
                          <a:ea typeface="맑은 고딕"/>
                          <a:cs typeface="맑은 고딕"/>
                        </a:rPr>
                        <a:t>Source embedding + PE</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700" b="0">
                          <a:solidFill>
                            <a:srgbClr val="1F2D3D"/>
                          </a:solidFill>
                          <a:latin typeface="맑은 고딕"/>
                          <a:ea typeface="맑은 고딕"/>
                          <a:cs typeface="맑은 고딕"/>
                        </a:rPr>
                        <a:t>(2, 5, 8)</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700" b="0">
                          <a:solidFill>
                            <a:srgbClr val="1F2D3D"/>
                          </a:solidFill>
                          <a:latin typeface="맑은 고딕"/>
                          <a:ea typeface="맑은 고딕"/>
                          <a:cs typeface="맑은 고딕"/>
                        </a:rPr>
                        <a:t>8차원 표현</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r h="441960">
                <a:tc>
                  <a:txBody>
                    <a:bodyPr wrap="square" lIns="54864" rIns="54864" tIns="36576" bIns="36576" anchor="t"/>
                    <a:lstStyle/>
                    <a:p>
                      <a:pPr algn="l" marL="0" indent="0">
                        <a:lnSpc>
                          <a:spcPct val="115000"/>
                        </a:lnSpc>
                        <a:spcAft>
                          <a:spcPts val="0"/>
                        </a:spcAft>
                        <a:buNone/>
                      </a:pPr>
                      <a:r>
                        <a:rPr sz="1700" b="1">
                          <a:solidFill>
                            <a:srgbClr val="1F2D3D"/>
                          </a:solidFill>
                          <a:latin typeface="맑은 고딕"/>
                          <a:ea typeface="맑은 고딕"/>
                          <a:cs typeface="맑은 고딕"/>
                        </a:rPr>
                        <a:t>Encoder 최종 출력 E</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700" b="0">
                          <a:solidFill>
                            <a:srgbClr val="1F2D3D"/>
                          </a:solidFill>
                          <a:latin typeface="맑은 고딕"/>
                          <a:ea typeface="맑은 고딕"/>
                          <a:cs typeface="맑은 고딕"/>
                        </a:rPr>
                        <a:t>(2, 5, 8)</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700" b="0">
                          <a:solidFill>
                            <a:srgbClr val="1F2D3D"/>
                          </a:solidFill>
                          <a:latin typeface="맑은 고딕"/>
                          <a:ea typeface="맑은 고딕"/>
                          <a:cs typeface="맑은 고딕"/>
                        </a:rPr>
                        <a:t>입력의 문맥 표현</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441960">
                <a:tc>
                  <a:txBody>
                    <a:bodyPr wrap="square" lIns="54864" rIns="54864" tIns="36576" bIns="36576" anchor="t"/>
                    <a:lstStyle/>
                    <a:p>
                      <a:pPr algn="l" marL="0" indent="0">
                        <a:lnSpc>
                          <a:spcPct val="115000"/>
                        </a:lnSpc>
                        <a:spcAft>
                          <a:spcPts val="0"/>
                        </a:spcAft>
                        <a:buNone/>
                      </a:pPr>
                      <a:r>
                        <a:rPr sz="1700" b="1">
                          <a:solidFill>
                            <a:srgbClr val="1F2D3D"/>
                          </a:solidFill>
                          <a:latin typeface="맑은 고딕"/>
                          <a:ea typeface="맑은 고딕"/>
                          <a:cs typeface="맑은 고딕"/>
                        </a:rPr>
                        <a:t>Target prefix IDs</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700" b="0">
                          <a:solidFill>
                            <a:srgbClr val="1F2D3D"/>
                          </a:solidFill>
                          <a:latin typeface="맑은 고딕"/>
                          <a:ea typeface="맑은 고딕"/>
                          <a:cs typeface="맑은 고딕"/>
                        </a:rPr>
                        <a:t>(2, 3)</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700" b="0">
                          <a:solidFill>
                            <a:srgbClr val="1F2D3D"/>
                          </a:solidFill>
                          <a:latin typeface="맑은 고딕"/>
                          <a:ea typeface="맑은 고딕"/>
                          <a:cs typeface="맑은 고딕"/>
                        </a:rPr>
                        <a:t>BOS 포함, 오른쪽으로 이동한 입력</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r h="441960">
                <a:tc>
                  <a:txBody>
                    <a:bodyPr wrap="square" lIns="54864" rIns="54864" tIns="36576" bIns="36576" anchor="t"/>
                    <a:lstStyle/>
                    <a:p>
                      <a:pPr algn="l" marL="0" indent="0">
                        <a:lnSpc>
                          <a:spcPct val="115000"/>
                        </a:lnSpc>
                        <a:spcAft>
                          <a:spcPts val="0"/>
                        </a:spcAft>
                        <a:buNone/>
                      </a:pPr>
                      <a:r>
                        <a:rPr sz="1700" b="1">
                          <a:solidFill>
                            <a:srgbClr val="1F2D3D"/>
                          </a:solidFill>
                          <a:latin typeface="맑은 고딕"/>
                          <a:ea typeface="맑은 고딕"/>
                          <a:cs typeface="맑은 고딕"/>
                        </a:rPr>
                        <a:t>Decoder self-attention 표</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700" b="0">
                          <a:solidFill>
                            <a:srgbClr val="1F2D3D"/>
                          </a:solidFill>
                          <a:latin typeface="맑은 고딕"/>
                          <a:ea typeface="맑은 고딕"/>
                          <a:cs typeface="맑은 고딕"/>
                        </a:rPr>
                        <a:t>(2, 2, 3, 3)</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700" b="0">
                          <a:solidFill>
                            <a:srgbClr val="1F2D3D"/>
                          </a:solidFill>
                          <a:latin typeface="맑은 고딕"/>
                          <a:ea typeface="맑은 고딕"/>
                          <a:cs typeface="맑은 고딕"/>
                        </a:rPr>
                        <a:t>causal mask 적용</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441960">
                <a:tc>
                  <a:txBody>
                    <a:bodyPr wrap="square" lIns="54864" rIns="54864" tIns="36576" bIns="36576" anchor="t"/>
                    <a:lstStyle/>
                    <a:p>
                      <a:pPr algn="l" marL="0" indent="0">
                        <a:lnSpc>
                          <a:spcPct val="115000"/>
                        </a:lnSpc>
                        <a:spcAft>
                          <a:spcPts val="0"/>
                        </a:spcAft>
                        <a:buNone/>
                      </a:pPr>
                      <a:r>
                        <a:rPr sz="1700" b="1">
                          <a:solidFill>
                            <a:srgbClr val="1F2D3D"/>
                          </a:solidFill>
                          <a:latin typeface="맑은 고딕"/>
                          <a:ea typeface="맑은 고딕"/>
                          <a:cs typeface="맑은 고딕"/>
                        </a:rPr>
                        <a:t>Cross-attention 표</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DF1E8"/>
                    </a:solidFill>
                  </a:tcPr>
                </a:tc>
                <a:tc>
                  <a:txBody>
                    <a:bodyPr wrap="square" lIns="54864" rIns="54864" tIns="36576" bIns="36576" anchor="t"/>
                    <a:lstStyle/>
                    <a:p>
                      <a:pPr algn="l" marL="0" indent="0">
                        <a:lnSpc>
                          <a:spcPct val="115000"/>
                        </a:lnSpc>
                        <a:spcAft>
                          <a:spcPts val="0"/>
                        </a:spcAft>
                        <a:buNone/>
                      </a:pPr>
                      <a:r>
                        <a:rPr sz="1700" b="0">
                          <a:solidFill>
                            <a:srgbClr val="1F2D3D"/>
                          </a:solidFill>
                          <a:latin typeface="맑은 고딕"/>
                          <a:ea typeface="맑은 고딕"/>
                          <a:cs typeface="맑은 고딕"/>
                        </a:rPr>
                        <a:t>(2, 2, 3, 5)</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DF1E8"/>
                    </a:solidFill>
                  </a:tcPr>
                </a:tc>
                <a:tc>
                  <a:txBody>
                    <a:bodyPr wrap="square" lIns="54864" rIns="54864" tIns="36576" bIns="36576" anchor="t"/>
                    <a:lstStyle/>
                    <a:p>
                      <a:pPr algn="l" marL="0" indent="0">
                        <a:lnSpc>
                          <a:spcPct val="115000"/>
                        </a:lnSpc>
                        <a:spcAft>
                          <a:spcPts val="0"/>
                        </a:spcAft>
                        <a:buNone/>
                      </a:pPr>
                      <a:r>
                        <a:rPr sz="1700" b="0">
                          <a:solidFill>
                            <a:srgbClr val="1F2D3D"/>
                          </a:solidFill>
                          <a:latin typeface="맑은 고딕"/>
                          <a:ea typeface="맑은 고딕"/>
                          <a:cs typeface="맑은 고딕"/>
                        </a:rPr>
                        <a:t>source 5개 위치 참조</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DF1E8"/>
                    </a:solidFill>
                  </a:tcPr>
                </a:tc>
              </a:tr>
              <a:tr h="441960">
                <a:tc>
                  <a:txBody>
                    <a:bodyPr wrap="square" lIns="54864" rIns="54864" tIns="36576" bIns="36576" anchor="t"/>
                    <a:lstStyle/>
                    <a:p>
                      <a:pPr algn="l" marL="0" indent="0">
                        <a:lnSpc>
                          <a:spcPct val="115000"/>
                        </a:lnSpc>
                        <a:spcAft>
                          <a:spcPts val="0"/>
                        </a:spcAft>
                        <a:buNone/>
                      </a:pPr>
                      <a:r>
                        <a:rPr sz="1700" b="1">
                          <a:solidFill>
                            <a:srgbClr val="1F2D3D"/>
                          </a:solidFill>
                          <a:latin typeface="맑은 고딕"/>
                          <a:ea typeface="맑은 고딕"/>
                          <a:cs typeface="맑은 고딕"/>
                        </a:rPr>
                        <a:t>Decoder 최종 출력</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700" b="0">
                          <a:solidFill>
                            <a:srgbClr val="1F2D3D"/>
                          </a:solidFill>
                          <a:latin typeface="맑은 고딕"/>
                          <a:ea typeface="맑은 고딕"/>
                          <a:cs typeface="맑은 고딕"/>
                        </a:rPr>
                        <a:t>(2, 3, 8)</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700" b="0">
                          <a:solidFill>
                            <a:srgbClr val="1F2D3D"/>
                          </a:solidFill>
                          <a:latin typeface="맑은 고딕"/>
                          <a:ea typeface="맑은 고딕"/>
                          <a:cs typeface="맑은 고딕"/>
                        </a:rPr>
                        <a:t>Query 위치 수 3 유지</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441960">
                <a:tc>
                  <a:txBody>
                    <a:bodyPr wrap="square" lIns="54864" rIns="54864" tIns="36576" bIns="36576" anchor="t"/>
                    <a:lstStyle/>
                    <a:p>
                      <a:pPr algn="l" marL="0" indent="0">
                        <a:lnSpc>
                          <a:spcPct val="115000"/>
                        </a:lnSpc>
                        <a:spcAft>
                          <a:spcPts val="0"/>
                        </a:spcAft>
                        <a:buNone/>
                      </a:pPr>
                      <a:r>
                        <a:rPr sz="1700" b="1">
                          <a:solidFill>
                            <a:srgbClr val="1F2D3D"/>
                          </a:solidFill>
                          <a:latin typeface="맑은 고딕"/>
                          <a:ea typeface="맑은 고딕"/>
                          <a:cs typeface="맑은 고딕"/>
                        </a:rPr>
                        <a:t>Vocabulary logits</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700" b="0">
                          <a:solidFill>
                            <a:srgbClr val="1F2D3D"/>
                          </a:solidFill>
                          <a:latin typeface="맑은 고딕"/>
                          <a:ea typeface="맑은 고딕"/>
                          <a:cs typeface="맑은 고딕"/>
                        </a:rPr>
                        <a:t>(2, 3, 16)</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700" b="0">
                          <a:solidFill>
                            <a:srgbClr val="1F2D3D"/>
                          </a:solidFill>
                          <a:latin typeface="맑은 고딕"/>
                          <a:ea typeface="맑은 고딕"/>
                          <a:cs typeface="맑은 고딕"/>
                        </a:rPr>
                        <a:t>각 위치에서 16개 후보 점수</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bl>
          </a:graphicData>
        </a:graphic>
      </p:graphicFrame>
      <p:sp>
        <p:nvSpPr>
          <p:cNvPr id="9" name="Rounded Rectangle 8"/>
          <p:cNvSpPr/>
          <p:nvPr/>
        </p:nvSpPr>
        <p:spPr>
          <a:xfrm>
            <a:off x="457200" y="5788152"/>
            <a:ext cx="11274552" cy="548640"/>
          </a:xfrm>
          <a:prstGeom prst="roundRect">
            <a:avLst>
              <a:gd name="adj" fmla="val 13333"/>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Aft>
                <a:spcPts val="400"/>
              </a:spcAft>
              <a:buNone/>
            </a:pPr>
            <a:r>
              <a:rPr sz="1600" b="1">
                <a:solidFill>
                  <a:srgbClr val="FFFFFF"/>
                </a:solidFill>
                <a:latin typeface="맑은 고딕"/>
                <a:ea typeface="맑은 고딕"/>
                <a:cs typeface="맑은 고딕"/>
              </a:rPr>
              <a:t>표준 블록은 길이를 바꾸지 않는다 — target이 늘어나는 것은 생성 루프가 토큰을 추가하기 때문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파라미터 수를 직접 유도하기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원형 Base: Encoder/Decoder 각 6층, H=8, dₕ=64, dropout 0.1, label smoothing 0.1</a:t>
            </a:r>
          </a:p>
        </p:txBody>
      </p:sp>
      <p:sp>
        <p:nvSpPr>
          <p:cNvPr id="8" name="Rounded Rectangle 7"/>
          <p:cNvSpPr/>
          <p:nvPr/>
        </p:nvSpPr>
        <p:spPr>
          <a:xfrm>
            <a:off x="457200" y="1691640"/>
            <a:ext cx="11274552" cy="886968"/>
          </a:xfrm>
          <a:prstGeom prst="roundRect">
            <a:avLst>
              <a:gd name="adj" fmla="val 8247"/>
            </a:avLst>
          </a:prstGeom>
          <a:solidFill>
            <a:srgbClr val="F3F6F8"/>
          </a:solidFill>
          <a:ln w="12700">
            <a:solidFill>
              <a:srgbClr val="B9CB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40080" y="1737360"/>
            <a:ext cx="10908792" cy="795528"/>
          </a:xfrm>
          <a:prstGeom prst="rect">
            <a:avLst/>
          </a:prstGeom>
          <a:noFill/>
        </p:spPr>
        <p:txBody>
          <a:bodyPr wrap="square" anchor="ctr">
            <a:spAutoFit/>
          </a:bodyPr>
          <a:lstStyle/>
          <a:p>
            <a:pPr algn="ctr" marL="0" indent="0">
              <a:buNone/>
            </a:pPr>
            <a:r>
              <a:rPr sz="2600" b="1">
                <a:solidFill>
                  <a:srgbClr val="1F2D3D"/>
                </a:solidFill>
                <a:latin typeface="Courier New"/>
                <a:ea typeface="맑은 고딕"/>
                <a:cs typeface="Courier New"/>
              </a:rPr>
              <a:t>params / 층 ≈ 4d² + 2d·d_ff</a:t>
            </a:r>
          </a:p>
        </p:txBody>
      </p:sp>
      <p:sp>
        <p:nvSpPr>
          <p:cNvPr id="10" name="Rounded Rectangle 9"/>
          <p:cNvSpPr/>
          <p:nvPr/>
        </p:nvSpPr>
        <p:spPr>
          <a:xfrm>
            <a:off x="457200" y="2889504"/>
            <a:ext cx="1737360" cy="493776"/>
          </a:xfrm>
          <a:prstGeom prst="roundRect">
            <a:avLst>
              <a:gd name="adj" fmla="val 14814"/>
            </a:avLst>
          </a:prstGeom>
          <a:solidFill>
            <a:srgbClr val="CFE8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7200" y="2889504"/>
            <a:ext cx="1737360" cy="493776"/>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1F2D3D"/>
                </a:solidFill>
                <a:latin typeface="Courier New"/>
                <a:ea typeface="맑은 고딕"/>
                <a:cs typeface="Courier New"/>
              </a:rPr>
              <a:t>4d²</a:t>
            </a:r>
          </a:p>
        </p:txBody>
      </p:sp>
      <p:sp>
        <p:nvSpPr>
          <p:cNvPr id="12" name="TextBox 11"/>
          <p:cNvSpPr txBox="1"/>
          <p:nvPr/>
        </p:nvSpPr>
        <p:spPr>
          <a:xfrm>
            <a:off x="2286000" y="2852928"/>
            <a:ext cx="4480560" cy="566928"/>
          </a:xfrm>
          <a:prstGeom prst="rect">
            <a:avLst/>
          </a:prstGeom>
          <a:noFill/>
        </p:spPr>
        <p:txBody>
          <a:bodyPr wrap="square" lIns="73152" rIns="73152" tIns="36576" bIns="36576" anchor="ctr"/>
          <a:lstStyle/>
          <a:p>
            <a:pPr algn="l" marL="0" indent="0">
              <a:lnSpc>
                <a:spcPct val="115000"/>
              </a:lnSpc>
              <a:spcAft>
                <a:spcPts val="525"/>
              </a:spcAft>
              <a:buNone/>
            </a:pPr>
            <a:r>
              <a:rPr sz="1500" b="0">
                <a:solidFill>
                  <a:srgbClr val="1F2D3D"/>
                </a:solidFill>
                <a:latin typeface="맑은 고딕"/>
                <a:ea typeface="맑은 고딕"/>
                <a:cs typeface="맑은 고딕"/>
              </a:rPr>
              <a:t>Self-attention W_Q, W_K, W_V, W_O (각 d×d)</a:t>
            </a:r>
          </a:p>
        </p:txBody>
      </p:sp>
      <p:sp>
        <p:nvSpPr>
          <p:cNvPr id="13" name="Rounded Rectangle 12"/>
          <p:cNvSpPr/>
          <p:nvPr/>
        </p:nvSpPr>
        <p:spPr>
          <a:xfrm>
            <a:off x="457200" y="3456432"/>
            <a:ext cx="1737360" cy="493776"/>
          </a:xfrm>
          <a:prstGeom prst="roundRect">
            <a:avLst>
              <a:gd name="adj" fmla="val 14814"/>
            </a:avLst>
          </a:prstGeom>
          <a:solidFill>
            <a:srgbClr val="CFE8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7200" y="3456432"/>
            <a:ext cx="1737360" cy="493776"/>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1F2D3D"/>
                </a:solidFill>
                <a:latin typeface="Courier New"/>
                <a:ea typeface="맑은 고딕"/>
                <a:cs typeface="Courier New"/>
              </a:rPr>
              <a:t>2d·d_ff</a:t>
            </a:r>
          </a:p>
        </p:txBody>
      </p:sp>
      <p:sp>
        <p:nvSpPr>
          <p:cNvPr id="15" name="TextBox 14"/>
          <p:cNvSpPr txBox="1"/>
          <p:nvPr/>
        </p:nvSpPr>
        <p:spPr>
          <a:xfrm>
            <a:off x="2286000" y="3419856"/>
            <a:ext cx="4480560" cy="566928"/>
          </a:xfrm>
          <a:prstGeom prst="rect">
            <a:avLst/>
          </a:prstGeom>
          <a:noFill/>
        </p:spPr>
        <p:txBody>
          <a:bodyPr wrap="square" lIns="73152" rIns="73152" tIns="36576" bIns="36576" anchor="ctr"/>
          <a:lstStyle/>
          <a:p>
            <a:pPr algn="l" marL="0" indent="0">
              <a:lnSpc>
                <a:spcPct val="115000"/>
              </a:lnSpc>
              <a:spcAft>
                <a:spcPts val="525"/>
              </a:spcAft>
              <a:buNone/>
            </a:pPr>
            <a:r>
              <a:rPr sz="1500" b="0">
                <a:solidFill>
                  <a:srgbClr val="1F2D3D"/>
                </a:solidFill>
                <a:latin typeface="맑은 고딕"/>
                <a:ea typeface="맑은 고딕"/>
                <a:cs typeface="맑은 고딕"/>
              </a:rPr>
              <a:t>FFN W₁ (d×d_ff) + W₂ (d_ff×d)</a:t>
            </a:r>
          </a:p>
        </p:txBody>
      </p:sp>
      <p:sp>
        <p:nvSpPr>
          <p:cNvPr id="16" name="Rounded Rectangle 15"/>
          <p:cNvSpPr/>
          <p:nvPr/>
        </p:nvSpPr>
        <p:spPr>
          <a:xfrm>
            <a:off x="457200" y="4023360"/>
            <a:ext cx="1737360" cy="493776"/>
          </a:xfrm>
          <a:prstGeom prst="roundRect">
            <a:avLst>
              <a:gd name="adj" fmla="val 14814"/>
            </a:avLst>
          </a:prstGeom>
          <a:solidFill>
            <a:srgbClr val="CFE8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57200" y="4023360"/>
            <a:ext cx="1737360" cy="493776"/>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1F2D3D"/>
                </a:solidFill>
                <a:latin typeface="Courier New"/>
                <a:ea typeface="맑은 고딕"/>
                <a:cs typeface="Courier New"/>
              </a:rPr>
              <a:t>d_ff = 4d</a:t>
            </a:r>
          </a:p>
        </p:txBody>
      </p:sp>
      <p:sp>
        <p:nvSpPr>
          <p:cNvPr id="18" name="TextBox 17"/>
          <p:cNvSpPr txBox="1"/>
          <p:nvPr/>
        </p:nvSpPr>
        <p:spPr>
          <a:xfrm>
            <a:off x="2286000" y="3986784"/>
            <a:ext cx="4480560" cy="566928"/>
          </a:xfrm>
          <a:prstGeom prst="rect">
            <a:avLst/>
          </a:prstGeom>
          <a:noFill/>
        </p:spPr>
        <p:txBody>
          <a:bodyPr wrap="square" lIns="73152" rIns="73152" tIns="36576" bIns="36576" anchor="ctr"/>
          <a:lstStyle/>
          <a:p>
            <a:pPr algn="l" marL="0" indent="0">
              <a:lnSpc>
                <a:spcPct val="115000"/>
              </a:lnSpc>
              <a:spcAft>
                <a:spcPts val="437"/>
              </a:spcAft>
              <a:buNone/>
            </a:pPr>
            <a:r>
              <a:rPr sz="1250" b="0">
                <a:solidFill>
                  <a:srgbClr val="1F2D3D"/>
                </a:solidFill>
                <a:latin typeface="맑은 고딕"/>
                <a:ea typeface="맑은 고딕"/>
                <a:cs typeface="맑은 고딕"/>
              </a:rPr>
              <a:t>Encoder 층 ≈ 12d², Decoder 층 ≈ 16d² (cross +4d²)</a:t>
            </a:r>
          </a:p>
        </p:txBody>
      </p:sp>
      <p:sp>
        <p:nvSpPr>
          <p:cNvPr id="19" name="Rounded Rectangle 18"/>
          <p:cNvSpPr/>
          <p:nvPr/>
        </p:nvSpPr>
        <p:spPr>
          <a:xfrm>
            <a:off x="457200" y="4590288"/>
            <a:ext cx="1737360" cy="493776"/>
          </a:xfrm>
          <a:prstGeom prst="roundRect">
            <a:avLst>
              <a:gd name="adj" fmla="val 14814"/>
            </a:avLst>
          </a:prstGeom>
          <a:solidFill>
            <a:srgbClr val="CFE8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57200" y="4590288"/>
            <a:ext cx="1737360" cy="493776"/>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1F2D3D"/>
                </a:solidFill>
                <a:latin typeface="Courier New"/>
                <a:ea typeface="맑은 고딕"/>
                <a:cs typeface="Courier New"/>
              </a:rPr>
              <a:t>제외</a:t>
            </a:r>
          </a:p>
        </p:txBody>
      </p:sp>
      <p:sp>
        <p:nvSpPr>
          <p:cNvPr id="21" name="TextBox 20"/>
          <p:cNvSpPr txBox="1"/>
          <p:nvPr/>
        </p:nvSpPr>
        <p:spPr>
          <a:xfrm>
            <a:off x="2286000" y="4553712"/>
            <a:ext cx="4480560" cy="566928"/>
          </a:xfrm>
          <a:prstGeom prst="rect">
            <a:avLst/>
          </a:prstGeom>
          <a:noFill/>
        </p:spPr>
        <p:txBody>
          <a:bodyPr wrap="square" lIns="73152" rIns="73152" tIns="36576" bIns="36576" anchor="ctr"/>
          <a:lstStyle/>
          <a:p>
            <a:pPr algn="l" marL="0" indent="0">
              <a:lnSpc>
                <a:spcPct val="115000"/>
              </a:lnSpc>
              <a:spcAft>
                <a:spcPts val="455"/>
              </a:spcAft>
              <a:buNone/>
            </a:pPr>
            <a:r>
              <a:rPr sz="1300" b="0">
                <a:solidFill>
                  <a:srgbClr val="1F2D3D"/>
                </a:solidFill>
                <a:latin typeface="맑은 고딕"/>
                <a:ea typeface="맑은 고딕"/>
                <a:cs typeface="맑은 고딕"/>
              </a:rPr>
              <a:t>bias · LayerNorm · Embedding — 행렬 원소 수의 근사</a:t>
            </a:r>
          </a:p>
        </p:txBody>
      </p:sp>
      <p:sp>
        <p:nvSpPr>
          <p:cNvPr id="22" name="Rounded Rectangle 21"/>
          <p:cNvSpPr/>
          <p:nvPr/>
        </p:nvSpPr>
        <p:spPr>
          <a:xfrm>
            <a:off x="7040880" y="2852928"/>
            <a:ext cx="4690872" cy="2752344"/>
          </a:xfrm>
          <a:prstGeom prst="roundRect">
            <a:avLst>
              <a:gd name="adj" fmla="val 2657"/>
            </a:avLst>
          </a:prstGeom>
          <a:solidFill>
            <a:srgbClr val="FD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23760" y="2944368"/>
            <a:ext cx="4325112" cy="411480"/>
          </a:xfrm>
          <a:prstGeom prst="rect">
            <a:avLst/>
          </a:prstGeom>
          <a:noFill/>
        </p:spPr>
        <p:txBody>
          <a:bodyPr wrap="square" lIns="73152" rIns="73152" tIns="36576" bIns="36576" anchor="ctr"/>
          <a:lstStyle/>
          <a:p>
            <a:pPr algn="l" marL="0" indent="0">
              <a:lnSpc>
                <a:spcPct val="115000"/>
              </a:lnSpc>
              <a:spcAft>
                <a:spcPts val="507"/>
              </a:spcAft>
              <a:buNone/>
            </a:pPr>
            <a:r>
              <a:rPr sz="1450" b="1">
                <a:solidFill>
                  <a:srgbClr val="E07A2F"/>
                </a:solidFill>
                <a:latin typeface="맑은 고딕"/>
                <a:ea typeface="맑은 고딕"/>
                <a:cs typeface="맑은 고딕"/>
              </a:rPr>
              <a:t>숫자로 확인</a:t>
            </a:r>
          </a:p>
        </p:txBody>
      </p:sp>
      <p:sp>
        <p:nvSpPr>
          <p:cNvPr id="24" name="TextBox 23"/>
          <p:cNvSpPr txBox="1"/>
          <p:nvPr/>
        </p:nvSpPr>
        <p:spPr>
          <a:xfrm>
            <a:off x="7223760" y="3401568"/>
            <a:ext cx="4325112" cy="2112264"/>
          </a:xfrm>
          <a:prstGeom prst="rect">
            <a:avLst/>
          </a:prstGeom>
          <a:noFill/>
        </p:spPr>
        <p:txBody>
          <a:bodyPr wrap="square" lIns="73152" rIns="73152" tIns="36576" bIns="36576" anchor="t"/>
          <a:lstStyle/>
          <a:p>
            <a:pPr algn="l" marL="0" indent="0">
              <a:lnSpc>
                <a:spcPct val="115000"/>
              </a:lnSpc>
              <a:spcAft>
                <a:spcPts val="420"/>
              </a:spcAft>
              <a:buNone/>
            </a:pPr>
            <a:r>
              <a:rPr sz="1400" b="0">
                <a:solidFill>
                  <a:srgbClr val="1F2D3D"/>
                </a:solidFill>
                <a:latin typeface="맑은 고딕"/>
                <a:ea typeface="맑은 고딕"/>
                <a:cs typeface="맑은 고딕"/>
              </a:rPr>
              <a:t>원형 Base: d=512, d_ff=2048</a:t>
            </a:r>
          </a:p>
          <a:p>
            <a:pPr algn="l" marL="0" indent="0">
              <a:lnSpc>
                <a:spcPct val="115000"/>
              </a:lnSpc>
              <a:spcAft>
                <a:spcPts val="420"/>
              </a:spcAft>
              <a:buNone/>
            </a:pPr>
            <a:r>
              <a:rPr sz="1400" b="0">
                <a:solidFill>
                  <a:srgbClr val="1F2D3D"/>
                </a:solidFill>
                <a:latin typeface="맑은 고딕"/>
                <a:ea typeface="맑은 고딕"/>
                <a:cs typeface="맑은 고딕"/>
              </a:rPr>
              <a:t>4d² ≈ 1.05M, 2d·d_ff ≈ 2.10M</a:t>
            </a:r>
          </a:p>
          <a:p>
            <a:pPr algn="l" marL="0" indent="0">
              <a:lnSpc>
                <a:spcPct val="115000"/>
              </a:lnSpc>
              <a:spcAft>
                <a:spcPts val="420"/>
              </a:spcAft>
              <a:buNone/>
            </a:pPr>
            <a:r>
              <a:rPr sz="1400" b="0">
                <a:solidFill>
                  <a:srgbClr val="1F2D3D"/>
                </a:solidFill>
                <a:latin typeface="맑은 고딕"/>
                <a:ea typeface="맑은 고딕"/>
                <a:cs typeface="맑은 고딕"/>
              </a:rPr>
              <a:t>Encoder 층 ≈ </a:t>
            </a:r>
            <a:r>
              <a:rPr sz="1400" b="1">
                <a:solidFill>
                  <a:srgbClr val="1F2D3D"/>
                </a:solidFill>
                <a:latin typeface="맑은 고딕"/>
                <a:ea typeface="맑은 고딕"/>
                <a:cs typeface="맑은 고딕"/>
              </a:rPr>
              <a:t>3.15M</a:t>
            </a:r>
            <a:r>
              <a:rPr sz="1400" b="0">
                <a:solidFill>
                  <a:srgbClr val="1F2D3D"/>
                </a:solidFill>
                <a:latin typeface="맑은 고딕"/>
                <a:ea typeface="맑은 고딕"/>
                <a:cs typeface="맑은 고딕"/>
              </a:rPr>
              <a:t>, Decoder 층 ≈ </a:t>
            </a:r>
            <a:r>
              <a:rPr sz="1400" b="1">
                <a:solidFill>
                  <a:srgbClr val="1F2D3D"/>
                </a:solidFill>
                <a:latin typeface="맑은 고딕"/>
                <a:ea typeface="맑은 고딕"/>
                <a:cs typeface="맑은 고딕"/>
              </a:rPr>
              <a:t>4.19M</a:t>
            </a:r>
          </a:p>
          <a:p>
            <a:pPr algn="l" marL="0" indent="0">
              <a:lnSpc>
                <a:spcPct val="115000"/>
              </a:lnSpc>
              <a:spcAft>
                <a:spcPts val="420"/>
              </a:spcAft>
              <a:buNone/>
            </a:pPr>
            <a:r>
              <a:rPr sz="1400" b="0">
                <a:solidFill>
                  <a:srgbClr val="1F2D3D"/>
                </a:solidFill>
                <a:latin typeface="맑은 고딕"/>
                <a:ea typeface="맑은 고딕"/>
                <a:cs typeface="맑은 고딕"/>
              </a:rPr>
              <a:t>6 + 6층 ≈ 44.0M</a:t>
            </a:r>
          </a:p>
          <a:p>
            <a:pPr algn="l" marL="0" indent="0">
              <a:lnSpc>
                <a:spcPct val="115000"/>
              </a:lnSpc>
              <a:spcAft>
                <a:spcPts val="420"/>
              </a:spcAft>
              <a:buNone/>
            </a:pPr>
            <a:r>
              <a:rPr sz="1400" b="0">
                <a:solidFill>
                  <a:srgbClr val="1F2D3D"/>
                </a:solidFill>
                <a:latin typeface="맑은 고딕"/>
                <a:ea typeface="맑은 고딕"/>
                <a:cs typeface="맑은 고딕"/>
              </a:rPr>
              <a:t>+ 공유 embedding 37K×512 ≈ 18.9M</a:t>
            </a:r>
          </a:p>
          <a:p>
            <a:pPr algn="l" marL="0" indent="0">
              <a:lnSpc>
                <a:spcPct val="115000"/>
              </a:lnSpc>
              <a:spcAft>
                <a:spcPts val="420"/>
              </a:spcAft>
              <a:buNone/>
            </a:pPr>
            <a:r>
              <a:rPr sz="1400" b="0">
                <a:solidFill>
                  <a:srgbClr val="1F2D3D"/>
                </a:solidFill>
                <a:latin typeface="맑은 고딕"/>
                <a:ea typeface="맑은 고딕"/>
                <a:cs typeface="맑은 고딕"/>
              </a:rPr>
              <a:t>합계 ≈ 63M ↔ 논문 보고 </a:t>
            </a:r>
            <a:r>
              <a:rPr sz="1400" b="1">
                <a:solidFill>
                  <a:srgbClr val="E07A2F"/>
                </a:solidFill>
                <a:latin typeface="맑은 고딕"/>
                <a:ea typeface="맑은 고딕"/>
                <a:cs typeface="맑은 고딕"/>
              </a:rPr>
              <a:t>65M</a:t>
            </a:r>
          </a:p>
        </p:txBody>
      </p:sp>
      <p:sp>
        <p:nvSpPr>
          <p:cNvPr id="25" name="Rounded Rectangle 24"/>
          <p:cNvSpPr/>
          <p:nvPr/>
        </p:nvSpPr>
        <p:spPr>
          <a:xfrm>
            <a:off x="457200" y="5788152"/>
            <a:ext cx="11274552" cy="548640"/>
          </a:xfrm>
          <a:prstGeom prst="roundRect">
            <a:avLst>
              <a:gd name="adj" fmla="val 13333"/>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Aft>
                <a:spcPts val="400"/>
              </a:spcAft>
              <a:buNone/>
            </a:pPr>
            <a:r>
              <a:rPr sz="1600" b="1">
                <a:solidFill>
                  <a:srgbClr val="FFFFFF"/>
                </a:solidFill>
                <a:latin typeface="맑은 고딕"/>
                <a:ea typeface="맑은 고딕"/>
                <a:cs typeface="맑은 고딕"/>
              </a:rPr>
              <a:t>숫자를 외우기보다 다른 d·층 수에도 같은 계산을 적용할 수 있어야 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다음 토큰의 음의 로그 가능도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Loss = −Σ log p: 정답 토큰의 확률을 높이는 것이 학습 목표</a:t>
            </a:r>
          </a:p>
        </p:txBody>
      </p:sp>
      <p:sp>
        <p:nvSpPr>
          <p:cNvPr id="8" name="Rounded Rectangle 7"/>
          <p:cNvSpPr/>
          <p:nvPr/>
        </p:nvSpPr>
        <p:spPr>
          <a:xfrm>
            <a:off x="457200" y="1691640"/>
            <a:ext cx="11274552" cy="886968"/>
          </a:xfrm>
          <a:prstGeom prst="roundRect">
            <a:avLst>
              <a:gd name="adj" fmla="val 8247"/>
            </a:avLst>
          </a:prstGeom>
          <a:solidFill>
            <a:srgbClr val="F3F6F8"/>
          </a:solidFill>
          <a:ln w="12700">
            <a:solidFill>
              <a:srgbClr val="B9CB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40080" y="1737360"/>
            <a:ext cx="10908792" cy="795528"/>
          </a:xfrm>
          <a:prstGeom prst="rect">
            <a:avLst/>
          </a:prstGeom>
          <a:noFill/>
        </p:spPr>
        <p:txBody>
          <a:bodyPr wrap="square" anchor="ctr">
            <a:spAutoFit/>
          </a:bodyPr>
          <a:lstStyle/>
          <a:p>
            <a:pPr algn="ctr" marL="0" indent="0">
              <a:buNone/>
            </a:pPr>
            <a:r>
              <a:rPr sz="2600" b="1">
                <a:solidFill>
                  <a:srgbClr val="1F2D3D"/>
                </a:solidFill>
                <a:latin typeface="Courier New"/>
                <a:ea typeface="맑은 고딕"/>
                <a:cs typeface="Courier New"/>
              </a:rPr>
              <a:t>𝓛 = −(1/N_valid) · Σ log p_θ(y_t | y_&lt;t, x)</a:t>
            </a:r>
          </a:p>
        </p:txBody>
      </p:sp>
      <p:sp>
        <p:nvSpPr>
          <p:cNvPr id="10" name="Rounded Rectangle 9"/>
          <p:cNvSpPr/>
          <p:nvPr/>
        </p:nvSpPr>
        <p:spPr>
          <a:xfrm>
            <a:off x="457200" y="2889504"/>
            <a:ext cx="1737360" cy="493776"/>
          </a:xfrm>
          <a:prstGeom prst="roundRect">
            <a:avLst>
              <a:gd name="adj" fmla="val 14814"/>
            </a:avLst>
          </a:prstGeom>
          <a:solidFill>
            <a:srgbClr val="CFE8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7200" y="2889504"/>
            <a:ext cx="1737360" cy="493776"/>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1F2D3D"/>
                </a:solidFill>
                <a:latin typeface="Courier New"/>
                <a:ea typeface="맑은 고딕"/>
                <a:cs typeface="Courier New"/>
              </a:rPr>
              <a:t>p_θ(y_t|…)</a:t>
            </a:r>
          </a:p>
        </p:txBody>
      </p:sp>
      <p:sp>
        <p:nvSpPr>
          <p:cNvPr id="12" name="TextBox 11"/>
          <p:cNvSpPr txBox="1"/>
          <p:nvPr/>
        </p:nvSpPr>
        <p:spPr>
          <a:xfrm>
            <a:off x="2286000" y="2852928"/>
            <a:ext cx="4480560" cy="566928"/>
          </a:xfrm>
          <a:prstGeom prst="rect">
            <a:avLst/>
          </a:prstGeom>
          <a:noFill/>
        </p:spPr>
        <p:txBody>
          <a:bodyPr wrap="square" lIns="73152" rIns="73152" tIns="36576" bIns="36576" anchor="ctr"/>
          <a:lstStyle/>
          <a:p>
            <a:pPr algn="l" marL="0" indent="0">
              <a:lnSpc>
                <a:spcPct val="115000"/>
              </a:lnSpc>
              <a:spcAft>
                <a:spcPts val="525"/>
              </a:spcAft>
              <a:buNone/>
            </a:pPr>
            <a:r>
              <a:rPr sz="1500" b="0">
                <a:solidFill>
                  <a:srgbClr val="1F2D3D"/>
                </a:solidFill>
                <a:latin typeface="맑은 고딕"/>
                <a:ea typeface="맑은 고딕"/>
                <a:cs typeface="맑은 고딕"/>
              </a:rPr>
              <a:t>정답 토큰에 모델이 준 확률 (softmax 출력)</a:t>
            </a:r>
          </a:p>
        </p:txBody>
      </p:sp>
      <p:sp>
        <p:nvSpPr>
          <p:cNvPr id="13" name="Rounded Rectangle 12"/>
          <p:cNvSpPr/>
          <p:nvPr/>
        </p:nvSpPr>
        <p:spPr>
          <a:xfrm>
            <a:off x="457200" y="3456432"/>
            <a:ext cx="1737360" cy="493776"/>
          </a:xfrm>
          <a:prstGeom prst="roundRect">
            <a:avLst>
              <a:gd name="adj" fmla="val 14814"/>
            </a:avLst>
          </a:prstGeom>
          <a:solidFill>
            <a:srgbClr val="CFE8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7200" y="3456432"/>
            <a:ext cx="1737360" cy="493776"/>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1F2D3D"/>
                </a:solidFill>
                <a:latin typeface="Courier New"/>
                <a:ea typeface="맑은 고딕"/>
                <a:cs typeface="Courier New"/>
              </a:rPr>
              <a:t>y ≠ PAD</a:t>
            </a:r>
          </a:p>
        </p:txBody>
      </p:sp>
      <p:sp>
        <p:nvSpPr>
          <p:cNvPr id="15" name="TextBox 14"/>
          <p:cNvSpPr txBox="1"/>
          <p:nvPr/>
        </p:nvSpPr>
        <p:spPr>
          <a:xfrm>
            <a:off x="2286000" y="3419856"/>
            <a:ext cx="4480560" cy="566928"/>
          </a:xfrm>
          <a:prstGeom prst="rect">
            <a:avLst/>
          </a:prstGeom>
          <a:noFill/>
        </p:spPr>
        <p:txBody>
          <a:bodyPr wrap="square" lIns="73152" rIns="73152" tIns="36576" bIns="36576" anchor="ctr"/>
          <a:lstStyle/>
          <a:p>
            <a:pPr algn="l" marL="0" indent="0">
              <a:lnSpc>
                <a:spcPct val="115000"/>
              </a:lnSpc>
              <a:spcAft>
                <a:spcPts val="525"/>
              </a:spcAft>
              <a:buNone/>
            </a:pPr>
            <a:r>
              <a:rPr sz="1500" b="0">
                <a:solidFill>
                  <a:srgbClr val="1F2D3D"/>
                </a:solidFill>
                <a:latin typeface="맑은 고딕"/>
                <a:ea typeface="맑은 고딕"/>
                <a:cs typeface="맑은 고딕"/>
              </a:rPr>
              <a:t>PAD 정답은 합에서 제외 (ignore_index)</a:t>
            </a:r>
          </a:p>
        </p:txBody>
      </p:sp>
      <p:sp>
        <p:nvSpPr>
          <p:cNvPr id="16" name="Rounded Rectangle 15"/>
          <p:cNvSpPr/>
          <p:nvPr/>
        </p:nvSpPr>
        <p:spPr>
          <a:xfrm>
            <a:off x="457200" y="4023360"/>
            <a:ext cx="1737360" cy="493776"/>
          </a:xfrm>
          <a:prstGeom prst="roundRect">
            <a:avLst>
              <a:gd name="adj" fmla="val 14814"/>
            </a:avLst>
          </a:prstGeom>
          <a:solidFill>
            <a:srgbClr val="CFE8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57200" y="4023360"/>
            <a:ext cx="1737360" cy="493776"/>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1F2D3D"/>
                </a:solidFill>
                <a:latin typeface="Courier New"/>
                <a:ea typeface="맑은 고딕"/>
                <a:cs typeface="Courier New"/>
              </a:rPr>
              <a:t>N_valid</a:t>
            </a:r>
          </a:p>
        </p:txBody>
      </p:sp>
      <p:sp>
        <p:nvSpPr>
          <p:cNvPr id="18" name="TextBox 17"/>
          <p:cNvSpPr txBox="1"/>
          <p:nvPr/>
        </p:nvSpPr>
        <p:spPr>
          <a:xfrm>
            <a:off x="2286000" y="3986784"/>
            <a:ext cx="4480560" cy="566928"/>
          </a:xfrm>
          <a:prstGeom prst="rect">
            <a:avLst/>
          </a:prstGeom>
          <a:noFill/>
        </p:spPr>
        <p:txBody>
          <a:bodyPr wrap="square" lIns="73152" rIns="73152" tIns="36576" bIns="36576" anchor="ctr"/>
          <a:lstStyle/>
          <a:p>
            <a:pPr algn="l" marL="0" indent="0">
              <a:lnSpc>
                <a:spcPct val="115000"/>
              </a:lnSpc>
              <a:spcAft>
                <a:spcPts val="525"/>
              </a:spcAft>
              <a:buNone/>
            </a:pPr>
            <a:r>
              <a:rPr sz="1500" b="0">
                <a:solidFill>
                  <a:srgbClr val="1F2D3D"/>
                </a:solidFill>
                <a:latin typeface="맑은 고딕"/>
                <a:ea typeface="맑은 고딕"/>
                <a:cs typeface="맑은 고딕"/>
              </a:rPr>
              <a:t>PAD가 아닌 토큰 수로 평균 — 집계 규칙을 명시</a:t>
            </a:r>
          </a:p>
        </p:txBody>
      </p:sp>
      <p:sp>
        <p:nvSpPr>
          <p:cNvPr id="19" name="Rounded Rectangle 18"/>
          <p:cNvSpPr/>
          <p:nvPr/>
        </p:nvSpPr>
        <p:spPr>
          <a:xfrm>
            <a:off x="457200" y="4590288"/>
            <a:ext cx="1737360" cy="493776"/>
          </a:xfrm>
          <a:prstGeom prst="roundRect">
            <a:avLst>
              <a:gd name="adj" fmla="val 14814"/>
            </a:avLst>
          </a:prstGeom>
          <a:solidFill>
            <a:srgbClr val="CFE8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57200" y="4590288"/>
            <a:ext cx="1737360" cy="493776"/>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1F2D3D"/>
                </a:solidFill>
                <a:latin typeface="Courier New"/>
                <a:ea typeface="맑은 고딕"/>
                <a:cs typeface="Courier New"/>
              </a:rPr>
              <a:t>logits</a:t>
            </a:r>
          </a:p>
        </p:txBody>
      </p:sp>
      <p:sp>
        <p:nvSpPr>
          <p:cNvPr id="21" name="TextBox 20"/>
          <p:cNvSpPr txBox="1"/>
          <p:nvPr/>
        </p:nvSpPr>
        <p:spPr>
          <a:xfrm>
            <a:off x="2286000" y="4553712"/>
            <a:ext cx="4480560" cy="566928"/>
          </a:xfrm>
          <a:prstGeom prst="rect">
            <a:avLst/>
          </a:prstGeom>
          <a:noFill/>
        </p:spPr>
        <p:txBody>
          <a:bodyPr wrap="square" lIns="73152" rIns="73152" tIns="36576" bIns="36576" anchor="ctr"/>
          <a:lstStyle/>
          <a:p>
            <a:pPr algn="l" marL="0" indent="0">
              <a:lnSpc>
                <a:spcPct val="115000"/>
              </a:lnSpc>
              <a:spcAft>
                <a:spcPts val="437"/>
              </a:spcAft>
              <a:buNone/>
            </a:pPr>
            <a:r>
              <a:rPr sz="1250" b="0">
                <a:solidFill>
                  <a:srgbClr val="1F2D3D"/>
                </a:solidFill>
                <a:latin typeface="맑은 고딕"/>
                <a:ea typeface="맑은 고딕"/>
                <a:cs typeface="맑은 고딕"/>
              </a:rPr>
              <a:t>CrossEntropyLoss에는 softmax 전 logits, (B·T, |V|)로 펼침</a:t>
            </a:r>
          </a:p>
        </p:txBody>
      </p:sp>
      <p:sp>
        <p:nvSpPr>
          <p:cNvPr id="22" name="Rounded Rectangle 21"/>
          <p:cNvSpPr/>
          <p:nvPr/>
        </p:nvSpPr>
        <p:spPr>
          <a:xfrm>
            <a:off x="7040880" y="2852928"/>
            <a:ext cx="4690872" cy="2752344"/>
          </a:xfrm>
          <a:prstGeom prst="roundRect">
            <a:avLst>
              <a:gd name="adj" fmla="val 2657"/>
            </a:avLst>
          </a:prstGeom>
          <a:solidFill>
            <a:srgbClr val="FD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23760" y="2944368"/>
            <a:ext cx="4325112" cy="411480"/>
          </a:xfrm>
          <a:prstGeom prst="rect">
            <a:avLst/>
          </a:prstGeom>
          <a:noFill/>
        </p:spPr>
        <p:txBody>
          <a:bodyPr wrap="square" lIns="73152" rIns="73152" tIns="36576" bIns="36576" anchor="ctr"/>
          <a:lstStyle/>
          <a:p>
            <a:pPr algn="l" marL="0" indent="0">
              <a:lnSpc>
                <a:spcPct val="115000"/>
              </a:lnSpc>
              <a:spcAft>
                <a:spcPts val="507"/>
              </a:spcAft>
              <a:buNone/>
            </a:pPr>
            <a:r>
              <a:rPr sz="1450" b="1">
                <a:solidFill>
                  <a:srgbClr val="E07A2F"/>
                </a:solidFill>
                <a:latin typeface="맑은 고딕"/>
                <a:ea typeface="맑은 고딕"/>
                <a:cs typeface="맑은 고딕"/>
              </a:rPr>
              <a:t>숫자로 확인</a:t>
            </a:r>
          </a:p>
        </p:txBody>
      </p:sp>
      <p:sp>
        <p:nvSpPr>
          <p:cNvPr id="24" name="TextBox 23"/>
          <p:cNvSpPr txBox="1"/>
          <p:nvPr/>
        </p:nvSpPr>
        <p:spPr>
          <a:xfrm>
            <a:off x="7223760" y="3401568"/>
            <a:ext cx="4325112" cy="2112264"/>
          </a:xfrm>
          <a:prstGeom prst="rect">
            <a:avLst/>
          </a:prstGeom>
          <a:noFill/>
        </p:spPr>
        <p:txBody>
          <a:bodyPr wrap="square" lIns="73152" rIns="73152" tIns="36576" bIns="36576" anchor="t"/>
          <a:lstStyle/>
          <a:p>
            <a:pPr algn="l" marL="0" indent="0">
              <a:lnSpc>
                <a:spcPct val="115000"/>
              </a:lnSpc>
              <a:spcAft>
                <a:spcPts val="420"/>
              </a:spcAft>
              <a:buNone/>
            </a:pPr>
            <a:r>
              <a:rPr sz="1400" b="0">
                <a:solidFill>
                  <a:srgbClr val="1F2D3D"/>
                </a:solidFill>
                <a:latin typeface="맑은 고딕"/>
                <a:ea typeface="맑은 고딕"/>
                <a:cs typeface="맑은 고딕"/>
              </a:rPr>
              <a:t>정답 확률 p = [0.7, 0.5, 0.9, 0.2]</a:t>
            </a:r>
          </a:p>
          <a:p>
            <a:pPr algn="l" marL="0" indent="0">
              <a:lnSpc>
                <a:spcPct val="115000"/>
              </a:lnSpc>
              <a:spcAft>
                <a:spcPts val="420"/>
              </a:spcAft>
              <a:buNone/>
            </a:pPr>
            <a:r>
              <a:rPr sz="1400" b="0">
                <a:solidFill>
                  <a:srgbClr val="1F2D3D"/>
                </a:solidFill>
                <a:latin typeface="맑은 고딕"/>
                <a:ea typeface="맑은 고딕"/>
                <a:cs typeface="맑은 고딕"/>
              </a:rPr>
              <a:t>−log p = [0.36, 0.69, 0.11, 1.61]</a:t>
            </a:r>
          </a:p>
          <a:p>
            <a:pPr algn="l" marL="0" indent="0">
              <a:lnSpc>
                <a:spcPct val="115000"/>
              </a:lnSpc>
              <a:spcAft>
                <a:spcPts val="420"/>
              </a:spcAft>
              <a:buNone/>
            </a:pPr>
            <a:r>
              <a:rPr sz="1400" b="0">
                <a:solidFill>
                  <a:srgbClr val="1F2D3D"/>
                </a:solidFill>
                <a:latin typeface="맑은 고딕"/>
                <a:ea typeface="맑은 고딕"/>
                <a:cs typeface="맑은 고딕"/>
              </a:rPr>
              <a:t>평균 NLL ≈ </a:t>
            </a:r>
            <a:r>
              <a:rPr sz="1400" b="1">
                <a:solidFill>
                  <a:srgbClr val="1F2D3D"/>
                </a:solidFill>
                <a:latin typeface="맑은 고딕"/>
                <a:ea typeface="맑은 고딕"/>
                <a:cs typeface="맑은 고딕"/>
              </a:rPr>
              <a:t>0.69</a:t>
            </a:r>
          </a:p>
          <a:p>
            <a:pPr algn="l" marL="0" indent="0">
              <a:lnSpc>
                <a:spcPct val="115000"/>
              </a:lnSpc>
              <a:spcAft>
                <a:spcPts val="420"/>
              </a:spcAft>
              <a:buNone/>
            </a:pPr>
            <a:r>
              <a:rPr sz="1400" b="0">
                <a:solidFill>
                  <a:srgbClr val="1F2D3D"/>
                </a:solidFill>
                <a:latin typeface="맑은 고딕"/>
                <a:ea typeface="맑은 고딕"/>
                <a:cs typeface="맑은 고딕"/>
              </a:rPr>
              <a:t>Perplexity = exp(0.69) ≈ </a:t>
            </a:r>
            <a:r>
              <a:rPr sz="1400" b="1">
                <a:solidFill>
                  <a:srgbClr val="1F2D3D"/>
                </a:solidFill>
                <a:latin typeface="맑은 고딕"/>
                <a:ea typeface="맑은 고딕"/>
                <a:cs typeface="맑은 고딕"/>
              </a:rPr>
              <a:t>2.0</a:t>
            </a:r>
          </a:p>
          <a:p>
            <a:pPr algn="l" marL="0" indent="0">
              <a:lnSpc>
                <a:spcPct val="115000"/>
              </a:lnSpc>
              <a:spcAft>
                <a:spcPts val="420"/>
              </a:spcAft>
              <a:buNone/>
            </a:pPr>
            <a:r>
              <a:rPr sz="1400" b="0">
                <a:solidFill>
                  <a:srgbClr val="1F2D3D"/>
                </a:solidFill>
                <a:latin typeface="맑은 고딕"/>
                <a:ea typeface="맑은 고딕"/>
                <a:cs typeface="맑은 고딕"/>
              </a:rPr>
              <a:t>p=1이면 0, p가 작을수록 급격히 커진다</a:t>
            </a:r>
          </a:p>
        </p:txBody>
      </p:sp>
      <p:sp>
        <p:nvSpPr>
          <p:cNvPr id="25" name="Rounded Rectangle 24"/>
          <p:cNvSpPr/>
          <p:nvPr/>
        </p:nvSpPr>
        <p:spPr>
          <a:xfrm>
            <a:off x="457200" y="5788152"/>
            <a:ext cx="11274552" cy="548640"/>
          </a:xfrm>
          <a:prstGeom prst="roundRect">
            <a:avLst>
              <a:gd name="adj" fmla="val 13333"/>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Aft>
                <a:spcPts val="400"/>
              </a:spcAft>
              <a:buNone/>
            </a:pPr>
            <a:r>
              <a:rPr sz="1600" b="1">
                <a:solidFill>
                  <a:srgbClr val="FFFFFF"/>
                </a:solidFill>
                <a:latin typeface="맑은 고딕"/>
                <a:ea typeface="맑은 고딕"/>
                <a:cs typeface="맑은 고딕"/>
              </a:rPr>
              <a:t>PAD 제외는 loss와 accuracy 계산 양쪽에 반영한다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학습 step의 순서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Batch → Forward(logits) → Loss(masked CE) → Backward(gradient) → Step(θ 갱신)</a:t>
            </a:r>
          </a:p>
        </p:txBody>
      </p:sp>
      <p:sp>
        <p:nvSpPr>
          <p:cNvPr id="8" name="Rounded Rectangle 7"/>
          <p:cNvSpPr/>
          <p:nvPr/>
        </p:nvSpPr>
        <p:spPr>
          <a:xfrm>
            <a:off x="457200" y="1691640"/>
            <a:ext cx="6766560" cy="4663440"/>
          </a:xfrm>
          <a:prstGeom prst="roundRect">
            <a:avLst>
              <a:gd name="adj" fmla="val 980"/>
            </a:avLst>
          </a:prstGeom>
          <a:solidFill>
            <a:srgbClr val="F3F6F8"/>
          </a:solidFill>
          <a:ln w="12700">
            <a:solidFill>
              <a:srgbClr val="B9CB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94360" y="1783080"/>
            <a:ext cx="6492240" cy="4480560"/>
          </a:xfrm>
          <a:prstGeom prst="rect">
            <a:avLst/>
          </a:prstGeom>
          <a:noFill/>
        </p:spPr>
        <p:txBody>
          <a:bodyPr wrap="square">
            <a:spAutoFit/>
          </a:bodyPr>
          <a:lstStyle/>
          <a:p>
            <a:pPr marL="0" indent="0">
              <a:lnSpc>
                <a:spcPct val="100000"/>
              </a:lnSpc>
              <a:buNone/>
            </a:pPr>
            <a:r>
              <a:rPr sz="1600">
                <a:solidFill>
                  <a:srgbClr val="1F2D3D"/>
                </a:solidFill>
                <a:latin typeface="Courier New"/>
                <a:ea typeface="맑은 고딕"/>
                <a:cs typeface="Courier New"/>
              </a:rPr>
              <a:t>model.train()             # dropout 켜기</a:t>
            </a:r>
          </a:p>
          <a:p>
            <a:pPr marL="0" indent="0">
              <a:lnSpc>
                <a:spcPct val="100000"/>
              </a:lnSpc>
              <a:buNone/>
            </a:pPr>
            <a:r>
              <a:rPr sz="1600">
                <a:solidFill>
                  <a:srgbClr val="1F2D3D"/>
                </a:solidFill>
                <a:latin typeface="Courier New"/>
                <a:ea typeface="맑은 고딕"/>
                <a:cs typeface="Courier New"/>
              </a:rPr>
              <a:t>optimizer.zero_grad(set_to_none=True)</a:t>
            </a:r>
          </a:p>
          <a:p>
            <a:pPr marL="0" indent="0">
              <a:lnSpc>
                <a:spcPct val="100000"/>
              </a:lnSpc>
              <a:buNone/>
            </a:pPr>
            <a:r>
              <a:rPr sz="1600">
                <a:solidFill>
                  <a:srgbClr val="5E8C6A"/>
                </a:solidFill>
                <a:latin typeface="Courier New"/>
                <a:ea typeface="맑은 고딕"/>
                <a:cs typeface="Courier New"/>
              </a:rPr>
              <a:t># (B,T,|V|) logits</a:t>
            </a:r>
          </a:p>
          <a:p>
            <a:pPr marL="0" indent="0">
              <a:lnSpc>
                <a:spcPct val="100000"/>
              </a:lnSpc>
              <a:buNone/>
            </a:pPr>
            <a:r>
              <a:rPr sz="1600">
                <a:solidFill>
                  <a:srgbClr val="1F2D3D"/>
                </a:solidFill>
                <a:latin typeface="Courier New"/>
                <a:ea typeface="맑은 고딕"/>
                <a:cs typeface="Courier New"/>
              </a:rPr>
              <a:t>logits = model(source_ids, target_input_ids)</a:t>
            </a:r>
          </a:p>
          <a:p>
            <a:pPr marL="0" indent="0">
              <a:lnSpc>
                <a:spcPct val="100000"/>
              </a:lnSpc>
              <a:buNone/>
            </a:pPr>
            <a:r>
              <a:rPr sz="1600">
                <a:solidFill>
                  <a:srgbClr val="1F2D3D"/>
                </a:solidFill>
                <a:latin typeface="Courier New"/>
                <a:ea typeface="맑은 고딕"/>
                <a:cs typeface="Courier New"/>
              </a:rPr>
              <a:t>loss = F.cross_entropy(</a:t>
            </a:r>
          </a:p>
          <a:p>
            <a:pPr marL="0" indent="0">
              <a:lnSpc>
                <a:spcPct val="100000"/>
              </a:lnSpc>
              <a:buNone/>
            </a:pPr>
            <a:r>
              <a:rPr sz="1600">
                <a:solidFill>
                  <a:srgbClr val="1F2D3D"/>
                </a:solidFill>
                <a:latin typeface="Courier New"/>
                <a:ea typeface="맑은 고딕"/>
                <a:cs typeface="Courier New"/>
              </a:rPr>
              <a:t>    logits.reshape(-1, vocab_size),  # (B·T,|V|)</a:t>
            </a:r>
          </a:p>
          <a:p>
            <a:pPr marL="0" indent="0">
              <a:lnSpc>
                <a:spcPct val="100000"/>
              </a:lnSpc>
              <a:buNone/>
            </a:pPr>
            <a:r>
              <a:rPr sz="1600">
                <a:solidFill>
                  <a:srgbClr val="1F2D3D"/>
                </a:solidFill>
                <a:latin typeface="Courier New"/>
                <a:ea typeface="맑은 고딕"/>
                <a:cs typeface="Courier New"/>
              </a:rPr>
              <a:t>    target_labels.reshape(-1),       # (B·T,)</a:t>
            </a:r>
          </a:p>
          <a:p>
            <a:pPr marL="0" indent="0">
              <a:lnSpc>
                <a:spcPct val="100000"/>
              </a:lnSpc>
              <a:buNone/>
            </a:pPr>
            <a:r>
              <a:rPr sz="1600">
                <a:solidFill>
                  <a:srgbClr val="1F2D3D"/>
                </a:solidFill>
                <a:latin typeface="Courier New"/>
                <a:ea typeface="맑은 고딕"/>
                <a:cs typeface="Courier New"/>
              </a:rPr>
              <a:t>    ignore_index=PAD,</a:t>
            </a:r>
          </a:p>
          <a:p>
            <a:pPr marL="0" indent="0">
              <a:lnSpc>
                <a:spcPct val="100000"/>
              </a:lnSpc>
              <a:buNone/>
            </a:pPr>
            <a:r>
              <a:rPr sz="1600">
                <a:solidFill>
                  <a:srgbClr val="1F2D3D"/>
                </a:solidFill>
                <a:latin typeface="Courier New"/>
                <a:ea typeface="맑은 고딕"/>
                <a:cs typeface="Courier New"/>
              </a:rPr>
              <a:t>)</a:t>
            </a:r>
          </a:p>
          <a:p>
            <a:pPr marL="0" indent="0">
              <a:lnSpc>
                <a:spcPct val="100000"/>
              </a:lnSpc>
              <a:buNone/>
            </a:pPr>
            <a:r>
              <a:rPr sz="1600">
                <a:solidFill>
                  <a:srgbClr val="1F2D3D"/>
                </a:solidFill>
                <a:latin typeface="Courier New"/>
                <a:ea typeface="맑은 고딕"/>
                <a:cs typeface="Courier New"/>
              </a:rPr>
              <a:t>loss.backward()           # gradient 계산</a:t>
            </a:r>
          </a:p>
          <a:p>
            <a:pPr marL="0" indent="0">
              <a:lnSpc>
                <a:spcPct val="100000"/>
              </a:lnSpc>
              <a:buNone/>
            </a:pPr>
            <a:r>
              <a:rPr sz="1600">
                <a:solidFill>
                  <a:srgbClr val="1F2D3D"/>
                </a:solidFill>
                <a:latin typeface="Courier New"/>
                <a:ea typeface="맑은 고딕"/>
                <a:cs typeface="Courier New"/>
              </a:rPr>
              <a:t>nn.utils.clip_grad_norm_(</a:t>
            </a:r>
          </a:p>
          <a:p>
            <a:pPr marL="0" indent="0">
              <a:lnSpc>
                <a:spcPct val="100000"/>
              </a:lnSpc>
              <a:buNone/>
            </a:pPr>
            <a:r>
              <a:rPr sz="1600">
                <a:solidFill>
                  <a:srgbClr val="1F2D3D"/>
                </a:solidFill>
                <a:latin typeface="Courier New"/>
                <a:ea typeface="맑은 고딕"/>
                <a:cs typeface="Courier New"/>
              </a:rPr>
              <a:t>    model.parameters(), 1.0)</a:t>
            </a:r>
          </a:p>
          <a:p>
            <a:pPr marL="0" indent="0">
              <a:lnSpc>
                <a:spcPct val="100000"/>
              </a:lnSpc>
              <a:buNone/>
            </a:pPr>
            <a:r>
              <a:rPr sz="1600">
                <a:solidFill>
                  <a:srgbClr val="1F2D3D"/>
                </a:solidFill>
                <a:latin typeface="Courier New"/>
                <a:ea typeface="맑은 고딕"/>
                <a:cs typeface="Courier New"/>
              </a:rPr>
              <a:t>optimizer.step()          # 파라미터 갱신</a:t>
            </a:r>
          </a:p>
        </p:txBody>
      </p:sp>
      <p:sp>
        <p:nvSpPr>
          <p:cNvPr id="10" name="TextBox 9"/>
          <p:cNvSpPr txBox="1"/>
          <p:nvPr/>
        </p:nvSpPr>
        <p:spPr>
          <a:xfrm>
            <a:off x="7498080" y="1691640"/>
            <a:ext cx="4233671" cy="4663440"/>
          </a:xfrm>
          <a:prstGeom prst="rect">
            <a:avLst/>
          </a:prstGeom>
          <a:noFill/>
        </p:spPr>
        <p:txBody>
          <a:bodyPr wrap="square" lIns="73152" rIns="73152" tIns="36576" bIns="36576" anchor="t"/>
          <a:lstStyle/>
          <a:p>
            <a:pPr algn="l" marL="310896" indent="-265176">
              <a:lnSpc>
                <a:spcPct val="115000"/>
              </a:lnSpc>
              <a:spcAft>
                <a:spcPts val="800"/>
              </a:spcAft>
              <a:buClr>
                <a:srgbClr val="0F6C8C"/>
              </a:buClr>
              <a:buFont typeface="Arial"/>
              <a:buChar char="•"/>
            </a:pPr>
            <a:r>
              <a:rPr sz="1600" b="0">
                <a:solidFill>
                  <a:srgbClr val="1F2D3D"/>
                </a:solidFill>
                <a:latin typeface="맑은 고딕"/>
                <a:ea typeface="맑은 고딕"/>
                <a:cs typeface="맑은 고딕"/>
              </a:rPr>
              <a:t>역전파는 gradient 계산, </a:t>
            </a:r>
            <a:r>
              <a:rPr sz="1600" b="1">
                <a:solidFill>
                  <a:srgbClr val="1F2D3D"/>
                </a:solidFill>
                <a:latin typeface="맑은 고딕"/>
                <a:ea typeface="맑은 고딕"/>
                <a:cs typeface="맑은 고딕"/>
              </a:rPr>
              <a:t>optimizer가 갱신</a:t>
            </a:r>
          </a:p>
          <a:p>
            <a:pPr algn="l" marL="310896" indent="-265176">
              <a:lnSpc>
                <a:spcPct val="115000"/>
              </a:lnSpc>
              <a:spcAft>
                <a:spcPts val="800"/>
              </a:spcAft>
              <a:buClr>
                <a:srgbClr val="0F6C8C"/>
              </a:buClr>
              <a:buFont typeface="Arial"/>
              <a:buChar char="•"/>
            </a:pPr>
            <a:r>
              <a:rPr sz="1600" b="0">
                <a:solidFill>
                  <a:srgbClr val="1F2D3D"/>
                </a:solidFill>
                <a:latin typeface="맑은 고딕"/>
                <a:ea typeface="맑은 고딕"/>
                <a:cs typeface="맑은 고딕"/>
              </a:rPr>
              <a:t>Gradient clipping은 교육용 보호 장치 — 원논문 recipe와 동일하다는 뜻이 아님</a:t>
            </a:r>
          </a:p>
          <a:p>
            <a:pPr algn="l" marL="310896" indent="-265176">
              <a:lnSpc>
                <a:spcPct val="115000"/>
              </a:lnSpc>
              <a:spcAft>
                <a:spcPts val="800"/>
              </a:spcAft>
              <a:buClr>
                <a:srgbClr val="0F6C8C"/>
              </a:buClr>
              <a:buFont typeface="Arial"/>
              <a:buChar char="•"/>
            </a:pPr>
            <a:r>
              <a:rPr sz="1600" b="0">
                <a:solidFill>
                  <a:srgbClr val="1F2D3D"/>
                </a:solidFill>
                <a:latin typeface="Courier New"/>
                <a:ea typeface="맑은 고딕"/>
                <a:cs typeface="Courier New"/>
              </a:rPr>
              <a:t>model.eval()</a:t>
            </a:r>
            <a:r>
              <a:rPr sz="1600" b="0">
                <a:solidFill>
                  <a:srgbClr val="1F2D3D"/>
                </a:solidFill>
                <a:latin typeface="맑은 고딕"/>
                <a:ea typeface="맑은 고딕"/>
                <a:cs typeface="맑은 고딕"/>
              </a:rPr>
              <a:t>: dropout 등 모듈 동작을 평가 모드로</a:t>
            </a:r>
          </a:p>
          <a:p>
            <a:pPr algn="l" marL="310896" indent="-265176">
              <a:lnSpc>
                <a:spcPct val="115000"/>
              </a:lnSpc>
              <a:spcAft>
                <a:spcPts val="800"/>
              </a:spcAft>
              <a:buClr>
                <a:srgbClr val="0F6C8C"/>
              </a:buClr>
              <a:buFont typeface="Arial"/>
              <a:buChar char="•"/>
            </a:pPr>
            <a:r>
              <a:rPr sz="1600" b="0">
                <a:solidFill>
                  <a:srgbClr val="1F2D3D"/>
                </a:solidFill>
                <a:latin typeface="Courier New"/>
                <a:ea typeface="맑은 고딕"/>
                <a:cs typeface="Courier New"/>
              </a:rPr>
              <a:t>torch.no_grad()</a:t>
            </a:r>
            <a:r>
              <a:rPr sz="1600" b="0">
                <a:solidFill>
                  <a:srgbClr val="1F2D3D"/>
                </a:solidFill>
                <a:latin typeface="맑은 고딕"/>
                <a:ea typeface="맑은 고딕"/>
                <a:cs typeface="맑은 고딕"/>
              </a:rPr>
              <a:t> / </a:t>
            </a:r>
            <a:r>
              <a:rPr sz="1600" b="0">
                <a:solidFill>
                  <a:srgbClr val="1F2D3D"/>
                </a:solidFill>
                <a:latin typeface="Courier New"/>
                <a:ea typeface="맑은 고딕"/>
                <a:cs typeface="Courier New"/>
              </a:rPr>
              <a:t>inference_mode()</a:t>
            </a:r>
            <a:r>
              <a:rPr sz="1600" b="0">
                <a:solidFill>
                  <a:srgbClr val="1F2D3D"/>
                </a:solidFill>
                <a:latin typeface="맑은 고딕"/>
                <a:ea typeface="맑은 고딕"/>
                <a:cs typeface="맑은 고딕"/>
              </a:rPr>
              <a:t>: autograd 기록 끄기 — </a:t>
            </a:r>
            <a:r>
              <a:rPr sz="1600" b="1">
                <a:solidFill>
                  <a:srgbClr val="1F2D3D"/>
                </a:solidFill>
                <a:latin typeface="맑은 고딕"/>
                <a:ea typeface="맑은 고딕"/>
                <a:cs typeface="맑은 고딕"/>
              </a:rPr>
              <a:t>역할이 다르다</a:t>
            </a:r>
          </a:p>
          <a:p>
            <a:pPr algn="l" marL="310896" indent="-265176">
              <a:lnSpc>
                <a:spcPct val="115000"/>
              </a:lnSpc>
              <a:spcAft>
                <a:spcPts val="800"/>
              </a:spcAft>
              <a:buClr>
                <a:srgbClr val="0F6C8C"/>
              </a:buClr>
              <a:buFont typeface="Arial"/>
              <a:buChar char="•"/>
            </a:pPr>
            <a:r>
              <a:rPr sz="1600" b="0">
                <a:solidFill>
                  <a:srgbClr val="1F2D3D"/>
                </a:solidFill>
                <a:latin typeface="맑은 고딕"/>
                <a:ea typeface="맑은 고딕"/>
                <a:cs typeface="맑은 고딕"/>
              </a:rPr>
              <a:t>functional SDPA는 평가 때 </a:t>
            </a:r>
            <a:r>
              <a:rPr sz="1600" b="0">
                <a:solidFill>
                  <a:srgbClr val="1F2D3D"/>
                </a:solidFill>
                <a:latin typeface="Courier New"/>
                <a:ea typeface="맑은 고딕"/>
                <a:cs typeface="Courier New"/>
              </a:rPr>
              <a:t>dropout_p=0.0</a:t>
            </a:r>
            <a:r>
              <a:rPr sz="1600" b="0">
                <a:solidFill>
                  <a:srgbClr val="1F2D3D"/>
                </a:solidFill>
                <a:latin typeface="맑은 고딕"/>
                <a:ea typeface="맑은 고딕"/>
                <a:cs typeface="맑은 고딕"/>
              </a:rPr>
              <a:t>을 명시해야 할 수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원논문의 학습 조건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η(s) = d^(−1/2) · min(s^(−1/2), s · w^(−3/2)),  w = 4000</a:t>
            </a:r>
          </a:p>
        </p:txBody>
      </p:sp>
      <p:pic>
        <p:nvPicPr>
          <p:cNvPr id="8" name="Picture 7" descr="lr_schedule.png"/>
          <p:cNvPicPr>
            <a:picLocks noChangeAspect="1"/>
          </p:cNvPicPr>
          <p:nvPr/>
        </p:nvPicPr>
        <p:blipFill>
          <a:blip r:embed="rId3"/>
          <a:stretch>
            <a:fillRect/>
          </a:stretch>
        </p:blipFill>
        <p:spPr>
          <a:xfrm>
            <a:off x="457200" y="1966951"/>
            <a:ext cx="6201003" cy="4067097"/>
          </a:xfrm>
          <a:prstGeom prst="rect">
            <a:avLst/>
          </a:prstGeom>
        </p:spPr>
      </p:pic>
      <p:sp>
        <p:nvSpPr>
          <p:cNvPr id="9" name="Rounded Rectangle 8"/>
          <p:cNvSpPr/>
          <p:nvPr/>
        </p:nvSpPr>
        <p:spPr>
          <a:xfrm>
            <a:off x="6932523" y="1691640"/>
            <a:ext cx="4799228" cy="4617720"/>
          </a:xfrm>
          <a:prstGeom prst="roundRect">
            <a:avLst>
              <a:gd name="adj" fmla="val 1584"/>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15403" y="1874520"/>
            <a:ext cx="4433468" cy="502920"/>
          </a:xfrm>
          <a:prstGeom prst="rect">
            <a:avLst/>
          </a:prstGeom>
          <a:noFill/>
        </p:spPr>
        <p:txBody>
          <a:bodyPr wrap="square" lIns="73152" rIns="73152" tIns="36576" bIns="36576" anchor="ctr"/>
          <a:lstStyle/>
          <a:p>
            <a:pPr algn="l" marL="0" indent="0">
              <a:lnSpc>
                <a:spcPct val="115000"/>
              </a:lnSpc>
              <a:spcAft>
                <a:spcPts val="630"/>
              </a:spcAft>
              <a:buNone/>
            </a:pPr>
            <a:r>
              <a:rPr sz="1800" b="1">
                <a:solidFill>
                  <a:srgbClr val="0F6C8C"/>
                </a:solidFill>
                <a:latin typeface="맑은 고딕"/>
                <a:ea typeface="맑은 고딕"/>
                <a:cs typeface="맑은 고딕"/>
              </a:rPr>
              <a:t>Vaswani 등 2017 §5</a:t>
            </a:r>
          </a:p>
        </p:txBody>
      </p:sp>
      <p:sp>
        <p:nvSpPr>
          <p:cNvPr id="11" name="TextBox 10"/>
          <p:cNvSpPr txBox="1"/>
          <p:nvPr/>
        </p:nvSpPr>
        <p:spPr>
          <a:xfrm>
            <a:off x="7115403" y="2468880"/>
            <a:ext cx="4433468" cy="3703320"/>
          </a:xfrm>
          <a:prstGeom prst="rect">
            <a:avLst/>
          </a:prstGeom>
          <a:noFill/>
        </p:spPr>
        <p:txBody>
          <a:bodyPr wrap="square" lIns="73152" rIns="73152" tIns="36576" bIns="36576" anchor="t"/>
          <a:lstStyle/>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Adam β₁=0.9, β₂=0.98, ε=10⁻⁹</a:t>
            </a:r>
          </a:p>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warm-up 4000 step 선형 증가 → s^(−1/2) 감소</a:t>
            </a:r>
          </a:p>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Residual dropout 0.1 (Base)</a:t>
            </a:r>
          </a:p>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Label smoothing 0.1: perplexity는 나빠지지만 정확도·BLEU는 개선</a:t>
            </a:r>
          </a:p>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8×P100: Base 100K step(약 12시간), Big 300K step(3.5일)</a:t>
            </a:r>
          </a:p>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WMT14 BLEU: EN–DE 27.3(Base) / 28.4(Big), EN–FR 41.8(Big)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어떤 지표를 기록할까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Label-smoothed loss를 exp한 값을 perplexity로 섞지 않는다</a:t>
            </a:r>
          </a:p>
        </p:txBody>
      </p:sp>
      <p:graphicFrame>
        <p:nvGraphicFramePr>
          <p:cNvPr id="8" name="Table 7"/>
          <p:cNvGraphicFramePr>
            <a:graphicFrameLocks noGrp="1"/>
          </p:cNvGraphicFramePr>
          <p:nvPr/>
        </p:nvGraphicFramePr>
        <p:xfrm>
          <a:off x="457200" y="1691640"/>
          <a:ext cx="11274551" cy="3124194"/>
        </p:xfrm>
        <a:graphic>
          <a:graphicData uri="http://schemas.openxmlformats.org/drawingml/2006/table">
            <a:tbl>
              <a:tblPr firstRow="0" bandRow="0">
                <a:tableStyleId>{5940675A-B579-460E-94D1-54222C63F5DA}</a:tableStyleId>
              </a:tblPr>
              <a:tblGrid>
                <a:gridCol w="2402773"/>
                <a:gridCol w="3696574"/>
                <a:gridCol w="5175204"/>
              </a:tblGrid>
              <a:tr h="472439">
                <a:tc>
                  <a:txBody>
                    <a:bodyPr wrap="square" lIns="54864" rIns="54864" tIns="36576" bIns="36576" anchor="t"/>
                    <a:lstStyle/>
                    <a:p>
                      <a:pPr algn="ctr" marL="0" indent="0">
                        <a:lnSpc>
                          <a:spcPct val="115000"/>
                        </a:lnSpc>
                        <a:spcAft>
                          <a:spcPts val="0"/>
                        </a:spcAft>
                        <a:buNone/>
                      </a:pPr>
                      <a:r>
                        <a:rPr sz="1900" b="1">
                          <a:solidFill>
                            <a:srgbClr val="FFFFFF"/>
                          </a:solidFill>
                          <a:latin typeface="맑은 고딕"/>
                          <a:ea typeface="맑은 고딕"/>
                          <a:cs typeface="맑은 고딕"/>
                        </a:rPr>
                        <a:t>지표</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c>
                  <a:txBody>
                    <a:bodyPr wrap="square" lIns="54864" rIns="54864" tIns="36576" bIns="36576" anchor="t"/>
                    <a:lstStyle/>
                    <a:p>
                      <a:pPr algn="ctr" marL="0" indent="0">
                        <a:lnSpc>
                          <a:spcPct val="115000"/>
                        </a:lnSpc>
                        <a:spcAft>
                          <a:spcPts val="0"/>
                        </a:spcAft>
                        <a:buNone/>
                      </a:pPr>
                      <a:r>
                        <a:rPr sz="1900" b="1">
                          <a:solidFill>
                            <a:srgbClr val="FFFFFF"/>
                          </a:solidFill>
                          <a:latin typeface="맑은 고딕"/>
                          <a:ea typeface="맑은 고딕"/>
                          <a:cs typeface="맑은 고딕"/>
                        </a:rPr>
                        <a:t>의미</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c>
                  <a:txBody>
                    <a:bodyPr wrap="square" lIns="54864" rIns="54864" tIns="36576" bIns="36576" anchor="t"/>
                    <a:lstStyle/>
                    <a:p>
                      <a:pPr algn="ctr" marL="0" indent="0">
                        <a:lnSpc>
                          <a:spcPct val="115000"/>
                        </a:lnSpc>
                        <a:spcAft>
                          <a:spcPts val="0"/>
                        </a:spcAft>
                        <a:buNone/>
                      </a:pPr>
                      <a:r>
                        <a:rPr sz="1900" b="1">
                          <a:solidFill>
                            <a:srgbClr val="FFFFFF"/>
                          </a:solidFill>
                          <a:latin typeface="맑은 고딕"/>
                          <a:ea typeface="맑은 고딕"/>
                          <a:cs typeface="맑은 고딕"/>
                        </a:rPr>
                        <a:t>주의점</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r>
              <a:tr h="472439">
                <a:tc>
                  <a:txBody>
                    <a:bodyPr wrap="square" lIns="54864" rIns="54864" tIns="36576" bIns="36576" anchor="t"/>
                    <a:lstStyle/>
                    <a:p>
                      <a:pPr algn="l" marL="0" indent="0">
                        <a:lnSpc>
                          <a:spcPct val="115000"/>
                        </a:lnSpc>
                        <a:spcAft>
                          <a:spcPts val="0"/>
                        </a:spcAft>
                        <a:buNone/>
                      </a:pPr>
                      <a:r>
                        <a:rPr sz="1900" b="1">
                          <a:solidFill>
                            <a:srgbClr val="1F2D3D"/>
                          </a:solidFill>
                          <a:latin typeface="맑은 고딕"/>
                          <a:ea typeface="맑은 고딕"/>
                          <a:cs typeface="맑은 고딕"/>
                        </a:rPr>
                        <a:t>Loss / NLL</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900" b="0">
                          <a:solidFill>
                            <a:srgbClr val="1F2D3D"/>
                          </a:solidFill>
                          <a:latin typeface="맑은 고딕"/>
                          <a:ea typeface="맑은 고딕"/>
                          <a:cs typeface="맑은 고딕"/>
                        </a:rPr>
                        <a:t>정답 토큰의 로그 가능도</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900" b="0">
                          <a:solidFill>
                            <a:srgbClr val="1F2D3D"/>
                          </a:solidFill>
                          <a:latin typeface="맑은 고딕"/>
                          <a:ea typeface="맑은 고딕"/>
                          <a:cs typeface="맑은 고딕"/>
                        </a:rPr>
                        <a:t>PAD · 평균 단위 · smoothing 여부 명시</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761999">
                <a:tc>
                  <a:txBody>
                    <a:bodyPr wrap="square" lIns="54864" rIns="54864" tIns="36576" bIns="36576" anchor="t"/>
                    <a:lstStyle/>
                    <a:p>
                      <a:pPr algn="l" marL="0" indent="0">
                        <a:lnSpc>
                          <a:spcPct val="115000"/>
                        </a:lnSpc>
                        <a:spcAft>
                          <a:spcPts val="0"/>
                        </a:spcAft>
                        <a:buNone/>
                      </a:pPr>
                      <a:r>
                        <a:rPr sz="1900" b="1">
                          <a:solidFill>
                            <a:srgbClr val="1F2D3D"/>
                          </a:solidFill>
                          <a:latin typeface="맑은 고딕"/>
                          <a:ea typeface="맑은 고딕"/>
                          <a:cs typeface="맑은 고딕"/>
                        </a:rPr>
                        <a:t>Perplexity</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900" b="0">
                          <a:solidFill>
                            <a:srgbClr val="1F2D3D"/>
                          </a:solidFill>
                          <a:latin typeface="맑은 고딕"/>
                          <a:ea typeface="맑은 고딕"/>
                          <a:cs typeface="맑은 고딕"/>
                        </a:rPr>
                        <a:t>exp(평균 NLL)</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900" b="0">
                          <a:solidFill>
                            <a:srgbClr val="1F2D3D"/>
                          </a:solidFill>
                          <a:latin typeface="맑은 고딕"/>
                          <a:ea typeface="맑은 고딕"/>
                          <a:cs typeface="맑은 고딕"/>
                        </a:rPr>
                        <a:t>raw NLL로 계산, 같은 tokenizer·데이터·집계에서만 비교</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r h="472439">
                <a:tc>
                  <a:txBody>
                    <a:bodyPr wrap="square" lIns="54864" rIns="54864" tIns="36576" bIns="36576" anchor="t"/>
                    <a:lstStyle/>
                    <a:p>
                      <a:pPr algn="l" marL="0" indent="0">
                        <a:lnSpc>
                          <a:spcPct val="115000"/>
                        </a:lnSpc>
                        <a:spcAft>
                          <a:spcPts val="0"/>
                        </a:spcAft>
                        <a:buNone/>
                      </a:pPr>
                      <a:r>
                        <a:rPr sz="1900" b="1">
                          <a:solidFill>
                            <a:srgbClr val="1F2D3D"/>
                          </a:solidFill>
                          <a:latin typeface="맑은 고딕"/>
                          <a:ea typeface="맑은 고딕"/>
                          <a:cs typeface="맑은 고딕"/>
                        </a:rPr>
                        <a:t>Token accuracy</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900" b="0">
                          <a:solidFill>
                            <a:srgbClr val="1F2D3D"/>
                          </a:solidFill>
                          <a:latin typeface="맑은 고딕"/>
                          <a:ea typeface="맑은 고딕"/>
                          <a:cs typeface="맑은 고딕"/>
                        </a:rPr>
                        <a:t>맞힌 토큰의 비율</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900" b="0">
                          <a:solidFill>
                            <a:srgbClr val="1F2D3D"/>
                          </a:solidFill>
                          <a:latin typeface="맑은 고딕"/>
                          <a:ea typeface="맑은 고딕"/>
                          <a:cs typeface="맑은 고딕"/>
                        </a:rPr>
                        <a:t>한 시퀀스의 작은 오류를 가릴 수 있음</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472439">
                <a:tc>
                  <a:txBody>
                    <a:bodyPr wrap="square" lIns="54864" rIns="54864" tIns="36576" bIns="36576" anchor="t"/>
                    <a:lstStyle/>
                    <a:p>
                      <a:pPr algn="l" marL="0" indent="0">
                        <a:lnSpc>
                          <a:spcPct val="115000"/>
                        </a:lnSpc>
                        <a:spcAft>
                          <a:spcPts val="0"/>
                        </a:spcAft>
                        <a:buNone/>
                      </a:pPr>
                      <a:r>
                        <a:rPr sz="1900" b="1">
                          <a:solidFill>
                            <a:srgbClr val="1F2D3D"/>
                          </a:solidFill>
                          <a:latin typeface="맑은 고딕"/>
                          <a:ea typeface="맑은 고딕"/>
                          <a:cs typeface="맑은 고딕"/>
                        </a:rPr>
                        <a:t>Exact match</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900" b="0">
                          <a:solidFill>
                            <a:srgbClr val="1F2D3D"/>
                          </a:solidFill>
                          <a:latin typeface="맑은 고딕"/>
                          <a:ea typeface="맑은 고딕"/>
                          <a:cs typeface="맑은 고딕"/>
                        </a:rPr>
                        <a:t>시퀀스 전체가 정확한 비율</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900" b="0">
                          <a:solidFill>
                            <a:srgbClr val="1F2D3D"/>
                          </a:solidFill>
                          <a:latin typeface="맑은 고딕"/>
                          <a:ea typeface="맑은 고딕"/>
                          <a:cs typeface="맑은 고딕"/>
                        </a:rPr>
                        <a:t>EOS와 길이 기준을 정해야 함</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r h="472439">
                <a:tc>
                  <a:txBody>
                    <a:bodyPr wrap="square" lIns="54864" rIns="54864" tIns="36576" bIns="36576" anchor="t"/>
                    <a:lstStyle/>
                    <a:p>
                      <a:pPr algn="l" marL="0" indent="0">
                        <a:lnSpc>
                          <a:spcPct val="115000"/>
                        </a:lnSpc>
                        <a:spcAft>
                          <a:spcPts val="0"/>
                        </a:spcAft>
                        <a:buNone/>
                      </a:pPr>
                      <a:r>
                        <a:rPr sz="1900" b="1">
                          <a:solidFill>
                            <a:srgbClr val="1F2D3D"/>
                          </a:solidFill>
                          <a:latin typeface="맑은 고딕"/>
                          <a:ea typeface="맑은 고딕"/>
                          <a:cs typeface="맑은 고딕"/>
                        </a:rPr>
                        <a:t>실제 생성 성능</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900" b="0">
                          <a:solidFill>
                            <a:srgbClr val="1F2D3D"/>
                          </a:solidFill>
                          <a:latin typeface="맑은 고딕"/>
                          <a:ea typeface="맑은 고딕"/>
                          <a:cs typeface="맑은 고딕"/>
                        </a:rPr>
                        <a:t>생성한 prefix에 기반한 결과</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900" b="0">
                          <a:solidFill>
                            <a:srgbClr val="1F2D3D"/>
                          </a:solidFill>
                          <a:latin typeface="맑은 고딕"/>
                          <a:ea typeface="맑은 고딕"/>
                          <a:cs typeface="맑은 고딕"/>
                        </a:rPr>
                        <a:t>teacher-forced 평가와 별도로 측정</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bl>
          </a:graphicData>
        </a:graphic>
      </p:graphicFrame>
      <p:sp>
        <p:nvSpPr>
          <p:cNvPr id="9" name="Rounded Rectangle 8"/>
          <p:cNvSpPr/>
          <p:nvPr/>
        </p:nvSpPr>
        <p:spPr>
          <a:xfrm>
            <a:off x="457200" y="5788152"/>
            <a:ext cx="11274552" cy="548640"/>
          </a:xfrm>
          <a:prstGeom prst="roundRect">
            <a:avLst>
              <a:gd name="adj" fmla="val 13333"/>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Aft>
                <a:spcPts val="400"/>
              </a:spcAft>
              <a:buNone/>
            </a:pPr>
            <a:r>
              <a:rPr sz="1600" b="1">
                <a:solidFill>
                  <a:srgbClr val="FFFFFF"/>
                </a:solidFill>
                <a:latin typeface="맑은 고딕"/>
                <a:ea typeface="맑은 고딕"/>
                <a:cs typeface="맑은 고딕"/>
              </a:rPr>
              <a:t>loss가 안 떨어지면: 1–4개 샘플 과적합부터 → shift · mask 방향 · logits shape · ignore_index · optimizer 점검</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Week 6 · Part 03</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Rounded Rectangle 6"/>
          <p:cNvSpPr/>
          <p:nvPr/>
        </p:nvSpPr>
        <p:spPr>
          <a:xfrm>
            <a:off x="822960" y="1828800"/>
            <a:ext cx="10515600" cy="3017520"/>
          </a:xfrm>
          <a:prstGeom prst="roundRect">
            <a:avLst>
              <a:gd name="adj" fmla="val 2424"/>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188720" y="2057400"/>
            <a:ext cx="2194560" cy="2560320"/>
          </a:xfrm>
          <a:prstGeom prst="rect">
            <a:avLst/>
          </a:prstGeom>
          <a:noFill/>
        </p:spPr>
        <p:txBody>
          <a:bodyPr wrap="square" lIns="73152" rIns="73152" tIns="36576" bIns="36576" anchor="ctr"/>
          <a:lstStyle/>
          <a:p>
            <a:pPr algn="l" marL="0" indent="0">
              <a:lnSpc>
                <a:spcPct val="115000"/>
              </a:lnSpc>
              <a:spcAft>
                <a:spcPts val="2800"/>
              </a:spcAft>
              <a:buNone/>
            </a:pPr>
            <a:r>
              <a:rPr sz="8000" b="1">
                <a:solidFill>
                  <a:srgbClr val="0F6C8C"/>
                </a:solidFill>
                <a:latin typeface="맑은 고딕"/>
                <a:ea typeface="맑은 고딕"/>
                <a:cs typeface="맑은 고딕"/>
              </a:rPr>
              <a:t>03</a:t>
            </a:r>
          </a:p>
        </p:txBody>
      </p:sp>
      <p:sp>
        <p:nvSpPr>
          <p:cNvPr id="9" name="TextBox 8"/>
          <p:cNvSpPr txBox="1"/>
          <p:nvPr/>
        </p:nvSpPr>
        <p:spPr>
          <a:xfrm>
            <a:off x="3474720" y="2148840"/>
            <a:ext cx="7589520" cy="1280160"/>
          </a:xfrm>
          <a:prstGeom prst="rect">
            <a:avLst/>
          </a:prstGeom>
          <a:noFill/>
        </p:spPr>
        <p:txBody>
          <a:bodyPr wrap="square" lIns="73152" rIns="73152" tIns="36576" bIns="36576" anchor="b"/>
          <a:lstStyle/>
          <a:p>
            <a:pPr algn="l" marL="0" indent="0">
              <a:lnSpc>
                <a:spcPct val="115000"/>
              </a:lnSpc>
              <a:spcAft>
                <a:spcPts val="1172"/>
              </a:spcAft>
              <a:buNone/>
            </a:pPr>
            <a:r>
              <a:rPr sz="3350" b="1">
                <a:solidFill>
                  <a:srgbClr val="1F2D3D"/>
                </a:solidFill>
                <a:latin typeface="맑은 고딕"/>
                <a:ea typeface="맑은 고딕"/>
                <a:cs typeface="맑은 고딕"/>
              </a:rPr>
              <a:t>추론과 효율: 생성 · KV Cache · 비용</a:t>
            </a:r>
          </a:p>
        </p:txBody>
      </p:sp>
      <p:sp>
        <p:nvSpPr>
          <p:cNvPr id="10" name="TextBox 9"/>
          <p:cNvSpPr txBox="1"/>
          <p:nvPr/>
        </p:nvSpPr>
        <p:spPr>
          <a:xfrm>
            <a:off x="3474720" y="3520440"/>
            <a:ext cx="7589520" cy="1097280"/>
          </a:xfrm>
          <a:prstGeom prst="rect">
            <a:avLst/>
          </a:prstGeom>
          <a:noFill/>
        </p:spPr>
        <p:txBody>
          <a:bodyPr wrap="square" lIns="73152" rIns="73152" tIns="36576" bIns="36576" anchor="t"/>
          <a:lstStyle/>
          <a:p>
            <a:pPr algn="l" marL="0" indent="0">
              <a:lnSpc>
                <a:spcPct val="115000"/>
              </a:lnSpc>
              <a:spcAft>
                <a:spcPts val="630"/>
              </a:spcAft>
              <a:buNone/>
            </a:pPr>
            <a:r>
              <a:rPr sz="1800" b="0">
                <a:solidFill>
                  <a:srgbClr val="5B6770"/>
                </a:solidFill>
                <a:latin typeface="맑은 고딕"/>
                <a:ea typeface="맑은 고딕"/>
                <a:cs typeface="맑은 고딕"/>
              </a:rPr>
              <a:t>병렬 학습과 순차 생성이 공존하는 이유, 그리고 연산량과 메모리를 분리해서 보기</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추론: 토큰을 하나씩 생성하기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다음 입력이 방금 생성한 결과에 의존 → 자기회귀(autoregressive) 루프</a:t>
            </a:r>
          </a:p>
        </p:txBody>
      </p:sp>
      <p:sp>
        <p:nvSpPr>
          <p:cNvPr id="8" name="Rounded Rectangle 7"/>
          <p:cNvSpPr/>
          <p:nvPr/>
        </p:nvSpPr>
        <p:spPr>
          <a:xfrm>
            <a:off x="457200" y="1737360"/>
            <a:ext cx="2510028" cy="1828800"/>
          </a:xfrm>
          <a:prstGeom prst="roundRect">
            <a:avLst>
              <a:gd name="adj" fmla="val 4000"/>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1828800"/>
            <a:ext cx="2327148" cy="640080"/>
          </a:xfrm>
          <a:prstGeom prst="rect">
            <a:avLst/>
          </a:prstGeom>
          <a:noFill/>
        </p:spPr>
        <p:txBody>
          <a:bodyPr wrap="square" lIns="73152" rIns="73152" tIns="36576" bIns="36576" anchor="ctr"/>
          <a:lstStyle/>
          <a:p>
            <a:pPr algn="ctr" marL="0" indent="0">
              <a:lnSpc>
                <a:spcPct val="115000"/>
              </a:lnSpc>
              <a:spcAft>
                <a:spcPts val="594"/>
              </a:spcAft>
              <a:buNone/>
            </a:pPr>
            <a:r>
              <a:rPr sz="1700" b="1">
                <a:solidFill>
                  <a:srgbClr val="0F6C8C"/>
                </a:solidFill>
                <a:latin typeface="맑은 고딕"/>
                <a:ea typeface="맑은 고딕"/>
                <a:cs typeface="맑은 고딕"/>
              </a:rPr>
              <a:t>Encoder 1회</a:t>
            </a:r>
          </a:p>
        </p:txBody>
      </p:sp>
      <p:sp>
        <p:nvSpPr>
          <p:cNvPr id="10" name="TextBox 9"/>
          <p:cNvSpPr txBox="1"/>
          <p:nvPr/>
        </p:nvSpPr>
        <p:spPr>
          <a:xfrm>
            <a:off x="548640" y="2468880"/>
            <a:ext cx="2327148" cy="1005840"/>
          </a:xfrm>
          <a:prstGeom prst="rect">
            <a:avLst/>
          </a:prstGeom>
          <a:noFill/>
        </p:spPr>
        <p:txBody>
          <a:bodyPr wrap="square" lIns="73152" rIns="73152" tIns="36576" bIns="36576" anchor="t"/>
          <a:lstStyle/>
          <a:p>
            <a:pPr algn="ctr" marL="0" indent="0">
              <a:lnSpc>
                <a:spcPct val="115000"/>
              </a:lnSpc>
              <a:spcAft>
                <a:spcPts val="325"/>
              </a:spcAft>
              <a:buNone/>
            </a:pPr>
            <a:r>
              <a:rPr sz="1300" b="0">
                <a:solidFill>
                  <a:srgbClr val="1F2D3D"/>
                </a:solidFill>
                <a:latin typeface="맑은 고딕"/>
                <a:ea typeface="맑은 고딕"/>
                <a:cs typeface="맑은 고딕"/>
              </a:rPr>
              <a:t>source → E (B,S,d)
이후 모든 step에서 재사용</a:t>
            </a:r>
          </a:p>
        </p:txBody>
      </p:sp>
      <p:cxnSp>
        <p:nvCxnSpPr>
          <p:cNvPr id="11" name="Connector 10"/>
          <p:cNvCxnSpPr/>
          <p:nvPr/>
        </p:nvCxnSpPr>
        <p:spPr>
          <a:xfrm>
            <a:off x="3012948" y="2651760"/>
            <a:ext cx="320040" cy="0"/>
          </a:xfrm>
          <a:prstGeom prst="line">
            <a:avLst/>
          </a:prstGeom>
          <a:ln w="25400">
            <a:solidFill>
              <a:srgbClr val="3FA7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378708" y="1737360"/>
            <a:ext cx="2510028" cy="1828800"/>
          </a:xfrm>
          <a:prstGeom prst="roundRect">
            <a:avLst>
              <a:gd name="adj" fmla="val 4000"/>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470148" y="1828800"/>
            <a:ext cx="2327148" cy="640080"/>
          </a:xfrm>
          <a:prstGeom prst="rect">
            <a:avLst/>
          </a:prstGeom>
          <a:noFill/>
        </p:spPr>
        <p:txBody>
          <a:bodyPr wrap="square" lIns="73152" rIns="73152" tIns="36576" bIns="36576" anchor="ctr"/>
          <a:lstStyle/>
          <a:p>
            <a:pPr algn="ctr" marL="0" indent="0">
              <a:lnSpc>
                <a:spcPct val="115000"/>
              </a:lnSpc>
              <a:spcAft>
                <a:spcPts val="594"/>
              </a:spcAft>
              <a:buNone/>
            </a:pPr>
            <a:r>
              <a:rPr sz="1700" b="1">
                <a:solidFill>
                  <a:srgbClr val="0F6C8C"/>
                </a:solidFill>
                <a:latin typeface="맑은 고딕"/>
                <a:ea typeface="맑은 고딕"/>
                <a:cs typeface="맑은 고딕"/>
              </a:rPr>
              <a:t>BOS로 시작</a:t>
            </a:r>
          </a:p>
        </p:txBody>
      </p:sp>
      <p:sp>
        <p:nvSpPr>
          <p:cNvPr id="14" name="TextBox 13"/>
          <p:cNvSpPr txBox="1"/>
          <p:nvPr/>
        </p:nvSpPr>
        <p:spPr>
          <a:xfrm>
            <a:off x="3470148" y="2468880"/>
            <a:ext cx="2327148" cy="1005840"/>
          </a:xfrm>
          <a:prstGeom prst="rect">
            <a:avLst/>
          </a:prstGeom>
          <a:noFill/>
        </p:spPr>
        <p:txBody>
          <a:bodyPr wrap="square" lIns="73152" rIns="73152" tIns="36576" bIns="36576" anchor="t"/>
          <a:lstStyle/>
          <a:p>
            <a:pPr algn="ctr" marL="0" indent="0">
              <a:lnSpc>
                <a:spcPct val="115000"/>
              </a:lnSpc>
              <a:spcAft>
                <a:spcPts val="325"/>
              </a:spcAft>
              <a:buNone/>
            </a:pPr>
            <a:r>
              <a:rPr sz="1300" b="0">
                <a:solidFill>
                  <a:srgbClr val="1F2D3D"/>
                </a:solidFill>
                <a:latin typeface="맑은 고딕"/>
                <a:ea typeface="맑은 고딕"/>
                <a:cs typeface="맑은 고딕"/>
              </a:rPr>
              <a:t>prefix = [BOS]
정답 prefix는 없다</a:t>
            </a:r>
          </a:p>
        </p:txBody>
      </p:sp>
      <p:cxnSp>
        <p:nvCxnSpPr>
          <p:cNvPr id="15" name="Connector 14"/>
          <p:cNvCxnSpPr/>
          <p:nvPr/>
        </p:nvCxnSpPr>
        <p:spPr>
          <a:xfrm>
            <a:off x="5934456" y="2651760"/>
            <a:ext cx="320040" cy="0"/>
          </a:xfrm>
          <a:prstGeom prst="line">
            <a:avLst/>
          </a:prstGeom>
          <a:ln w="25400">
            <a:solidFill>
              <a:srgbClr val="3FA7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0216" y="1737360"/>
            <a:ext cx="2510028" cy="1828800"/>
          </a:xfrm>
          <a:prstGeom prst="roundRect">
            <a:avLst>
              <a:gd name="adj" fmla="val 4000"/>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91656" y="1828800"/>
            <a:ext cx="2327148" cy="640080"/>
          </a:xfrm>
          <a:prstGeom prst="rect">
            <a:avLst/>
          </a:prstGeom>
          <a:noFill/>
        </p:spPr>
        <p:txBody>
          <a:bodyPr wrap="square" lIns="73152" rIns="73152" tIns="36576" bIns="36576" anchor="ctr"/>
          <a:lstStyle/>
          <a:p>
            <a:pPr algn="ctr" marL="0" indent="0">
              <a:lnSpc>
                <a:spcPct val="115000"/>
              </a:lnSpc>
              <a:spcAft>
                <a:spcPts val="594"/>
              </a:spcAft>
              <a:buNone/>
            </a:pPr>
            <a:r>
              <a:rPr sz="1700" b="1">
                <a:solidFill>
                  <a:srgbClr val="0F6C8C"/>
                </a:solidFill>
                <a:latin typeface="맑은 고딕"/>
                <a:ea typeface="맑은 고딕"/>
                <a:cs typeface="맑은 고딕"/>
              </a:rPr>
              <a:t>마지막 위치 logits</a:t>
            </a:r>
          </a:p>
        </p:txBody>
      </p:sp>
      <p:sp>
        <p:nvSpPr>
          <p:cNvPr id="18" name="TextBox 17"/>
          <p:cNvSpPr txBox="1"/>
          <p:nvPr/>
        </p:nvSpPr>
        <p:spPr>
          <a:xfrm>
            <a:off x="6391656" y="2468880"/>
            <a:ext cx="2327148" cy="1005840"/>
          </a:xfrm>
          <a:prstGeom prst="rect">
            <a:avLst/>
          </a:prstGeom>
          <a:noFill/>
        </p:spPr>
        <p:txBody>
          <a:bodyPr wrap="square" lIns="73152" rIns="73152" tIns="36576" bIns="36576" anchor="t"/>
          <a:lstStyle/>
          <a:p>
            <a:pPr algn="ctr" marL="0" indent="0">
              <a:lnSpc>
                <a:spcPct val="115000"/>
              </a:lnSpc>
              <a:spcAft>
                <a:spcPts val="325"/>
              </a:spcAft>
              <a:buNone/>
            </a:pPr>
            <a:r>
              <a:rPr sz="1300" b="0">
                <a:solidFill>
                  <a:srgbClr val="1F2D3D"/>
                </a:solidFill>
                <a:latin typeface="맑은 고딕"/>
                <a:ea typeface="맑은 고딕"/>
                <a:cs typeface="맑은 고딕"/>
              </a:rPr>
              <a:t>다음 토큰 선택
(선택 정책은 모델과 별개)</a:t>
            </a:r>
          </a:p>
        </p:txBody>
      </p:sp>
      <p:cxnSp>
        <p:nvCxnSpPr>
          <p:cNvPr id="19" name="Connector 18"/>
          <p:cNvCxnSpPr/>
          <p:nvPr/>
        </p:nvCxnSpPr>
        <p:spPr>
          <a:xfrm>
            <a:off x="8855964" y="2651760"/>
            <a:ext cx="320040" cy="0"/>
          </a:xfrm>
          <a:prstGeom prst="line">
            <a:avLst/>
          </a:prstGeom>
          <a:ln w="25400">
            <a:solidFill>
              <a:srgbClr val="3FA7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221724" y="1737360"/>
            <a:ext cx="2510028" cy="1828800"/>
          </a:xfrm>
          <a:prstGeom prst="roundRect">
            <a:avLst>
              <a:gd name="adj" fmla="val 4000"/>
            </a:avLst>
          </a:prstGeom>
          <a:solidFill>
            <a:srgbClr val="FDF1E8"/>
          </a:solidFill>
          <a:ln w="12700">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13164" y="1828800"/>
            <a:ext cx="2327148" cy="640080"/>
          </a:xfrm>
          <a:prstGeom prst="rect">
            <a:avLst/>
          </a:prstGeom>
          <a:noFill/>
        </p:spPr>
        <p:txBody>
          <a:bodyPr wrap="square" lIns="73152" rIns="73152" tIns="36576" bIns="36576" anchor="ctr"/>
          <a:lstStyle/>
          <a:p>
            <a:pPr algn="ctr" marL="0" indent="0">
              <a:lnSpc>
                <a:spcPct val="115000"/>
              </a:lnSpc>
              <a:spcAft>
                <a:spcPts val="594"/>
              </a:spcAft>
              <a:buNone/>
            </a:pPr>
            <a:r>
              <a:rPr sz="1700" b="1">
                <a:solidFill>
                  <a:srgbClr val="E07A2F"/>
                </a:solidFill>
                <a:latin typeface="맑은 고딕"/>
                <a:ea typeface="맑은 고딕"/>
                <a:cs typeface="맑은 고딕"/>
              </a:rPr>
              <a:t>append · 반복</a:t>
            </a:r>
          </a:p>
        </p:txBody>
      </p:sp>
      <p:sp>
        <p:nvSpPr>
          <p:cNvPr id="22" name="TextBox 21"/>
          <p:cNvSpPr txBox="1"/>
          <p:nvPr/>
        </p:nvSpPr>
        <p:spPr>
          <a:xfrm>
            <a:off x="9313164" y="2468880"/>
            <a:ext cx="2327148" cy="1005840"/>
          </a:xfrm>
          <a:prstGeom prst="rect">
            <a:avLst/>
          </a:prstGeom>
          <a:noFill/>
        </p:spPr>
        <p:txBody>
          <a:bodyPr wrap="square" lIns="73152" rIns="73152" tIns="36576" bIns="36576" anchor="t"/>
          <a:lstStyle/>
          <a:p>
            <a:pPr algn="ctr" marL="0" indent="0">
              <a:lnSpc>
                <a:spcPct val="115000"/>
              </a:lnSpc>
              <a:spcAft>
                <a:spcPts val="325"/>
              </a:spcAft>
              <a:buNone/>
            </a:pPr>
            <a:r>
              <a:rPr sz="1300" b="0">
                <a:solidFill>
                  <a:srgbClr val="1F2D3D"/>
                </a:solidFill>
                <a:latin typeface="맑은 고딕"/>
                <a:ea typeface="맑은 고딕"/>
                <a:cs typeface="맑은 고딕"/>
              </a:rPr>
              <a:t>prefix에 붙이고 반복
EOS 또는 최대 길이에서 종료</a:t>
            </a:r>
          </a:p>
        </p:txBody>
      </p:sp>
      <p:sp>
        <p:nvSpPr>
          <p:cNvPr id="23" name="TextBox 22"/>
          <p:cNvSpPr txBox="1"/>
          <p:nvPr/>
        </p:nvSpPr>
        <p:spPr>
          <a:xfrm>
            <a:off x="457200" y="3840480"/>
            <a:ext cx="11274552" cy="1874519"/>
          </a:xfrm>
          <a:prstGeom prst="rect">
            <a:avLst/>
          </a:prstGeom>
          <a:noFill/>
        </p:spPr>
        <p:txBody>
          <a:bodyPr wrap="square" lIns="73152" rIns="73152" tIns="36576" bIns="36576" anchor="t"/>
          <a:lstStyle/>
          <a:p>
            <a:pPr algn="l" marL="310896" indent="-265176">
              <a:lnSpc>
                <a:spcPct val="115000"/>
              </a:lnSpc>
              <a:spcAft>
                <a:spcPts val="720"/>
              </a:spcAft>
              <a:buClr>
                <a:srgbClr val="0F6C8C"/>
              </a:buClr>
              <a:buFont typeface="Arial"/>
              <a:buChar char="•"/>
            </a:pPr>
            <a:r>
              <a:rPr sz="1600" b="1">
                <a:solidFill>
                  <a:srgbClr val="1F2D3D"/>
                </a:solidFill>
                <a:latin typeface="맑은 고딕"/>
                <a:ea typeface="맑은 고딕"/>
                <a:cs typeface="맑은 고딕"/>
              </a:rPr>
              <a:t>Greedy</a:t>
            </a:r>
            <a:r>
              <a:rPr sz="1600" b="0">
                <a:solidFill>
                  <a:srgbClr val="1F2D3D"/>
                </a:solidFill>
                <a:latin typeface="맑은 고딕"/>
                <a:ea typeface="맑은 고딕"/>
                <a:cs typeface="맑은 고딕"/>
              </a:rPr>
              <a:t>: 최고 점수 선택 — 단순하지만 전체 시퀀스 최적 보장 없음 · </a:t>
            </a:r>
            <a:r>
              <a:rPr sz="1600" b="1">
                <a:solidFill>
                  <a:srgbClr val="1F2D3D"/>
                </a:solidFill>
                <a:latin typeface="맑은 고딕"/>
                <a:ea typeface="맑은 고딕"/>
                <a:cs typeface="맑은 고딕"/>
              </a:rPr>
              <a:t>Beam search</a:t>
            </a:r>
            <a:r>
              <a:rPr sz="1600" b="0">
                <a:solidFill>
                  <a:srgbClr val="1F2D3D"/>
                </a:solidFill>
                <a:latin typeface="맑은 고딕"/>
                <a:ea typeface="맑은 고딕"/>
                <a:cs typeface="맑은 고딕"/>
              </a:rPr>
              <a:t>: 후보 prefix 여러 개 유지, 계산↑ (원논문: beam 4, 길이 패널티 α=0.6)</a:t>
            </a:r>
          </a:p>
          <a:p>
            <a:pPr algn="l" marL="310896" indent="-265176">
              <a:lnSpc>
                <a:spcPct val="115000"/>
              </a:lnSpc>
              <a:spcAft>
                <a:spcPts val="720"/>
              </a:spcAft>
              <a:buClr>
                <a:srgbClr val="0F6C8C"/>
              </a:buClr>
              <a:buFont typeface="Arial"/>
              <a:buChar char="•"/>
            </a:pPr>
            <a:r>
              <a:rPr sz="1600" b="1">
                <a:solidFill>
                  <a:srgbClr val="1F2D3D"/>
                </a:solidFill>
                <a:latin typeface="맑은 고딕"/>
                <a:ea typeface="맑은 고딕"/>
                <a:cs typeface="맑은 고딕"/>
              </a:rPr>
              <a:t>Sampling</a:t>
            </a:r>
            <a:r>
              <a:rPr sz="1600" b="0">
                <a:solidFill>
                  <a:srgbClr val="1F2D3D"/>
                </a:solidFill>
                <a:latin typeface="맑은 고딕"/>
                <a:ea typeface="맑은 고딕"/>
                <a:cs typeface="맑은 고딕"/>
              </a:rPr>
              <a:t>: 분포에서 추출 — 다양성↑, 결과 변동 · </a:t>
            </a:r>
            <a:r>
              <a:rPr sz="1600" b="1">
                <a:solidFill>
                  <a:srgbClr val="1F2D3D"/>
                </a:solidFill>
                <a:latin typeface="맑은 고딕"/>
                <a:ea typeface="맑은 고딕"/>
                <a:cs typeface="맑은 고딕"/>
              </a:rPr>
              <a:t>Temperature</a:t>
            </a:r>
            <a:r>
              <a:rPr sz="1600" b="0">
                <a:solidFill>
                  <a:srgbClr val="1F2D3D"/>
                </a:solidFill>
                <a:latin typeface="맑은 고딕"/>
                <a:ea typeface="맑은 고딕"/>
                <a:cs typeface="맑은 고딕"/>
              </a:rPr>
              <a:t>: logits/τ로 분포 조절 — 재학습이 아니다</a:t>
            </a:r>
          </a:p>
          <a:p>
            <a:pPr algn="l" marL="310896" indent="-265176">
              <a:lnSpc>
                <a:spcPct val="115000"/>
              </a:lnSpc>
              <a:spcAft>
                <a:spcPts val="720"/>
              </a:spcAft>
              <a:buClr>
                <a:srgbClr val="0F6C8C"/>
              </a:buClr>
              <a:buFont typeface="Arial"/>
              <a:buChar char="•"/>
            </a:pPr>
            <a:r>
              <a:rPr sz="1600" b="0">
                <a:solidFill>
                  <a:srgbClr val="1F2D3D"/>
                </a:solidFill>
                <a:latin typeface="맑은 고딕"/>
                <a:ea typeface="맑은 고딕"/>
                <a:cs typeface="맑은 고딕"/>
              </a:rPr>
              <a:t>선택 정책은 출력 분포를 </a:t>
            </a:r>
            <a:r>
              <a:rPr sz="1600" b="1">
                <a:solidFill>
                  <a:srgbClr val="1F2D3D"/>
                </a:solidFill>
                <a:latin typeface="맑은 고딕"/>
                <a:ea typeface="맑은 고딕"/>
                <a:cs typeface="맑은 고딕"/>
              </a:rPr>
              <a:t>사용하는 방식</a:t>
            </a:r>
            <a:r>
              <a:rPr sz="1600" b="0">
                <a:solidFill>
                  <a:srgbClr val="1F2D3D"/>
                </a:solidFill>
                <a:latin typeface="맑은 고딕"/>
                <a:ea typeface="맑은 고딕"/>
                <a:cs typeface="맑은 고딕"/>
              </a:rPr>
              <a:t> — Q/K/V 가중치를 바꾸는 학습과 다르다</a:t>
            </a:r>
          </a:p>
        </p:txBody>
      </p:sp>
      <p:sp>
        <p:nvSpPr>
          <p:cNvPr id="24" name="Rounded Rectangle 23"/>
          <p:cNvSpPr/>
          <p:nvPr/>
        </p:nvSpPr>
        <p:spPr>
          <a:xfrm>
            <a:off x="457200" y="5788152"/>
            <a:ext cx="11274552" cy="548640"/>
          </a:xfrm>
          <a:prstGeom prst="roundRect">
            <a:avLst>
              <a:gd name="adj" fmla="val 13333"/>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Aft>
                <a:spcPts val="400"/>
              </a:spcAft>
              <a:buNone/>
            </a:pPr>
            <a:r>
              <a:rPr sz="1600" b="1">
                <a:solidFill>
                  <a:srgbClr val="FFFFFF"/>
                </a:solidFill>
                <a:latin typeface="맑은 고딕"/>
                <a:ea typeface="맑은 고딕"/>
                <a:cs typeface="맑은 고딕"/>
              </a:rPr>
              <a:t>Greedy와 beam을 비교하기 전에 과제의 평가 목표부터 정한다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KV Cache: Prefill과 Decode</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과거 prefix의 층별 K, V는 새 토큰이 와도 바뀌지 않는다 → 저장해서 재사용</a:t>
            </a:r>
          </a:p>
        </p:txBody>
      </p:sp>
      <p:pic>
        <p:nvPicPr>
          <p:cNvPr id="8" name="Picture 7" descr="kv_cache.png"/>
          <p:cNvPicPr>
            <a:picLocks noChangeAspect="1"/>
          </p:cNvPicPr>
          <p:nvPr/>
        </p:nvPicPr>
        <p:blipFill>
          <a:blip r:embed="rId3"/>
          <a:stretch>
            <a:fillRect/>
          </a:stretch>
        </p:blipFill>
        <p:spPr>
          <a:xfrm>
            <a:off x="457200" y="1957595"/>
            <a:ext cx="7215713" cy="4085808"/>
          </a:xfrm>
          <a:prstGeom prst="rect">
            <a:avLst/>
          </a:prstGeom>
        </p:spPr>
      </p:pic>
      <p:sp>
        <p:nvSpPr>
          <p:cNvPr id="9" name="Rounded Rectangle 8"/>
          <p:cNvSpPr/>
          <p:nvPr/>
        </p:nvSpPr>
        <p:spPr>
          <a:xfrm>
            <a:off x="7947233" y="1691640"/>
            <a:ext cx="3784518" cy="4617720"/>
          </a:xfrm>
          <a:prstGeom prst="roundRect">
            <a:avLst>
              <a:gd name="adj" fmla="val 1932"/>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130113" y="1874520"/>
            <a:ext cx="3418758" cy="502920"/>
          </a:xfrm>
          <a:prstGeom prst="rect">
            <a:avLst/>
          </a:prstGeom>
          <a:noFill/>
        </p:spPr>
        <p:txBody>
          <a:bodyPr wrap="square" lIns="73152" rIns="73152" tIns="36576" bIns="36576" anchor="ctr"/>
          <a:lstStyle/>
          <a:p>
            <a:pPr algn="l" marL="0" indent="0">
              <a:lnSpc>
                <a:spcPct val="115000"/>
              </a:lnSpc>
              <a:spcAft>
                <a:spcPts val="630"/>
              </a:spcAft>
              <a:buNone/>
            </a:pPr>
            <a:r>
              <a:rPr sz="1800" b="1">
                <a:solidFill>
                  <a:srgbClr val="0F6C8C"/>
                </a:solidFill>
                <a:latin typeface="맑은 고딕"/>
                <a:ea typeface="맑은 고딕"/>
                <a:cs typeface="맑은 고딕"/>
              </a:rPr>
              <a:t>저장하는 것과 남는 것</a:t>
            </a:r>
          </a:p>
        </p:txBody>
      </p:sp>
      <p:sp>
        <p:nvSpPr>
          <p:cNvPr id="11" name="TextBox 10"/>
          <p:cNvSpPr txBox="1"/>
          <p:nvPr/>
        </p:nvSpPr>
        <p:spPr>
          <a:xfrm>
            <a:off x="8130113" y="2468880"/>
            <a:ext cx="3418758" cy="3703320"/>
          </a:xfrm>
          <a:prstGeom prst="rect">
            <a:avLst/>
          </a:prstGeom>
          <a:noFill/>
        </p:spPr>
        <p:txBody>
          <a:bodyPr wrap="square" lIns="73152" rIns="73152" tIns="36576" bIns="36576" anchor="t"/>
          <a:lstStyle/>
          <a:p>
            <a:pPr algn="l" marL="304038" indent="-258318">
              <a:lnSpc>
                <a:spcPct val="115000"/>
              </a:lnSpc>
              <a:spcAft>
                <a:spcPts val="652"/>
              </a:spcAft>
              <a:buClr>
                <a:srgbClr val="0F6C8C"/>
              </a:buClr>
              <a:buFont typeface="Arial"/>
              <a:buChar char="•"/>
            </a:pPr>
            <a:r>
              <a:rPr sz="1450" b="0">
                <a:solidFill>
                  <a:srgbClr val="1F2D3D"/>
                </a:solidFill>
                <a:latin typeface="맑은 고딕"/>
                <a:ea typeface="맑은 고딕"/>
                <a:cs typeface="맑은 고딕"/>
              </a:rPr>
              <a:t>과거 K, V 불변 → prefix forward 반복을 줄인다</a:t>
            </a:r>
          </a:p>
          <a:p>
            <a:pPr algn="l" marL="304038" indent="-258318">
              <a:lnSpc>
                <a:spcPct val="115000"/>
              </a:lnSpc>
              <a:spcAft>
                <a:spcPts val="652"/>
              </a:spcAft>
              <a:buClr>
                <a:srgbClr val="0F6C8C"/>
              </a:buClr>
              <a:buFont typeface="Arial"/>
              <a:buChar char="•"/>
            </a:pPr>
            <a:r>
              <a:rPr sz="1450" b="1">
                <a:solidFill>
                  <a:srgbClr val="1F2D3D"/>
                </a:solidFill>
                <a:latin typeface="맑은 고딕"/>
                <a:ea typeface="맑은 고딕"/>
                <a:cs typeface="맑은 고딕"/>
              </a:rPr>
              <a:t>Q는 캐시하지 않음</a:t>
            </a:r>
            <a:r>
              <a:rPr sz="1450" b="0">
                <a:solidFill>
                  <a:srgbClr val="1F2D3D"/>
                </a:solidFill>
                <a:latin typeface="맑은 고딕"/>
                <a:ea typeface="맑은 고딕"/>
                <a:cs typeface="맑은 고딕"/>
              </a:rPr>
              <a:t> (현재 토큰만 필요)</a:t>
            </a:r>
          </a:p>
          <a:p>
            <a:pPr algn="l" marL="304038" indent="-258318">
              <a:lnSpc>
                <a:spcPct val="115000"/>
              </a:lnSpc>
              <a:spcAft>
                <a:spcPts val="652"/>
              </a:spcAft>
              <a:buClr>
                <a:srgbClr val="0F6C8C"/>
              </a:buClr>
              <a:buFont typeface="Arial"/>
              <a:buChar char="•"/>
            </a:pPr>
            <a:r>
              <a:rPr sz="1450" b="0">
                <a:solidFill>
                  <a:srgbClr val="1F2D3D"/>
                </a:solidFill>
                <a:latin typeface="맑은 고딕"/>
                <a:ea typeface="맑은 고딕"/>
                <a:cs typeface="맑은 고딕"/>
              </a:rPr>
              <a:t>Enc–Dec: E와 cross-attn K, V 재사용</a:t>
            </a:r>
          </a:p>
          <a:p>
            <a:pPr algn="l" marL="304038" indent="-258318">
              <a:lnSpc>
                <a:spcPct val="115000"/>
              </a:lnSpc>
              <a:spcAft>
                <a:spcPts val="652"/>
              </a:spcAft>
              <a:buClr>
                <a:srgbClr val="0F6C8C"/>
              </a:buClr>
              <a:buFont typeface="Arial"/>
              <a:buChar char="•"/>
            </a:pPr>
            <a:r>
              <a:rPr sz="1450" b="1">
                <a:solidFill>
                  <a:srgbClr val="1F2D3D"/>
                </a:solidFill>
                <a:latin typeface="맑은 고딕"/>
                <a:ea typeface="맑은 고딕"/>
                <a:cs typeface="맑은 고딕"/>
              </a:rPr>
              <a:t>남는 것</a:t>
            </a:r>
            <a:r>
              <a:rPr sz="1450" b="0">
                <a:solidFill>
                  <a:srgbClr val="1F2D3D"/>
                </a:solidFill>
                <a:latin typeface="맑은 고딕"/>
                <a:ea typeface="맑은 고딕"/>
                <a:cs typeface="맑은 고딕"/>
              </a:rPr>
              <a:t>: 순차 루프, 과거 Key 참조 비용</a:t>
            </a:r>
          </a:p>
          <a:p>
            <a:pPr algn="l" marL="304038" indent="-258318">
              <a:lnSpc>
                <a:spcPct val="115000"/>
              </a:lnSpc>
              <a:spcAft>
                <a:spcPts val="652"/>
              </a:spcAft>
              <a:buClr>
                <a:srgbClr val="0F6C8C"/>
              </a:buClr>
              <a:buFont typeface="Arial"/>
              <a:buChar char="•"/>
            </a:pPr>
            <a:r>
              <a:rPr sz="1450" b="0">
                <a:solidFill>
                  <a:srgbClr val="1F2D3D"/>
                </a:solidFill>
                <a:latin typeface="맑은 고딕"/>
                <a:ea typeface="맑은 고딕"/>
                <a:cs typeface="맑은 고딕"/>
              </a:rPr>
              <a:t>가중치·adapter·position ID·mask가 다르면 같은 prefix라도 </a:t>
            </a:r>
            <a:r>
              <a:rPr sz="1450" b="1">
                <a:solidFill>
                  <a:srgbClr val="1F2D3D"/>
                </a:solidFill>
                <a:latin typeface="맑은 고딕"/>
                <a:ea typeface="맑은 고딕"/>
                <a:cs typeface="맑은 고딕"/>
              </a:rPr>
              <a:t>공유 불가</a:t>
            </a:r>
          </a:p>
          <a:p>
            <a:pPr algn="l" marL="304038" indent="-258318">
              <a:lnSpc>
                <a:spcPct val="115000"/>
              </a:lnSpc>
              <a:spcAft>
                <a:spcPts val="652"/>
              </a:spcAft>
              <a:buClr>
                <a:srgbClr val="0F6C8C"/>
              </a:buClr>
              <a:buFont typeface="Arial"/>
              <a:buChar char="•"/>
            </a:pPr>
            <a:r>
              <a:rPr sz="1450" b="0">
                <a:solidFill>
                  <a:srgbClr val="1F2D3D"/>
                </a:solidFill>
                <a:latin typeface="맑은 고딕"/>
                <a:ea typeface="맑은 고딕"/>
                <a:cs typeface="맑은 고딕"/>
              </a:rPr>
              <a:t>측정: TTFT(prefill) / token당 지연(decode)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“Transformer는 O(N²)”만으로는 부족하다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MACs / 샘플 / 층 = 4Nd² + 2N²d + 2Nd·d_ff  (1 MAC ≈ 2 FLOPs, Norm·Softmax·bias 제외)</a:t>
            </a:r>
          </a:p>
        </p:txBody>
      </p:sp>
      <p:pic>
        <p:nvPicPr>
          <p:cNvPr id="8" name="Picture 7" descr="flops_terms.png"/>
          <p:cNvPicPr>
            <a:picLocks noChangeAspect="1"/>
          </p:cNvPicPr>
          <p:nvPr/>
        </p:nvPicPr>
        <p:blipFill>
          <a:blip r:embed="rId3"/>
          <a:stretch>
            <a:fillRect/>
          </a:stretch>
        </p:blipFill>
        <p:spPr>
          <a:xfrm>
            <a:off x="457200" y="1822589"/>
            <a:ext cx="5637276" cy="4355821"/>
          </a:xfrm>
          <a:prstGeom prst="rect">
            <a:avLst/>
          </a:prstGeom>
        </p:spPr>
      </p:pic>
      <p:sp>
        <p:nvSpPr>
          <p:cNvPr id="9" name="Rounded Rectangle 8"/>
          <p:cNvSpPr/>
          <p:nvPr/>
        </p:nvSpPr>
        <p:spPr>
          <a:xfrm>
            <a:off x="6368796" y="1691640"/>
            <a:ext cx="5362956" cy="4617720"/>
          </a:xfrm>
          <a:prstGeom prst="roundRect">
            <a:avLst>
              <a:gd name="adj" fmla="val 1584"/>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51676" y="1874520"/>
            <a:ext cx="4997196" cy="502920"/>
          </a:xfrm>
          <a:prstGeom prst="rect">
            <a:avLst/>
          </a:prstGeom>
          <a:noFill/>
        </p:spPr>
        <p:txBody>
          <a:bodyPr wrap="square" lIns="73152" rIns="73152" tIns="36576" bIns="36576" anchor="ctr"/>
          <a:lstStyle/>
          <a:p>
            <a:pPr algn="l" marL="0" indent="0">
              <a:lnSpc>
                <a:spcPct val="115000"/>
              </a:lnSpc>
              <a:spcAft>
                <a:spcPts val="630"/>
              </a:spcAft>
              <a:buNone/>
            </a:pPr>
            <a:r>
              <a:rPr sz="1800" b="1">
                <a:solidFill>
                  <a:srgbClr val="0F6C8C"/>
                </a:solidFill>
                <a:latin typeface="맑은 고딕"/>
                <a:ea typeface="맑은 고딕"/>
                <a:cs typeface="맑은 고딕"/>
              </a:rPr>
              <a:t>항마다 따로 읽기</a:t>
            </a:r>
          </a:p>
        </p:txBody>
      </p:sp>
      <p:sp>
        <p:nvSpPr>
          <p:cNvPr id="11" name="TextBox 10"/>
          <p:cNvSpPr txBox="1"/>
          <p:nvPr/>
        </p:nvSpPr>
        <p:spPr>
          <a:xfrm>
            <a:off x="6551676" y="2468880"/>
            <a:ext cx="4997196" cy="3703320"/>
          </a:xfrm>
          <a:prstGeom prst="rect">
            <a:avLst/>
          </a:prstGeom>
          <a:noFill/>
        </p:spPr>
        <p:txBody>
          <a:bodyPr wrap="square" lIns="73152" rIns="73152" tIns="36576" bIns="36576" anchor="t"/>
          <a:lstStyle/>
          <a:p>
            <a:pPr algn="l" marL="306324" indent="-260604">
              <a:lnSpc>
                <a:spcPct val="115000"/>
              </a:lnSpc>
              <a:spcAft>
                <a:spcPts val="675"/>
              </a:spcAft>
              <a:buClr>
                <a:srgbClr val="0F6C8C"/>
              </a:buClr>
              <a:buFont typeface="Arial"/>
              <a:buChar char="•"/>
            </a:pPr>
            <a:r>
              <a:rPr sz="1500" b="0">
                <a:solidFill>
                  <a:srgbClr val="1F2D3D"/>
                </a:solidFill>
                <a:latin typeface="Courier New"/>
                <a:ea typeface="맑은 고딕"/>
                <a:cs typeface="Courier New"/>
              </a:rPr>
              <a:t>4Nd²</a:t>
            </a:r>
            <a:r>
              <a:rPr sz="1500" b="0">
                <a:solidFill>
                  <a:srgbClr val="1F2D3D"/>
                </a:solidFill>
                <a:latin typeface="맑은 고딕"/>
                <a:ea typeface="맑은 고딕"/>
                <a:cs typeface="맑은 고딕"/>
              </a:rPr>
              <a:t>: Q/K/V + output 투영 — N×d @ d×d 네 번</a:t>
            </a:r>
          </a:p>
          <a:p>
            <a:pPr algn="l" marL="306324" indent="-260604">
              <a:lnSpc>
                <a:spcPct val="115000"/>
              </a:lnSpc>
              <a:spcAft>
                <a:spcPts val="675"/>
              </a:spcAft>
              <a:buClr>
                <a:srgbClr val="0F6C8C"/>
              </a:buClr>
              <a:buFont typeface="Arial"/>
              <a:buChar char="•"/>
            </a:pPr>
            <a:r>
              <a:rPr sz="1500" b="0">
                <a:solidFill>
                  <a:srgbClr val="1F2D3D"/>
                </a:solidFill>
                <a:latin typeface="Courier New"/>
                <a:ea typeface="맑은 고딕"/>
                <a:cs typeface="Courier New"/>
              </a:rPr>
              <a:t>2N²d</a:t>
            </a:r>
            <a:r>
              <a:rPr sz="1500" b="0">
                <a:solidFill>
                  <a:srgbClr val="1F2D3D"/>
                </a:solidFill>
                <a:latin typeface="맑은 고딕"/>
                <a:ea typeface="맑은 고딕"/>
                <a:cs typeface="맑은 고딕"/>
              </a:rPr>
              <a:t>: QKᵀ와 AV — H·N²·dₕ 곱 두 번</a:t>
            </a:r>
          </a:p>
          <a:p>
            <a:pPr algn="l" marL="306324" indent="-260604">
              <a:lnSpc>
                <a:spcPct val="115000"/>
              </a:lnSpc>
              <a:spcAft>
                <a:spcPts val="675"/>
              </a:spcAft>
              <a:buClr>
                <a:srgbClr val="0F6C8C"/>
              </a:buClr>
              <a:buFont typeface="Arial"/>
              <a:buChar char="•"/>
            </a:pPr>
            <a:r>
              <a:rPr sz="1500" b="0">
                <a:solidFill>
                  <a:srgbClr val="1F2D3D"/>
                </a:solidFill>
                <a:latin typeface="Courier New"/>
                <a:ea typeface="맑은 고딕"/>
                <a:cs typeface="Courier New"/>
              </a:rPr>
              <a:t>2Nd·d_ff</a:t>
            </a:r>
            <a:r>
              <a:rPr sz="1500" b="0">
                <a:solidFill>
                  <a:srgbClr val="1F2D3D"/>
                </a:solidFill>
                <a:latin typeface="맑은 고딕"/>
                <a:ea typeface="맑은 고딕"/>
                <a:cs typeface="맑은 고딕"/>
              </a:rPr>
              <a:t>: FFN 확장·축소</a:t>
            </a:r>
          </a:p>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d 고정, N 2배 → Attention 항 </a:t>
            </a:r>
            <a:r>
              <a:rPr sz="1500" b="1">
                <a:solidFill>
                  <a:srgbClr val="1F2D3D"/>
                </a:solidFill>
                <a:latin typeface="맑은 고딕"/>
                <a:ea typeface="맑은 고딕"/>
                <a:cs typeface="맑은 고딕"/>
              </a:rPr>
              <a:t>×4</a:t>
            </a:r>
            <a:r>
              <a:rPr sz="1500" b="0">
                <a:solidFill>
                  <a:srgbClr val="1F2D3D"/>
                </a:solidFill>
                <a:latin typeface="맑은 고딕"/>
                <a:ea typeface="맑은 고딕"/>
                <a:cs typeface="맑은 고딕"/>
              </a:rPr>
              <a:t>, 투영·FFN 항 </a:t>
            </a:r>
            <a:r>
              <a:rPr sz="1500" b="1">
                <a:solidFill>
                  <a:srgbClr val="1F2D3D"/>
                </a:solidFill>
                <a:latin typeface="맑은 고딕"/>
                <a:ea typeface="맑은 고딕"/>
                <a:cs typeface="맑은 고딕"/>
              </a:rPr>
              <a:t>×2</a:t>
            </a:r>
          </a:p>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d_ff = 4d이면 N = 6d(=3072)에서 Attention 항이 나머지와 같아진다</a:t>
            </a:r>
          </a:p>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Encoder 한 블록 dense forward 식 — backward·optimizer·생성 루프 총비용 아님</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KV Cache의 저장량</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K와 V를 각각 저장하므로 2 — 길이 N과 배치 B에 선형으로 늘어난다</a:t>
            </a:r>
          </a:p>
        </p:txBody>
      </p:sp>
      <p:sp>
        <p:nvSpPr>
          <p:cNvPr id="8" name="Rounded Rectangle 7"/>
          <p:cNvSpPr/>
          <p:nvPr/>
        </p:nvSpPr>
        <p:spPr>
          <a:xfrm>
            <a:off x="457200" y="1645920"/>
            <a:ext cx="11274552" cy="1097280"/>
          </a:xfrm>
          <a:prstGeom prst="roundRect">
            <a:avLst>
              <a:gd name="adj" fmla="val 6666"/>
            </a:avLst>
          </a:prstGeom>
          <a:solidFill>
            <a:srgbClr val="F3F6F8"/>
          </a:solidFill>
          <a:ln w="12700">
            <a:solidFill>
              <a:srgbClr val="B9CB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94360" y="1691640"/>
            <a:ext cx="11000232" cy="1005839"/>
          </a:xfrm>
          <a:prstGeom prst="rect">
            <a:avLst/>
          </a:prstGeom>
          <a:noFill/>
        </p:spPr>
        <p:txBody>
          <a:bodyPr wrap="square" anchor="ctr">
            <a:spAutoFit/>
          </a:bodyPr>
          <a:lstStyle/>
          <a:p>
            <a:pPr algn="ctr" marL="0" indent="0">
              <a:spcAft>
                <a:spcPts val="400"/>
              </a:spcAft>
              <a:buNone/>
            </a:pPr>
            <a:r>
              <a:rPr sz="1900" b="1">
                <a:solidFill>
                  <a:srgbClr val="1F2D3D"/>
                </a:solidFill>
                <a:latin typeface="Courier New"/>
                <a:ea typeface="맑은 고딕"/>
                <a:cs typeface="Courier New"/>
              </a:rPr>
              <a:t>bytes_KV = 2 · B · L · N · H_kv · dₕ · b</a:t>
            </a:r>
          </a:p>
          <a:p>
            <a:pPr algn="ctr" marL="0" indent="0">
              <a:spcAft>
                <a:spcPts val="400"/>
              </a:spcAft>
              <a:buNone/>
            </a:pPr>
            <a:r>
              <a:rPr sz="1900" b="1">
                <a:solidFill>
                  <a:srgbClr val="1F2D3D"/>
                </a:solidFill>
                <a:latin typeface="Courier New"/>
                <a:ea typeface="맑은 고딕"/>
                <a:cs typeface="Courier New"/>
              </a:rPr>
              <a:t>MHA (H_kv·dₕ = d)  →  2 · L · B · N · d · bytes</a:t>
            </a:r>
          </a:p>
        </p:txBody>
      </p:sp>
      <p:pic>
        <p:nvPicPr>
          <p:cNvPr id="10" name="Picture 9" descr="kv_memory.png"/>
          <p:cNvPicPr>
            <a:picLocks noChangeAspect="1"/>
          </p:cNvPicPr>
          <p:nvPr/>
        </p:nvPicPr>
        <p:blipFill>
          <a:blip r:embed="rId3"/>
          <a:stretch>
            <a:fillRect/>
          </a:stretch>
        </p:blipFill>
        <p:spPr>
          <a:xfrm>
            <a:off x="984271" y="2880359"/>
            <a:ext cx="4798016" cy="3474720"/>
          </a:xfrm>
          <a:prstGeom prst="rect">
            <a:avLst/>
          </a:prstGeom>
        </p:spPr>
      </p:pic>
      <p:sp>
        <p:nvSpPr>
          <p:cNvPr id="11" name="Rounded Rectangle 10"/>
          <p:cNvSpPr/>
          <p:nvPr/>
        </p:nvSpPr>
        <p:spPr>
          <a:xfrm>
            <a:off x="6583680" y="2880360"/>
            <a:ext cx="5148072" cy="3474720"/>
          </a:xfrm>
          <a:prstGeom prst="roundRect">
            <a:avLst>
              <a:gd name="adj" fmla="val 2105"/>
            </a:avLst>
          </a:prstGeom>
          <a:solidFill>
            <a:srgbClr val="FD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766560" y="2971800"/>
            <a:ext cx="4782312" cy="457200"/>
          </a:xfrm>
          <a:prstGeom prst="rect">
            <a:avLst/>
          </a:prstGeom>
          <a:noFill/>
        </p:spPr>
        <p:txBody>
          <a:bodyPr wrap="square" lIns="73152" rIns="73152" tIns="36576" bIns="36576" anchor="ctr"/>
          <a:lstStyle/>
          <a:p>
            <a:pPr algn="l" marL="0" indent="0">
              <a:lnSpc>
                <a:spcPct val="115000"/>
              </a:lnSpc>
              <a:spcAft>
                <a:spcPts val="560"/>
              </a:spcAft>
              <a:buNone/>
            </a:pPr>
            <a:r>
              <a:rPr sz="1600" b="1">
                <a:solidFill>
                  <a:srgbClr val="E07A2F"/>
                </a:solidFill>
                <a:latin typeface="맑은 고딕"/>
                <a:ea typeface="맑은 고딕"/>
                <a:cs typeface="맑은 고딕"/>
              </a:rPr>
              <a:t>숫자로 확인 (FP16, b=2)</a:t>
            </a:r>
          </a:p>
        </p:txBody>
      </p:sp>
      <p:sp>
        <p:nvSpPr>
          <p:cNvPr id="13" name="TextBox 12"/>
          <p:cNvSpPr txBox="1"/>
          <p:nvPr/>
        </p:nvSpPr>
        <p:spPr>
          <a:xfrm>
            <a:off x="6766560" y="3474720"/>
            <a:ext cx="4828032" cy="2788920"/>
          </a:xfrm>
          <a:prstGeom prst="rect">
            <a:avLst/>
          </a:prstGeom>
          <a:noFill/>
        </p:spPr>
        <p:txBody>
          <a:bodyPr wrap="square" lIns="73152" rIns="73152" tIns="36576" bIns="36576" anchor="t"/>
          <a:lstStyle/>
          <a:p>
            <a:pPr algn="l" marL="301752" indent="-256032">
              <a:lnSpc>
                <a:spcPct val="115000"/>
              </a:lnSpc>
              <a:spcAft>
                <a:spcPts val="489"/>
              </a:spcAft>
              <a:buClr>
                <a:srgbClr val="0F6C8C"/>
              </a:buClr>
              <a:buFont typeface="Arial"/>
              <a:buChar char="•"/>
            </a:pPr>
            <a:r>
              <a:rPr sz="1400" b="0">
                <a:solidFill>
                  <a:srgbClr val="1F2D3D"/>
                </a:solidFill>
                <a:latin typeface="맑은 고딕"/>
                <a:ea typeface="맑은 고딕"/>
                <a:cs typeface="맑은 고딕"/>
              </a:rPr>
              <a:t>원형 Base 디코더: L=6, d=512, N=1024 → </a:t>
            </a:r>
            <a:r>
              <a:rPr sz="1400" b="1">
                <a:solidFill>
                  <a:srgbClr val="1F2D3D"/>
                </a:solidFill>
                <a:latin typeface="맑은 고딕"/>
                <a:ea typeface="맑은 고딕"/>
                <a:cs typeface="맑은 고딕"/>
              </a:rPr>
              <a:t>12 MiB</a:t>
            </a:r>
          </a:p>
          <a:p>
            <a:pPr algn="l" marL="301752" indent="-256032">
              <a:lnSpc>
                <a:spcPct val="115000"/>
              </a:lnSpc>
              <a:spcAft>
                <a:spcPts val="489"/>
              </a:spcAft>
              <a:buClr>
                <a:srgbClr val="0F6C8C"/>
              </a:buClr>
              <a:buFont typeface="Arial"/>
              <a:buChar char="•"/>
            </a:pPr>
            <a:r>
              <a:rPr sz="1400" b="0">
                <a:solidFill>
                  <a:srgbClr val="1F2D3D"/>
                </a:solidFill>
                <a:latin typeface="맑은 고딕"/>
                <a:ea typeface="맑은 고딕"/>
                <a:cs typeface="맑은 고딕"/>
              </a:rPr>
              <a:t>L=32, d=4096, N=4096, B=1 → </a:t>
            </a:r>
            <a:r>
              <a:rPr sz="1400" b="1">
                <a:solidFill>
                  <a:srgbClr val="1F2D3D"/>
                </a:solidFill>
                <a:latin typeface="맑은 고딕"/>
                <a:ea typeface="맑은 고딕"/>
                <a:cs typeface="맑은 고딕"/>
              </a:rPr>
              <a:t>2 GiB</a:t>
            </a:r>
            <a:r>
              <a:rPr sz="1400" b="0">
                <a:solidFill>
                  <a:srgbClr val="1F2D3D"/>
                </a:solidFill>
                <a:latin typeface="맑은 고딕"/>
                <a:ea typeface="맑은 고딕"/>
                <a:cs typeface="맑은 고딕"/>
              </a:rPr>
              <a:t>, B=8 → </a:t>
            </a:r>
            <a:r>
              <a:rPr sz="1400" b="1">
                <a:solidFill>
                  <a:srgbClr val="E07A2F"/>
                </a:solidFill>
                <a:latin typeface="맑은 고딕"/>
                <a:ea typeface="맑은 고딕"/>
                <a:cs typeface="맑은 고딕"/>
              </a:rPr>
              <a:t>16 GiB</a:t>
            </a:r>
          </a:p>
          <a:p>
            <a:pPr algn="l" marL="301752" indent="-256032">
              <a:lnSpc>
                <a:spcPct val="115000"/>
              </a:lnSpc>
              <a:spcAft>
                <a:spcPts val="489"/>
              </a:spcAft>
              <a:buClr>
                <a:srgbClr val="0F6C8C"/>
              </a:buClr>
              <a:buFont typeface="Arial"/>
              <a:buChar char="•"/>
            </a:pPr>
            <a:r>
              <a:rPr sz="1400" b="0">
                <a:solidFill>
                  <a:srgbClr val="1F2D3D"/>
                </a:solidFill>
                <a:latin typeface="맑은 고딕"/>
                <a:ea typeface="맑은 고딕"/>
                <a:cs typeface="맑은 고딕"/>
              </a:rPr>
              <a:t>GQA H_kv=8 (H=32) → 0.5 GiB</a:t>
            </a:r>
          </a:p>
          <a:p>
            <a:pPr algn="l" marL="301752" indent="-256032">
              <a:lnSpc>
                <a:spcPct val="115000"/>
              </a:lnSpc>
              <a:spcAft>
                <a:spcPts val="489"/>
              </a:spcAft>
              <a:buClr>
                <a:srgbClr val="0F6C8C"/>
              </a:buClr>
              <a:buFont typeface="Arial"/>
              <a:buChar char="•"/>
            </a:pPr>
            <a:r>
              <a:rPr sz="1400" b="0">
                <a:solidFill>
                  <a:srgbClr val="1F2D3D"/>
                </a:solidFill>
                <a:latin typeface="맑은 고딕"/>
                <a:ea typeface="맑은 고딕"/>
                <a:cs typeface="맑은 고딕"/>
              </a:rPr>
              <a:t>비교: score 표 1개 B·H·N² = 1 GiB / 층 (N=4096, H=32)</a:t>
            </a:r>
          </a:p>
          <a:p>
            <a:pPr algn="l" marL="301752" indent="-256032">
              <a:lnSpc>
                <a:spcPct val="115000"/>
              </a:lnSpc>
              <a:spcAft>
                <a:spcPts val="489"/>
              </a:spcAft>
              <a:buClr>
                <a:srgbClr val="0F6C8C"/>
              </a:buClr>
              <a:buFont typeface="Arial"/>
              <a:buChar char="•"/>
            </a:pPr>
            <a:r>
              <a:rPr sz="1400" b="0">
                <a:solidFill>
                  <a:srgbClr val="1F2D3D"/>
                </a:solidFill>
                <a:latin typeface="맑은 고딕"/>
                <a:ea typeface="맑은 고딕"/>
                <a:cs typeface="맑은 고딕"/>
              </a:rPr>
              <a:t>순수 K/V만 — allocator·padding·metadata 제외</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측정할 때 구분할 것</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Big-O, 저장량, 병렬성, 지연 시간은 서로 다른 질문이다</a:t>
            </a:r>
          </a:p>
        </p:txBody>
      </p:sp>
      <p:sp>
        <p:nvSpPr>
          <p:cNvPr id="8" name="Rounded Rectangle 7"/>
          <p:cNvSpPr/>
          <p:nvPr/>
        </p:nvSpPr>
        <p:spPr>
          <a:xfrm>
            <a:off x="457200" y="1691640"/>
            <a:ext cx="5500116" cy="2194560"/>
          </a:xfrm>
          <a:prstGeom prst="roundRect">
            <a:avLst>
              <a:gd name="adj" fmla="val 3333"/>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40080" y="1828800"/>
            <a:ext cx="5180075" cy="566928"/>
          </a:xfrm>
          <a:prstGeom prst="rect">
            <a:avLst/>
          </a:prstGeom>
          <a:noFill/>
        </p:spPr>
        <p:txBody>
          <a:bodyPr wrap="square" lIns="73152" rIns="73152" tIns="36576" bIns="36576" anchor="ctr"/>
          <a:lstStyle/>
          <a:p>
            <a:pPr algn="l" marL="0" indent="0">
              <a:lnSpc>
                <a:spcPct val="115000"/>
              </a:lnSpc>
              <a:spcAft>
                <a:spcPts val="665"/>
              </a:spcAft>
              <a:buNone/>
            </a:pPr>
            <a:r>
              <a:rPr sz="1900" b="1">
                <a:solidFill>
                  <a:srgbClr val="0F6C8C"/>
                </a:solidFill>
                <a:latin typeface="맑은 고딕"/>
                <a:ea typeface="맑은 고딕"/>
                <a:cs typeface="맑은 고딕"/>
              </a:rPr>
              <a:t>Explicit 표 ≠ 실제 메모리</a:t>
            </a:r>
          </a:p>
        </p:txBody>
      </p:sp>
      <p:sp>
        <p:nvSpPr>
          <p:cNvPr id="10" name="TextBox 9"/>
          <p:cNvSpPr txBox="1"/>
          <p:nvPr/>
        </p:nvSpPr>
        <p:spPr>
          <a:xfrm>
            <a:off x="640080" y="2468880"/>
            <a:ext cx="5180076" cy="1307591"/>
          </a:xfrm>
          <a:prstGeom prst="rect">
            <a:avLst/>
          </a:prstGeom>
          <a:noFill/>
        </p:spPr>
        <p:txBody>
          <a:bodyPr wrap="square" lIns="73152" rIns="73152" tIns="36576" bIns="36576" anchor="t"/>
          <a:lstStyle/>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score 표 = B·H·N² 원소 ≠ peak memory</a:t>
            </a:r>
          </a:p>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activation·gradient·optimizer state 추가</a:t>
            </a:r>
          </a:p>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FlashAttention: 표를 HBM에 두지 않고 </a:t>
            </a:r>
            <a:r>
              <a:rPr sz="1500" b="1">
                <a:solidFill>
                  <a:srgbClr val="1F2D3D"/>
                </a:solidFill>
                <a:latin typeface="맑은 고딕"/>
                <a:ea typeface="맑은 고딕"/>
                <a:cs typeface="맑은 고딕"/>
              </a:rPr>
              <a:t>같은</a:t>
            </a:r>
            <a:r>
              <a:rPr sz="1500" b="0">
                <a:solidFill>
                  <a:srgbClr val="1F2D3D"/>
                </a:solidFill>
                <a:latin typeface="맑은 고딕"/>
                <a:ea typeface="맑은 고딕"/>
                <a:cs typeface="맑은 고딕"/>
              </a:rPr>
              <a:t> 계산 — 산술량은 그대로 [38]</a:t>
            </a:r>
          </a:p>
        </p:txBody>
      </p:sp>
      <p:sp>
        <p:nvSpPr>
          <p:cNvPr id="11" name="Rounded Rectangle 10"/>
          <p:cNvSpPr/>
          <p:nvPr/>
        </p:nvSpPr>
        <p:spPr>
          <a:xfrm>
            <a:off x="6231636" y="1691640"/>
            <a:ext cx="5500116" cy="2194560"/>
          </a:xfrm>
          <a:prstGeom prst="roundRect">
            <a:avLst>
              <a:gd name="adj" fmla="val 3333"/>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14516" y="1828800"/>
            <a:ext cx="5180075" cy="566928"/>
          </a:xfrm>
          <a:prstGeom prst="rect">
            <a:avLst/>
          </a:prstGeom>
          <a:noFill/>
        </p:spPr>
        <p:txBody>
          <a:bodyPr wrap="square" lIns="73152" rIns="73152" tIns="36576" bIns="36576" anchor="ctr"/>
          <a:lstStyle/>
          <a:p>
            <a:pPr algn="l" marL="0" indent="0">
              <a:lnSpc>
                <a:spcPct val="115000"/>
              </a:lnSpc>
              <a:spcAft>
                <a:spcPts val="665"/>
              </a:spcAft>
              <a:buNone/>
            </a:pPr>
            <a:r>
              <a:rPr sz="1900" b="1">
                <a:solidFill>
                  <a:srgbClr val="0F6C8C"/>
                </a:solidFill>
                <a:latin typeface="맑은 고딕"/>
                <a:ea typeface="맑은 고딕"/>
                <a:cs typeface="맑은 고딕"/>
              </a:rPr>
              <a:t>경로 길이 ≠ 학습 보장</a:t>
            </a:r>
          </a:p>
        </p:txBody>
      </p:sp>
      <p:sp>
        <p:nvSpPr>
          <p:cNvPr id="13" name="TextBox 12"/>
          <p:cNvSpPr txBox="1"/>
          <p:nvPr/>
        </p:nvSpPr>
        <p:spPr>
          <a:xfrm>
            <a:off x="6414516" y="2468880"/>
            <a:ext cx="5180076" cy="1307591"/>
          </a:xfrm>
          <a:prstGeom prst="rect">
            <a:avLst/>
          </a:prstGeom>
          <a:noFill/>
        </p:spPr>
        <p:txBody>
          <a:bodyPr wrap="square" lIns="73152" rIns="73152" tIns="36576" bIns="36576" anchor="t"/>
          <a:lstStyle/>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RNN: 먼 위치 사이 여러 time step</a:t>
            </a:r>
          </a:p>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Self-attention: 한 층에서 직접 연결</a:t>
            </a:r>
          </a:p>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짧은 경로 ≠ 원하는 관계 학습 보장 [22 §4]</a:t>
            </a:r>
          </a:p>
        </p:txBody>
      </p:sp>
      <p:sp>
        <p:nvSpPr>
          <p:cNvPr id="14" name="Rounded Rectangle 13"/>
          <p:cNvSpPr/>
          <p:nvPr/>
        </p:nvSpPr>
        <p:spPr>
          <a:xfrm>
            <a:off x="457200" y="4160520"/>
            <a:ext cx="5500116" cy="2194560"/>
          </a:xfrm>
          <a:prstGeom prst="roundRect">
            <a:avLst>
              <a:gd name="adj" fmla="val 3333"/>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4297680"/>
            <a:ext cx="5180075" cy="566928"/>
          </a:xfrm>
          <a:prstGeom prst="rect">
            <a:avLst/>
          </a:prstGeom>
          <a:noFill/>
        </p:spPr>
        <p:txBody>
          <a:bodyPr wrap="square" lIns="73152" rIns="73152" tIns="36576" bIns="36576" anchor="ctr"/>
          <a:lstStyle/>
          <a:p>
            <a:pPr algn="l" marL="0" indent="0">
              <a:lnSpc>
                <a:spcPct val="115000"/>
              </a:lnSpc>
              <a:spcAft>
                <a:spcPts val="665"/>
              </a:spcAft>
              <a:buNone/>
            </a:pPr>
            <a:r>
              <a:rPr sz="1900" b="1">
                <a:solidFill>
                  <a:srgbClr val="0F6C8C"/>
                </a:solidFill>
                <a:latin typeface="맑은 고딕"/>
                <a:ea typeface="맑은 고딕"/>
                <a:cs typeface="맑은 고딕"/>
              </a:rPr>
              <a:t>측정 통제</a:t>
            </a:r>
          </a:p>
        </p:txBody>
      </p:sp>
      <p:sp>
        <p:nvSpPr>
          <p:cNvPr id="16" name="TextBox 15"/>
          <p:cNvSpPr txBox="1"/>
          <p:nvPr/>
        </p:nvSpPr>
        <p:spPr>
          <a:xfrm>
            <a:off x="640080" y="4937760"/>
            <a:ext cx="5180076" cy="1307591"/>
          </a:xfrm>
          <a:prstGeom prst="rect">
            <a:avLst/>
          </a:prstGeom>
          <a:noFill/>
        </p:spPr>
        <p:txBody>
          <a:bodyPr wrap="square" lIns="73152" rIns="73152" tIns="36576" bIns="36576" anchor="t"/>
          <a:lstStyle/>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batch·dtype·길이·device·kernel·warm-up 기록</a:t>
            </a:r>
          </a:p>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GPU timing은 동기화 후 측정</a:t>
            </a:r>
          </a:p>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'이론 MACs'와 '실측 latency' 구분</a:t>
            </a:r>
          </a:p>
        </p:txBody>
      </p:sp>
      <p:sp>
        <p:nvSpPr>
          <p:cNvPr id="17" name="Rounded Rectangle 16"/>
          <p:cNvSpPr/>
          <p:nvPr/>
        </p:nvSpPr>
        <p:spPr>
          <a:xfrm>
            <a:off x="6231636" y="4160520"/>
            <a:ext cx="5500116" cy="2194560"/>
          </a:xfrm>
          <a:prstGeom prst="roundRect">
            <a:avLst>
              <a:gd name="adj" fmla="val 3333"/>
            </a:avLst>
          </a:prstGeom>
          <a:solidFill>
            <a:srgbClr val="FD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4516" y="4297680"/>
            <a:ext cx="5180075" cy="566928"/>
          </a:xfrm>
          <a:prstGeom prst="rect">
            <a:avLst/>
          </a:prstGeom>
          <a:noFill/>
        </p:spPr>
        <p:txBody>
          <a:bodyPr wrap="square" lIns="73152" rIns="73152" tIns="36576" bIns="36576" anchor="ctr"/>
          <a:lstStyle/>
          <a:p>
            <a:pPr algn="l" marL="0" indent="0">
              <a:lnSpc>
                <a:spcPct val="115000"/>
              </a:lnSpc>
              <a:spcAft>
                <a:spcPts val="665"/>
              </a:spcAft>
              <a:buNone/>
            </a:pPr>
            <a:r>
              <a:rPr sz="1900" b="1">
                <a:solidFill>
                  <a:srgbClr val="E07A2F"/>
                </a:solidFill>
                <a:latin typeface="맑은 고딕"/>
                <a:ea typeface="맑은 고딕"/>
                <a:cs typeface="맑은 고딕"/>
              </a:rPr>
              <a:t>Research lens</a:t>
            </a:r>
          </a:p>
        </p:txBody>
      </p:sp>
      <p:sp>
        <p:nvSpPr>
          <p:cNvPr id="19" name="TextBox 18"/>
          <p:cNvSpPr txBox="1"/>
          <p:nvPr/>
        </p:nvSpPr>
        <p:spPr>
          <a:xfrm>
            <a:off x="6414516" y="4937760"/>
            <a:ext cx="5180076" cy="1307591"/>
          </a:xfrm>
          <a:prstGeom prst="rect">
            <a:avLst/>
          </a:prstGeom>
          <a:noFill/>
        </p:spPr>
        <p:txBody>
          <a:bodyPr wrap="square" lIns="73152" rIns="73152" tIns="36576" bIns="36576" anchor="t"/>
          <a:lstStyle/>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토큰 절반 → Attention 항 ≈ 1/4, 나머지 ≈ 1/2</a:t>
            </a:r>
          </a:p>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overhead·kernel·데이터 이동 → 지연은 덜 준다</a:t>
            </a:r>
          </a:p>
          <a:p>
            <a:pPr algn="l" marL="306324" indent="-260604">
              <a:lnSpc>
                <a:spcPct val="115000"/>
              </a:lnSpc>
              <a:spcAft>
                <a:spcPts val="600"/>
              </a:spcAft>
              <a:buClr>
                <a:srgbClr val="0F6C8C"/>
              </a:buClr>
              <a:buFont typeface="Arial"/>
              <a:buChar char="•"/>
            </a:pPr>
            <a:r>
              <a:rPr sz="1500" b="0">
                <a:solidFill>
                  <a:srgbClr val="1F2D3D"/>
                </a:solidFill>
                <a:latin typeface="맑은 고딕"/>
                <a:ea typeface="맑은 고딕"/>
                <a:cs typeface="맑은 고딕"/>
              </a:rPr>
              <a:t>파라미터↓ ≠ FLOPs↓ ≠ latency↓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Week 6 · Part 04</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Rounded Rectangle 6"/>
          <p:cNvSpPr/>
          <p:nvPr/>
        </p:nvSpPr>
        <p:spPr>
          <a:xfrm>
            <a:off x="822960" y="1828800"/>
            <a:ext cx="10515600" cy="3017520"/>
          </a:xfrm>
          <a:prstGeom prst="roundRect">
            <a:avLst>
              <a:gd name="adj" fmla="val 2424"/>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188720" y="2057400"/>
            <a:ext cx="2194560" cy="2560320"/>
          </a:xfrm>
          <a:prstGeom prst="rect">
            <a:avLst/>
          </a:prstGeom>
          <a:noFill/>
        </p:spPr>
        <p:txBody>
          <a:bodyPr wrap="square" lIns="73152" rIns="73152" tIns="36576" bIns="36576" anchor="ctr"/>
          <a:lstStyle/>
          <a:p>
            <a:pPr algn="l" marL="0" indent="0">
              <a:lnSpc>
                <a:spcPct val="115000"/>
              </a:lnSpc>
              <a:spcAft>
                <a:spcPts val="2800"/>
              </a:spcAft>
              <a:buNone/>
            </a:pPr>
            <a:r>
              <a:rPr sz="8000" b="1">
                <a:solidFill>
                  <a:srgbClr val="0F6C8C"/>
                </a:solidFill>
                <a:latin typeface="맑은 고딕"/>
                <a:ea typeface="맑은 고딕"/>
                <a:cs typeface="맑은 고딕"/>
              </a:rPr>
              <a:t>04</a:t>
            </a:r>
          </a:p>
        </p:txBody>
      </p:sp>
      <p:sp>
        <p:nvSpPr>
          <p:cNvPr id="9" name="TextBox 8"/>
          <p:cNvSpPr txBox="1"/>
          <p:nvPr/>
        </p:nvSpPr>
        <p:spPr>
          <a:xfrm>
            <a:off x="3474720" y="2148840"/>
            <a:ext cx="7589520" cy="1280160"/>
          </a:xfrm>
          <a:prstGeom prst="rect">
            <a:avLst/>
          </a:prstGeom>
          <a:noFill/>
        </p:spPr>
        <p:txBody>
          <a:bodyPr wrap="square" lIns="73152" rIns="73152" tIns="36576" bIns="36576" anchor="b"/>
          <a:lstStyle/>
          <a:p>
            <a:pPr algn="l" marL="0" indent="0">
              <a:lnSpc>
                <a:spcPct val="115000"/>
              </a:lnSpc>
              <a:spcAft>
                <a:spcPts val="1189"/>
              </a:spcAft>
              <a:buNone/>
            </a:pPr>
            <a:r>
              <a:rPr sz="3400" b="1">
                <a:solidFill>
                  <a:srgbClr val="1F2D3D"/>
                </a:solidFill>
                <a:latin typeface="맑은 고딕"/>
                <a:ea typeface="맑은 고딕"/>
                <a:cs typeface="맑은 고딕"/>
              </a:rPr>
              <a:t>작은 Transformer 실습과 실험 설계</a:t>
            </a:r>
          </a:p>
        </p:txBody>
      </p:sp>
      <p:sp>
        <p:nvSpPr>
          <p:cNvPr id="10" name="TextBox 9"/>
          <p:cNvSpPr txBox="1"/>
          <p:nvPr/>
        </p:nvSpPr>
        <p:spPr>
          <a:xfrm>
            <a:off x="3474720" y="3520440"/>
            <a:ext cx="7589520" cy="1097280"/>
          </a:xfrm>
          <a:prstGeom prst="rect">
            <a:avLst/>
          </a:prstGeom>
          <a:noFill/>
        </p:spPr>
        <p:txBody>
          <a:bodyPr wrap="square" lIns="73152" rIns="73152" tIns="36576" bIns="36576" anchor="t"/>
          <a:lstStyle/>
          <a:p>
            <a:pPr algn="l" marL="0" indent="0">
              <a:lnSpc>
                <a:spcPct val="115000"/>
              </a:lnSpc>
              <a:spcAft>
                <a:spcPts val="630"/>
              </a:spcAft>
              <a:buNone/>
            </a:pPr>
            <a:r>
              <a:rPr sz="1800" b="0">
                <a:solidFill>
                  <a:srgbClr val="5B6770"/>
                </a:solidFill>
                <a:latin typeface="맑은 고딕"/>
                <a:ea typeface="맑은 고딕"/>
                <a:cs typeface="맑은 고딕"/>
              </a:rPr>
              <a:t>외부 데이터 없이 수열을 뒤집으며 Attention부터 생성까지 확인하고, 질문을 통제된 비교로 바꾼다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작은 Transformer 실행</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[3,7,5] → [5,7,3,EOS] 뒤집기 · d=64, H=4, 각 2층, Post-LN · 원논문 재현이 아닌 교육용 · KV Cache 없음</a:t>
            </a:r>
          </a:p>
        </p:txBody>
      </p:sp>
      <p:sp>
        <p:nvSpPr>
          <p:cNvPr id="8" name="Rounded Rectangle 7"/>
          <p:cNvSpPr/>
          <p:nvPr/>
        </p:nvSpPr>
        <p:spPr>
          <a:xfrm>
            <a:off x="457200" y="1645920"/>
            <a:ext cx="6583680" cy="2331720"/>
          </a:xfrm>
          <a:prstGeom prst="roundRect">
            <a:avLst>
              <a:gd name="adj" fmla="val 1960"/>
            </a:avLst>
          </a:prstGeom>
          <a:solidFill>
            <a:srgbClr val="F3F6F8"/>
          </a:solidFill>
          <a:ln w="12700">
            <a:solidFill>
              <a:srgbClr val="B9CB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94360" y="1737360"/>
            <a:ext cx="6309360" cy="2194560"/>
          </a:xfrm>
          <a:prstGeom prst="rect">
            <a:avLst/>
          </a:prstGeom>
          <a:noFill/>
        </p:spPr>
        <p:txBody>
          <a:bodyPr wrap="none">
            <a:spAutoFit/>
          </a:bodyPr>
          <a:lstStyle/>
          <a:p>
            <a:pPr marL="0" indent="0">
              <a:buNone/>
            </a:pPr>
            <a:r>
              <a:rPr sz="1500">
                <a:solidFill>
                  <a:srgbClr val="5E8C6A"/>
                </a:solidFill>
                <a:latin typeface="Courier New"/>
                <a:ea typeface="맑은 고딕"/>
                <a:cs typeface="Courier New"/>
              </a:rPr>
              <a:t># 1. 모듈 단위 검사 — 학습 없이 구조 검증</a:t>
            </a:r>
          </a:p>
          <a:p>
            <a:pPr marL="0" indent="0">
              <a:buNone/>
            </a:pPr>
            <a:r>
              <a:rPr sz="1500">
                <a:solidFill>
                  <a:srgbClr val="1F2D3D"/>
                </a:solidFill>
                <a:latin typeface="Courier New"/>
                <a:ea typeface="맑은 고딕"/>
                <a:cs typeface="Courier New"/>
              </a:rPr>
              <a:t>python transformer_lab.py --mode check</a:t>
            </a:r>
          </a:p>
          <a:p>
            <a:pPr marL="0" indent="0">
              <a:buNone/>
            </a:pPr>
            <a:r>
              <a:rPr sz="1500">
                <a:solidFill>
                  <a:srgbClr val="5E8C6A"/>
                </a:solidFill>
                <a:latin typeface="Courier New"/>
                <a:ea typeface="맑은 고딕"/>
                <a:cs typeface="Courier New"/>
              </a:rPr>
              <a:t># 2. CPU에서 작은 모델 학습</a:t>
            </a:r>
          </a:p>
          <a:p>
            <a:pPr marL="0" indent="0">
              <a:buNone/>
            </a:pPr>
            <a:r>
              <a:rPr sz="1500">
                <a:solidFill>
                  <a:srgbClr val="1F2D3D"/>
                </a:solidFill>
                <a:latin typeface="Courier New"/>
                <a:ea typeface="맑은 고딕"/>
                <a:cs typeface="Courier New"/>
              </a:rPr>
              <a:t>python transformer_lab.py --mode train \</a:t>
            </a:r>
          </a:p>
          <a:p>
            <a:pPr marL="0" indent="0">
              <a:buNone/>
            </a:pPr>
            <a:r>
              <a:rPr sz="1500">
                <a:solidFill>
                  <a:srgbClr val="1F2D3D"/>
                </a:solidFill>
                <a:latin typeface="Courier New"/>
                <a:ea typeface="맑은 고딕"/>
                <a:cs typeface="Courier New"/>
              </a:rPr>
              <a:t>    --steps 400 --device cpu</a:t>
            </a:r>
          </a:p>
          <a:p>
            <a:pPr marL="0" indent="0">
              <a:buNone/>
            </a:pPr>
            <a:r>
              <a:rPr sz="1500">
                <a:solidFill>
                  <a:srgbClr val="5E8C6A"/>
                </a:solidFill>
                <a:latin typeface="Courier New"/>
                <a:ea typeface="맑은 고딕"/>
                <a:cs typeface="Courier New"/>
              </a:rPr>
              <a:t># 3. CUDA가 있으면: --device auto --seed 7</a:t>
            </a:r>
          </a:p>
        </p:txBody>
      </p:sp>
      <p:sp>
        <p:nvSpPr>
          <p:cNvPr id="10" name="Rounded Rectangle 9"/>
          <p:cNvSpPr/>
          <p:nvPr/>
        </p:nvSpPr>
        <p:spPr>
          <a:xfrm>
            <a:off x="457200" y="4114800"/>
            <a:ext cx="6583680" cy="2240280"/>
          </a:xfrm>
          <a:prstGeom prst="roundRect">
            <a:avLst>
              <a:gd name="adj" fmla="val 3265"/>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0080" y="4206240"/>
            <a:ext cx="6217920" cy="457200"/>
          </a:xfrm>
          <a:prstGeom prst="rect">
            <a:avLst/>
          </a:prstGeom>
          <a:noFill/>
        </p:spPr>
        <p:txBody>
          <a:bodyPr wrap="square" lIns="73152" rIns="73152" tIns="36576" bIns="36576" anchor="ctr"/>
          <a:lstStyle/>
          <a:p>
            <a:pPr algn="l" marL="0" indent="0">
              <a:lnSpc>
                <a:spcPct val="115000"/>
              </a:lnSpc>
              <a:spcAft>
                <a:spcPts val="560"/>
              </a:spcAft>
              <a:buNone/>
            </a:pPr>
            <a:r>
              <a:rPr sz="1600" b="1">
                <a:solidFill>
                  <a:srgbClr val="0F6C8C"/>
                </a:solidFill>
                <a:latin typeface="맑은 고딕"/>
                <a:ea typeface="맑은 고딕"/>
                <a:cs typeface="맑은 고딕"/>
              </a:rPr>
              <a:t>코드를 읽는 순서</a:t>
            </a:r>
          </a:p>
        </p:txBody>
      </p:sp>
      <p:sp>
        <p:nvSpPr>
          <p:cNvPr id="12" name="TextBox 11"/>
          <p:cNvSpPr txBox="1"/>
          <p:nvPr/>
        </p:nvSpPr>
        <p:spPr>
          <a:xfrm>
            <a:off x="640080" y="4709160"/>
            <a:ext cx="6263640" cy="1554480"/>
          </a:xfrm>
          <a:prstGeom prst="rect">
            <a:avLst/>
          </a:prstGeom>
          <a:noFill/>
        </p:spPr>
        <p:txBody>
          <a:bodyPr wrap="square" lIns="73152" rIns="73152" tIns="36576" bIns="36576" anchor="t"/>
          <a:lstStyle/>
          <a:p>
            <a:pPr algn="l" marL="306324" indent="-260604">
              <a:lnSpc>
                <a:spcPct val="115000"/>
              </a:lnSpc>
              <a:spcAft>
                <a:spcPts val="525"/>
              </a:spcAft>
              <a:buClr>
                <a:srgbClr val="0F6C8C"/>
              </a:buClr>
              <a:buFont typeface="Arial"/>
              <a:buChar char="•"/>
            </a:pPr>
            <a:r>
              <a:rPr sz="1500" b="0">
                <a:solidFill>
                  <a:srgbClr val="1F2D3D"/>
                </a:solidFill>
                <a:latin typeface="맑은 고딕"/>
                <a:ea typeface="맑은 고딕"/>
                <a:cs typeface="맑은 고딕"/>
              </a:rPr>
              <a:t>① </a:t>
            </a:r>
            <a:r>
              <a:rPr sz="1500" b="0">
                <a:solidFill>
                  <a:srgbClr val="1F2D3D"/>
                </a:solidFill>
                <a:latin typeface="Courier New"/>
                <a:ea typeface="맑은 고딕"/>
                <a:cs typeface="Courier New"/>
              </a:rPr>
              <a:t>attention()</a:t>
            </a:r>
            <a:r>
              <a:rPr sz="1500" b="0">
                <a:solidFill>
                  <a:srgbClr val="1F2D3D"/>
                </a:solidFill>
                <a:latin typeface="맑은 고딕"/>
                <a:ea typeface="맑은 고딕"/>
                <a:cs typeface="맑은 고딕"/>
              </a:rPr>
              <a:t>: (B,H,T,S) 점수 행렬이 만들어지는 곳</a:t>
            </a:r>
          </a:p>
          <a:p>
            <a:pPr algn="l" marL="306324" indent="-260604">
              <a:lnSpc>
                <a:spcPct val="115000"/>
              </a:lnSpc>
              <a:spcAft>
                <a:spcPts val="525"/>
              </a:spcAft>
              <a:buClr>
                <a:srgbClr val="0F6C8C"/>
              </a:buClr>
              <a:buFont typeface="Arial"/>
              <a:buChar char="•"/>
            </a:pPr>
            <a:r>
              <a:rPr sz="1500" b="0">
                <a:solidFill>
                  <a:srgbClr val="1F2D3D"/>
                </a:solidFill>
                <a:latin typeface="맑은 고딕"/>
                <a:ea typeface="맑은 고딕"/>
                <a:cs typeface="맑은 고딕"/>
              </a:rPr>
              <a:t>② </a:t>
            </a:r>
            <a:r>
              <a:rPr sz="1500" b="0">
                <a:solidFill>
                  <a:srgbClr val="1F2D3D"/>
                </a:solidFill>
                <a:latin typeface="Courier New"/>
                <a:ea typeface="맑은 고딕"/>
                <a:cs typeface="Courier New"/>
              </a:rPr>
              <a:t>MultiHead.split()</a:t>
            </a:r>
            <a:r>
              <a:rPr sz="1500" b="0">
                <a:solidFill>
                  <a:srgbClr val="1F2D3D"/>
                </a:solidFill>
                <a:latin typeface="맑은 고딕"/>
                <a:ea typeface="맑은 고딕"/>
                <a:cs typeface="맑은 고딕"/>
              </a:rPr>
              <a:t>: reshape + transpose</a:t>
            </a:r>
          </a:p>
          <a:p>
            <a:pPr algn="l" marL="306324" indent="-260604">
              <a:lnSpc>
                <a:spcPct val="115000"/>
              </a:lnSpc>
              <a:spcAft>
                <a:spcPts val="525"/>
              </a:spcAft>
              <a:buClr>
                <a:srgbClr val="0F6C8C"/>
              </a:buClr>
              <a:buFont typeface="Arial"/>
              <a:buChar char="•"/>
            </a:pPr>
            <a:r>
              <a:rPr sz="1500" b="0">
                <a:solidFill>
                  <a:srgbClr val="1F2D3D"/>
                </a:solidFill>
                <a:latin typeface="맑은 고딕"/>
                <a:ea typeface="맑은 고딕"/>
                <a:cs typeface="맑은 고딕"/>
              </a:rPr>
              <a:t>③ </a:t>
            </a:r>
            <a:r>
              <a:rPr sz="1500" b="0">
                <a:solidFill>
                  <a:srgbClr val="1F2D3D"/>
                </a:solidFill>
                <a:latin typeface="Courier New"/>
                <a:ea typeface="맑은 고딕"/>
                <a:cs typeface="Courier New"/>
              </a:rPr>
              <a:t>EncoderBlock</a:t>
            </a:r>
            <a:r>
              <a:rPr sz="1500" b="0">
                <a:solidFill>
                  <a:srgbClr val="1F2D3D"/>
                </a:solidFill>
                <a:latin typeface="맑은 고딕"/>
                <a:ea typeface="맑은 고딕"/>
                <a:cs typeface="맑은 고딕"/>
              </a:rPr>
              <a:t> / </a:t>
            </a:r>
            <a:r>
              <a:rPr sz="1500" b="0">
                <a:solidFill>
                  <a:srgbClr val="1F2D3D"/>
                </a:solidFill>
                <a:latin typeface="Courier New"/>
                <a:ea typeface="맑은 고딕"/>
                <a:cs typeface="Courier New"/>
              </a:rPr>
              <a:t>DecoderBlock</a:t>
            </a:r>
            <a:r>
              <a:rPr sz="1500" b="0">
                <a:solidFill>
                  <a:srgbClr val="1F2D3D"/>
                </a:solidFill>
                <a:latin typeface="맑은 고딕"/>
                <a:ea typeface="맑은 고딕"/>
                <a:cs typeface="맑은 고딕"/>
              </a:rPr>
              <a:t>: residual과 Norm 위치</a:t>
            </a:r>
          </a:p>
          <a:p>
            <a:pPr algn="l" marL="306324" indent="-260604">
              <a:lnSpc>
                <a:spcPct val="115000"/>
              </a:lnSpc>
              <a:spcAft>
                <a:spcPts val="525"/>
              </a:spcAft>
              <a:buClr>
                <a:srgbClr val="0F6C8C"/>
              </a:buClr>
              <a:buFont typeface="Arial"/>
              <a:buChar char="•"/>
            </a:pPr>
            <a:r>
              <a:rPr sz="1500" b="0">
                <a:solidFill>
                  <a:srgbClr val="1F2D3D"/>
                </a:solidFill>
                <a:latin typeface="맑은 고딕"/>
                <a:ea typeface="맑은 고딕"/>
                <a:cs typeface="맑은 고딕"/>
              </a:rPr>
              <a:t>④ </a:t>
            </a:r>
            <a:r>
              <a:rPr sz="1500" b="0">
                <a:solidFill>
                  <a:srgbClr val="1F2D3D"/>
                </a:solidFill>
                <a:latin typeface="Courier New"/>
                <a:ea typeface="맑은 고딕"/>
                <a:cs typeface="Courier New"/>
              </a:rPr>
              <a:t>make_batch()</a:t>
            </a:r>
            <a:r>
              <a:rPr sz="1500" b="0">
                <a:solidFill>
                  <a:srgbClr val="1F2D3D"/>
                </a:solidFill>
                <a:latin typeface="맑은 고딕"/>
                <a:ea typeface="맑은 고딕"/>
                <a:cs typeface="맑은 고딕"/>
              </a:rPr>
              <a:t>의 shifted target → </a:t>
            </a:r>
            <a:r>
              <a:rPr sz="1500" b="0">
                <a:solidFill>
                  <a:srgbClr val="1F2D3D"/>
                </a:solidFill>
                <a:latin typeface="Courier New"/>
                <a:ea typeface="맑은 고딕"/>
                <a:cs typeface="Courier New"/>
              </a:rPr>
              <a:t>generate()</a:t>
            </a:r>
            <a:r>
              <a:rPr sz="1500" b="0">
                <a:solidFill>
                  <a:srgbClr val="1F2D3D"/>
                </a:solidFill>
                <a:latin typeface="맑은 고딕"/>
                <a:ea typeface="맑은 고딕"/>
                <a:cs typeface="맑은 고딕"/>
              </a:rPr>
              <a:t>의 prefix 확장</a:t>
            </a:r>
          </a:p>
        </p:txBody>
      </p:sp>
      <p:sp>
        <p:nvSpPr>
          <p:cNvPr id="13" name="Rounded Rectangle 12"/>
          <p:cNvSpPr/>
          <p:nvPr/>
        </p:nvSpPr>
        <p:spPr>
          <a:xfrm>
            <a:off x="7269480" y="1645920"/>
            <a:ext cx="4462272" cy="4709160"/>
          </a:xfrm>
          <a:prstGeom prst="roundRect">
            <a:avLst>
              <a:gd name="adj" fmla="val 1639"/>
            </a:avLst>
          </a:prstGeom>
          <a:solidFill>
            <a:srgbClr val="FD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452360" y="1737360"/>
            <a:ext cx="4096511" cy="457200"/>
          </a:xfrm>
          <a:prstGeom prst="rect">
            <a:avLst/>
          </a:prstGeom>
          <a:noFill/>
        </p:spPr>
        <p:txBody>
          <a:bodyPr wrap="square" lIns="73152" rIns="73152" tIns="36576" bIns="36576" anchor="ctr"/>
          <a:lstStyle/>
          <a:p>
            <a:pPr algn="l" marL="0" indent="0">
              <a:lnSpc>
                <a:spcPct val="115000"/>
              </a:lnSpc>
              <a:spcAft>
                <a:spcPts val="560"/>
              </a:spcAft>
              <a:buNone/>
            </a:pPr>
            <a:r>
              <a:rPr sz="1600" b="1">
                <a:solidFill>
                  <a:srgbClr val="E07A2F"/>
                </a:solidFill>
                <a:latin typeface="맑은 고딕"/>
                <a:ea typeface="맑은 고딕"/>
                <a:cs typeface="맑은 고딕"/>
              </a:rPr>
              <a:t>반드시 통과할 아홉 검사</a:t>
            </a:r>
          </a:p>
        </p:txBody>
      </p:sp>
      <p:sp>
        <p:nvSpPr>
          <p:cNvPr id="15" name="TextBox 14"/>
          <p:cNvSpPr txBox="1"/>
          <p:nvPr/>
        </p:nvSpPr>
        <p:spPr>
          <a:xfrm>
            <a:off x="7452360" y="2240280"/>
            <a:ext cx="4142232" cy="4023360"/>
          </a:xfrm>
          <a:prstGeom prst="rect">
            <a:avLst/>
          </a:prstGeom>
          <a:noFill/>
        </p:spPr>
        <p:txBody>
          <a:bodyPr wrap="square" lIns="73152" rIns="73152" tIns="36576" bIns="36576" anchor="t"/>
          <a:lstStyle/>
          <a:p>
            <a:pPr algn="l" marL="301752" indent="-256032">
              <a:lnSpc>
                <a:spcPct val="115000"/>
              </a:lnSpc>
              <a:spcAft>
                <a:spcPts val="489"/>
              </a:spcAft>
              <a:buClr>
                <a:srgbClr val="0F6C8C"/>
              </a:buClr>
              <a:buFont typeface="Arial"/>
              <a:buChar char="•"/>
            </a:pPr>
            <a:r>
              <a:rPr sz="1400" b="1">
                <a:solidFill>
                  <a:srgbClr val="1F2D3D"/>
                </a:solidFill>
                <a:latin typeface="맑은 고딕"/>
                <a:ea typeface="맑은 고딕"/>
                <a:cs typeface="맑은 고딕"/>
              </a:rPr>
              <a:t>Shape</a:t>
            </a:r>
            <a:r>
              <a:rPr sz="1400" b="0">
                <a:solidFill>
                  <a:srgbClr val="1F2D3D"/>
                </a:solidFill>
                <a:latin typeface="맑은 고딕"/>
                <a:ea typeface="맑은 고딕"/>
                <a:cs typeface="맑은 고딕"/>
              </a:rPr>
              <a:t>: Q/K/V·출력 차원</a:t>
            </a:r>
          </a:p>
          <a:p>
            <a:pPr algn="l" marL="301752" indent="-256032">
              <a:lnSpc>
                <a:spcPct val="115000"/>
              </a:lnSpc>
              <a:spcAft>
                <a:spcPts val="489"/>
              </a:spcAft>
              <a:buClr>
                <a:srgbClr val="0F6C8C"/>
              </a:buClr>
              <a:buFont typeface="Arial"/>
              <a:buChar char="•"/>
            </a:pPr>
            <a:r>
              <a:rPr sz="1400" b="1">
                <a:solidFill>
                  <a:srgbClr val="1F2D3D"/>
                </a:solidFill>
                <a:latin typeface="맑은 고딕"/>
                <a:ea typeface="맑은 고딕"/>
                <a:cs typeface="맑은 고딕"/>
              </a:rPr>
              <a:t>Row sum</a:t>
            </a:r>
            <a:r>
              <a:rPr sz="1400" b="0">
                <a:solidFill>
                  <a:srgbClr val="1F2D3D"/>
                </a:solidFill>
                <a:latin typeface="맑은 고딕"/>
                <a:ea typeface="맑은 고딕"/>
                <a:cs typeface="맑은 고딕"/>
              </a:rPr>
              <a:t>: dropout 전 행 합 = 1</a:t>
            </a:r>
          </a:p>
          <a:p>
            <a:pPr algn="l" marL="301752" indent="-256032">
              <a:lnSpc>
                <a:spcPct val="115000"/>
              </a:lnSpc>
              <a:spcAft>
                <a:spcPts val="489"/>
              </a:spcAft>
              <a:buClr>
                <a:srgbClr val="0F6C8C"/>
              </a:buClr>
              <a:buFont typeface="Arial"/>
              <a:buChar char="•"/>
            </a:pPr>
            <a:r>
              <a:rPr sz="1400" b="1">
                <a:solidFill>
                  <a:srgbClr val="1F2D3D"/>
                </a:solidFill>
                <a:latin typeface="맑은 고딕"/>
                <a:ea typeface="맑은 고딕"/>
                <a:cs typeface="맑은 고딕"/>
              </a:rPr>
              <a:t>Future weight zero</a:t>
            </a:r>
            <a:r>
              <a:rPr sz="1400" b="0">
                <a:solidFill>
                  <a:srgbClr val="1F2D3D"/>
                </a:solidFill>
                <a:latin typeface="맑은 고딕"/>
                <a:ea typeface="맑은 고딕"/>
                <a:cs typeface="맑은 고딕"/>
              </a:rPr>
              <a:t>: 미래 가중치 0</a:t>
            </a:r>
          </a:p>
          <a:p>
            <a:pPr algn="l" marL="301752" indent="-256032">
              <a:lnSpc>
                <a:spcPct val="115000"/>
              </a:lnSpc>
              <a:spcAft>
                <a:spcPts val="489"/>
              </a:spcAft>
              <a:buClr>
                <a:srgbClr val="0F6C8C"/>
              </a:buClr>
              <a:buFont typeface="Arial"/>
              <a:buChar char="•"/>
            </a:pPr>
            <a:r>
              <a:rPr sz="1400" b="1">
                <a:solidFill>
                  <a:srgbClr val="1F2D3D"/>
                </a:solidFill>
                <a:latin typeface="맑은 고딕"/>
                <a:ea typeface="맑은 고딕"/>
                <a:cs typeface="맑은 고딕"/>
              </a:rPr>
              <a:t>PyTorch reference</a:t>
            </a:r>
            <a:r>
              <a:rPr sz="1400" b="0">
                <a:solidFill>
                  <a:srgbClr val="1F2D3D"/>
                </a:solidFill>
                <a:latin typeface="맑은 고딕"/>
                <a:ea typeface="맑은 고딕"/>
                <a:cs typeface="맑은 고딕"/>
              </a:rPr>
              <a:t>: SDPA와 일치</a:t>
            </a:r>
          </a:p>
          <a:p>
            <a:pPr algn="l" marL="301752" indent="-256032">
              <a:lnSpc>
                <a:spcPct val="115000"/>
              </a:lnSpc>
              <a:spcAft>
                <a:spcPts val="489"/>
              </a:spcAft>
              <a:buClr>
                <a:srgbClr val="0F6C8C"/>
              </a:buClr>
              <a:buFont typeface="Arial"/>
              <a:buChar char="•"/>
            </a:pPr>
            <a:r>
              <a:rPr sz="1400" b="1">
                <a:solidFill>
                  <a:srgbClr val="1F2D3D"/>
                </a:solidFill>
                <a:latin typeface="맑은 고딕"/>
                <a:ea typeface="맑은 고딕"/>
                <a:cs typeface="맑은 고딕"/>
              </a:rPr>
              <a:t>Permutation equivariance</a:t>
            </a:r>
          </a:p>
          <a:p>
            <a:pPr algn="l" marL="301752" indent="-256032">
              <a:lnSpc>
                <a:spcPct val="115000"/>
              </a:lnSpc>
              <a:spcAft>
                <a:spcPts val="489"/>
              </a:spcAft>
              <a:buClr>
                <a:srgbClr val="0F6C8C"/>
              </a:buClr>
              <a:buFont typeface="Arial"/>
              <a:buChar char="•"/>
            </a:pPr>
            <a:r>
              <a:rPr sz="1400" b="1">
                <a:solidFill>
                  <a:srgbClr val="1F2D3D"/>
                </a:solidFill>
                <a:latin typeface="맑은 고딕"/>
                <a:ea typeface="맑은 고딕"/>
                <a:cs typeface="맑은 고딕"/>
              </a:rPr>
              <a:t>Cross query length</a:t>
            </a:r>
            <a:r>
              <a:rPr sz="1400" b="0">
                <a:solidFill>
                  <a:srgbClr val="1F2D3D"/>
                </a:solidFill>
                <a:latin typeface="맑은 고딕"/>
                <a:ea typeface="맑은 고딕"/>
                <a:cs typeface="맑은 고딕"/>
              </a:rPr>
              <a:t> = Query 길이</a:t>
            </a:r>
          </a:p>
          <a:p>
            <a:pPr algn="l" marL="301752" indent="-256032">
              <a:lnSpc>
                <a:spcPct val="115000"/>
              </a:lnSpc>
              <a:spcAft>
                <a:spcPts val="489"/>
              </a:spcAft>
              <a:buClr>
                <a:srgbClr val="0F6C8C"/>
              </a:buClr>
              <a:buFont typeface="Arial"/>
              <a:buChar char="•"/>
            </a:pPr>
            <a:r>
              <a:rPr sz="1400" b="1">
                <a:solidFill>
                  <a:srgbClr val="1F2D3D"/>
                </a:solidFill>
                <a:latin typeface="맑은 고딕"/>
                <a:ea typeface="맑은 고딕"/>
                <a:cs typeface="맑은 고딕"/>
              </a:rPr>
              <a:t>Masked value independence</a:t>
            </a:r>
          </a:p>
          <a:p>
            <a:pPr algn="l" marL="301752" indent="-256032">
              <a:lnSpc>
                <a:spcPct val="115000"/>
              </a:lnSpc>
              <a:spcAft>
                <a:spcPts val="489"/>
              </a:spcAft>
              <a:buClr>
                <a:srgbClr val="0F6C8C"/>
              </a:buClr>
              <a:buFont typeface="Arial"/>
              <a:buChar char="•"/>
            </a:pPr>
            <a:r>
              <a:rPr sz="1400" b="1">
                <a:solidFill>
                  <a:srgbClr val="1F2D3D"/>
                </a:solidFill>
                <a:latin typeface="맑은 고딕"/>
                <a:ea typeface="맑은 고딕"/>
                <a:cs typeface="맑은 고딕"/>
              </a:rPr>
              <a:t>Full-model causal invariance</a:t>
            </a:r>
            <a:r>
              <a:rPr sz="1400" b="0">
                <a:solidFill>
                  <a:srgbClr val="1F2D3D"/>
                </a:solidFill>
                <a:latin typeface="맑은 고딕"/>
                <a:ea typeface="맑은 고딕"/>
                <a:cs typeface="맑은 고딕"/>
              </a:rPr>
              <a:t>: 미래 target을 바꿔도 이전 logits 불변</a:t>
            </a:r>
          </a:p>
          <a:p>
            <a:pPr algn="l" marL="301752" indent="-256032">
              <a:lnSpc>
                <a:spcPct val="115000"/>
              </a:lnSpc>
              <a:spcAft>
                <a:spcPts val="489"/>
              </a:spcAft>
              <a:buClr>
                <a:srgbClr val="0F6C8C"/>
              </a:buClr>
              <a:buFont typeface="Arial"/>
              <a:buChar char="•"/>
            </a:pPr>
            <a:r>
              <a:rPr sz="1400" b="1">
                <a:solidFill>
                  <a:srgbClr val="1F2D3D"/>
                </a:solidFill>
                <a:latin typeface="맑은 고딕"/>
                <a:ea typeface="맑은 고딕"/>
                <a:cs typeface="맑은 고딕"/>
              </a:rPr>
              <a:t>Backward gradient</a:t>
            </a:r>
            <a:r>
              <a:rPr sz="1400" b="0">
                <a:solidFill>
                  <a:srgbClr val="1F2D3D"/>
                </a:solidFill>
                <a:latin typeface="맑은 고딕"/>
                <a:ea typeface="맑은 고딕"/>
                <a:cs typeface="맑은 고딕"/>
              </a:rPr>
              <a:t>: encoder 투영까지</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첫 결과를 해석하는 방법</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PyTorch 2.10.0 CPU · seed 7 · batch 32 · 400 step 단일 실행 — 원논문 성능이 아니다</a:t>
            </a:r>
          </a:p>
        </p:txBody>
      </p:sp>
      <p:sp>
        <p:nvSpPr>
          <p:cNvPr id="8" name="Rounded Rectangle 7"/>
          <p:cNvSpPr/>
          <p:nvPr/>
        </p:nvSpPr>
        <p:spPr>
          <a:xfrm>
            <a:off x="457200" y="1691640"/>
            <a:ext cx="2612898" cy="2011680"/>
          </a:xfrm>
          <a:prstGeom prst="roundRect">
            <a:avLst>
              <a:gd name="adj" fmla="val 3636"/>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1783080"/>
            <a:ext cx="2430018" cy="1097280"/>
          </a:xfrm>
          <a:prstGeom prst="rect">
            <a:avLst/>
          </a:prstGeom>
          <a:noFill/>
        </p:spPr>
        <p:txBody>
          <a:bodyPr wrap="square" lIns="73152" rIns="73152" tIns="36576" bIns="36576" anchor="ctr"/>
          <a:lstStyle/>
          <a:p>
            <a:pPr algn="ctr" marL="0" indent="0">
              <a:lnSpc>
                <a:spcPct val="115000"/>
              </a:lnSpc>
              <a:spcAft>
                <a:spcPts val="1679"/>
              </a:spcAft>
              <a:buNone/>
            </a:pPr>
            <a:r>
              <a:rPr sz="4800" b="1">
                <a:solidFill>
                  <a:srgbClr val="E07A2F"/>
                </a:solidFill>
                <a:latin typeface="맑은 고딕"/>
                <a:ea typeface="맑은 고딕"/>
                <a:cs typeface="맑은 고딕"/>
              </a:rPr>
              <a:t>1.045</a:t>
            </a:r>
          </a:p>
        </p:txBody>
      </p:sp>
      <p:sp>
        <p:nvSpPr>
          <p:cNvPr id="10" name="TextBox 9"/>
          <p:cNvSpPr txBox="1"/>
          <p:nvPr/>
        </p:nvSpPr>
        <p:spPr>
          <a:xfrm>
            <a:off x="594360" y="2880360"/>
            <a:ext cx="2338578" cy="777240"/>
          </a:xfrm>
          <a:prstGeom prst="rect">
            <a:avLst/>
          </a:prstGeom>
          <a:noFill/>
        </p:spPr>
        <p:txBody>
          <a:bodyPr wrap="square" lIns="73152" rIns="73152" tIns="36576" bIns="36576" anchor="t"/>
          <a:lstStyle/>
          <a:p>
            <a:pPr algn="ctr" marL="0" indent="0">
              <a:lnSpc>
                <a:spcPct val="115000"/>
              </a:lnSpc>
              <a:spcAft>
                <a:spcPts val="525"/>
              </a:spcAft>
              <a:buNone/>
            </a:pPr>
            <a:r>
              <a:rPr sz="1500" b="0">
                <a:solidFill>
                  <a:srgbClr val="1F2D3D"/>
                </a:solidFill>
                <a:latin typeface="맑은 고딕"/>
                <a:ea typeface="맑은 고딕"/>
                <a:cs typeface="맑은 고딕"/>
              </a:rPr>
              <a:t>3–8 길이(훈련 범위)
평가 raw NLL</a:t>
            </a:r>
          </a:p>
        </p:txBody>
      </p:sp>
      <p:sp>
        <p:nvSpPr>
          <p:cNvPr id="11" name="Rounded Rectangle 10"/>
          <p:cNvSpPr/>
          <p:nvPr/>
        </p:nvSpPr>
        <p:spPr>
          <a:xfrm>
            <a:off x="3344418" y="1691640"/>
            <a:ext cx="2612898" cy="2011680"/>
          </a:xfrm>
          <a:prstGeom prst="roundRect">
            <a:avLst>
              <a:gd name="adj" fmla="val 3636"/>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435858" y="1783080"/>
            <a:ext cx="2430018" cy="1097280"/>
          </a:xfrm>
          <a:prstGeom prst="rect">
            <a:avLst/>
          </a:prstGeom>
          <a:noFill/>
        </p:spPr>
        <p:txBody>
          <a:bodyPr wrap="square" lIns="73152" rIns="73152" tIns="36576" bIns="36576" anchor="ctr"/>
          <a:lstStyle/>
          <a:p>
            <a:pPr algn="ctr" marL="0" indent="0">
              <a:lnSpc>
                <a:spcPct val="115000"/>
              </a:lnSpc>
              <a:spcAft>
                <a:spcPts val="1679"/>
              </a:spcAft>
              <a:buNone/>
            </a:pPr>
            <a:r>
              <a:rPr sz="4800" b="1">
                <a:solidFill>
                  <a:srgbClr val="E07A2F"/>
                </a:solidFill>
                <a:latin typeface="맑은 고딕"/>
                <a:ea typeface="맑은 고딕"/>
                <a:cs typeface="맑은 고딕"/>
              </a:rPr>
              <a:t>56.8%</a:t>
            </a:r>
          </a:p>
        </p:txBody>
      </p:sp>
      <p:sp>
        <p:nvSpPr>
          <p:cNvPr id="13" name="TextBox 12"/>
          <p:cNvSpPr txBox="1"/>
          <p:nvPr/>
        </p:nvSpPr>
        <p:spPr>
          <a:xfrm>
            <a:off x="3481577" y="2880360"/>
            <a:ext cx="2338578" cy="777240"/>
          </a:xfrm>
          <a:prstGeom prst="rect">
            <a:avLst/>
          </a:prstGeom>
          <a:noFill/>
        </p:spPr>
        <p:txBody>
          <a:bodyPr wrap="square" lIns="73152" rIns="73152" tIns="36576" bIns="36576" anchor="t"/>
          <a:lstStyle/>
          <a:p>
            <a:pPr algn="ctr" marL="0" indent="0">
              <a:lnSpc>
                <a:spcPct val="115000"/>
              </a:lnSpc>
              <a:spcAft>
                <a:spcPts val="525"/>
              </a:spcAft>
              <a:buNone/>
            </a:pPr>
            <a:r>
              <a:rPr sz="1500" b="0">
                <a:solidFill>
                  <a:srgbClr val="1F2D3D"/>
                </a:solidFill>
                <a:latin typeface="맑은 고딕"/>
                <a:ea typeface="맑은 고딕"/>
                <a:cs typeface="맑은 고딕"/>
              </a:rPr>
              <a:t>teacher-forced
token accuracy</a:t>
            </a:r>
          </a:p>
        </p:txBody>
      </p:sp>
      <p:sp>
        <p:nvSpPr>
          <p:cNvPr id="14" name="Rounded Rectangle 13"/>
          <p:cNvSpPr/>
          <p:nvPr/>
        </p:nvSpPr>
        <p:spPr>
          <a:xfrm>
            <a:off x="6231636" y="1691640"/>
            <a:ext cx="2612898" cy="2011680"/>
          </a:xfrm>
          <a:prstGeom prst="roundRect">
            <a:avLst>
              <a:gd name="adj" fmla="val 3636"/>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23075" y="1783080"/>
            <a:ext cx="2430018" cy="1097280"/>
          </a:xfrm>
          <a:prstGeom prst="rect">
            <a:avLst/>
          </a:prstGeom>
          <a:noFill/>
        </p:spPr>
        <p:txBody>
          <a:bodyPr wrap="square" lIns="73152" rIns="73152" tIns="36576" bIns="36576" anchor="ctr"/>
          <a:lstStyle/>
          <a:p>
            <a:pPr algn="ctr" marL="0" indent="0">
              <a:lnSpc>
                <a:spcPct val="115000"/>
              </a:lnSpc>
              <a:spcAft>
                <a:spcPts val="1679"/>
              </a:spcAft>
              <a:buNone/>
            </a:pPr>
            <a:r>
              <a:rPr sz="4800" b="1">
                <a:solidFill>
                  <a:srgbClr val="E07A2F"/>
                </a:solidFill>
                <a:latin typeface="맑은 고딕"/>
                <a:ea typeface="맑은 고딕"/>
                <a:cs typeface="맑은 고딕"/>
              </a:rPr>
              <a:t>6.9%</a:t>
            </a:r>
          </a:p>
        </p:txBody>
      </p:sp>
      <p:sp>
        <p:nvSpPr>
          <p:cNvPr id="16" name="TextBox 15"/>
          <p:cNvSpPr txBox="1"/>
          <p:nvPr/>
        </p:nvSpPr>
        <p:spPr>
          <a:xfrm>
            <a:off x="6368796" y="2880360"/>
            <a:ext cx="2338578" cy="777240"/>
          </a:xfrm>
          <a:prstGeom prst="rect">
            <a:avLst/>
          </a:prstGeom>
          <a:noFill/>
        </p:spPr>
        <p:txBody>
          <a:bodyPr wrap="square" lIns="73152" rIns="73152" tIns="36576" bIns="36576" anchor="t"/>
          <a:lstStyle/>
          <a:p>
            <a:pPr algn="ctr" marL="0" indent="0">
              <a:lnSpc>
                <a:spcPct val="115000"/>
              </a:lnSpc>
              <a:spcAft>
                <a:spcPts val="525"/>
              </a:spcAft>
              <a:buNone/>
            </a:pPr>
            <a:r>
              <a:rPr sz="1500" b="0">
                <a:solidFill>
                  <a:srgbClr val="1F2D3D"/>
                </a:solidFill>
                <a:latin typeface="맑은 고딕"/>
                <a:ea typeface="맑은 고딕"/>
                <a:cs typeface="맑은 고딕"/>
              </a:rPr>
              <a:t>greedy exact match
(5 / 72)</a:t>
            </a:r>
          </a:p>
        </p:txBody>
      </p:sp>
      <p:sp>
        <p:nvSpPr>
          <p:cNvPr id="17" name="Rounded Rectangle 16"/>
          <p:cNvSpPr/>
          <p:nvPr/>
        </p:nvSpPr>
        <p:spPr>
          <a:xfrm>
            <a:off x="9118854" y="1691640"/>
            <a:ext cx="2612898" cy="2011680"/>
          </a:xfrm>
          <a:prstGeom prst="roundRect">
            <a:avLst>
              <a:gd name="adj" fmla="val 3636"/>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210294" y="1783080"/>
            <a:ext cx="2430018" cy="1097280"/>
          </a:xfrm>
          <a:prstGeom prst="rect">
            <a:avLst/>
          </a:prstGeom>
          <a:noFill/>
        </p:spPr>
        <p:txBody>
          <a:bodyPr wrap="square" lIns="73152" rIns="73152" tIns="36576" bIns="36576" anchor="ctr"/>
          <a:lstStyle/>
          <a:p>
            <a:pPr algn="ctr" marL="0" indent="0">
              <a:lnSpc>
                <a:spcPct val="115000"/>
              </a:lnSpc>
              <a:spcAft>
                <a:spcPts val="1679"/>
              </a:spcAft>
              <a:buNone/>
            </a:pPr>
            <a:r>
              <a:rPr sz="4800" b="1">
                <a:solidFill>
                  <a:srgbClr val="E07A2F"/>
                </a:solidFill>
                <a:latin typeface="맑은 고딕"/>
                <a:ea typeface="맑은 고딕"/>
                <a:cs typeface="맑은 고딕"/>
              </a:rPr>
              <a:t>0 / 72</a:t>
            </a:r>
          </a:p>
        </p:txBody>
      </p:sp>
      <p:sp>
        <p:nvSpPr>
          <p:cNvPr id="19" name="TextBox 18"/>
          <p:cNvSpPr txBox="1"/>
          <p:nvPr/>
        </p:nvSpPr>
        <p:spPr>
          <a:xfrm>
            <a:off x="9256014" y="2880360"/>
            <a:ext cx="2338578" cy="777240"/>
          </a:xfrm>
          <a:prstGeom prst="rect">
            <a:avLst/>
          </a:prstGeom>
          <a:noFill/>
        </p:spPr>
        <p:txBody>
          <a:bodyPr wrap="square" lIns="73152" rIns="73152" tIns="36576" bIns="36576" anchor="t"/>
          <a:lstStyle/>
          <a:p>
            <a:pPr algn="ctr" marL="0" indent="0">
              <a:lnSpc>
                <a:spcPct val="115000"/>
              </a:lnSpc>
              <a:spcAft>
                <a:spcPts val="525"/>
              </a:spcAft>
              <a:buNone/>
            </a:pPr>
            <a:r>
              <a:rPr sz="1500" b="0">
                <a:solidFill>
                  <a:srgbClr val="1F2D3D"/>
                </a:solidFill>
                <a:latin typeface="맑은 고딕"/>
                <a:ea typeface="맑은 고딕"/>
                <a:cs typeface="맑은 고딕"/>
              </a:rPr>
              <a:t>9–12 긴 입력
exact match (NLL 1.764)</a:t>
            </a:r>
          </a:p>
        </p:txBody>
      </p:sp>
      <p:sp>
        <p:nvSpPr>
          <p:cNvPr id="20" name="TextBox 19"/>
          <p:cNvSpPr txBox="1"/>
          <p:nvPr/>
        </p:nvSpPr>
        <p:spPr>
          <a:xfrm>
            <a:off x="457200" y="4023360"/>
            <a:ext cx="11274552" cy="2331720"/>
          </a:xfrm>
          <a:prstGeom prst="rect">
            <a:avLst/>
          </a:prstGeom>
          <a:noFill/>
        </p:spPr>
        <p:txBody>
          <a:bodyPr wrap="square" lIns="73152" rIns="73152" tIns="36576" bIns="36576" anchor="t"/>
          <a:lstStyle/>
          <a:p>
            <a:pPr algn="l" marL="310896" indent="-265176">
              <a:lnSpc>
                <a:spcPct val="115000"/>
              </a:lnSpc>
              <a:spcAft>
                <a:spcPts val="800"/>
              </a:spcAft>
              <a:buClr>
                <a:srgbClr val="0F6C8C"/>
              </a:buClr>
              <a:buFont typeface="Arial"/>
              <a:buChar char="•"/>
            </a:pPr>
            <a:r>
              <a:rPr sz="1600" b="0">
                <a:solidFill>
                  <a:srgbClr val="1F2D3D"/>
                </a:solidFill>
                <a:latin typeface="맑은 고딕"/>
                <a:ea typeface="맑은 고딕"/>
                <a:cs typeface="맑은 고딕"/>
              </a:rPr>
              <a:t>훈련 NLL 2.90(step 1) → 1.23(step 400)이지만 완전한 수열 생성은 아직 못함 — </a:t>
            </a:r>
            <a:r>
              <a:rPr sz="1600" b="1">
                <a:solidFill>
                  <a:srgbClr val="1F2D3D"/>
                </a:solidFill>
                <a:latin typeface="맑은 고딕"/>
                <a:ea typeface="맑은 고딕"/>
                <a:cs typeface="맑은 고딕"/>
              </a:rPr>
              <a:t>loss와 생성 성능은 같지 않다</a:t>
            </a:r>
          </a:p>
          <a:p>
            <a:pPr algn="l" marL="310896" indent="-265176">
              <a:lnSpc>
                <a:spcPct val="115000"/>
              </a:lnSpc>
              <a:spcAft>
                <a:spcPts val="800"/>
              </a:spcAft>
              <a:buClr>
                <a:srgbClr val="0F6C8C"/>
              </a:buClr>
              <a:buFont typeface="Arial"/>
              <a:buChar char="•"/>
            </a:pPr>
            <a:r>
              <a:rPr sz="1600" b="0">
                <a:solidFill>
                  <a:srgbClr val="1F2D3D"/>
                </a:solidFill>
                <a:latin typeface="맑은 고딕"/>
                <a:ea typeface="맑은 고딕"/>
                <a:cs typeface="맑은 고딕"/>
              </a:rPr>
              <a:t>길이를 늘려 떨어져도 구현 오류라 단정 X (외삽 문제일 수 있음) / 훈련 길이에서 잘 맞혀도 길이 일반화가 증명된 것 X</a:t>
            </a:r>
          </a:p>
          <a:p>
            <a:pPr algn="l" marL="310896" indent="-265176">
              <a:lnSpc>
                <a:spcPct val="115000"/>
              </a:lnSpc>
              <a:spcAft>
                <a:spcPts val="800"/>
              </a:spcAft>
              <a:buClr>
                <a:srgbClr val="0F6C8C"/>
              </a:buClr>
              <a:buFont typeface="Arial"/>
              <a:buChar char="•"/>
            </a:pPr>
            <a:r>
              <a:rPr sz="1600" b="0">
                <a:solidFill>
                  <a:srgbClr val="1F2D3D"/>
                </a:solidFill>
                <a:latin typeface="맑은 고딕"/>
                <a:ea typeface="맑은 고딕"/>
                <a:cs typeface="맑은 고딕"/>
              </a:rPr>
              <a:t>다음 단계: 학습량 늘리기 · 작은 고정 샘플 과적합 검사 · 위치 정보의 역할 확인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실험으로 구조의 필요성 확인하기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질문 고정: 어떤 데이터·길이·학습량에서 어떤 구조가 어떤 지표에 영향을 주나</a:t>
            </a:r>
          </a:p>
        </p:txBody>
      </p:sp>
      <p:graphicFrame>
        <p:nvGraphicFramePr>
          <p:cNvPr id="8" name="Table 7"/>
          <p:cNvGraphicFramePr>
            <a:graphicFrameLocks noGrp="1"/>
          </p:cNvGraphicFramePr>
          <p:nvPr/>
        </p:nvGraphicFramePr>
        <p:xfrm>
          <a:off x="457200" y="1691640"/>
          <a:ext cx="11274550" cy="3749040"/>
        </p:xfrm>
        <a:graphic>
          <a:graphicData uri="http://schemas.openxmlformats.org/drawingml/2006/table">
            <a:tbl>
              <a:tblPr firstRow="0" bandRow="0">
                <a:tableStyleId>{5940675A-B579-460E-94D1-54222C63F5DA}</a:tableStyleId>
              </a:tblPr>
              <a:tblGrid>
                <a:gridCol w="1968572"/>
                <a:gridCol w="2863378"/>
                <a:gridCol w="3042339"/>
                <a:gridCol w="3400261"/>
              </a:tblGrid>
              <a:tr h="411480">
                <a:tc>
                  <a:txBody>
                    <a:bodyPr wrap="square" lIns="54864" rIns="54864" tIns="36576" bIns="36576" anchor="t"/>
                    <a:lstStyle/>
                    <a:p>
                      <a:pPr algn="ctr" marL="0" indent="0">
                        <a:lnSpc>
                          <a:spcPct val="115000"/>
                        </a:lnSpc>
                        <a:spcAft>
                          <a:spcPts val="0"/>
                        </a:spcAft>
                        <a:buNone/>
                      </a:pPr>
                      <a:r>
                        <a:rPr sz="1500" b="1">
                          <a:solidFill>
                            <a:srgbClr val="FFFFFF"/>
                          </a:solidFill>
                          <a:latin typeface="맑은 고딕"/>
                          <a:ea typeface="맑은 고딕"/>
                          <a:cs typeface="맑은 고딕"/>
                        </a:rPr>
                        <a:t>실험</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c>
                  <a:txBody>
                    <a:bodyPr wrap="square" lIns="54864" rIns="54864" tIns="36576" bIns="36576" anchor="t"/>
                    <a:lstStyle/>
                    <a:p>
                      <a:pPr algn="ctr" marL="0" indent="0">
                        <a:lnSpc>
                          <a:spcPct val="115000"/>
                        </a:lnSpc>
                        <a:spcAft>
                          <a:spcPts val="0"/>
                        </a:spcAft>
                        <a:buNone/>
                      </a:pPr>
                      <a:r>
                        <a:rPr sz="1500" b="1">
                          <a:solidFill>
                            <a:srgbClr val="FFFFFF"/>
                          </a:solidFill>
                          <a:latin typeface="맑은 고딕"/>
                          <a:ea typeface="맑은 고딕"/>
                          <a:cs typeface="맑은 고딕"/>
                        </a:rPr>
                        <a:t>변경 변수</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c>
                  <a:txBody>
                    <a:bodyPr wrap="square" lIns="54864" rIns="54864" tIns="36576" bIns="36576" anchor="t"/>
                    <a:lstStyle/>
                    <a:p>
                      <a:pPr algn="ctr" marL="0" indent="0">
                        <a:lnSpc>
                          <a:spcPct val="115000"/>
                        </a:lnSpc>
                        <a:spcAft>
                          <a:spcPts val="0"/>
                        </a:spcAft>
                        <a:buNone/>
                      </a:pPr>
                      <a:r>
                        <a:rPr sz="1500" b="1">
                          <a:solidFill>
                            <a:srgbClr val="FFFFFF"/>
                          </a:solidFill>
                          <a:latin typeface="맑은 고딕"/>
                          <a:ea typeface="맑은 고딕"/>
                          <a:cs typeface="맑은 고딕"/>
                        </a:rPr>
                        <a:t>통제할 것</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c>
                  <a:txBody>
                    <a:bodyPr wrap="square" lIns="54864" rIns="54864" tIns="36576" bIns="36576" anchor="t"/>
                    <a:lstStyle/>
                    <a:p>
                      <a:pPr algn="ctr" marL="0" indent="0">
                        <a:lnSpc>
                          <a:spcPct val="115000"/>
                        </a:lnSpc>
                        <a:spcAft>
                          <a:spcPts val="0"/>
                        </a:spcAft>
                        <a:buNone/>
                      </a:pPr>
                      <a:r>
                        <a:rPr sz="1500" b="1">
                          <a:solidFill>
                            <a:srgbClr val="FFFFFF"/>
                          </a:solidFill>
                          <a:latin typeface="맑은 고딕"/>
                          <a:ea typeface="맑은 고딕"/>
                          <a:cs typeface="맑은 고딕"/>
                        </a:rPr>
                        <a:t>볼 지표</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r>
              <a:tr h="640080">
                <a:tc>
                  <a:txBody>
                    <a:bodyPr wrap="square" lIns="54864" rIns="54864" tIns="36576" bIns="36576" anchor="t"/>
                    <a:lstStyle/>
                    <a:p>
                      <a:pPr algn="l" marL="0" indent="0">
                        <a:lnSpc>
                          <a:spcPct val="115000"/>
                        </a:lnSpc>
                        <a:spcAft>
                          <a:spcPts val="0"/>
                        </a:spcAft>
                        <a:buNone/>
                      </a:pPr>
                      <a:r>
                        <a:rPr sz="1500" b="1">
                          <a:solidFill>
                            <a:srgbClr val="1F2D3D"/>
                          </a:solidFill>
                          <a:latin typeface="맑은 고딕"/>
                          <a:ea typeface="맑은 고딕"/>
                          <a:cs typeface="맑은 고딕"/>
                        </a:rPr>
                        <a:t>긴 입력</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평가 길이</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모델 · 학습 데이터 · 생성 규칙</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길이별 token accuracy / exact match</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640080">
                <a:tc>
                  <a:txBody>
                    <a:bodyPr wrap="square" lIns="54864" rIns="54864" tIns="36576" bIns="36576" anchor="t"/>
                    <a:lstStyle/>
                    <a:p>
                      <a:pPr algn="l" marL="0" indent="0">
                        <a:lnSpc>
                          <a:spcPct val="115000"/>
                        </a:lnSpc>
                        <a:spcAft>
                          <a:spcPts val="0"/>
                        </a:spcAft>
                        <a:buNone/>
                      </a:pPr>
                      <a:r>
                        <a:rPr sz="1500" b="1">
                          <a:solidFill>
                            <a:srgbClr val="1F2D3D"/>
                          </a:solidFill>
                          <a:latin typeface="맑은 고딕"/>
                          <a:ea typeface="맑은 고딕"/>
                          <a:cs typeface="맑은 고딕"/>
                        </a:rPr>
                        <a:t>위치 정보</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source / target PE 각각 제거</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나머지 구조 · seed · 학습량</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순서 민감 과제 성능</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r h="411480">
                <a:tc>
                  <a:txBody>
                    <a:bodyPr wrap="square" lIns="54864" rIns="54864" tIns="36576" bIns="36576" anchor="t"/>
                    <a:lstStyle/>
                    <a:p>
                      <a:pPr algn="l" marL="0" indent="0">
                        <a:lnSpc>
                          <a:spcPct val="115000"/>
                        </a:lnSpc>
                        <a:spcAft>
                          <a:spcPts val="0"/>
                        </a:spcAft>
                        <a:buNone/>
                      </a:pPr>
                      <a:r>
                        <a:rPr sz="1500" b="1">
                          <a:solidFill>
                            <a:srgbClr val="1F2D3D"/>
                          </a:solidFill>
                          <a:latin typeface="맑은 고딕"/>
                          <a:ea typeface="맑은 고딕"/>
                          <a:cs typeface="맑은 고딕"/>
                        </a:rPr>
                        <a:t>Head 수</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H 변경, d 고정</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파라미터 근사 규모 · step</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품질 · 지연 · explicit 표 저장량</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411480">
                <a:tc>
                  <a:txBody>
                    <a:bodyPr wrap="square" lIns="54864" rIns="54864" tIns="36576" bIns="36576" anchor="t"/>
                    <a:lstStyle/>
                    <a:p>
                      <a:pPr algn="l" marL="0" indent="0">
                        <a:lnSpc>
                          <a:spcPct val="115000"/>
                        </a:lnSpc>
                        <a:spcAft>
                          <a:spcPts val="0"/>
                        </a:spcAft>
                        <a:buNone/>
                      </a:pPr>
                      <a:r>
                        <a:rPr sz="1500" b="1">
                          <a:solidFill>
                            <a:srgbClr val="1F2D3D"/>
                          </a:solidFill>
                          <a:latin typeface="맑은 고딕"/>
                          <a:ea typeface="맑은 고딕"/>
                          <a:cs typeface="맑은 고딕"/>
                        </a:rPr>
                        <a:t>Mask 오류</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causal mask 의도적 제거</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shifted input 유지</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훈련 loss와 실제 생성의 괴리</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r h="411480">
                <a:tc>
                  <a:txBody>
                    <a:bodyPr wrap="square" lIns="54864" rIns="54864" tIns="36576" bIns="36576" anchor="t"/>
                    <a:lstStyle/>
                    <a:p>
                      <a:pPr algn="l" marL="0" indent="0">
                        <a:lnSpc>
                          <a:spcPct val="115000"/>
                        </a:lnSpc>
                        <a:spcAft>
                          <a:spcPts val="0"/>
                        </a:spcAft>
                        <a:buNone/>
                      </a:pPr>
                      <a:r>
                        <a:rPr sz="1500" b="1">
                          <a:solidFill>
                            <a:srgbClr val="1F2D3D"/>
                          </a:solidFill>
                          <a:latin typeface="맑은 고딕"/>
                          <a:ea typeface="맑은 고딕"/>
                          <a:cs typeface="맑은 고딕"/>
                        </a:rPr>
                        <a:t>FFN 제거</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FFN 유무</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파라미터·연산량 변화 별도 보고</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학습 곡선과 최종 성능</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411480">
                <a:tc>
                  <a:txBody>
                    <a:bodyPr wrap="square" lIns="54864" rIns="54864" tIns="36576" bIns="36576" anchor="t"/>
                    <a:lstStyle/>
                    <a:p>
                      <a:pPr algn="l" marL="0" indent="0">
                        <a:lnSpc>
                          <a:spcPct val="115000"/>
                        </a:lnSpc>
                        <a:spcAft>
                          <a:spcPts val="0"/>
                        </a:spcAft>
                        <a:buNone/>
                      </a:pPr>
                      <a:r>
                        <a:rPr sz="1500" b="1">
                          <a:solidFill>
                            <a:srgbClr val="1F2D3D"/>
                          </a:solidFill>
                          <a:latin typeface="맑은 고딕"/>
                          <a:ea typeface="맑은 고딕"/>
                          <a:cs typeface="맑은 고딕"/>
                        </a:rPr>
                        <a:t>Residual 제거</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skip path 유무</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깊이 · 초기화 · optimizer</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수렴 양상 · gradient 규모</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r h="411480">
                <a:tc>
                  <a:txBody>
                    <a:bodyPr wrap="square" lIns="54864" rIns="54864" tIns="36576" bIns="36576" anchor="t"/>
                    <a:lstStyle/>
                    <a:p>
                      <a:pPr algn="l" marL="0" indent="0">
                        <a:lnSpc>
                          <a:spcPct val="115000"/>
                        </a:lnSpc>
                        <a:spcAft>
                          <a:spcPts val="0"/>
                        </a:spcAft>
                        <a:buNone/>
                      </a:pPr>
                      <a:r>
                        <a:rPr sz="1500" b="1">
                          <a:solidFill>
                            <a:srgbClr val="1F2D3D"/>
                          </a:solidFill>
                          <a:latin typeface="맑은 고딕"/>
                          <a:ea typeface="맑은 고딕"/>
                          <a:cs typeface="맑은 고딕"/>
                        </a:rPr>
                        <a:t>정규화 위치</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Post-LN / Pre-LN</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깊이 · warm-up · 학습률</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불안정성 · 최종 품질</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bl>
          </a:graphicData>
        </a:graphic>
      </p:graphicFrame>
      <p:sp>
        <p:nvSpPr>
          <p:cNvPr id="9" name="Rounded Rectangle 8"/>
          <p:cNvSpPr/>
          <p:nvPr/>
        </p:nvSpPr>
        <p:spPr>
          <a:xfrm>
            <a:off x="457200" y="5788152"/>
            <a:ext cx="11274552" cy="548640"/>
          </a:xfrm>
          <a:prstGeom prst="roundRect">
            <a:avLst>
              <a:gd name="adj" fmla="val 13333"/>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Aft>
                <a:spcPts val="400"/>
              </a:spcAft>
              <a:buNone/>
            </a:pPr>
            <a:r>
              <a:rPr sz="1600" b="1">
                <a:solidFill>
                  <a:srgbClr val="FFFFFF"/>
                </a:solidFill>
                <a:latin typeface="맑은 고딕"/>
                <a:ea typeface="맑은 고딕"/>
                <a:cs typeface="맑은 고딕"/>
              </a:rPr>
              <a:t>부품 제거는 파라미터·연산량도 바꾼다 → 구조 효과와 용량 효과를 분리할 대조군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작은 task와 기록 규칙</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복사(output=input) · 반전(순서 뒤집기) · 기호 치환(정해진 매핑)부터</a:t>
            </a:r>
          </a:p>
        </p:txBody>
      </p:sp>
      <p:sp>
        <p:nvSpPr>
          <p:cNvPr id="8" name="Rounded Rectangle 7"/>
          <p:cNvSpPr/>
          <p:nvPr/>
        </p:nvSpPr>
        <p:spPr>
          <a:xfrm>
            <a:off x="457200" y="1691640"/>
            <a:ext cx="6766560" cy="4663440"/>
          </a:xfrm>
          <a:prstGeom prst="roundRect">
            <a:avLst>
              <a:gd name="adj" fmla="val 980"/>
            </a:avLst>
          </a:prstGeom>
          <a:solidFill>
            <a:srgbClr val="F3F6F8"/>
          </a:solidFill>
          <a:ln w="12700">
            <a:solidFill>
              <a:srgbClr val="B9CB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94360" y="1783080"/>
            <a:ext cx="6492240" cy="4480560"/>
          </a:xfrm>
          <a:prstGeom prst="rect">
            <a:avLst/>
          </a:prstGeom>
          <a:noFill/>
        </p:spPr>
        <p:txBody>
          <a:bodyPr wrap="square">
            <a:spAutoFit/>
          </a:bodyPr>
          <a:lstStyle/>
          <a:p>
            <a:pPr marL="0" indent="0">
              <a:lnSpc>
                <a:spcPct val="100000"/>
              </a:lnSpc>
              <a:buNone/>
            </a:pPr>
            <a:r>
              <a:rPr sz="1600">
                <a:solidFill>
                  <a:srgbClr val="5E8C6A"/>
                </a:solidFill>
                <a:latin typeface="Courier New"/>
                <a:ea typeface="맑은 고딕"/>
                <a:cs typeface="Courier New"/>
              </a:rPr>
              <a:t># 실험마다 남길 최소 필드</a:t>
            </a:r>
          </a:p>
          <a:p>
            <a:pPr marL="0" indent="0">
              <a:lnSpc>
                <a:spcPct val="100000"/>
              </a:lnSpc>
              <a:buNone/>
            </a:pPr>
            <a:r>
              <a:rPr sz="1600">
                <a:solidFill>
                  <a:srgbClr val="1F2D3D"/>
                </a:solidFill>
                <a:latin typeface="Courier New"/>
                <a:ea typeface="맑은 고딕"/>
                <a:cs typeface="Courier New"/>
              </a:rPr>
              <a:t>run_id, git_commit, seed, task, vocab_size</a:t>
            </a:r>
          </a:p>
          <a:p>
            <a:pPr marL="0" indent="0">
              <a:lnSpc>
                <a:spcPct val="100000"/>
              </a:lnSpc>
              <a:buNone/>
            </a:pPr>
            <a:r>
              <a:rPr sz="1600">
                <a:solidFill>
                  <a:srgbClr val="1F2D3D"/>
                </a:solidFill>
                <a:latin typeface="Courier New"/>
                <a:ea typeface="맑은 고딕"/>
                <a:cs typeface="Courier New"/>
              </a:rPr>
              <a:t>train_lengths, eval_lengths,</a:t>
            </a:r>
          </a:p>
          <a:p>
            <a:pPr marL="0" indent="0">
              <a:lnSpc>
                <a:spcPct val="100000"/>
              </a:lnSpc>
              <a:buNone/>
            </a:pPr>
            <a:r>
              <a:rPr sz="1600">
                <a:solidFill>
                  <a:srgbClr val="1F2D3D"/>
                </a:solidFill>
                <a:latin typeface="Courier New"/>
                <a:ea typeface="맑은 고딕"/>
                <a:cs typeface="Courier New"/>
              </a:rPr>
              <a:t>train_examples_or_steps</a:t>
            </a:r>
          </a:p>
          <a:p>
            <a:pPr marL="0" indent="0">
              <a:lnSpc>
                <a:spcPct val="100000"/>
              </a:lnSpc>
              <a:buNone/>
            </a:pPr>
            <a:r>
              <a:rPr sz="1600">
                <a:solidFill>
                  <a:srgbClr val="1F2D3D"/>
                </a:solidFill>
                <a:latin typeface="Courier New"/>
                <a:ea typeface="맑은 고딕"/>
                <a:cs typeface="Courier New"/>
              </a:rPr>
              <a:t>architecture, layers, d_model, heads,</a:t>
            </a:r>
          </a:p>
          <a:p>
            <a:pPr marL="0" indent="0">
              <a:lnSpc>
                <a:spcPct val="100000"/>
              </a:lnSpc>
              <a:buNone/>
            </a:pPr>
            <a:r>
              <a:rPr sz="1600">
                <a:solidFill>
                  <a:srgbClr val="1F2D3D"/>
                </a:solidFill>
                <a:latin typeface="Courier New"/>
                <a:ea typeface="맑은 고딕"/>
                <a:cs typeface="Courier New"/>
              </a:rPr>
              <a:t>d_ff, position_type, mask_policy,</a:t>
            </a:r>
          </a:p>
          <a:p>
            <a:pPr marL="0" indent="0">
              <a:lnSpc>
                <a:spcPct val="100000"/>
              </a:lnSpc>
              <a:buNone/>
            </a:pPr>
            <a:r>
              <a:rPr sz="1600">
                <a:solidFill>
                  <a:srgbClr val="1F2D3D"/>
                </a:solidFill>
                <a:latin typeface="Courier New"/>
                <a:ea typeface="맑은 고딕"/>
                <a:cs typeface="Courier New"/>
              </a:rPr>
              <a:t>norm_placement, dropout, optimizer,</a:t>
            </a:r>
          </a:p>
          <a:p>
            <a:pPr marL="0" indent="0">
              <a:lnSpc>
                <a:spcPct val="100000"/>
              </a:lnSpc>
              <a:buNone/>
            </a:pPr>
            <a:r>
              <a:rPr sz="1600">
                <a:solidFill>
                  <a:srgbClr val="1F2D3D"/>
                </a:solidFill>
                <a:latin typeface="Courier New"/>
                <a:ea typeface="맑은 고딕"/>
                <a:cs typeface="Courier New"/>
              </a:rPr>
              <a:t>learning_rate, batch_size, precision,</a:t>
            </a:r>
          </a:p>
          <a:p>
            <a:pPr marL="0" indent="0">
              <a:lnSpc>
                <a:spcPct val="100000"/>
              </a:lnSpc>
              <a:buNone/>
            </a:pPr>
            <a:r>
              <a:rPr sz="1600">
                <a:solidFill>
                  <a:srgbClr val="1F2D3D"/>
                </a:solidFill>
                <a:latin typeface="Courier New"/>
                <a:ea typeface="맑은 고딕"/>
                <a:cs typeface="Courier New"/>
              </a:rPr>
              <a:t>device, torch_version</a:t>
            </a:r>
          </a:p>
          <a:p>
            <a:pPr marL="0" indent="0">
              <a:lnSpc>
                <a:spcPct val="100000"/>
              </a:lnSpc>
              <a:buNone/>
            </a:pPr>
            <a:r>
              <a:rPr sz="1600">
                <a:solidFill>
                  <a:srgbClr val="1F2D3D"/>
                </a:solidFill>
                <a:latin typeface="Courier New"/>
                <a:ea typeface="맑은 고딕"/>
                <a:cs typeface="Courier New"/>
              </a:rPr>
              <a:t>teacher_forced_nll, token_accuracy,</a:t>
            </a:r>
          </a:p>
          <a:p>
            <a:pPr marL="0" indent="0">
              <a:lnSpc>
                <a:spcPct val="100000"/>
              </a:lnSpc>
              <a:buNone/>
            </a:pPr>
            <a:r>
              <a:rPr sz="1600">
                <a:solidFill>
                  <a:srgbClr val="1F2D3D"/>
                </a:solidFill>
                <a:latin typeface="Courier New"/>
                <a:ea typeface="맑은 고딕"/>
                <a:cs typeface="Courier New"/>
              </a:rPr>
              <a:t>greedy_exact_match, prefill_ms,</a:t>
            </a:r>
          </a:p>
          <a:p>
            <a:pPr marL="0" indent="0">
              <a:lnSpc>
                <a:spcPct val="100000"/>
              </a:lnSpc>
              <a:buNone/>
            </a:pPr>
            <a:r>
              <a:rPr sz="1600">
                <a:solidFill>
                  <a:srgbClr val="1F2D3D"/>
                </a:solidFill>
                <a:latin typeface="Courier New"/>
                <a:ea typeface="맑은 고딕"/>
                <a:cs typeface="Courier New"/>
              </a:rPr>
              <a:t>decode_ms_per_token, peak_memory_mb</a:t>
            </a:r>
          </a:p>
          <a:p>
            <a:pPr marL="0" indent="0">
              <a:lnSpc>
                <a:spcPct val="100000"/>
              </a:lnSpc>
              <a:buNone/>
            </a:pPr>
            <a:r>
              <a:rPr sz="1600">
                <a:solidFill>
                  <a:srgbClr val="1F2D3D"/>
                </a:solidFill>
                <a:latin typeface="Courier New"/>
                <a:ea typeface="맑은 고딕"/>
                <a:cs typeface="Courier New"/>
              </a:rPr>
              <a:t>notes, known_limitations</a:t>
            </a:r>
          </a:p>
        </p:txBody>
      </p:sp>
      <p:sp>
        <p:nvSpPr>
          <p:cNvPr id="10" name="TextBox 9"/>
          <p:cNvSpPr txBox="1"/>
          <p:nvPr/>
        </p:nvSpPr>
        <p:spPr>
          <a:xfrm>
            <a:off x="7498080" y="1691640"/>
            <a:ext cx="4233671" cy="4663440"/>
          </a:xfrm>
          <a:prstGeom prst="rect">
            <a:avLst/>
          </a:prstGeom>
          <a:noFill/>
        </p:spPr>
        <p:txBody>
          <a:bodyPr wrap="square" lIns="73152" rIns="73152" tIns="36576" bIns="36576" anchor="t"/>
          <a:lstStyle/>
          <a:p>
            <a:pPr algn="l" marL="310896" indent="-265176">
              <a:lnSpc>
                <a:spcPct val="115000"/>
              </a:lnSpc>
              <a:spcAft>
                <a:spcPts val="800"/>
              </a:spcAft>
              <a:buClr>
                <a:srgbClr val="0F6C8C"/>
              </a:buClr>
              <a:buFont typeface="Arial"/>
              <a:buChar char="•"/>
            </a:pPr>
            <a:r>
              <a:rPr sz="1600" b="0">
                <a:solidFill>
                  <a:srgbClr val="1F2D3D"/>
                </a:solidFill>
                <a:latin typeface="맑은 고딕"/>
                <a:ea typeface="맑은 고딕"/>
                <a:cs typeface="맑은 고딕"/>
              </a:rPr>
              <a:t>세 과제는 필요한 순서 정보·전역 의존성이 다르다</a:t>
            </a:r>
          </a:p>
          <a:p>
            <a:pPr algn="l" marL="310896" indent="-265176">
              <a:lnSpc>
                <a:spcPct val="115000"/>
              </a:lnSpc>
              <a:spcAft>
                <a:spcPts val="800"/>
              </a:spcAft>
              <a:buClr>
                <a:srgbClr val="0F6C8C"/>
              </a:buClr>
              <a:buFont typeface="Arial"/>
              <a:buChar char="•"/>
            </a:pPr>
            <a:r>
              <a:rPr sz="1600" b="0">
                <a:solidFill>
                  <a:srgbClr val="1F2D3D"/>
                </a:solidFill>
                <a:latin typeface="맑은 고딕"/>
                <a:ea typeface="맑은 고딕"/>
                <a:cs typeface="맑은 고딕"/>
              </a:rPr>
              <a:t>데이터 규칙 명시: 입력 길이 · 어휘 · 중복 비율 · EOS</a:t>
            </a:r>
          </a:p>
          <a:p>
            <a:pPr algn="l" marL="310896" indent="-265176">
              <a:lnSpc>
                <a:spcPct val="115000"/>
              </a:lnSpc>
              <a:spcAft>
                <a:spcPts val="800"/>
              </a:spcAft>
              <a:buClr>
                <a:srgbClr val="0F6C8C"/>
              </a:buClr>
              <a:buFont typeface="Arial"/>
              <a:buChar char="•"/>
            </a:pPr>
            <a:r>
              <a:rPr sz="1600" b="0">
                <a:solidFill>
                  <a:srgbClr val="1F2D3D"/>
                </a:solidFill>
                <a:latin typeface="맑은 고딕"/>
                <a:ea typeface="맑은 고딕"/>
                <a:cs typeface="맑은 고딕"/>
              </a:rPr>
              <a:t>진행: 고정 batch 과적합 → 새 수열 → 길이별 평가 → 구조 변경 → seed 3개 이상</a:t>
            </a:r>
          </a:p>
          <a:p>
            <a:pPr algn="l" marL="310896" indent="-265176">
              <a:lnSpc>
                <a:spcPct val="115000"/>
              </a:lnSpc>
              <a:spcAft>
                <a:spcPts val="800"/>
              </a:spcAft>
              <a:buClr>
                <a:srgbClr val="0F6C8C"/>
              </a:buClr>
              <a:buFont typeface="Arial"/>
              <a:buChar char="•"/>
            </a:pPr>
            <a:r>
              <a:rPr sz="1600" b="1">
                <a:solidFill>
                  <a:srgbClr val="1F2D3D"/>
                </a:solidFill>
                <a:latin typeface="맑은 고딕"/>
                <a:ea typeface="맑은 고딕"/>
                <a:cs typeface="맑은 고딕"/>
              </a:rPr>
              <a:t>네 가지 그림</a:t>
            </a:r>
            <a:r>
              <a:rPr sz="1600" b="0">
                <a:solidFill>
                  <a:srgbClr val="1F2D3D"/>
                </a:solidFill>
                <a:latin typeface="맑은 고딕"/>
                <a:ea typeface="맑은 고딕"/>
                <a:cs typeface="맑은 고딕"/>
              </a:rPr>
              <a:t>: 길이–정확도 · step–loss · 품질–지연 · 길이–메모리 (평균·변동 폭·표본 수)</a:t>
            </a:r>
          </a:p>
          <a:p>
            <a:pPr algn="l" marL="310896" indent="-265176">
              <a:lnSpc>
                <a:spcPct val="115000"/>
              </a:lnSpc>
              <a:spcAft>
                <a:spcPts val="800"/>
              </a:spcAft>
              <a:buClr>
                <a:srgbClr val="0F6C8C"/>
              </a:buClr>
              <a:buFont typeface="Arial"/>
              <a:buChar char="•"/>
            </a:pPr>
            <a:r>
              <a:rPr sz="1600" b="0">
                <a:solidFill>
                  <a:srgbClr val="1F2D3D"/>
                </a:solidFill>
                <a:latin typeface="맑은 고딕"/>
                <a:ea typeface="맑은 고딕"/>
                <a:cs typeface="맑은 고딕"/>
              </a:rPr>
              <a:t>측정 안 한 값은 채우지 않는다 — '이론 MACs' vs '실측 latency' 표시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최종 프로젝트 제출안</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더 높은 모델 점수보다 검증 가능한 실험과 설명을 평가한다</a:t>
            </a:r>
          </a:p>
        </p:txBody>
      </p:sp>
      <p:graphicFrame>
        <p:nvGraphicFramePr>
          <p:cNvPr id="8" name="Table 7"/>
          <p:cNvGraphicFramePr>
            <a:graphicFrameLocks noGrp="1"/>
          </p:cNvGraphicFramePr>
          <p:nvPr/>
        </p:nvGraphicFramePr>
        <p:xfrm>
          <a:off x="457200" y="1691640"/>
          <a:ext cx="11274552" cy="2926080"/>
        </p:xfrm>
        <a:graphic>
          <a:graphicData uri="http://schemas.openxmlformats.org/drawingml/2006/table">
            <a:tbl>
              <a:tblPr firstRow="0" bandRow="0">
                <a:tableStyleId>{5940675A-B579-460E-94D1-54222C63F5DA}</a:tableStyleId>
              </a:tblPr>
              <a:tblGrid>
                <a:gridCol w="2818638"/>
                <a:gridCol w="6576822"/>
                <a:gridCol w="1879092"/>
              </a:tblGrid>
              <a:tr h="487680">
                <a:tc>
                  <a:txBody>
                    <a:bodyPr wrap="square" lIns="54864" rIns="54864" tIns="36576" bIns="36576" anchor="t"/>
                    <a:lstStyle/>
                    <a:p>
                      <a:pPr algn="ctr" marL="0" indent="0">
                        <a:lnSpc>
                          <a:spcPct val="115000"/>
                        </a:lnSpc>
                        <a:spcAft>
                          <a:spcPts val="0"/>
                        </a:spcAft>
                        <a:buNone/>
                      </a:pPr>
                      <a:r>
                        <a:rPr sz="2000" b="1">
                          <a:solidFill>
                            <a:srgbClr val="FFFFFF"/>
                          </a:solidFill>
                          <a:latin typeface="맑은 고딕"/>
                          <a:ea typeface="맑은 고딕"/>
                          <a:cs typeface="맑은 고딕"/>
                        </a:rPr>
                        <a:t>산출물</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c>
                  <a:txBody>
                    <a:bodyPr wrap="square" lIns="54864" rIns="54864" tIns="36576" bIns="36576" anchor="t"/>
                    <a:lstStyle/>
                    <a:p>
                      <a:pPr algn="ctr" marL="0" indent="0">
                        <a:lnSpc>
                          <a:spcPct val="115000"/>
                        </a:lnSpc>
                        <a:spcAft>
                          <a:spcPts val="0"/>
                        </a:spcAft>
                        <a:buNone/>
                      </a:pPr>
                      <a:r>
                        <a:rPr sz="2000" b="1">
                          <a:solidFill>
                            <a:srgbClr val="FFFFFF"/>
                          </a:solidFill>
                          <a:latin typeface="맑은 고딕"/>
                          <a:ea typeface="맑은 고딕"/>
                          <a:cs typeface="맑은 고딕"/>
                        </a:rPr>
                        <a:t>포함할 내용</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c>
                  <a:txBody>
                    <a:bodyPr wrap="square" lIns="54864" rIns="54864" tIns="36576" bIns="36576" anchor="t"/>
                    <a:lstStyle/>
                    <a:p>
                      <a:pPr algn="ctr" marL="0" indent="0">
                        <a:lnSpc>
                          <a:spcPct val="115000"/>
                        </a:lnSpc>
                        <a:spcAft>
                          <a:spcPts val="0"/>
                        </a:spcAft>
                        <a:buNone/>
                      </a:pPr>
                      <a:r>
                        <a:rPr sz="2000" b="1">
                          <a:solidFill>
                            <a:srgbClr val="FFFFFF"/>
                          </a:solidFill>
                          <a:latin typeface="맑은 고딕"/>
                          <a:ea typeface="맑은 고딕"/>
                          <a:cs typeface="맑은 고딕"/>
                        </a:rPr>
                        <a:t>제안 배점</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r>
              <a:tr h="487680">
                <a:tc>
                  <a:txBody>
                    <a:bodyPr wrap="square" lIns="54864" rIns="54864" tIns="36576" bIns="36576" anchor="t"/>
                    <a:lstStyle/>
                    <a:p>
                      <a:pPr algn="l" marL="0" indent="0">
                        <a:lnSpc>
                          <a:spcPct val="115000"/>
                        </a:lnSpc>
                        <a:spcAft>
                          <a:spcPts val="0"/>
                        </a:spcAft>
                        <a:buNone/>
                      </a:pPr>
                      <a:r>
                        <a:rPr sz="2000" b="1">
                          <a:solidFill>
                            <a:srgbClr val="1F2D3D"/>
                          </a:solidFill>
                          <a:latin typeface="맑은 고딕"/>
                          <a:ea typeface="맑은 고딕"/>
                          <a:cs typeface="맑은 고딕"/>
                        </a:rPr>
                        <a:t>문제와 가설</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2000" b="0">
                          <a:solidFill>
                            <a:srgbClr val="1F2D3D"/>
                          </a:solidFill>
                          <a:latin typeface="맑은 고딕"/>
                          <a:ea typeface="맑은 고딕"/>
                          <a:cs typeface="맑은 고딕"/>
                        </a:rPr>
                        <a:t>무엇을 비교하는지, 예상과 반증 조건</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2000" b="0">
                          <a:solidFill>
                            <a:srgbClr val="1F2D3D"/>
                          </a:solidFill>
                          <a:latin typeface="맑은 고딕"/>
                          <a:ea typeface="맑은 고딕"/>
                          <a:cs typeface="맑은 고딕"/>
                        </a:rPr>
                        <a:t>20</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487680">
                <a:tc>
                  <a:txBody>
                    <a:bodyPr wrap="square" lIns="54864" rIns="54864" tIns="36576" bIns="36576" anchor="t"/>
                    <a:lstStyle/>
                    <a:p>
                      <a:pPr algn="l" marL="0" indent="0">
                        <a:lnSpc>
                          <a:spcPct val="115000"/>
                        </a:lnSpc>
                        <a:spcAft>
                          <a:spcPts val="0"/>
                        </a:spcAft>
                        <a:buNone/>
                      </a:pPr>
                      <a:r>
                        <a:rPr sz="2000" b="1">
                          <a:solidFill>
                            <a:srgbClr val="1F2D3D"/>
                          </a:solidFill>
                          <a:latin typeface="맑은 고딕"/>
                          <a:ea typeface="맑은 고딕"/>
                          <a:cs typeface="맑은 고딕"/>
                        </a:rPr>
                        <a:t>구현 정확성</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2000" b="0">
                          <a:solidFill>
                            <a:srgbClr val="1F2D3D"/>
                          </a:solidFill>
                          <a:latin typeface="맑은 고딕"/>
                          <a:ea typeface="맑은 고딕"/>
                          <a:cs typeface="맑은 고딕"/>
                        </a:rPr>
                        <a:t>shape · mask · gradient 검사, 재현 명령</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2000" b="0">
                          <a:solidFill>
                            <a:srgbClr val="1F2D3D"/>
                          </a:solidFill>
                          <a:latin typeface="맑은 고딕"/>
                          <a:ea typeface="맑은 고딕"/>
                          <a:cs typeface="맑은 고딕"/>
                        </a:rPr>
                        <a:t>30</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r h="487680">
                <a:tc>
                  <a:txBody>
                    <a:bodyPr wrap="square" lIns="54864" rIns="54864" tIns="36576" bIns="36576" anchor="t"/>
                    <a:lstStyle/>
                    <a:p>
                      <a:pPr algn="l" marL="0" indent="0">
                        <a:lnSpc>
                          <a:spcPct val="115000"/>
                        </a:lnSpc>
                        <a:spcAft>
                          <a:spcPts val="0"/>
                        </a:spcAft>
                        <a:buNone/>
                      </a:pPr>
                      <a:r>
                        <a:rPr sz="2000" b="1">
                          <a:solidFill>
                            <a:srgbClr val="1F2D3D"/>
                          </a:solidFill>
                          <a:latin typeface="맑은 고딕"/>
                          <a:ea typeface="맑은 고딕"/>
                          <a:cs typeface="맑은 고딕"/>
                        </a:rPr>
                        <a:t>실험 설계와 결과</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2000" b="0">
                          <a:solidFill>
                            <a:srgbClr val="1F2D3D"/>
                          </a:solidFill>
                          <a:latin typeface="맑은 고딕"/>
                          <a:ea typeface="맑은 고딕"/>
                          <a:cs typeface="맑은 고딕"/>
                        </a:rPr>
                        <a:t>통제 변수 · seed · metric · 그래프</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2000" b="0">
                          <a:solidFill>
                            <a:srgbClr val="1F2D3D"/>
                          </a:solidFill>
                          <a:latin typeface="맑은 고딕"/>
                          <a:ea typeface="맑은 고딕"/>
                          <a:cs typeface="맑은 고딕"/>
                        </a:rPr>
                        <a:t>25</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487680">
                <a:tc>
                  <a:txBody>
                    <a:bodyPr wrap="square" lIns="54864" rIns="54864" tIns="36576" bIns="36576" anchor="t"/>
                    <a:lstStyle/>
                    <a:p>
                      <a:pPr algn="l" marL="0" indent="0">
                        <a:lnSpc>
                          <a:spcPct val="115000"/>
                        </a:lnSpc>
                        <a:spcAft>
                          <a:spcPts val="0"/>
                        </a:spcAft>
                        <a:buNone/>
                      </a:pPr>
                      <a:r>
                        <a:rPr sz="2000" b="1">
                          <a:solidFill>
                            <a:srgbClr val="1F2D3D"/>
                          </a:solidFill>
                          <a:latin typeface="맑은 고딕"/>
                          <a:ea typeface="맑은 고딕"/>
                          <a:cs typeface="맑은 고딕"/>
                        </a:rPr>
                        <a:t>해석과 한계</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2000" b="0">
                          <a:solidFill>
                            <a:srgbClr val="1F2D3D"/>
                          </a:solidFill>
                          <a:latin typeface="맑은 고딕"/>
                          <a:ea typeface="맑은 고딕"/>
                          <a:cs typeface="맑은 고딕"/>
                        </a:rPr>
                        <a:t>실패 사례, 대안 설명, 일반화 범위</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2000" b="0">
                          <a:solidFill>
                            <a:srgbClr val="1F2D3D"/>
                          </a:solidFill>
                          <a:latin typeface="맑은 고딕"/>
                          <a:ea typeface="맑은 고딕"/>
                          <a:cs typeface="맑은 고딕"/>
                        </a:rPr>
                        <a:t>15</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r h="487680">
                <a:tc>
                  <a:txBody>
                    <a:bodyPr wrap="square" lIns="54864" rIns="54864" tIns="36576" bIns="36576" anchor="t"/>
                    <a:lstStyle/>
                    <a:p>
                      <a:pPr algn="l" marL="0" indent="0">
                        <a:lnSpc>
                          <a:spcPct val="115000"/>
                        </a:lnSpc>
                        <a:spcAft>
                          <a:spcPts val="0"/>
                        </a:spcAft>
                        <a:buNone/>
                      </a:pPr>
                      <a:r>
                        <a:rPr sz="2000" b="1">
                          <a:solidFill>
                            <a:srgbClr val="1F2D3D"/>
                          </a:solidFill>
                          <a:latin typeface="맑은 고딕"/>
                          <a:ea typeface="맑은 고딕"/>
                          <a:cs typeface="맑은 고딕"/>
                        </a:rPr>
                        <a:t>설명 발표</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2000" b="0">
                          <a:solidFill>
                            <a:srgbClr val="1F2D3D"/>
                          </a:solidFill>
                          <a:latin typeface="맑은 고딕"/>
                          <a:ea typeface="맑은 고딕"/>
                          <a:cs typeface="맑은 고딕"/>
                        </a:rPr>
                        <a:t>아키텍처를 입력부터 출력까지 추적</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2000" b="0">
                          <a:solidFill>
                            <a:srgbClr val="1F2D3D"/>
                          </a:solidFill>
                          <a:latin typeface="맑은 고딕"/>
                          <a:ea typeface="맑은 고딕"/>
                          <a:cs typeface="맑은 고딕"/>
                        </a:rPr>
                        <a:t>10</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bl>
          </a:graphicData>
        </a:graphic>
      </p:graphicFrame>
      <p:sp>
        <p:nvSpPr>
          <p:cNvPr id="9" name="Rounded Rectangle 8"/>
          <p:cNvSpPr/>
          <p:nvPr/>
        </p:nvSpPr>
        <p:spPr>
          <a:xfrm>
            <a:off x="457200" y="5788152"/>
            <a:ext cx="11274552" cy="548640"/>
          </a:xfrm>
          <a:prstGeom prst="roundRect">
            <a:avLst>
              <a:gd name="adj" fmla="val 13333"/>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Aft>
                <a:spcPts val="350"/>
              </a:spcAft>
              <a:buNone/>
            </a:pPr>
            <a:r>
              <a:rPr sz="1400" b="1">
                <a:solidFill>
                  <a:srgbClr val="FFFFFF"/>
                </a:solidFill>
                <a:latin typeface="맑은 고딕"/>
                <a:ea typeface="맑은 고딕"/>
                <a:cs typeface="맑은 고딕"/>
              </a:rPr>
              <a:t>발표 세 질문: ① 어느 가정에서만 성립? ② 파라미터·학습량 차이 때문은 아닌가? ③ 실패 입력 하나를 계산 흐름으로 설명할 수 있나?</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Week 6 · Part 05</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Rounded Rectangle 6"/>
          <p:cNvSpPr/>
          <p:nvPr/>
        </p:nvSpPr>
        <p:spPr>
          <a:xfrm>
            <a:off x="822960" y="1828800"/>
            <a:ext cx="10515600" cy="3017520"/>
          </a:xfrm>
          <a:prstGeom prst="roundRect">
            <a:avLst>
              <a:gd name="adj" fmla="val 2424"/>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188720" y="2057400"/>
            <a:ext cx="2194560" cy="2560320"/>
          </a:xfrm>
          <a:prstGeom prst="rect">
            <a:avLst/>
          </a:prstGeom>
          <a:noFill/>
        </p:spPr>
        <p:txBody>
          <a:bodyPr wrap="square" lIns="73152" rIns="73152" tIns="36576" bIns="36576" anchor="ctr"/>
          <a:lstStyle/>
          <a:p>
            <a:pPr algn="l" marL="0" indent="0">
              <a:lnSpc>
                <a:spcPct val="115000"/>
              </a:lnSpc>
              <a:spcAft>
                <a:spcPts val="2800"/>
              </a:spcAft>
              <a:buNone/>
            </a:pPr>
            <a:r>
              <a:rPr sz="8000" b="1">
                <a:solidFill>
                  <a:srgbClr val="0F6C8C"/>
                </a:solidFill>
                <a:latin typeface="맑은 고딕"/>
                <a:ea typeface="맑은 고딕"/>
                <a:cs typeface="맑은 고딕"/>
              </a:rPr>
              <a:t>05</a:t>
            </a:r>
          </a:p>
        </p:txBody>
      </p:sp>
      <p:sp>
        <p:nvSpPr>
          <p:cNvPr id="9" name="TextBox 8"/>
          <p:cNvSpPr txBox="1"/>
          <p:nvPr/>
        </p:nvSpPr>
        <p:spPr>
          <a:xfrm>
            <a:off x="3474720" y="2148840"/>
            <a:ext cx="7589520" cy="1280160"/>
          </a:xfrm>
          <a:prstGeom prst="rect">
            <a:avLst/>
          </a:prstGeom>
          <a:noFill/>
        </p:spPr>
        <p:txBody>
          <a:bodyPr wrap="square" lIns="73152" rIns="73152" tIns="36576" bIns="36576" anchor="b"/>
          <a:lstStyle/>
          <a:p>
            <a:pPr algn="l" marL="0" indent="0">
              <a:lnSpc>
                <a:spcPct val="115000"/>
              </a:lnSpc>
              <a:spcAft>
                <a:spcPts val="1260"/>
              </a:spcAft>
              <a:buNone/>
            </a:pPr>
            <a:r>
              <a:rPr sz="3600" b="1">
                <a:solidFill>
                  <a:srgbClr val="1F2D3D"/>
                </a:solidFill>
                <a:latin typeface="맑은 고딕"/>
                <a:ea typeface="맑은 고딕"/>
                <a:cs typeface="맑은 고딕"/>
              </a:rPr>
              <a:t>Transformer 이후와 과정 마무리</a:t>
            </a:r>
          </a:p>
        </p:txBody>
      </p:sp>
      <p:sp>
        <p:nvSpPr>
          <p:cNvPr id="10" name="TextBox 9"/>
          <p:cNvSpPr txBox="1"/>
          <p:nvPr/>
        </p:nvSpPr>
        <p:spPr>
          <a:xfrm>
            <a:off x="3474720" y="3520440"/>
            <a:ext cx="7589520" cy="1097280"/>
          </a:xfrm>
          <a:prstGeom prst="rect">
            <a:avLst/>
          </a:prstGeom>
          <a:noFill/>
        </p:spPr>
        <p:txBody>
          <a:bodyPr wrap="square" lIns="73152" rIns="73152" tIns="36576" bIns="36576" anchor="t"/>
          <a:lstStyle/>
          <a:p>
            <a:pPr algn="l" marL="0" indent="0">
              <a:lnSpc>
                <a:spcPct val="115000"/>
              </a:lnSpc>
              <a:spcAft>
                <a:spcPts val="630"/>
              </a:spcAft>
              <a:buNone/>
            </a:pPr>
            <a:r>
              <a:rPr sz="1800" b="0">
                <a:solidFill>
                  <a:srgbClr val="5B6770"/>
                </a:solidFill>
                <a:latin typeface="맑은 고딕"/>
                <a:ea typeface="맑은 고딕"/>
                <a:cs typeface="맑은 고딕"/>
              </a:rPr>
              <a:t>원형에서 무엇을 유지하고 무엇을 바꾸었는지 — 그리고 6주의 계보를 다시 연결한다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세 가지 조립 방식</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구조 · 입력 · 학습 목표를 따로 비교한다 — Encoder-only / Decoder-only는 '반쪽 떼기'가 아니다</a:t>
            </a:r>
          </a:p>
        </p:txBody>
      </p:sp>
      <p:pic>
        <p:nvPicPr>
          <p:cNvPr id="8" name="Picture 7" descr="archs.png"/>
          <p:cNvPicPr>
            <a:picLocks noChangeAspect="1"/>
          </p:cNvPicPr>
          <p:nvPr/>
        </p:nvPicPr>
        <p:blipFill>
          <a:blip r:embed="rId3"/>
          <a:stretch>
            <a:fillRect/>
          </a:stretch>
        </p:blipFill>
        <p:spPr>
          <a:xfrm>
            <a:off x="2861056" y="1554480"/>
            <a:ext cx="6466840" cy="3063240"/>
          </a:xfrm>
          <a:prstGeom prst="rect">
            <a:avLst/>
          </a:prstGeom>
        </p:spPr>
      </p:pic>
      <p:sp>
        <p:nvSpPr>
          <p:cNvPr id="9" name="Rounded Rectangle 8"/>
          <p:cNvSpPr/>
          <p:nvPr/>
        </p:nvSpPr>
        <p:spPr>
          <a:xfrm>
            <a:off x="457200" y="4709160"/>
            <a:ext cx="5500116" cy="1645920"/>
          </a:xfrm>
          <a:prstGeom prst="roundRect">
            <a:avLst>
              <a:gd name="adj" fmla="val 4444"/>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4800600"/>
            <a:ext cx="5134355" cy="457200"/>
          </a:xfrm>
          <a:prstGeom prst="rect">
            <a:avLst/>
          </a:prstGeom>
          <a:noFill/>
        </p:spPr>
        <p:txBody>
          <a:bodyPr wrap="square" lIns="73152" rIns="73152" tIns="36576" bIns="36576" anchor="ctr"/>
          <a:lstStyle/>
          <a:p>
            <a:pPr algn="l" marL="0" indent="0">
              <a:lnSpc>
                <a:spcPct val="115000"/>
              </a:lnSpc>
              <a:spcAft>
                <a:spcPts val="560"/>
              </a:spcAft>
              <a:buNone/>
            </a:pPr>
            <a:r>
              <a:rPr sz="1600" b="1">
                <a:solidFill>
                  <a:srgbClr val="0F6C8C"/>
                </a:solidFill>
                <a:latin typeface="맑은 고딕"/>
                <a:ea typeface="맑은 고딕"/>
                <a:cs typeface="맑은 고딕"/>
              </a:rPr>
              <a:t>함께 바뀌는 것</a:t>
            </a:r>
          </a:p>
        </p:txBody>
      </p:sp>
      <p:sp>
        <p:nvSpPr>
          <p:cNvPr id="11" name="TextBox 10"/>
          <p:cNvSpPr txBox="1"/>
          <p:nvPr/>
        </p:nvSpPr>
        <p:spPr>
          <a:xfrm>
            <a:off x="640080" y="5303520"/>
            <a:ext cx="5180076" cy="960120"/>
          </a:xfrm>
          <a:prstGeom prst="rect">
            <a:avLst/>
          </a:prstGeom>
          <a:noFill/>
        </p:spPr>
        <p:txBody>
          <a:bodyPr wrap="square" lIns="73152" rIns="73152" tIns="36576" bIns="36576" anchor="t"/>
          <a:lstStyle/>
          <a:p>
            <a:pPr algn="l" marL="297180" indent="-251460">
              <a:lnSpc>
                <a:spcPct val="115000"/>
              </a:lnSpc>
              <a:spcAft>
                <a:spcPts val="455"/>
              </a:spcAft>
              <a:buClr>
                <a:srgbClr val="0F6C8C"/>
              </a:buClr>
              <a:buFont typeface="Arial"/>
              <a:buChar char="•"/>
            </a:pPr>
            <a:r>
              <a:rPr sz="1300" b="0">
                <a:solidFill>
                  <a:srgbClr val="1F2D3D"/>
                </a:solidFill>
                <a:latin typeface="맑은 고딕"/>
                <a:ea typeface="맑은 고딕"/>
                <a:cs typeface="맑은 고딕"/>
              </a:rPr>
              <a:t>mask · 학습 목표 · 위치 표현 · 정규화 · output head · 데이터</a:t>
            </a:r>
          </a:p>
          <a:p>
            <a:pPr algn="l" marL="297180" indent="-251460">
              <a:lnSpc>
                <a:spcPct val="115000"/>
              </a:lnSpc>
              <a:spcAft>
                <a:spcPts val="455"/>
              </a:spcAft>
              <a:buClr>
                <a:srgbClr val="0F6C8C"/>
              </a:buClr>
              <a:buFont typeface="Arial"/>
              <a:buChar char="•"/>
            </a:pPr>
            <a:r>
              <a:rPr sz="1300" b="0">
                <a:solidFill>
                  <a:srgbClr val="1F2D3D"/>
                </a:solidFill>
                <a:latin typeface="맑은 고딕"/>
                <a:ea typeface="맑은 고딕"/>
                <a:cs typeface="맑은 고딕"/>
              </a:rPr>
              <a:t>원형 Decoder = self + cross + FFN / 순수 텍스트 Decoder-only = causal self + FFN</a:t>
            </a:r>
          </a:p>
        </p:txBody>
      </p:sp>
      <p:sp>
        <p:nvSpPr>
          <p:cNvPr id="12" name="Rounded Rectangle 11"/>
          <p:cNvSpPr/>
          <p:nvPr/>
        </p:nvSpPr>
        <p:spPr>
          <a:xfrm>
            <a:off x="6231636" y="4709160"/>
            <a:ext cx="5500116" cy="1645920"/>
          </a:xfrm>
          <a:prstGeom prst="roundRect">
            <a:avLst>
              <a:gd name="adj" fmla="val 4444"/>
            </a:avLst>
          </a:prstGeom>
          <a:solidFill>
            <a:srgbClr val="FD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14516" y="4800600"/>
            <a:ext cx="5134355" cy="457200"/>
          </a:xfrm>
          <a:prstGeom prst="rect">
            <a:avLst/>
          </a:prstGeom>
          <a:noFill/>
        </p:spPr>
        <p:txBody>
          <a:bodyPr wrap="square" lIns="73152" rIns="73152" tIns="36576" bIns="36576" anchor="ctr"/>
          <a:lstStyle/>
          <a:p>
            <a:pPr algn="l" marL="0" indent="0">
              <a:lnSpc>
                <a:spcPct val="115000"/>
              </a:lnSpc>
              <a:spcAft>
                <a:spcPts val="560"/>
              </a:spcAft>
              <a:buNone/>
            </a:pPr>
            <a:r>
              <a:rPr sz="1600" b="1">
                <a:solidFill>
                  <a:srgbClr val="E07A2F"/>
                </a:solidFill>
                <a:latin typeface="맑은 고딕"/>
                <a:ea typeface="맑은 고딕"/>
                <a:cs typeface="맑은 고딕"/>
              </a:rPr>
              <a:t>판별 기준: 무엇이 입력이고 무엇이 정답인가</a:t>
            </a:r>
          </a:p>
        </p:txBody>
      </p:sp>
      <p:sp>
        <p:nvSpPr>
          <p:cNvPr id="14" name="TextBox 13"/>
          <p:cNvSpPr txBox="1"/>
          <p:nvPr/>
        </p:nvSpPr>
        <p:spPr>
          <a:xfrm>
            <a:off x="6414516" y="5303520"/>
            <a:ext cx="5180076" cy="960120"/>
          </a:xfrm>
          <a:prstGeom prst="rect">
            <a:avLst/>
          </a:prstGeom>
          <a:noFill/>
        </p:spPr>
        <p:txBody>
          <a:bodyPr wrap="square" lIns="73152" rIns="73152" tIns="36576" bIns="36576" anchor="t"/>
          <a:lstStyle/>
          <a:p>
            <a:pPr algn="l" marL="299466" indent="-253746">
              <a:lnSpc>
                <a:spcPct val="115000"/>
              </a:lnSpc>
              <a:spcAft>
                <a:spcPts val="472"/>
              </a:spcAft>
              <a:buClr>
                <a:srgbClr val="0F6C8C"/>
              </a:buClr>
              <a:buFont typeface="Arial"/>
              <a:buChar char="•"/>
            </a:pPr>
            <a:r>
              <a:rPr sz="1350" b="0">
                <a:solidFill>
                  <a:srgbClr val="1F2D3D"/>
                </a:solidFill>
                <a:latin typeface="맑은 고딕"/>
                <a:ea typeface="맑은 고딕"/>
                <a:cs typeface="맑은 고딕"/>
              </a:rPr>
              <a:t>BERT MLM: 입력에서 가린 위치 </a:t>
            </a:r>
            <a:r>
              <a:rPr sz="1350" b="1">
                <a:solidFill>
                  <a:srgbClr val="1F2D3D"/>
                </a:solidFill>
                <a:latin typeface="맑은 고딕"/>
                <a:ea typeface="맑은 고딕"/>
                <a:cs typeface="맑은 고딕"/>
              </a:rPr>
              <a:t>복원</a:t>
            </a:r>
            <a:r>
              <a:rPr sz="1350" b="0">
                <a:solidFill>
                  <a:srgbClr val="1F2D3D"/>
                </a:solidFill>
                <a:latin typeface="맑은 고딕"/>
                <a:ea typeface="맑은 고딕"/>
                <a:cs typeface="맑은 고딕"/>
              </a:rPr>
              <a:t> — 미래 정답 누출과 다른 목표</a:t>
            </a:r>
          </a:p>
          <a:p>
            <a:pPr algn="l" marL="299466" indent="-253746">
              <a:lnSpc>
                <a:spcPct val="115000"/>
              </a:lnSpc>
              <a:spcAft>
                <a:spcPts val="472"/>
              </a:spcAft>
              <a:buClr>
                <a:srgbClr val="0F6C8C"/>
              </a:buClr>
              <a:buFont typeface="Arial"/>
              <a:buChar char="•"/>
            </a:pPr>
            <a:r>
              <a:rPr sz="1350" b="0">
                <a:solidFill>
                  <a:srgbClr val="1F2D3D"/>
                </a:solidFill>
                <a:latin typeface="맑은 고딕"/>
                <a:ea typeface="맑은 고딕"/>
                <a:cs typeface="맑은 고딕"/>
              </a:rPr>
              <a:t>GPT: 다음 토큰 예측 · T5: text-to-text, span corruption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ViT와 DiT: 무엇을 token이라 부를까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ViT(2020): 문자열 대신 patch 벡터를 token으로 — 224×224, 16×16 patch → 196개</a:t>
            </a:r>
          </a:p>
        </p:txBody>
      </p:sp>
      <p:pic>
        <p:nvPicPr>
          <p:cNvPr id="8" name="Picture 7" descr="vit_patch.png"/>
          <p:cNvPicPr>
            <a:picLocks noChangeAspect="1"/>
          </p:cNvPicPr>
          <p:nvPr/>
        </p:nvPicPr>
        <p:blipFill>
          <a:blip r:embed="rId3"/>
          <a:stretch>
            <a:fillRect/>
          </a:stretch>
        </p:blipFill>
        <p:spPr>
          <a:xfrm>
            <a:off x="457200" y="2338475"/>
            <a:ext cx="7102967" cy="3324048"/>
          </a:xfrm>
          <a:prstGeom prst="rect">
            <a:avLst/>
          </a:prstGeom>
        </p:spPr>
      </p:pic>
      <p:sp>
        <p:nvSpPr>
          <p:cNvPr id="9" name="Rounded Rectangle 8"/>
          <p:cNvSpPr/>
          <p:nvPr/>
        </p:nvSpPr>
        <p:spPr>
          <a:xfrm>
            <a:off x="7834487" y="1691640"/>
            <a:ext cx="3897264" cy="4617720"/>
          </a:xfrm>
          <a:prstGeom prst="roundRect">
            <a:avLst>
              <a:gd name="adj" fmla="val 1877"/>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017367" y="1874520"/>
            <a:ext cx="3531504"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DiT: 같은 block, 다른 생성 과정</a:t>
            </a:r>
          </a:p>
        </p:txBody>
      </p:sp>
      <p:sp>
        <p:nvSpPr>
          <p:cNvPr id="11" name="TextBox 10"/>
          <p:cNvSpPr txBox="1"/>
          <p:nvPr/>
        </p:nvSpPr>
        <p:spPr>
          <a:xfrm>
            <a:off x="8017367" y="2468880"/>
            <a:ext cx="3531504" cy="3703320"/>
          </a:xfrm>
          <a:prstGeom prst="rect">
            <a:avLst/>
          </a:prstGeom>
          <a:noFill/>
        </p:spPr>
        <p:txBody>
          <a:bodyPr wrap="square" lIns="73152" rIns="73152" tIns="36576" bIns="36576" anchor="t"/>
          <a:lstStyle/>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입력: noisy latent patch + timestep + 조건 정보</a:t>
            </a:r>
          </a:p>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출력: denoising에 필요한 값 예측 — 토큰 생성 루프와 다른 계산</a:t>
            </a:r>
          </a:p>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원형 DiT는 class conditioning, 여러 conditioning 방식 비교 → 모든 DiT가 텍스트·cross-attention을 쓰는 것은 아님</a:t>
            </a:r>
          </a:p>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token 위치 · layer 깊이 · denoising timestep은 서로 다른 축</a:t>
            </a:r>
          </a:p>
          <a:p>
            <a:pPr algn="l" marL="306324" indent="-260604">
              <a:lnSpc>
                <a:spcPct val="115000"/>
              </a:lnSpc>
              <a:spcAft>
                <a:spcPts val="675"/>
              </a:spcAft>
              <a:buClr>
                <a:srgbClr val="0F6C8C"/>
              </a:buClr>
              <a:buFont typeface="Arial"/>
              <a:buChar char="•"/>
            </a:pPr>
            <a:r>
              <a:rPr sz="1500" b="0">
                <a:solidFill>
                  <a:srgbClr val="1F2D3D"/>
                </a:solidFill>
                <a:latin typeface="맑은 고딕"/>
                <a:ea typeface="맑은 고딕"/>
                <a:cs typeface="맑은 고딕"/>
              </a:rPr>
              <a:t>Peebles &amp; Xie, arXiv 2022 / ICCV 2023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원형과 후속 변형을 구분하기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후속 구조를 읽는 질문: 무엇이 바뀌었나 · 어떤 문제를 겨냥하나 · 무엇을 주장하지 않나</a:t>
            </a:r>
          </a:p>
        </p:txBody>
      </p:sp>
      <p:graphicFrame>
        <p:nvGraphicFramePr>
          <p:cNvPr id="8" name="Table 7"/>
          <p:cNvGraphicFramePr>
            <a:graphicFrameLocks noGrp="1"/>
          </p:cNvGraphicFramePr>
          <p:nvPr/>
        </p:nvGraphicFramePr>
        <p:xfrm>
          <a:off x="457200" y="1691640"/>
          <a:ext cx="11274550" cy="3779520"/>
        </p:xfrm>
        <a:graphic>
          <a:graphicData uri="http://schemas.openxmlformats.org/drawingml/2006/table">
            <a:tbl>
              <a:tblPr firstRow="0" bandRow="0">
                <a:tableStyleId>{5940675A-B579-460E-94D1-54222C63F5DA}</a:tableStyleId>
              </a:tblPr>
              <a:tblGrid>
                <a:gridCol w="1761648"/>
                <a:gridCol w="2113978"/>
                <a:gridCol w="2113978"/>
                <a:gridCol w="2642473"/>
                <a:gridCol w="2642473"/>
              </a:tblGrid>
              <a:tr h="426720">
                <a:tc>
                  <a:txBody>
                    <a:bodyPr wrap="square" lIns="54864" rIns="54864" tIns="36576" bIns="36576" anchor="t"/>
                    <a:lstStyle/>
                    <a:p>
                      <a:pPr algn="ctr" marL="0" indent="0">
                        <a:lnSpc>
                          <a:spcPct val="115000"/>
                        </a:lnSpc>
                        <a:spcAft>
                          <a:spcPts val="0"/>
                        </a:spcAft>
                        <a:buNone/>
                      </a:pPr>
                      <a:r>
                        <a:rPr sz="1600" b="1">
                          <a:solidFill>
                            <a:srgbClr val="FFFFFF"/>
                          </a:solidFill>
                          <a:latin typeface="맑은 고딕"/>
                          <a:ea typeface="맑은 고딕"/>
                          <a:cs typeface="맑은 고딕"/>
                        </a:rPr>
                        <a:t>항목</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c>
                  <a:txBody>
                    <a:bodyPr wrap="square" lIns="54864" rIns="54864" tIns="36576" bIns="36576" anchor="t"/>
                    <a:lstStyle/>
                    <a:p>
                      <a:pPr algn="ctr" marL="0" indent="0">
                        <a:lnSpc>
                          <a:spcPct val="115000"/>
                        </a:lnSpc>
                        <a:spcAft>
                          <a:spcPts val="0"/>
                        </a:spcAft>
                        <a:buNone/>
                      </a:pPr>
                      <a:r>
                        <a:rPr sz="1600" b="1">
                          <a:solidFill>
                            <a:srgbClr val="FFFFFF"/>
                          </a:solidFill>
                          <a:latin typeface="맑은 고딕"/>
                          <a:ea typeface="맑은 고딕"/>
                          <a:cs typeface="맑은 고딕"/>
                        </a:rPr>
                        <a:t>2017 원형</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c>
                  <a:txBody>
                    <a:bodyPr wrap="square" lIns="54864" rIns="54864" tIns="36576" bIns="36576" anchor="t"/>
                    <a:lstStyle/>
                    <a:p>
                      <a:pPr algn="ctr" marL="0" indent="0">
                        <a:lnSpc>
                          <a:spcPct val="115000"/>
                        </a:lnSpc>
                        <a:spcAft>
                          <a:spcPts val="0"/>
                        </a:spcAft>
                        <a:buNone/>
                      </a:pPr>
                      <a:r>
                        <a:rPr sz="1600" b="1">
                          <a:solidFill>
                            <a:srgbClr val="FFFFFF"/>
                          </a:solidFill>
                          <a:latin typeface="맑은 고딕"/>
                          <a:ea typeface="맑은 고딕"/>
                          <a:cs typeface="맑은 고딕"/>
                        </a:rPr>
                        <a:t>후속 변형 예</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c>
                  <a:txBody>
                    <a:bodyPr wrap="square" lIns="54864" rIns="54864" tIns="36576" bIns="36576" anchor="t"/>
                    <a:lstStyle/>
                    <a:p>
                      <a:pPr algn="ctr" marL="0" indent="0">
                        <a:lnSpc>
                          <a:spcPct val="115000"/>
                        </a:lnSpc>
                        <a:spcAft>
                          <a:spcPts val="0"/>
                        </a:spcAft>
                        <a:buNone/>
                      </a:pPr>
                      <a:r>
                        <a:rPr sz="1600" b="1">
                          <a:solidFill>
                            <a:srgbClr val="FFFFFF"/>
                          </a:solidFill>
                          <a:latin typeface="맑은 고딕"/>
                          <a:ea typeface="맑은 고딕"/>
                          <a:cs typeface="맑은 고딕"/>
                        </a:rPr>
                        <a:t>겨냥하는 문제</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c>
                  <a:txBody>
                    <a:bodyPr wrap="square" lIns="54864" rIns="54864" tIns="36576" bIns="36576" anchor="t"/>
                    <a:lstStyle/>
                    <a:p>
                      <a:pPr algn="ctr" marL="0" indent="0">
                        <a:lnSpc>
                          <a:spcPct val="115000"/>
                        </a:lnSpc>
                        <a:spcAft>
                          <a:spcPts val="0"/>
                        </a:spcAft>
                        <a:buNone/>
                      </a:pPr>
                      <a:r>
                        <a:rPr sz="1600" b="1">
                          <a:solidFill>
                            <a:srgbClr val="FFFFFF"/>
                          </a:solidFill>
                          <a:latin typeface="맑은 고딕"/>
                          <a:ea typeface="맑은 고딕"/>
                          <a:cs typeface="맑은 고딕"/>
                        </a:rPr>
                        <a:t>하지 않는 주장</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r>
              <a:tr h="670560">
                <a:tc>
                  <a:txBody>
                    <a:bodyPr wrap="square" lIns="54864" rIns="54864" tIns="36576" bIns="36576" anchor="t"/>
                    <a:lstStyle/>
                    <a:p>
                      <a:pPr algn="l" marL="0" indent="0">
                        <a:lnSpc>
                          <a:spcPct val="115000"/>
                        </a:lnSpc>
                        <a:spcAft>
                          <a:spcPts val="0"/>
                        </a:spcAft>
                        <a:buNone/>
                      </a:pPr>
                      <a:r>
                        <a:rPr sz="1600" b="1">
                          <a:solidFill>
                            <a:srgbClr val="1F2D3D"/>
                          </a:solidFill>
                          <a:latin typeface="맑은 고딕"/>
                          <a:ea typeface="맑은 고딕"/>
                          <a:cs typeface="맑은 고딕"/>
                        </a:rPr>
                        <a:t>FFN 활성화</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ReLU</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GELU, SwiGLU</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gate가 있는 특징 변환</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Attention을 대체하지 않음</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670560">
                <a:tc>
                  <a:txBody>
                    <a:bodyPr wrap="square" lIns="54864" rIns="54864" tIns="36576" bIns="36576" anchor="t"/>
                    <a:lstStyle/>
                    <a:p>
                      <a:pPr algn="l" marL="0" indent="0">
                        <a:lnSpc>
                          <a:spcPct val="115000"/>
                        </a:lnSpc>
                        <a:spcAft>
                          <a:spcPts val="0"/>
                        </a:spcAft>
                        <a:buNone/>
                      </a:pPr>
                      <a:r>
                        <a:rPr sz="1600" b="1">
                          <a:solidFill>
                            <a:srgbClr val="1F2D3D"/>
                          </a:solidFill>
                          <a:latin typeface="맑은 고딕"/>
                          <a:ea typeface="맑은 고딕"/>
                          <a:cs typeface="맑은 고딕"/>
                        </a:rPr>
                        <a:t>정규화</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LayerNorm, Post-LN</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Pre-LN, RMSNorm</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깊은 모델의 학습 안정성</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모든 설정에서 우월하지 않음</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r h="670560">
                <a:tc>
                  <a:txBody>
                    <a:bodyPr wrap="square" lIns="54864" rIns="54864" tIns="36576" bIns="36576" anchor="t"/>
                    <a:lstStyle/>
                    <a:p>
                      <a:pPr algn="l" marL="0" indent="0">
                        <a:lnSpc>
                          <a:spcPct val="115000"/>
                        </a:lnSpc>
                        <a:spcAft>
                          <a:spcPts val="0"/>
                        </a:spcAft>
                        <a:buNone/>
                      </a:pPr>
                      <a:r>
                        <a:rPr sz="1600" b="1">
                          <a:solidFill>
                            <a:srgbClr val="1F2D3D"/>
                          </a:solidFill>
                          <a:latin typeface="맑은 고딕"/>
                          <a:ea typeface="맑은 고딕"/>
                          <a:cs typeface="맑은 고딕"/>
                        </a:rPr>
                        <a:t>위치 정보</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sinusoidal 더하기</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학습형 위치, RoPE</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Q·K 내적에 상대 위치 반영</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위치 정보를 없애지 않음</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670560">
                <a:tc>
                  <a:txBody>
                    <a:bodyPr wrap="square" lIns="54864" rIns="54864" tIns="36576" bIns="36576" anchor="t"/>
                    <a:lstStyle/>
                    <a:p>
                      <a:pPr algn="l" marL="0" indent="0">
                        <a:lnSpc>
                          <a:spcPct val="115000"/>
                        </a:lnSpc>
                        <a:spcAft>
                          <a:spcPts val="0"/>
                        </a:spcAft>
                        <a:buNone/>
                      </a:pPr>
                      <a:r>
                        <a:rPr sz="1600" b="1">
                          <a:solidFill>
                            <a:srgbClr val="1F2D3D"/>
                          </a:solidFill>
                          <a:latin typeface="맑은 고딕"/>
                          <a:ea typeface="맑은 고딕"/>
                          <a:cs typeface="맑은 고딕"/>
                        </a:rPr>
                        <a:t>Head 구성</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Q/K/V head 수 같음</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GQA, MQA</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KV head 공유로 cache·대역폭 절충</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Query head까지 줄이지 않음</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r h="670560">
                <a:tc>
                  <a:txBody>
                    <a:bodyPr wrap="square" lIns="54864" rIns="54864" tIns="36576" bIns="36576" anchor="t"/>
                    <a:lstStyle/>
                    <a:p>
                      <a:pPr algn="l" marL="0" indent="0">
                        <a:lnSpc>
                          <a:spcPct val="115000"/>
                        </a:lnSpc>
                        <a:spcAft>
                          <a:spcPts val="0"/>
                        </a:spcAft>
                        <a:buNone/>
                      </a:pPr>
                      <a:r>
                        <a:rPr sz="1600" b="1">
                          <a:solidFill>
                            <a:srgbClr val="1F2D3D"/>
                          </a:solidFill>
                          <a:latin typeface="맑은 고딕"/>
                          <a:ea typeface="맑은 고딕"/>
                          <a:cs typeface="맑은 고딕"/>
                        </a:rPr>
                        <a:t>Attention 계산</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명시적 score 표</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FlashAttention</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정확한 attention을 IO 효율적으로</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산술량을 선형으로 만들지 않음</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bl>
          </a:graphicData>
        </a:graphic>
      </p:graphicFrame>
      <p:sp>
        <p:nvSpPr>
          <p:cNvPr id="9" name="Rounded Rectangle 8"/>
          <p:cNvSpPr/>
          <p:nvPr/>
        </p:nvSpPr>
        <p:spPr>
          <a:xfrm>
            <a:off x="457200" y="5788152"/>
            <a:ext cx="11274552" cy="548640"/>
          </a:xfrm>
          <a:prstGeom prst="roundRect">
            <a:avLst>
              <a:gd name="adj" fmla="val 13333"/>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Aft>
                <a:spcPts val="400"/>
              </a:spcAft>
              <a:buNone/>
            </a:pPr>
            <a:r>
              <a:rPr sz="1600" b="1">
                <a:solidFill>
                  <a:srgbClr val="FFFFFF"/>
                </a:solidFill>
                <a:latin typeface="맑은 고딕"/>
                <a:ea typeface="맑은 고딕"/>
                <a:cs typeface="맑은 고딕"/>
              </a:rPr>
              <a:t>RoPE: ⟨R(m)q, R(n)k⟩ = qᵀR(n−m)k — 위치를 더하지 않고 Q·K를 회전시켜 상대 위치를 내적에 반영</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자주 생기는 오개념: Transformer 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틀린 문장을 정확한 계산 언어로 바꿔 본다 (원자료 오개념 20가지 중 12–20)</a:t>
            </a:r>
          </a:p>
        </p:txBody>
      </p:sp>
      <p:graphicFrame>
        <p:nvGraphicFramePr>
          <p:cNvPr id="8" name="Table 7"/>
          <p:cNvGraphicFramePr>
            <a:graphicFrameLocks noGrp="1"/>
          </p:cNvGraphicFramePr>
          <p:nvPr/>
        </p:nvGraphicFramePr>
        <p:xfrm>
          <a:off x="457200" y="1691640"/>
          <a:ext cx="11274551" cy="3931920"/>
        </p:xfrm>
        <a:graphic>
          <a:graphicData uri="http://schemas.openxmlformats.org/drawingml/2006/table">
            <a:tbl>
              <a:tblPr firstRow="0" bandRow="0">
                <a:tableStyleId>{5940675A-B579-460E-94D1-54222C63F5DA}</a:tableStyleId>
              </a:tblPr>
              <a:tblGrid>
                <a:gridCol w="563727"/>
                <a:gridCol w="4697730"/>
                <a:gridCol w="6013094"/>
              </a:tblGrid>
              <a:tr h="411480">
                <a:tc>
                  <a:txBody>
                    <a:bodyPr wrap="square" lIns="54864" rIns="54864" tIns="36576" bIns="36576" anchor="t"/>
                    <a:lstStyle/>
                    <a:p>
                      <a:pPr algn="ctr" marL="0" indent="0">
                        <a:lnSpc>
                          <a:spcPct val="115000"/>
                        </a:lnSpc>
                        <a:spcAft>
                          <a:spcPts val="0"/>
                        </a:spcAft>
                        <a:buNone/>
                      </a:pPr>
                      <a:r>
                        <a:rPr sz="1500" b="1">
                          <a:solidFill>
                            <a:srgbClr val="FFFFFF"/>
                          </a:solidFill>
                          <a:latin typeface="맑은 고딕"/>
                          <a:ea typeface="맑은 고딕"/>
                          <a:cs typeface="맑은 고딕"/>
                        </a:rPr>
                        <a:t>#</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c>
                  <a:txBody>
                    <a:bodyPr wrap="square" lIns="54864" rIns="54864" tIns="36576" bIns="36576" anchor="t"/>
                    <a:lstStyle/>
                    <a:p>
                      <a:pPr algn="ctr" marL="0" indent="0">
                        <a:lnSpc>
                          <a:spcPct val="115000"/>
                        </a:lnSpc>
                        <a:spcAft>
                          <a:spcPts val="0"/>
                        </a:spcAft>
                        <a:buNone/>
                      </a:pPr>
                      <a:r>
                        <a:rPr sz="1500" b="1">
                          <a:solidFill>
                            <a:srgbClr val="FFFFFF"/>
                          </a:solidFill>
                          <a:latin typeface="맑은 고딕"/>
                          <a:ea typeface="맑은 고딕"/>
                          <a:cs typeface="맑은 고딕"/>
                        </a:rPr>
                        <a:t>흔한 표현</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c>
                  <a:txBody>
                    <a:bodyPr wrap="square" lIns="54864" rIns="54864" tIns="36576" bIns="36576" anchor="t"/>
                    <a:lstStyle/>
                    <a:p>
                      <a:pPr algn="ctr" marL="0" indent="0">
                        <a:lnSpc>
                          <a:spcPct val="115000"/>
                        </a:lnSpc>
                        <a:spcAft>
                          <a:spcPts val="0"/>
                        </a:spcAft>
                        <a:buNone/>
                      </a:pPr>
                      <a:r>
                        <a:rPr sz="1500" b="1">
                          <a:solidFill>
                            <a:srgbClr val="FFFFFF"/>
                          </a:solidFill>
                          <a:latin typeface="맑은 고딕"/>
                          <a:ea typeface="맑은 고딕"/>
                          <a:cs typeface="맑은 고딕"/>
                        </a:rPr>
                        <a:t>더 정확한 설명</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r>
              <a:tr h="411480">
                <a:tc>
                  <a:txBody>
                    <a:bodyPr wrap="square" lIns="54864" rIns="54864" tIns="36576" bIns="36576" anchor="t"/>
                    <a:lstStyle/>
                    <a:p>
                      <a:pPr algn="l" marL="0" indent="0">
                        <a:lnSpc>
                          <a:spcPct val="115000"/>
                        </a:lnSpc>
                        <a:spcAft>
                          <a:spcPts val="0"/>
                        </a:spcAft>
                        <a:buNone/>
                      </a:pPr>
                      <a:r>
                        <a:rPr sz="1500" b="1">
                          <a:solidFill>
                            <a:srgbClr val="1F2D3D"/>
                          </a:solidFill>
                          <a:latin typeface="맑은 고딕"/>
                          <a:ea typeface="맑은 고딕"/>
                          <a:cs typeface="맑은 고딕"/>
                        </a:rPr>
                        <a:t>12</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FFN은 다른 토큰을 다시 섞는다</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FFN 자체는 각 위치의 특징을 독립적으로 변환한다</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640080">
                <a:tc>
                  <a:txBody>
                    <a:bodyPr wrap="square" lIns="54864" rIns="54864" tIns="36576" bIns="36576" anchor="t"/>
                    <a:lstStyle/>
                    <a:p>
                      <a:pPr algn="l" marL="0" indent="0">
                        <a:lnSpc>
                          <a:spcPct val="115000"/>
                        </a:lnSpc>
                        <a:spcAft>
                          <a:spcPts val="0"/>
                        </a:spcAft>
                        <a:buNone/>
                      </a:pPr>
                      <a:r>
                        <a:rPr sz="1500" b="1">
                          <a:solidFill>
                            <a:srgbClr val="1F2D3D"/>
                          </a:solidFill>
                          <a:latin typeface="맑은 고딕"/>
                          <a:ea typeface="맑은 고딕"/>
                          <a:cs typeface="맑은 고딕"/>
                        </a:rPr>
                        <a:t>13</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LayerNorm은 Batch 전체를 정규화한다</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전형적 Transformer에서는 각 token의 마지막 특징 축을 정규화한다</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r h="411480">
                <a:tc>
                  <a:txBody>
                    <a:bodyPr wrap="square" lIns="54864" rIns="54864" tIns="36576" bIns="36576" anchor="t"/>
                    <a:lstStyle/>
                    <a:p>
                      <a:pPr algn="l" marL="0" indent="0">
                        <a:lnSpc>
                          <a:spcPct val="115000"/>
                        </a:lnSpc>
                        <a:spcAft>
                          <a:spcPts val="0"/>
                        </a:spcAft>
                        <a:buNone/>
                      </a:pPr>
                      <a:r>
                        <a:rPr sz="1500" b="1">
                          <a:solidFill>
                            <a:srgbClr val="1F2D3D"/>
                          </a:solidFill>
                          <a:latin typeface="맑은 고딕"/>
                          <a:ea typeface="맑은 고딕"/>
                          <a:cs typeface="맑은 고딕"/>
                        </a:rPr>
                        <a:t>15</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미래 점수를 0으로 만들면 mask가 된다</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Softmax 전 −∞ 등으로 차단한다 — exp(0)은 1이다</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411480">
                <a:tc>
                  <a:txBody>
                    <a:bodyPr wrap="square" lIns="54864" rIns="54864" tIns="36576" bIns="36576" anchor="t"/>
                    <a:lstStyle/>
                    <a:p>
                      <a:pPr algn="l" marL="0" indent="0">
                        <a:lnSpc>
                          <a:spcPct val="115000"/>
                        </a:lnSpc>
                        <a:spcAft>
                          <a:spcPts val="0"/>
                        </a:spcAft>
                        <a:buNone/>
                      </a:pPr>
                      <a:r>
                        <a:rPr sz="1500" b="1">
                          <a:solidFill>
                            <a:srgbClr val="1F2D3D"/>
                          </a:solidFill>
                          <a:latin typeface="맑은 고딕"/>
                          <a:ea typeface="맑은 고딕"/>
                          <a:cs typeface="맑은 고딕"/>
                        </a:rPr>
                        <a:t>16</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학습 입력에 정답이 있으면 무조건 누출이다</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shift된 목표와 허용 정보 범위를 함께 봐야 한다</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r h="411480">
                <a:tc>
                  <a:txBody>
                    <a:bodyPr wrap="square" lIns="54864" rIns="54864" tIns="36576" bIns="36576" anchor="t"/>
                    <a:lstStyle/>
                    <a:p>
                      <a:pPr algn="l" marL="0" indent="0">
                        <a:lnSpc>
                          <a:spcPct val="115000"/>
                        </a:lnSpc>
                        <a:spcAft>
                          <a:spcPts val="0"/>
                        </a:spcAft>
                        <a:buNone/>
                      </a:pPr>
                      <a:r>
                        <a:rPr sz="1500" b="1">
                          <a:solidFill>
                            <a:srgbClr val="1F2D3D"/>
                          </a:solidFill>
                          <a:latin typeface="맑은 고딕"/>
                          <a:ea typeface="맑은 고딕"/>
                          <a:cs typeface="맑은 고딕"/>
                        </a:rPr>
                        <a:t>17</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Transformer는 모든 토큰을 동시에 생성한다</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teacher-forced 학습의 위치 병렬성과 자기회귀 생성은 다르다</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411480">
                <a:tc>
                  <a:txBody>
                    <a:bodyPr wrap="square" lIns="54864" rIns="54864" tIns="36576" bIns="36576" anchor="t"/>
                    <a:lstStyle/>
                    <a:p>
                      <a:pPr algn="l" marL="0" indent="0">
                        <a:lnSpc>
                          <a:spcPct val="115000"/>
                        </a:lnSpc>
                        <a:spcAft>
                          <a:spcPts val="0"/>
                        </a:spcAft>
                        <a:buNone/>
                      </a:pPr>
                      <a:r>
                        <a:rPr sz="1500" b="1">
                          <a:solidFill>
                            <a:srgbClr val="1F2D3D"/>
                          </a:solidFill>
                          <a:latin typeface="맑은 고딕"/>
                          <a:ea typeface="맑은 고딕"/>
                          <a:cs typeface="맑은 고딕"/>
                        </a:rPr>
                        <a:t>18</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Attention이 N²이므로 전체 비용도 N²뿐이다</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선형 투영·FFN의 Nd² 항과 기타 비용이 있다</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r h="411480">
                <a:tc>
                  <a:txBody>
                    <a:bodyPr wrap="square" lIns="54864" rIns="54864" tIns="36576" bIns="36576" anchor="t"/>
                    <a:lstStyle/>
                    <a:p>
                      <a:pPr algn="l" marL="0" indent="0">
                        <a:lnSpc>
                          <a:spcPct val="115000"/>
                        </a:lnSpc>
                        <a:spcAft>
                          <a:spcPts val="0"/>
                        </a:spcAft>
                        <a:buNone/>
                      </a:pPr>
                      <a:r>
                        <a:rPr sz="1500" b="1">
                          <a:solidFill>
                            <a:srgbClr val="1F2D3D"/>
                          </a:solidFill>
                          <a:latin typeface="맑은 고딕"/>
                          <a:ea typeface="맑은 고딕"/>
                          <a:cs typeface="맑은 고딕"/>
                        </a:rPr>
                        <a:t>19</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KV Cache가 있으면 과거 문맥 비용이 사라진다</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과거 K/V 재계산을 줄이지만 새 Q의 문맥 참조는 남는다</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411480">
                <a:tc>
                  <a:txBody>
                    <a:bodyPr wrap="square" lIns="54864" rIns="54864" tIns="36576" bIns="36576" anchor="t"/>
                    <a:lstStyle/>
                    <a:p>
                      <a:pPr algn="l" marL="0" indent="0">
                        <a:lnSpc>
                          <a:spcPct val="115000"/>
                        </a:lnSpc>
                        <a:spcAft>
                          <a:spcPts val="0"/>
                        </a:spcAft>
                        <a:buNone/>
                      </a:pPr>
                      <a:r>
                        <a:rPr sz="1500" b="1">
                          <a:solidFill>
                            <a:srgbClr val="1F2D3D"/>
                          </a:solidFill>
                          <a:latin typeface="맑은 고딕"/>
                          <a:ea typeface="맑은 고딕"/>
                          <a:cs typeface="맑은 고딕"/>
                        </a:rPr>
                        <a:t>20</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Attention heatmap은 모델의 생각을 증명한다</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500" b="0">
                          <a:solidFill>
                            <a:srgbClr val="1F2D3D"/>
                          </a:solidFill>
                          <a:latin typeface="맑은 고딕"/>
                          <a:ea typeface="맑은 고딕"/>
                          <a:cs typeface="맑은 고딕"/>
                        </a:rPr>
                        <a:t>관찰 자료이며 인과 설명은 별도 검증이 필요하다 [39][40]</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bl>
          </a:graphicData>
        </a:graphic>
      </p:graphicFrame>
      <p:sp>
        <p:nvSpPr>
          <p:cNvPr id="9" name="Rounded Rectangle 8"/>
          <p:cNvSpPr/>
          <p:nvPr/>
        </p:nvSpPr>
        <p:spPr>
          <a:xfrm>
            <a:off x="457200" y="5788152"/>
            <a:ext cx="11274552" cy="548640"/>
          </a:xfrm>
          <a:prstGeom prst="roundRect">
            <a:avLst>
              <a:gd name="adj" fmla="val 13333"/>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Aft>
                <a:spcPts val="300"/>
              </a:spcAft>
              <a:buNone/>
            </a:pPr>
            <a:r>
              <a:rPr sz="1200" b="1">
                <a:solidFill>
                  <a:srgbClr val="FFFFFF"/>
                </a:solidFill>
                <a:latin typeface="맑은 고딕"/>
                <a:ea typeface="맑은 고딕"/>
                <a:cs typeface="맑은 고딕"/>
              </a:rPr>
              <a:t>실무 점검: softmax 축 = Key 축? · reshape 순서 · eval() ≠ no_grad · attention PAD mask와 loss PAD 제외 둘 다 · teacher-forced ≠ 생성 성능</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더 좋은 설명의 형식</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Rounded Rectangle 6"/>
          <p:cNvSpPr/>
          <p:nvPr/>
        </p:nvSpPr>
        <p:spPr>
          <a:xfrm>
            <a:off x="457200" y="1051560"/>
            <a:ext cx="5271516" cy="4526280"/>
          </a:xfrm>
          <a:prstGeom prst="roundRect">
            <a:avLst>
              <a:gd name="adj" fmla="val 1616"/>
            </a:avLst>
          </a:prstGeom>
          <a:solidFill>
            <a:srgbClr val="FD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85800" y="1143000"/>
            <a:ext cx="4814316" cy="594360"/>
          </a:xfrm>
          <a:prstGeom prst="rect">
            <a:avLst/>
          </a:prstGeom>
          <a:noFill/>
        </p:spPr>
        <p:txBody>
          <a:bodyPr wrap="square" lIns="73152" rIns="73152" tIns="36576" bIns="36576" anchor="ctr"/>
          <a:lstStyle/>
          <a:p>
            <a:pPr algn="l" marL="0" indent="0">
              <a:lnSpc>
                <a:spcPct val="115000"/>
              </a:lnSpc>
              <a:spcAft>
                <a:spcPts val="735"/>
              </a:spcAft>
              <a:buNone/>
            </a:pPr>
            <a:r>
              <a:rPr sz="2100" b="1">
                <a:solidFill>
                  <a:srgbClr val="E07A2F"/>
                </a:solidFill>
                <a:latin typeface="맑은 고딕"/>
                <a:ea typeface="맑은 고딕"/>
                <a:cs typeface="맑은 고딕"/>
              </a:rPr>
              <a:t>피할 표현</a:t>
            </a:r>
          </a:p>
        </p:txBody>
      </p:sp>
      <p:sp>
        <p:nvSpPr>
          <p:cNvPr id="9" name="TextBox 8"/>
          <p:cNvSpPr txBox="1"/>
          <p:nvPr/>
        </p:nvSpPr>
        <p:spPr>
          <a:xfrm>
            <a:off x="685800" y="1828800"/>
            <a:ext cx="4814316" cy="3611880"/>
          </a:xfrm>
          <a:prstGeom prst="rect">
            <a:avLst/>
          </a:prstGeom>
          <a:noFill/>
        </p:spPr>
        <p:txBody>
          <a:bodyPr wrap="square" lIns="73152" rIns="73152" tIns="36576" bIns="36576" anchor="t"/>
          <a:lstStyle/>
          <a:p>
            <a:pPr algn="l" marL="310896" indent="-265176">
              <a:lnSpc>
                <a:spcPct val="115000"/>
              </a:lnSpc>
              <a:spcAft>
                <a:spcPts val="720"/>
              </a:spcAft>
              <a:buClr>
                <a:srgbClr val="0F6C8C"/>
              </a:buClr>
              <a:buFont typeface="Arial"/>
              <a:buChar char="•"/>
            </a:pPr>
            <a:r>
              <a:rPr sz="1600" b="0">
                <a:solidFill>
                  <a:srgbClr val="1F2D3D"/>
                </a:solidFill>
                <a:latin typeface="맑은 고딕"/>
                <a:ea typeface="맑은 고딕"/>
                <a:cs typeface="맑은 고딕"/>
              </a:rPr>
              <a:t>“이 Head는 주어를 이해한다”</a:t>
            </a:r>
          </a:p>
          <a:p>
            <a:pPr algn="l" marL="310896" indent="-265176">
              <a:lnSpc>
                <a:spcPct val="115000"/>
              </a:lnSpc>
              <a:spcAft>
                <a:spcPts val="720"/>
              </a:spcAft>
              <a:buClr>
                <a:srgbClr val="0F6C8C"/>
              </a:buClr>
              <a:buFont typeface="Arial"/>
              <a:buChar char="•"/>
            </a:pPr>
            <a:r>
              <a:rPr sz="1600" b="0">
                <a:solidFill>
                  <a:srgbClr val="1F2D3D"/>
                </a:solidFill>
                <a:latin typeface="맑은 고딕"/>
                <a:ea typeface="맑은 고딕"/>
                <a:cs typeface="맑은 고딕"/>
              </a:rPr>
              <a:t>“이 구조는 항상 빠르다”</a:t>
            </a:r>
          </a:p>
          <a:p>
            <a:pPr algn="l" marL="310896" indent="-265176">
              <a:lnSpc>
                <a:spcPct val="115000"/>
              </a:lnSpc>
              <a:spcAft>
                <a:spcPts val="720"/>
              </a:spcAft>
              <a:buClr>
                <a:srgbClr val="0F6C8C"/>
              </a:buClr>
              <a:buFont typeface="Arial"/>
              <a:buChar char="•"/>
            </a:pPr>
            <a:r>
              <a:rPr sz="1600" b="0">
                <a:solidFill>
                  <a:srgbClr val="1F2D3D"/>
                </a:solidFill>
                <a:latin typeface="맑은 고딕"/>
                <a:ea typeface="맑은 고딕"/>
                <a:cs typeface="맑은 고딕"/>
              </a:rPr>
              <a:t>“train loss가 낮으니 생성도 잘한다”</a:t>
            </a:r>
          </a:p>
          <a:p>
            <a:pPr algn="l" marL="310896" indent="-265176">
              <a:lnSpc>
                <a:spcPct val="115000"/>
              </a:lnSpc>
              <a:spcAft>
                <a:spcPts val="720"/>
              </a:spcAft>
              <a:buClr>
                <a:srgbClr val="0F6C8C"/>
              </a:buClr>
              <a:buFont typeface="Arial"/>
              <a:buChar char="•"/>
            </a:pPr>
            <a:r>
              <a:rPr sz="1600" b="0">
                <a:solidFill>
                  <a:srgbClr val="1F2D3D"/>
                </a:solidFill>
                <a:latin typeface="맑은 고딕"/>
                <a:ea typeface="맑은 고딕"/>
                <a:cs typeface="맑은 고딕"/>
              </a:rPr>
              <a:t>“Attention heatmap이 모델의 생각을 보여 준다”</a:t>
            </a:r>
          </a:p>
        </p:txBody>
      </p:sp>
      <p:sp>
        <p:nvSpPr>
          <p:cNvPr id="10" name="Rounded Rectangle 9"/>
          <p:cNvSpPr/>
          <p:nvPr/>
        </p:nvSpPr>
        <p:spPr>
          <a:xfrm>
            <a:off x="6460236" y="1051560"/>
            <a:ext cx="5271516" cy="4526280"/>
          </a:xfrm>
          <a:prstGeom prst="roundRect">
            <a:avLst>
              <a:gd name="adj" fmla="val 1616"/>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688836" y="1143000"/>
            <a:ext cx="4814316" cy="594360"/>
          </a:xfrm>
          <a:prstGeom prst="rect">
            <a:avLst/>
          </a:prstGeom>
          <a:noFill/>
        </p:spPr>
        <p:txBody>
          <a:bodyPr wrap="square" lIns="73152" rIns="73152" tIns="36576" bIns="36576" anchor="ctr"/>
          <a:lstStyle/>
          <a:p>
            <a:pPr algn="l" marL="0" indent="0">
              <a:lnSpc>
                <a:spcPct val="115000"/>
              </a:lnSpc>
              <a:spcAft>
                <a:spcPts val="735"/>
              </a:spcAft>
              <a:buNone/>
            </a:pPr>
            <a:r>
              <a:rPr sz="2100" b="1">
                <a:solidFill>
                  <a:srgbClr val="0F6C8C"/>
                </a:solidFill>
                <a:latin typeface="맑은 고딕"/>
                <a:ea typeface="맑은 고딕"/>
                <a:cs typeface="맑은 고딕"/>
              </a:rPr>
              <a:t>더 정확한 표현</a:t>
            </a:r>
          </a:p>
        </p:txBody>
      </p:sp>
      <p:sp>
        <p:nvSpPr>
          <p:cNvPr id="12" name="TextBox 11"/>
          <p:cNvSpPr txBox="1"/>
          <p:nvPr/>
        </p:nvSpPr>
        <p:spPr>
          <a:xfrm>
            <a:off x="6688836" y="1828800"/>
            <a:ext cx="4814316" cy="3611880"/>
          </a:xfrm>
          <a:prstGeom prst="rect">
            <a:avLst/>
          </a:prstGeom>
          <a:noFill/>
        </p:spPr>
        <p:txBody>
          <a:bodyPr wrap="square" lIns="73152" rIns="73152" tIns="36576" bIns="36576" anchor="t"/>
          <a:lstStyle/>
          <a:p>
            <a:pPr algn="l" marL="310896" indent="-265176">
              <a:lnSpc>
                <a:spcPct val="115000"/>
              </a:lnSpc>
              <a:spcAft>
                <a:spcPts val="720"/>
              </a:spcAft>
              <a:buClr>
                <a:srgbClr val="0F6C8C"/>
              </a:buClr>
              <a:buFont typeface="Arial"/>
              <a:buChar char="•"/>
            </a:pPr>
            <a:r>
              <a:rPr sz="1600" b="0">
                <a:solidFill>
                  <a:srgbClr val="1F2D3D"/>
                </a:solidFill>
                <a:latin typeface="맑은 고딕"/>
                <a:ea typeface="맑은 고딕"/>
                <a:cs typeface="맑은 고딕"/>
              </a:rPr>
              <a:t>“이 입력들에서 특정 위치에 높은 가중치가 </a:t>
            </a:r>
            <a:r>
              <a:rPr sz="1600" b="1">
                <a:solidFill>
                  <a:srgbClr val="1F2D3D"/>
                </a:solidFill>
                <a:latin typeface="맑은 고딕"/>
                <a:ea typeface="맑은 고딕"/>
                <a:cs typeface="맑은 고딕"/>
              </a:rPr>
              <a:t>관찰</a:t>
            </a:r>
            <a:r>
              <a:rPr sz="1600" b="0">
                <a:solidFill>
                  <a:srgbClr val="1F2D3D"/>
                </a:solidFill>
                <a:latin typeface="맑은 고딕"/>
                <a:ea typeface="맑은 고딕"/>
                <a:cs typeface="맑은 고딕"/>
              </a:rPr>
              <a:t>되었다”</a:t>
            </a:r>
          </a:p>
          <a:p>
            <a:pPr algn="l" marL="310896" indent="-265176">
              <a:lnSpc>
                <a:spcPct val="115000"/>
              </a:lnSpc>
              <a:spcAft>
                <a:spcPts val="720"/>
              </a:spcAft>
              <a:buClr>
                <a:srgbClr val="0F6C8C"/>
              </a:buClr>
              <a:buFont typeface="Arial"/>
              <a:buChar char="•"/>
            </a:pPr>
            <a:r>
              <a:rPr sz="1600" b="0">
                <a:solidFill>
                  <a:srgbClr val="1F2D3D"/>
                </a:solidFill>
                <a:latin typeface="맑은 고딕"/>
                <a:ea typeface="맑은 고딕"/>
                <a:cs typeface="맑은 고딕"/>
              </a:rPr>
              <a:t>“이 장치·길이·dtype에서 이 방식으로 </a:t>
            </a:r>
            <a:r>
              <a:rPr sz="1600" b="1">
                <a:solidFill>
                  <a:srgbClr val="1F2D3D"/>
                </a:solidFill>
                <a:latin typeface="맑은 고딕"/>
                <a:ea typeface="맑은 고딕"/>
                <a:cs typeface="맑은 고딕"/>
              </a:rPr>
              <a:t>측정</a:t>
            </a:r>
            <a:r>
              <a:rPr sz="1600" b="0">
                <a:solidFill>
                  <a:srgbClr val="1F2D3D"/>
                </a:solidFill>
                <a:latin typeface="맑은 고딕"/>
                <a:ea typeface="맑은 고딕"/>
                <a:cs typeface="맑은 고딕"/>
              </a:rPr>
              <a:t>했을 때 지연이 줄었다”</a:t>
            </a:r>
          </a:p>
          <a:p>
            <a:pPr algn="l" marL="310896" indent="-265176">
              <a:lnSpc>
                <a:spcPct val="115000"/>
              </a:lnSpc>
              <a:spcAft>
                <a:spcPts val="720"/>
              </a:spcAft>
              <a:buClr>
                <a:srgbClr val="0F6C8C"/>
              </a:buClr>
              <a:buFont typeface="Arial"/>
              <a:buChar char="•"/>
            </a:pPr>
            <a:r>
              <a:rPr sz="1600" b="0">
                <a:solidFill>
                  <a:srgbClr val="1F2D3D"/>
                </a:solidFill>
                <a:latin typeface="맑은 고딕"/>
                <a:ea typeface="맑은 고딕"/>
                <a:cs typeface="맑은 고딕"/>
              </a:rPr>
              <a:t>“teacher-forced NLL과 greedy exact match를 </a:t>
            </a:r>
            <a:r>
              <a:rPr sz="1600" b="1">
                <a:solidFill>
                  <a:srgbClr val="1F2D3D"/>
                </a:solidFill>
                <a:latin typeface="맑은 고딕"/>
                <a:ea typeface="맑은 고딕"/>
                <a:cs typeface="맑은 고딕"/>
              </a:rPr>
              <a:t>따로</a:t>
            </a:r>
            <a:r>
              <a:rPr sz="1600" b="0">
                <a:solidFill>
                  <a:srgbClr val="1F2D3D"/>
                </a:solidFill>
                <a:latin typeface="맑은 고딕"/>
                <a:ea typeface="맑은 고딕"/>
                <a:cs typeface="맑은 고딕"/>
              </a:rPr>
              <a:t> 보고한다”</a:t>
            </a:r>
          </a:p>
          <a:p>
            <a:pPr algn="l" marL="310896" indent="-265176">
              <a:lnSpc>
                <a:spcPct val="115000"/>
              </a:lnSpc>
              <a:spcAft>
                <a:spcPts val="720"/>
              </a:spcAft>
              <a:buClr>
                <a:srgbClr val="0F6C8C"/>
              </a:buClr>
              <a:buFont typeface="Arial"/>
              <a:buChar char="•"/>
            </a:pPr>
            <a:r>
              <a:rPr sz="1600" b="0">
                <a:solidFill>
                  <a:srgbClr val="1F2D3D"/>
                </a:solidFill>
                <a:latin typeface="맑은 고딕"/>
                <a:ea typeface="맑은 고딕"/>
                <a:cs typeface="맑은 고딕"/>
              </a:rPr>
              <a:t>“heatmap은 관찰 자료 — 인과 설명은 추가 </a:t>
            </a:r>
            <a:r>
              <a:rPr sz="1600" b="1">
                <a:solidFill>
                  <a:srgbClr val="1F2D3D"/>
                </a:solidFill>
                <a:latin typeface="맑은 고딕"/>
                <a:ea typeface="맑은 고딕"/>
                <a:cs typeface="맑은 고딕"/>
              </a:rPr>
              <a:t>검증</a:t>
            </a:r>
            <a:r>
              <a:rPr sz="1600" b="0">
                <a:solidFill>
                  <a:srgbClr val="1F2D3D"/>
                </a:solidFill>
                <a:latin typeface="맑은 고딕"/>
                <a:ea typeface="맑은 고딕"/>
                <a:cs typeface="맑은 고딕"/>
              </a:rPr>
              <a:t>이 필요하다”</a:t>
            </a:r>
          </a:p>
        </p:txBody>
      </p:sp>
      <p:sp>
        <p:nvSpPr>
          <p:cNvPr id="13" name="Oval 12"/>
          <p:cNvSpPr/>
          <p:nvPr/>
        </p:nvSpPr>
        <p:spPr>
          <a:xfrm>
            <a:off x="5820156" y="3040380"/>
            <a:ext cx="548640" cy="548640"/>
          </a:xfrm>
          <a:prstGeom prst="ellipse">
            <a:avLst/>
          </a:prstGeom>
          <a:solidFill>
            <a:srgbClr val="3FA7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450"/>
              </a:spcAft>
              <a:buNone/>
            </a:pPr>
            <a:r>
              <a:rPr sz="1800" b="1">
                <a:solidFill>
                  <a:srgbClr val="FFFFFF"/>
                </a:solidFill>
                <a:latin typeface="맑은 고딕"/>
                <a:ea typeface="맑은 고딕"/>
                <a:cs typeface="맑은 고딕"/>
              </a:rPr>
              <a:t>→</a:t>
            </a:r>
          </a:p>
        </p:txBody>
      </p:sp>
      <p:sp>
        <p:nvSpPr>
          <p:cNvPr id="14" name="Rounded Rectangle 13"/>
          <p:cNvSpPr/>
          <p:nvPr/>
        </p:nvSpPr>
        <p:spPr>
          <a:xfrm>
            <a:off x="457200" y="5788152"/>
            <a:ext cx="11274552" cy="548640"/>
          </a:xfrm>
          <a:prstGeom prst="roundRect">
            <a:avLst>
              <a:gd name="adj" fmla="val 13333"/>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Aft>
                <a:spcPts val="400"/>
              </a:spcAft>
              <a:buNone/>
            </a:pPr>
            <a:r>
              <a:rPr sz="1600" b="1">
                <a:solidFill>
                  <a:srgbClr val="FFFFFF"/>
                </a:solidFill>
                <a:latin typeface="맑은 고딕"/>
                <a:ea typeface="맑은 고딕"/>
                <a:cs typeface="맑은 고딕"/>
              </a:rPr>
              <a:t>사실 · 관찰 · 가설을 분리하면 연구와 강의가 모두 명확해진다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개념 확인 11–14</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답을 고르고, 왜 다른 보기가 틀렸는지 계산으로 설명한다</a:t>
            </a:r>
          </a:p>
        </p:txBody>
      </p:sp>
      <p:sp>
        <p:nvSpPr>
          <p:cNvPr id="8" name="Rounded Rectangle 7"/>
          <p:cNvSpPr/>
          <p:nvPr/>
        </p:nvSpPr>
        <p:spPr>
          <a:xfrm>
            <a:off x="457200" y="1691640"/>
            <a:ext cx="11274552" cy="1028700"/>
          </a:xfrm>
          <a:prstGeom prst="roundRect">
            <a:avLst>
              <a:gd name="adj" fmla="val 7111"/>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40080" y="1954530"/>
            <a:ext cx="502920" cy="502920"/>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25"/>
              </a:spcAft>
              <a:buNone/>
            </a:pPr>
            <a:r>
              <a:rPr sz="1300" b="1">
                <a:solidFill>
                  <a:srgbClr val="FFFFFF"/>
                </a:solidFill>
                <a:latin typeface="맑은 고딕"/>
                <a:ea typeface="맑은 고딕"/>
                <a:cs typeface="맑은 고딕"/>
              </a:rPr>
              <a:t>Q1</a:t>
            </a:r>
          </a:p>
        </p:txBody>
      </p:sp>
      <p:sp>
        <p:nvSpPr>
          <p:cNvPr id="10" name="TextBox 9"/>
          <p:cNvSpPr txBox="1"/>
          <p:nvPr/>
        </p:nvSpPr>
        <p:spPr>
          <a:xfrm>
            <a:off x="1325880" y="1691640"/>
            <a:ext cx="10268712" cy="1028700"/>
          </a:xfrm>
          <a:prstGeom prst="rect">
            <a:avLst/>
          </a:prstGeom>
          <a:noFill/>
        </p:spPr>
        <p:txBody>
          <a:bodyPr wrap="square" lIns="73152" rIns="73152" tIns="36576" bIns="36576" anchor="ctr"/>
          <a:lstStyle/>
          <a:p>
            <a:pPr algn="l" marL="0" indent="0">
              <a:lnSpc>
                <a:spcPct val="115000"/>
              </a:lnSpc>
              <a:spcAft>
                <a:spcPts val="594"/>
              </a:spcAft>
              <a:buNone/>
            </a:pPr>
            <a:r>
              <a:rPr sz="1700" b="0">
                <a:solidFill>
                  <a:srgbClr val="1F2D3D"/>
                </a:solidFill>
                <a:latin typeface="맑은 고딕"/>
                <a:ea typeface="맑은 고딕"/>
                <a:cs typeface="맑은 고딕"/>
              </a:rPr>
              <a:t>FFN은 어떤 계산인가? (A) 위치 간 Value 가중합 (B) 시간 step 순환 갱신 (C) 각 위치 특징의 비선형 변환</a:t>
            </a:r>
          </a:p>
        </p:txBody>
      </p:sp>
      <p:sp>
        <p:nvSpPr>
          <p:cNvPr id="11" name="Rounded Rectangle 10"/>
          <p:cNvSpPr/>
          <p:nvPr/>
        </p:nvSpPr>
        <p:spPr>
          <a:xfrm>
            <a:off x="457200" y="2903220"/>
            <a:ext cx="11274552" cy="1028700"/>
          </a:xfrm>
          <a:prstGeom prst="roundRect">
            <a:avLst>
              <a:gd name="adj" fmla="val 7111"/>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640080" y="3166110"/>
            <a:ext cx="502920" cy="502920"/>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25"/>
              </a:spcAft>
              <a:buNone/>
            </a:pPr>
            <a:r>
              <a:rPr sz="1300" b="1">
                <a:solidFill>
                  <a:srgbClr val="FFFFFF"/>
                </a:solidFill>
                <a:latin typeface="맑은 고딕"/>
                <a:ea typeface="맑은 고딕"/>
                <a:cs typeface="맑은 고딕"/>
              </a:rPr>
              <a:t>Q2</a:t>
            </a:r>
          </a:p>
        </p:txBody>
      </p:sp>
      <p:sp>
        <p:nvSpPr>
          <p:cNvPr id="13" name="TextBox 12"/>
          <p:cNvSpPr txBox="1"/>
          <p:nvPr/>
        </p:nvSpPr>
        <p:spPr>
          <a:xfrm>
            <a:off x="1325880" y="2903220"/>
            <a:ext cx="10268712" cy="1028700"/>
          </a:xfrm>
          <a:prstGeom prst="rect">
            <a:avLst/>
          </a:prstGeom>
          <a:noFill/>
        </p:spPr>
        <p:txBody>
          <a:bodyPr wrap="square" lIns="73152" rIns="73152" tIns="36576" bIns="36576" anchor="ctr"/>
          <a:lstStyle/>
          <a:p>
            <a:pPr algn="l" marL="0" indent="0">
              <a:lnSpc>
                <a:spcPct val="115000"/>
              </a:lnSpc>
              <a:spcAft>
                <a:spcPts val="594"/>
              </a:spcAft>
              <a:buNone/>
            </a:pPr>
            <a:r>
              <a:rPr sz="1700" b="0">
                <a:solidFill>
                  <a:srgbClr val="1F2D3D"/>
                </a:solidFill>
                <a:latin typeface="맑은 고딕"/>
                <a:ea typeface="맑은 고딕"/>
                <a:cs typeface="맑은 고딕"/>
              </a:rPr>
              <a:t>LayerNorm(d)의 전형적인 정규화 범위는? (A) 각 token의 d개 특징 (B) Batch 전체의 같은 특징 (C) token ID 번호</a:t>
            </a:r>
          </a:p>
        </p:txBody>
      </p:sp>
      <p:sp>
        <p:nvSpPr>
          <p:cNvPr id="14" name="Rounded Rectangle 13"/>
          <p:cNvSpPr/>
          <p:nvPr/>
        </p:nvSpPr>
        <p:spPr>
          <a:xfrm>
            <a:off x="457200" y="4114800"/>
            <a:ext cx="11274552" cy="1028700"/>
          </a:xfrm>
          <a:prstGeom prst="roundRect">
            <a:avLst>
              <a:gd name="adj" fmla="val 7111"/>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40080" y="4377690"/>
            <a:ext cx="502920" cy="502920"/>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25"/>
              </a:spcAft>
              <a:buNone/>
            </a:pPr>
            <a:r>
              <a:rPr sz="1300" b="1">
                <a:solidFill>
                  <a:srgbClr val="FFFFFF"/>
                </a:solidFill>
                <a:latin typeface="맑은 고딕"/>
                <a:ea typeface="맑은 고딕"/>
                <a:cs typeface="맑은 고딕"/>
              </a:rPr>
              <a:t>Q3</a:t>
            </a:r>
          </a:p>
        </p:txBody>
      </p:sp>
      <p:sp>
        <p:nvSpPr>
          <p:cNvPr id="16" name="TextBox 15"/>
          <p:cNvSpPr txBox="1"/>
          <p:nvPr/>
        </p:nvSpPr>
        <p:spPr>
          <a:xfrm>
            <a:off x="1325880" y="4114800"/>
            <a:ext cx="10268712" cy="1028700"/>
          </a:xfrm>
          <a:prstGeom prst="rect">
            <a:avLst/>
          </a:prstGeom>
          <a:noFill/>
        </p:spPr>
        <p:txBody>
          <a:bodyPr wrap="square" lIns="73152" rIns="73152" tIns="36576" bIns="36576" anchor="ctr"/>
          <a:lstStyle/>
          <a:p>
            <a:pPr algn="l" marL="0" indent="0">
              <a:lnSpc>
                <a:spcPct val="115000"/>
              </a:lnSpc>
              <a:spcAft>
                <a:spcPts val="594"/>
              </a:spcAft>
              <a:buNone/>
            </a:pPr>
            <a:r>
              <a:rPr sz="1700" b="0">
                <a:solidFill>
                  <a:srgbClr val="1F2D3D"/>
                </a:solidFill>
                <a:latin typeface="맑은 고딕"/>
                <a:ea typeface="맑은 고딕"/>
                <a:cs typeface="맑은 고딕"/>
              </a:rPr>
              <a:t>위치·mask가 없는 self-attention에서 입력 순서를 섞으면? (A) 출력이 완전히 같다 (B) 출력도 같은 순열로 섞인다 (C) 0이 된다</a:t>
            </a:r>
          </a:p>
        </p:txBody>
      </p:sp>
      <p:sp>
        <p:nvSpPr>
          <p:cNvPr id="17" name="Rounded Rectangle 16"/>
          <p:cNvSpPr/>
          <p:nvPr/>
        </p:nvSpPr>
        <p:spPr>
          <a:xfrm>
            <a:off x="457200" y="5326379"/>
            <a:ext cx="11274552" cy="1028700"/>
          </a:xfrm>
          <a:prstGeom prst="roundRect">
            <a:avLst>
              <a:gd name="adj" fmla="val 7111"/>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40080" y="5589269"/>
            <a:ext cx="502920" cy="502920"/>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25"/>
              </a:spcAft>
              <a:buNone/>
            </a:pPr>
            <a:r>
              <a:rPr sz="1300" b="1">
                <a:solidFill>
                  <a:srgbClr val="FFFFFF"/>
                </a:solidFill>
                <a:latin typeface="맑은 고딕"/>
                <a:ea typeface="맑은 고딕"/>
                <a:cs typeface="맑은 고딕"/>
              </a:rPr>
              <a:t>Q4</a:t>
            </a:r>
          </a:p>
        </p:txBody>
      </p:sp>
      <p:sp>
        <p:nvSpPr>
          <p:cNvPr id="19" name="TextBox 18"/>
          <p:cNvSpPr txBox="1"/>
          <p:nvPr/>
        </p:nvSpPr>
        <p:spPr>
          <a:xfrm>
            <a:off x="1325880" y="5326379"/>
            <a:ext cx="10268712" cy="1028700"/>
          </a:xfrm>
          <a:prstGeom prst="rect">
            <a:avLst/>
          </a:prstGeom>
          <a:noFill/>
        </p:spPr>
        <p:txBody>
          <a:bodyPr wrap="square" lIns="73152" rIns="73152" tIns="36576" bIns="36576" anchor="ctr"/>
          <a:lstStyle/>
          <a:p>
            <a:pPr algn="l" marL="0" indent="0">
              <a:lnSpc>
                <a:spcPct val="115000"/>
              </a:lnSpc>
              <a:spcAft>
                <a:spcPts val="594"/>
              </a:spcAft>
              <a:buNone/>
            </a:pPr>
            <a:r>
              <a:rPr sz="1700" b="0">
                <a:solidFill>
                  <a:srgbClr val="1F2D3D"/>
                </a:solidFill>
                <a:latin typeface="맑은 고딕"/>
                <a:ea typeface="맑은 고딕"/>
                <a:cs typeface="맑은 고딕"/>
              </a:rPr>
              <a:t>CrossEntropyLoss에 일반적으로 전달하는 값은? (A) softmax를 두 번 한 확률 (B) argmax token ID (C) 정규화 전 logits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개념 확인 15–18</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16번은 앞의 비용 막대그래프, 17번은 KV Cache 그림으로 돌아가 확인</a:t>
            </a:r>
          </a:p>
        </p:txBody>
      </p:sp>
      <p:sp>
        <p:nvSpPr>
          <p:cNvPr id="8" name="Rounded Rectangle 7"/>
          <p:cNvSpPr/>
          <p:nvPr/>
        </p:nvSpPr>
        <p:spPr>
          <a:xfrm>
            <a:off x="457200" y="1691640"/>
            <a:ext cx="11274552" cy="1028700"/>
          </a:xfrm>
          <a:prstGeom prst="roundRect">
            <a:avLst>
              <a:gd name="adj" fmla="val 7111"/>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40080" y="1954530"/>
            <a:ext cx="502920" cy="502920"/>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25"/>
              </a:spcAft>
              <a:buNone/>
            </a:pPr>
            <a:r>
              <a:rPr sz="1300" b="1">
                <a:solidFill>
                  <a:srgbClr val="FFFFFF"/>
                </a:solidFill>
                <a:latin typeface="맑은 고딕"/>
                <a:ea typeface="맑은 고딕"/>
                <a:cs typeface="맑은 고딕"/>
              </a:rPr>
              <a:t>Q1</a:t>
            </a:r>
          </a:p>
        </p:txBody>
      </p:sp>
      <p:sp>
        <p:nvSpPr>
          <p:cNvPr id="10" name="TextBox 9"/>
          <p:cNvSpPr txBox="1"/>
          <p:nvPr/>
        </p:nvSpPr>
        <p:spPr>
          <a:xfrm>
            <a:off x="1325880" y="1691640"/>
            <a:ext cx="10268712" cy="1028700"/>
          </a:xfrm>
          <a:prstGeom prst="rect">
            <a:avLst/>
          </a:prstGeom>
          <a:noFill/>
        </p:spPr>
        <p:txBody>
          <a:bodyPr wrap="square" lIns="73152" rIns="73152" tIns="36576" bIns="36576" anchor="ctr"/>
          <a:lstStyle/>
          <a:p>
            <a:pPr algn="l" marL="0" indent="0">
              <a:lnSpc>
                <a:spcPct val="115000"/>
              </a:lnSpc>
              <a:spcAft>
                <a:spcPts val="594"/>
              </a:spcAft>
              <a:buNone/>
            </a:pPr>
            <a:r>
              <a:rPr sz="1700" b="0">
                <a:solidFill>
                  <a:srgbClr val="1F2D3D"/>
                </a:solidFill>
                <a:latin typeface="맑은 고딕"/>
                <a:ea typeface="맑은 고딕"/>
                <a:cs typeface="맑은 고딕"/>
              </a:rPr>
              <a:t>병렬 학습과 자기회귀 생성은? (A) 동시에 성립할 수 있다 (B) 서로 모순이다 (C) 둘 다 미래 정답이 필요하다</a:t>
            </a:r>
          </a:p>
        </p:txBody>
      </p:sp>
      <p:sp>
        <p:nvSpPr>
          <p:cNvPr id="11" name="Rounded Rectangle 10"/>
          <p:cNvSpPr/>
          <p:nvPr/>
        </p:nvSpPr>
        <p:spPr>
          <a:xfrm>
            <a:off x="457200" y="2903220"/>
            <a:ext cx="11274552" cy="1028700"/>
          </a:xfrm>
          <a:prstGeom prst="roundRect">
            <a:avLst>
              <a:gd name="adj" fmla="val 7111"/>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640080" y="3166110"/>
            <a:ext cx="502920" cy="502920"/>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25"/>
              </a:spcAft>
              <a:buNone/>
            </a:pPr>
            <a:r>
              <a:rPr sz="1300" b="1">
                <a:solidFill>
                  <a:srgbClr val="FFFFFF"/>
                </a:solidFill>
                <a:latin typeface="맑은 고딕"/>
                <a:ea typeface="맑은 고딕"/>
                <a:cs typeface="맑은 고딕"/>
              </a:rPr>
              <a:t>Q2</a:t>
            </a:r>
          </a:p>
        </p:txBody>
      </p:sp>
      <p:sp>
        <p:nvSpPr>
          <p:cNvPr id="13" name="TextBox 12"/>
          <p:cNvSpPr txBox="1"/>
          <p:nvPr/>
        </p:nvSpPr>
        <p:spPr>
          <a:xfrm>
            <a:off x="1325880" y="2903220"/>
            <a:ext cx="10268712" cy="1028700"/>
          </a:xfrm>
          <a:prstGeom prst="rect">
            <a:avLst/>
          </a:prstGeom>
          <a:noFill/>
        </p:spPr>
        <p:txBody>
          <a:bodyPr wrap="square" lIns="73152" rIns="73152" tIns="36576" bIns="36576" anchor="ctr"/>
          <a:lstStyle/>
          <a:p>
            <a:pPr algn="l" marL="0" indent="0">
              <a:lnSpc>
                <a:spcPct val="115000"/>
              </a:lnSpc>
              <a:spcAft>
                <a:spcPts val="594"/>
              </a:spcAft>
              <a:buNone/>
            </a:pPr>
            <a:r>
              <a:rPr sz="1700" b="0">
                <a:solidFill>
                  <a:srgbClr val="1F2D3D"/>
                </a:solidFill>
                <a:latin typeface="맑은 고딕"/>
                <a:ea typeface="맑은 고딕"/>
                <a:cs typeface="맑은 고딕"/>
              </a:rPr>
              <a:t>d를 고정하고 N을 2배로 하면 주요 항은? (A) 모두 4배 (B) Attention 곱셈 항 4배, 투영·FFN 항 2배 (C) 모두 2배</a:t>
            </a:r>
          </a:p>
        </p:txBody>
      </p:sp>
      <p:sp>
        <p:nvSpPr>
          <p:cNvPr id="14" name="Rounded Rectangle 13"/>
          <p:cNvSpPr/>
          <p:nvPr/>
        </p:nvSpPr>
        <p:spPr>
          <a:xfrm>
            <a:off x="457200" y="4114800"/>
            <a:ext cx="11274552" cy="1028700"/>
          </a:xfrm>
          <a:prstGeom prst="roundRect">
            <a:avLst>
              <a:gd name="adj" fmla="val 7111"/>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40080" y="4377690"/>
            <a:ext cx="502920" cy="502920"/>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25"/>
              </a:spcAft>
              <a:buNone/>
            </a:pPr>
            <a:r>
              <a:rPr sz="1300" b="1">
                <a:solidFill>
                  <a:srgbClr val="FFFFFF"/>
                </a:solidFill>
                <a:latin typeface="맑은 고딕"/>
                <a:ea typeface="맑은 고딕"/>
                <a:cs typeface="맑은 고딕"/>
              </a:rPr>
              <a:t>Q3</a:t>
            </a:r>
          </a:p>
        </p:txBody>
      </p:sp>
      <p:sp>
        <p:nvSpPr>
          <p:cNvPr id="16" name="TextBox 15"/>
          <p:cNvSpPr txBox="1"/>
          <p:nvPr/>
        </p:nvSpPr>
        <p:spPr>
          <a:xfrm>
            <a:off x="1325880" y="4114800"/>
            <a:ext cx="10268712" cy="1028700"/>
          </a:xfrm>
          <a:prstGeom prst="rect">
            <a:avLst/>
          </a:prstGeom>
          <a:noFill/>
        </p:spPr>
        <p:txBody>
          <a:bodyPr wrap="square" lIns="73152" rIns="73152" tIns="36576" bIns="36576" anchor="ctr"/>
          <a:lstStyle/>
          <a:p>
            <a:pPr algn="l" marL="0" indent="0">
              <a:lnSpc>
                <a:spcPct val="115000"/>
              </a:lnSpc>
              <a:spcAft>
                <a:spcPts val="594"/>
              </a:spcAft>
              <a:buNone/>
            </a:pPr>
            <a:r>
              <a:rPr sz="1700" b="0">
                <a:solidFill>
                  <a:srgbClr val="1F2D3D"/>
                </a:solidFill>
                <a:latin typeface="맑은 고딕"/>
                <a:ea typeface="맑은 고딕"/>
                <a:cs typeface="맑은 고딕"/>
              </a:rPr>
              <a:t>KV Cache가 하는 일은? (A) 미래 정답을 미리 저장 (B) Attention을 제거 (C) 과거 위치의 K/V 재계산을 줄임</a:t>
            </a:r>
          </a:p>
        </p:txBody>
      </p:sp>
      <p:sp>
        <p:nvSpPr>
          <p:cNvPr id="17" name="Rounded Rectangle 16"/>
          <p:cNvSpPr/>
          <p:nvPr/>
        </p:nvSpPr>
        <p:spPr>
          <a:xfrm>
            <a:off x="457200" y="5326379"/>
            <a:ext cx="11274552" cy="1028700"/>
          </a:xfrm>
          <a:prstGeom prst="roundRect">
            <a:avLst>
              <a:gd name="adj" fmla="val 7111"/>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40080" y="5589269"/>
            <a:ext cx="502920" cy="502920"/>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25"/>
              </a:spcAft>
              <a:buNone/>
            </a:pPr>
            <a:r>
              <a:rPr sz="1300" b="1">
                <a:solidFill>
                  <a:srgbClr val="FFFFFF"/>
                </a:solidFill>
                <a:latin typeface="맑은 고딕"/>
                <a:ea typeface="맑은 고딕"/>
                <a:cs typeface="맑은 고딕"/>
              </a:rPr>
              <a:t>Q4</a:t>
            </a:r>
          </a:p>
        </p:txBody>
      </p:sp>
      <p:sp>
        <p:nvSpPr>
          <p:cNvPr id="19" name="TextBox 18"/>
          <p:cNvSpPr txBox="1"/>
          <p:nvPr/>
        </p:nvSpPr>
        <p:spPr>
          <a:xfrm>
            <a:off x="1325880" y="5326379"/>
            <a:ext cx="10268712" cy="1028700"/>
          </a:xfrm>
          <a:prstGeom prst="rect">
            <a:avLst/>
          </a:prstGeom>
          <a:noFill/>
        </p:spPr>
        <p:txBody>
          <a:bodyPr wrap="square" lIns="73152" rIns="73152" tIns="36576" bIns="36576" anchor="ctr"/>
          <a:lstStyle/>
          <a:p>
            <a:pPr algn="l" marL="0" indent="0">
              <a:lnSpc>
                <a:spcPct val="115000"/>
              </a:lnSpc>
              <a:spcAft>
                <a:spcPts val="594"/>
              </a:spcAft>
              <a:buNone/>
            </a:pPr>
            <a:r>
              <a:rPr sz="1700" b="0">
                <a:solidFill>
                  <a:srgbClr val="1F2D3D"/>
                </a:solidFill>
                <a:latin typeface="맑은 고딕"/>
                <a:ea typeface="맑은 고딕"/>
                <a:cs typeface="맑은 고딕"/>
              </a:rPr>
              <a:t>큰 Attention 가중치를 관찰했다면? (A) 큰 참조 비중이 '관찰'되었다고 말하고 인과는 추가 검증 (B) 유일한 원인 (C) 사람처럼 이해</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마지막 설명 과제와 기호 사전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이번 주 과제: 빈 종이에 전체 흐름을 그리고, 다른 사람에게 설명하기</a:t>
            </a:r>
          </a:p>
        </p:txBody>
      </p:sp>
      <p:sp>
        <p:nvSpPr>
          <p:cNvPr id="8" name="Rounded Rectangle 7"/>
          <p:cNvSpPr/>
          <p:nvPr/>
        </p:nvSpPr>
        <p:spPr>
          <a:xfrm>
            <a:off x="457200" y="1645920"/>
            <a:ext cx="1233297" cy="868680"/>
          </a:xfrm>
          <a:prstGeom prst="roundRect">
            <a:avLst>
              <a:gd name="adj" fmla="val 8421"/>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Aft>
                <a:spcPts val="325"/>
              </a:spcAft>
              <a:buNone/>
            </a:pPr>
            <a:r>
              <a:rPr sz="1300" b="1">
                <a:solidFill>
                  <a:srgbClr val="0F6C8C"/>
                </a:solidFill>
                <a:latin typeface="맑은 고딕"/>
                <a:ea typeface="맑은 고딕"/>
                <a:cs typeface="맑은 고딕"/>
              </a:rPr>
              <a:t>입력 ID</a:t>
            </a:r>
          </a:p>
        </p:txBody>
      </p:sp>
      <p:cxnSp>
        <p:nvCxnSpPr>
          <p:cNvPr id="9" name="Connector 8"/>
          <p:cNvCxnSpPr/>
          <p:nvPr/>
        </p:nvCxnSpPr>
        <p:spPr>
          <a:xfrm>
            <a:off x="1708785" y="2080260"/>
            <a:ext cx="164592" cy="0"/>
          </a:xfrm>
          <a:prstGeom prst="line">
            <a:avLst/>
          </a:prstGeom>
          <a:ln w="25400">
            <a:solidFill>
              <a:srgbClr val="3FA7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891664" y="1645920"/>
            <a:ext cx="1233297" cy="868680"/>
          </a:xfrm>
          <a:prstGeom prst="roundRect">
            <a:avLst>
              <a:gd name="adj" fmla="val 8421"/>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Aft>
                <a:spcPts val="325"/>
              </a:spcAft>
              <a:buNone/>
            </a:pPr>
            <a:r>
              <a:rPr sz="1300" b="1">
                <a:solidFill>
                  <a:srgbClr val="0F6C8C"/>
                </a:solidFill>
                <a:latin typeface="맑은 고딕"/>
                <a:ea typeface="맑은 고딕"/>
                <a:cs typeface="맑은 고딕"/>
              </a:rPr>
              <a:t>Embedding</a:t>
            </a:r>
          </a:p>
          <a:p>
            <a:pPr algn="ctr" marL="0" indent="0">
              <a:lnSpc>
                <a:spcPct val="110000"/>
              </a:lnSpc>
              <a:spcAft>
                <a:spcPts val="325"/>
              </a:spcAft>
              <a:buNone/>
            </a:pPr>
            <a:r>
              <a:rPr sz="1300" b="1">
                <a:solidFill>
                  <a:srgbClr val="0F6C8C"/>
                </a:solidFill>
                <a:latin typeface="맑은 고딕"/>
                <a:ea typeface="맑은 고딕"/>
                <a:cs typeface="맑은 고딕"/>
              </a:rPr>
              <a:t>+ PE</a:t>
            </a:r>
          </a:p>
        </p:txBody>
      </p:sp>
      <p:cxnSp>
        <p:nvCxnSpPr>
          <p:cNvPr id="11" name="Connector 10"/>
          <p:cNvCxnSpPr/>
          <p:nvPr/>
        </p:nvCxnSpPr>
        <p:spPr>
          <a:xfrm>
            <a:off x="3143249" y="2080260"/>
            <a:ext cx="164592" cy="0"/>
          </a:xfrm>
          <a:prstGeom prst="line">
            <a:avLst/>
          </a:prstGeom>
          <a:ln w="25400">
            <a:solidFill>
              <a:srgbClr val="3FA7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326129" y="1645920"/>
            <a:ext cx="1233297" cy="868680"/>
          </a:xfrm>
          <a:prstGeom prst="roundRect">
            <a:avLst>
              <a:gd name="adj" fmla="val 8421"/>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Aft>
                <a:spcPts val="325"/>
              </a:spcAft>
              <a:buNone/>
            </a:pPr>
            <a:r>
              <a:rPr sz="1300" b="1">
                <a:solidFill>
                  <a:srgbClr val="0F6C8C"/>
                </a:solidFill>
                <a:latin typeface="맑은 고딕"/>
                <a:ea typeface="맑은 고딕"/>
                <a:cs typeface="맑은 고딕"/>
              </a:rPr>
              <a:t>Encoder</a:t>
            </a:r>
          </a:p>
          <a:p>
            <a:pPr algn="ctr" marL="0" indent="0">
              <a:lnSpc>
                <a:spcPct val="110000"/>
              </a:lnSpc>
              <a:spcAft>
                <a:spcPts val="325"/>
              </a:spcAft>
              <a:buNone/>
            </a:pPr>
            <a:r>
              <a:rPr sz="1300" b="1">
                <a:solidFill>
                  <a:srgbClr val="0F6C8C"/>
                </a:solidFill>
                <a:latin typeface="맑은 고딕"/>
                <a:ea typeface="맑은 고딕"/>
                <a:cs typeface="맑은 고딕"/>
              </a:rPr>
              <a:t>× L</a:t>
            </a:r>
          </a:p>
        </p:txBody>
      </p:sp>
      <p:cxnSp>
        <p:nvCxnSpPr>
          <p:cNvPr id="13" name="Connector 12"/>
          <p:cNvCxnSpPr/>
          <p:nvPr/>
        </p:nvCxnSpPr>
        <p:spPr>
          <a:xfrm>
            <a:off x="4577715" y="2080260"/>
            <a:ext cx="164592" cy="0"/>
          </a:xfrm>
          <a:prstGeom prst="line">
            <a:avLst/>
          </a:prstGeom>
          <a:ln w="25400">
            <a:solidFill>
              <a:srgbClr val="3FA7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760595" y="1645920"/>
            <a:ext cx="1233297" cy="868680"/>
          </a:xfrm>
          <a:prstGeom prst="roundRect">
            <a:avLst>
              <a:gd name="adj" fmla="val 8421"/>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Aft>
                <a:spcPts val="312"/>
              </a:spcAft>
              <a:buNone/>
            </a:pPr>
            <a:r>
              <a:rPr sz="1250" b="1">
                <a:solidFill>
                  <a:srgbClr val="0F6C8C"/>
                </a:solidFill>
                <a:latin typeface="맑은 고딕"/>
                <a:ea typeface="맑은 고딕"/>
                <a:cs typeface="맑은 고딕"/>
              </a:rPr>
              <a:t>Decoder</a:t>
            </a:r>
          </a:p>
          <a:p>
            <a:pPr algn="ctr" marL="0" indent="0">
              <a:lnSpc>
                <a:spcPct val="110000"/>
              </a:lnSpc>
              <a:spcAft>
                <a:spcPts val="312"/>
              </a:spcAft>
              <a:buNone/>
            </a:pPr>
            <a:r>
              <a:rPr sz="1250" b="1">
                <a:solidFill>
                  <a:srgbClr val="0F6C8C"/>
                </a:solidFill>
                <a:latin typeface="맑은 고딕"/>
                <a:ea typeface="맑은 고딕"/>
                <a:cs typeface="맑은 고딕"/>
              </a:rPr>
              <a:t>self (causal)</a:t>
            </a:r>
          </a:p>
        </p:txBody>
      </p:sp>
      <p:cxnSp>
        <p:nvCxnSpPr>
          <p:cNvPr id="15" name="Connector 14"/>
          <p:cNvCxnSpPr/>
          <p:nvPr/>
        </p:nvCxnSpPr>
        <p:spPr>
          <a:xfrm>
            <a:off x="6012179" y="2080260"/>
            <a:ext cx="164593" cy="0"/>
          </a:xfrm>
          <a:prstGeom prst="line">
            <a:avLst/>
          </a:prstGeom>
          <a:ln w="25400">
            <a:solidFill>
              <a:srgbClr val="3FA7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195059" y="1645920"/>
            <a:ext cx="1233297" cy="868680"/>
          </a:xfrm>
          <a:prstGeom prst="roundRect">
            <a:avLst>
              <a:gd name="adj" fmla="val 8421"/>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Aft>
                <a:spcPts val="325"/>
              </a:spcAft>
              <a:buNone/>
            </a:pPr>
            <a:r>
              <a:rPr sz="1300" b="1">
                <a:solidFill>
                  <a:srgbClr val="0F6C8C"/>
                </a:solidFill>
                <a:latin typeface="맑은 고딕"/>
                <a:ea typeface="맑은 고딕"/>
                <a:cs typeface="맑은 고딕"/>
              </a:rPr>
              <a:t>Cross-attn</a:t>
            </a:r>
          </a:p>
          <a:p>
            <a:pPr algn="ctr" marL="0" indent="0">
              <a:lnSpc>
                <a:spcPct val="110000"/>
              </a:lnSpc>
              <a:spcAft>
                <a:spcPts val="325"/>
              </a:spcAft>
              <a:buNone/>
            </a:pPr>
            <a:r>
              <a:rPr sz="1300" b="1">
                <a:solidFill>
                  <a:srgbClr val="0F6C8C"/>
                </a:solidFill>
                <a:latin typeface="맑은 고딕"/>
                <a:ea typeface="맑은 고딕"/>
                <a:cs typeface="맑은 고딕"/>
              </a:rPr>
              <a:t>K,V = E</a:t>
            </a:r>
          </a:p>
        </p:txBody>
      </p:sp>
      <p:cxnSp>
        <p:nvCxnSpPr>
          <p:cNvPr id="17" name="Connector 16"/>
          <p:cNvCxnSpPr/>
          <p:nvPr/>
        </p:nvCxnSpPr>
        <p:spPr>
          <a:xfrm>
            <a:off x="7446644" y="2080260"/>
            <a:ext cx="164593" cy="0"/>
          </a:xfrm>
          <a:prstGeom prst="line">
            <a:avLst/>
          </a:prstGeom>
          <a:ln w="25400">
            <a:solidFill>
              <a:srgbClr val="3FA7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629525" y="1645920"/>
            <a:ext cx="1233297" cy="868680"/>
          </a:xfrm>
          <a:prstGeom prst="roundRect">
            <a:avLst>
              <a:gd name="adj" fmla="val 8421"/>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Aft>
                <a:spcPts val="325"/>
              </a:spcAft>
              <a:buNone/>
            </a:pPr>
            <a:r>
              <a:rPr sz="1300" b="1">
                <a:solidFill>
                  <a:srgbClr val="0F6C8C"/>
                </a:solidFill>
                <a:latin typeface="맑은 고딕"/>
                <a:ea typeface="맑은 고딕"/>
                <a:cs typeface="맑은 고딕"/>
              </a:rPr>
              <a:t>FFN</a:t>
            </a:r>
          </a:p>
        </p:txBody>
      </p:sp>
      <p:cxnSp>
        <p:nvCxnSpPr>
          <p:cNvPr id="19" name="Connector 18"/>
          <p:cNvCxnSpPr/>
          <p:nvPr/>
        </p:nvCxnSpPr>
        <p:spPr>
          <a:xfrm>
            <a:off x="8881109" y="2080260"/>
            <a:ext cx="164593" cy="0"/>
          </a:xfrm>
          <a:prstGeom prst="line">
            <a:avLst/>
          </a:prstGeom>
          <a:ln w="25400">
            <a:solidFill>
              <a:srgbClr val="3FA7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63990" y="1645920"/>
            <a:ext cx="1233297" cy="868680"/>
          </a:xfrm>
          <a:prstGeom prst="roundRect">
            <a:avLst>
              <a:gd name="adj" fmla="val 8421"/>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Aft>
                <a:spcPts val="325"/>
              </a:spcAft>
              <a:buNone/>
            </a:pPr>
            <a:r>
              <a:rPr sz="1300" b="1">
                <a:solidFill>
                  <a:srgbClr val="0F6C8C"/>
                </a:solidFill>
                <a:latin typeface="맑은 고딕"/>
                <a:ea typeface="맑은 고딕"/>
                <a:cs typeface="맑은 고딕"/>
              </a:rPr>
              <a:t>logits</a:t>
            </a:r>
          </a:p>
          <a:p>
            <a:pPr algn="ctr" marL="0" indent="0">
              <a:lnSpc>
                <a:spcPct val="110000"/>
              </a:lnSpc>
              <a:spcAft>
                <a:spcPts val="325"/>
              </a:spcAft>
              <a:buNone/>
            </a:pPr>
            <a:r>
              <a:rPr sz="1300" b="1">
                <a:solidFill>
                  <a:srgbClr val="0F6C8C"/>
                </a:solidFill>
                <a:latin typeface="맑은 고딕"/>
                <a:ea typeface="맑은 고딕"/>
                <a:cs typeface="맑은 고딕"/>
              </a:rPr>
              <a:t>(B,T,|V|)</a:t>
            </a:r>
          </a:p>
        </p:txBody>
      </p:sp>
      <p:cxnSp>
        <p:nvCxnSpPr>
          <p:cNvPr id="21" name="Connector 20"/>
          <p:cNvCxnSpPr/>
          <p:nvPr/>
        </p:nvCxnSpPr>
        <p:spPr>
          <a:xfrm>
            <a:off x="10315575" y="2080260"/>
            <a:ext cx="164592" cy="0"/>
          </a:xfrm>
          <a:prstGeom prst="line">
            <a:avLst/>
          </a:prstGeom>
          <a:ln w="25400">
            <a:solidFill>
              <a:srgbClr val="3FA7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0498455" y="1645920"/>
            <a:ext cx="1233297" cy="868680"/>
          </a:xfrm>
          <a:prstGeom prst="roundRect">
            <a:avLst>
              <a:gd name="adj" fmla="val 8421"/>
            </a:avLst>
          </a:prstGeom>
          <a:solidFill>
            <a:srgbClr val="FDF1E8"/>
          </a:solidFill>
          <a:ln w="12700">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Aft>
                <a:spcPts val="325"/>
              </a:spcAft>
              <a:buNone/>
            </a:pPr>
            <a:r>
              <a:rPr sz="1300" b="1">
                <a:solidFill>
                  <a:srgbClr val="E07A2F"/>
                </a:solidFill>
                <a:latin typeface="맑은 고딕"/>
                <a:ea typeface="맑은 고딕"/>
                <a:cs typeface="맑은 고딕"/>
              </a:rPr>
              <a:t>다음 토큰</a:t>
            </a:r>
          </a:p>
        </p:txBody>
      </p:sp>
      <p:sp>
        <p:nvSpPr>
          <p:cNvPr id="23" name="Rounded Rectangle 22"/>
          <p:cNvSpPr/>
          <p:nvPr/>
        </p:nvSpPr>
        <p:spPr>
          <a:xfrm>
            <a:off x="457200" y="2743200"/>
            <a:ext cx="4937760" cy="3611880"/>
          </a:xfrm>
          <a:prstGeom prst="roundRect">
            <a:avLst>
              <a:gd name="adj" fmla="val 2025"/>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2834640"/>
            <a:ext cx="4572000" cy="457200"/>
          </a:xfrm>
          <a:prstGeom prst="rect">
            <a:avLst/>
          </a:prstGeom>
          <a:noFill/>
        </p:spPr>
        <p:txBody>
          <a:bodyPr wrap="square" lIns="73152" rIns="73152" tIns="36576" bIns="36576" anchor="ctr"/>
          <a:lstStyle/>
          <a:p>
            <a:pPr algn="l" marL="0" indent="0">
              <a:lnSpc>
                <a:spcPct val="115000"/>
              </a:lnSpc>
              <a:spcAft>
                <a:spcPts val="560"/>
              </a:spcAft>
              <a:buNone/>
            </a:pPr>
            <a:r>
              <a:rPr sz="1600" b="1">
                <a:solidFill>
                  <a:srgbClr val="0F6C8C"/>
                </a:solidFill>
                <a:latin typeface="맑은 고딕"/>
                <a:ea typeface="맑은 고딕"/>
                <a:cs typeface="맑은 고딕"/>
              </a:rPr>
              <a:t>각 구간에 적을 네 가지</a:t>
            </a:r>
          </a:p>
        </p:txBody>
      </p:sp>
      <p:sp>
        <p:nvSpPr>
          <p:cNvPr id="25" name="TextBox 24"/>
          <p:cNvSpPr txBox="1"/>
          <p:nvPr/>
        </p:nvSpPr>
        <p:spPr>
          <a:xfrm>
            <a:off x="640080" y="3337560"/>
            <a:ext cx="4617720" cy="2926080"/>
          </a:xfrm>
          <a:prstGeom prst="rect">
            <a:avLst/>
          </a:prstGeom>
          <a:noFill/>
        </p:spPr>
        <p:txBody>
          <a:bodyPr wrap="square" lIns="73152" rIns="73152" tIns="36576" bIns="36576" anchor="t"/>
          <a:lstStyle/>
          <a:p>
            <a:pPr algn="l" marL="306324" indent="-260604">
              <a:lnSpc>
                <a:spcPct val="115000"/>
              </a:lnSpc>
              <a:spcAft>
                <a:spcPts val="525"/>
              </a:spcAft>
              <a:buClr>
                <a:srgbClr val="0F6C8C"/>
              </a:buClr>
              <a:buFont typeface="Arial"/>
              <a:buChar char="•"/>
            </a:pPr>
            <a:r>
              <a:rPr sz="1500" b="0">
                <a:solidFill>
                  <a:srgbClr val="1F2D3D"/>
                </a:solidFill>
                <a:latin typeface="맑은 고딕"/>
                <a:ea typeface="맑은 고딕"/>
                <a:cs typeface="맑은 고딕"/>
              </a:rPr>
              <a:t>입력·출력 </a:t>
            </a:r>
            <a:r>
              <a:rPr sz="1500" b="1">
                <a:solidFill>
                  <a:srgbClr val="1F2D3D"/>
                </a:solidFill>
                <a:latin typeface="맑은 고딕"/>
                <a:ea typeface="맑은 고딕"/>
                <a:cs typeface="맑은 고딕"/>
              </a:rPr>
              <a:t>shape</a:t>
            </a:r>
          </a:p>
          <a:p>
            <a:pPr algn="l" marL="306324" indent="-260604">
              <a:lnSpc>
                <a:spcPct val="115000"/>
              </a:lnSpc>
              <a:spcAft>
                <a:spcPts val="525"/>
              </a:spcAft>
              <a:buClr>
                <a:srgbClr val="0F6C8C"/>
              </a:buClr>
              <a:buFont typeface="Arial"/>
              <a:buChar char="•"/>
            </a:pPr>
            <a:r>
              <a:rPr sz="1500" b="0">
                <a:solidFill>
                  <a:srgbClr val="1F2D3D"/>
                </a:solidFill>
                <a:latin typeface="맑은 고딕"/>
                <a:ea typeface="맑은 고딕"/>
                <a:cs typeface="맑은 고딕"/>
              </a:rPr>
              <a:t>학습되는 </a:t>
            </a:r>
            <a:r>
              <a:rPr sz="1500" b="1">
                <a:solidFill>
                  <a:srgbClr val="1F2D3D"/>
                </a:solidFill>
                <a:latin typeface="맑은 고딕"/>
                <a:ea typeface="맑은 고딕"/>
                <a:cs typeface="맑은 고딕"/>
              </a:rPr>
              <a:t>파라미터</a:t>
            </a:r>
            <a:r>
              <a:rPr sz="1500" b="0">
                <a:solidFill>
                  <a:srgbClr val="1F2D3D"/>
                </a:solidFill>
                <a:latin typeface="맑은 고딕"/>
                <a:ea typeface="맑은 고딕"/>
                <a:cs typeface="맑은 고딕"/>
              </a:rPr>
              <a:t> (W와 입력별 A를 구분)</a:t>
            </a:r>
          </a:p>
          <a:p>
            <a:pPr algn="l" marL="306324" indent="-260604">
              <a:lnSpc>
                <a:spcPct val="115000"/>
              </a:lnSpc>
              <a:spcAft>
                <a:spcPts val="525"/>
              </a:spcAft>
              <a:buClr>
                <a:srgbClr val="0F6C8C"/>
              </a:buClr>
              <a:buFont typeface="Arial"/>
              <a:buChar char="•"/>
            </a:pPr>
            <a:r>
              <a:rPr sz="1500" b="0">
                <a:solidFill>
                  <a:srgbClr val="1F2D3D"/>
                </a:solidFill>
                <a:latin typeface="맑은 고딕"/>
                <a:ea typeface="맑은 고딕"/>
                <a:cs typeface="맑은 고딕"/>
              </a:rPr>
              <a:t>정보가 이동하는 </a:t>
            </a:r>
            <a:r>
              <a:rPr sz="1500" b="1">
                <a:solidFill>
                  <a:srgbClr val="1F2D3D"/>
                </a:solidFill>
                <a:latin typeface="맑은 고딕"/>
                <a:ea typeface="맑은 고딕"/>
                <a:cs typeface="맑은 고딕"/>
              </a:rPr>
              <a:t>방향</a:t>
            </a:r>
          </a:p>
          <a:p>
            <a:pPr algn="l" marL="306324" indent="-260604">
              <a:lnSpc>
                <a:spcPct val="115000"/>
              </a:lnSpc>
              <a:spcAft>
                <a:spcPts val="525"/>
              </a:spcAft>
              <a:buClr>
                <a:srgbClr val="0F6C8C"/>
              </a:buClr>
              <a:buFont typeface="Arial"/>
              <a:buChar char="•"/>
            </a:pPr>
            <a:r>
              <a:rPr sz="1500" b="1">
                <a:solidFill>
                  <a:srgbClr val="1F2D3D"/>
                </a:solidFill>
                <a:latin typeface="맑은 고딕"/>
                <a:ea typeface="맑은 고딕"/>
                <a:cs typeface="맑은 고딕"/>
              </a:rPr>
              <a:t>mask</a:t>
            </a:r>
            <a:r>
              <a:rPr sz="1500" b="0">
                <a:solidFill>
                  <a:srgbClr val="1F2D3D"/>
                </a:solidFill>
                <a:latin typeface="맑은 고딕"/>
                <a:ea typeface="맑은 고딕"/>
                <a:cs typeface="맑은 고딕"/>
              </a:rPr>
              <a:t>가 막는 연결</a:t>
            </a:r>
          </a:p>
          <a:p>
            <a:pPr algn="l" marL="306324" indent="-260604">
              <a:lnSpc>
                <a:spcPct val="115000"/>
              </a:lnSpc>
              <a:spcAft>
                <a:spcPts val="525"/>
              </a:spcAft>
              <a:buClr>
                <a:srgbClr val="0F6C8C"/>
              </a:buClr>
              <a:buFont typeface="Arial"/>
              <a:buChar char="•"/>
            </a:pPr>
            <a:r>
              <a:rPr sz="1500" b="0">
                <a:solidFill>
                  <a:srgbClr val="1F2D3D"/>
                </a:solidFill>
                <a:latin typeface="맑은 고딕"/>
                <a:ea typeface="맑은 고딕"/>
                <a:cs typeface="맑은 고딕"/>
              </a:rPr>
              <a:t>마지막: 학습(teacher forcing)과 생성(자기회귀)의 차이 설명</a:t>
            </a:r>
          </a:p>
          <a:p>
            <a:pPr algn="l" marL="306324" indent="-260604">
              <a:lnSpc>
                <a:spcPct val="115000"/>
              </a:lnSpc>
              <a:spcAft>
                <a:spcPts val="525"/>
              </a:spcAft>
              <a:buClr>
                <a:srgbClr val="0F6C8C"/>
              </a:buClr>
              <a:buFont typeface="Arial"/>
              <a:buChar char="•"/>
            </a:pPr>
            <a:r>
              <a:rPr sz="1500" b="0">
                <a:solidFill>
                  <a:srgbClr val="1F2D3D"/>
                </a:solidFill>
                <a:latin typeface="맑은 고딕"/>
                <a:ea typeface="맑은 고딕"/>
                <a:cs typeface="맑은 고딕"/>
              </a:rPr>
              <a:t>용어 확인: 'Layer'는 block인지 sublayer인지, token은 문자열 조각인지 patch인지</a:t>
            </a:r>
          </a:p>
        </p:txBody>
      </p:sp>
      <p:sp>
        <p:nvSpPr>
          <p:cNvPr id="26" name="Rounded Rectangle 25"/>
          <p:cNvSpPr/>
          <p:nvPr/>
        </p:nvSpPr>
        <p:spPr>
          <a:xfrm>
            <a:off x="5669280" y="2743200"/>
            <a:ext cx="960120" cy="640080"/>
          </a:xfrm>
          <a:prstGeom prst="roundRect">
            <a:avLst>
              <a:gd name="adj" fmla="val 11428"/>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0" y="2743200"/>
            <a:ext cx="960120" cy="640080"/>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FFFFFF"/>
                </a:solidFill>
                <a:latin typeface="맑은 고딕"/>
                <a:ea typeface="맑은 고딕"/>
                <a:cs typeface="맑은 고딕"/>
              </a:rPr>
              <a:t>B</a:t>
            </a:r>
          </a:p>
        </p:txBody>
      </p:sp>
      <p:sp>
        <p:nvSpPr>
          <p:cNvPr id="28" name="Rounded Rectangle 27"/>
          <p:cNvSpPr/>
          <p:nvPr/>
        </p:nvSpPr>
        <p:spPr>
          <a:xfrm>
            <a:off x="6675120" y="2743200"/>
            <a:ext cx="1933955" cy="640080"/>
          </a:xfrm>
          <a:prstGeom prst="roundRect">
            <a:avLst>
              <a:gd name="adj" fmla="val 11428"/>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720840" y="2743200"/>
            <a:ext cx="1842515" cy="640080"/>
          </a:xfrm>
          <a:prstGeom prst="rect">
            <a:avLst/>
          </a:prstGeom>
          <a:noFill/>
        </p:spPr>
        <p:txBody>
          <a:bodyPr wrap="square" lIns="73152" rIns="73152" tIns="36576" bIns="36576" anchor="ctr"/>
          <a:lstStyle/>
          <a:p>
            <a:pPr algn="l" marL="0" indent="0">
              <a:lnSpc>
                <a:spcPct val="115000"/>
              </a:lnSpc>
              <a:spcAft>
                <a:spcPts val="489"/>
              </a:spcAft>
              <a:buNone/>
            </a:pPr>
            <a:r>
              <a:rPr sz="1400" b="0">
                <a:solidFill>
                  <a:srgbClr val="1F2D3D"/>
                </a:solidFill>
                <a:latin typeface="맑은 고딕"/>
                <a:ea typeface="맑은 고딕"/>
                <a:cs typeface="맑은 고딕"/>
              </a:rPr>
              <a:t>배치 크기</a:t>
            </a:r>
          </a:p>
        </p:txBody>
      </p:sp>
      <p:sp>
        <p:nvSpPr>
          <p:cNvPr id="30" name="Rounded Rectangle 29"/>
          <p:cNvSpPr/>
          <p:nvPr/>
        </p:nvSpPr>
        <p:spPr>
          <a:xfrm>
            <a:off x="8791956" y="2743200"/>
            <a:ext cx="960120" cy="640080"/>
          </a:xfrm>
          <a:prstGeom prst="roundRect">
            <a:avLst>
              <a:gd name="adj" fmla="val 11428"/>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791956" y="2743200"/>
            <a:ext cx="960120" cy="640080"/>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FFFFFF"/>
                </a:solidFill>
                <a:latin typeface="맑은 고딕"/>
                <a:ea typeface="맑은 고딕"/>
                <a:cs typeface="맑은 고딕"/>
              </a:rPr>
              <a:t>S / T</a:t>
            </a:r>
          </a:p>
        </p:txBody>
      </p:sp>
      <p:sp>
        <p:nvSpPr>
          <p:cNvPr id="32" name="Rounded Rectangle 31"/>
          <p:cNvSpPr/>
          <p:nvPr/>
        </p:nvSpPr>
        <p:spPr>
          <a:xfrm>
            <a:off x="9797796" y="2743200"/>
            <a:ext cx="1933955" cy="640080"/>
          </a:xfrm>
          <a:prstGeom prst="roundRect">
            <a:avLst>
              <a:gd name="adj" fmla="val 11428"/>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843516" y="2743200"/>
            <a:ext cx="1842515" cy="640080"/>
          </a:xfrm>
          <a:prstGeom prst="rect">
            <a:avLst/>
          </a:prstGeom>
          <a:noFill/>
        </p:spPr>
        <p:txBody>
          <a:bodyPr wrap="square" lIns="73152" rIns="73152" tIns="36576" bIns="36576" anchor="ctr"/>
          <a:lstStyle/>
          <a:p>
            <a:pPr algn="l" marL="0" indent="0">
              <a:lnSpc>
                <a:spcPct val="115000"/>
              </a:lnSpc>
              <a:spcAft>
                <a:spcPts val="489"/>
              </a:spcAft>
              <a:buNone/>
            </a:pPr>
            <a:r>
              <a:rPr sz="1400" b="0">
                <a:solidFill>
                  <a:srgbClr val="1F2D3D"/>
                </a:solidFill>
                <a:latin typeface="맑은 고딕"/>
                <a:ea typeface="맑은 고딕"/>
                <a:cs typeface="맑은 고딕"/>
              </a:rPr>
              <a:t>source / target 길이</a:t>
            </a:r>
          </a:p>
        </p:txBody>
      </p:sp>
      <p:sp>
        <p:nvSpPr>
          <p:cNvPr id="34" name="Rounded Rectangle 33"/>
          <p:cNvSpPr/>
          <p:nvPr/>
        </p:nvSpPr>
        <p:spPr>
          <a:xfrm>
            <a:off x="5669280" y="3483864"/>
            <a:ext cx="960120" cy="640080"/>
          </a:xfrm>
          <a:prstGeom prst="roundRect">
            <a:avLst>
              <a:gd name="adj" fmla="val 11428"/>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669280" y="3483864"/>
            <a:ext cx="960120" cy="640080"/>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FFFFFF"/>
                </a:solidFill>
                <a:latin typeface="맑은 고딕"/>
                <a:ea typeface="맑은 고딕"/>
                <a:cs typeface="맑은 고딕"/>
              </a:rPr>
              <a:t>N</a:t>
            </a:r>
          </a:p>
        </p:txBody>
      </p:sp>
      <p:sp>
        <p:nvSpPr>
          <p:cNvPr id="36" name="Rounded Rectangle 35"/>
          <p:cNvSpPr/>
          <p:nvPr/>
        </p:nvSpPr>
        <p:spPr>
          <a:xfrm>
            <a:off x="6675120" y="3483864"/>
            <a:ext cx="1933955" cy="640080"/>
          </a:xfrm>
          <a:prstGeom prst="roundRect">
            <a:avLst>
              <a:gd name="adj" fmla="val 11428"/>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720840" y="3483864"/>
            <a:ext cx="1842515" cy="640080"/>
          </a:xfrm>
          <a:prstGeom prst="rect">
            <a:avLst/>
          </a:prstGeom>
          <a:noFill/>
        </p:spPr>
        <p:txBody>
          <a:bodyPr wrap="square" lIns="73152" rIns="73152" tIns="36576" bIns="36576" anchor="ctr"/>
          <a:lstStyle/>
          <a:p>
            <a:pPr algn="l" marL="0" indent="0">
              <a:lnSpc>
                <a:spcPct val="115000"/>
              </a:lnSpc>
              <a:spcAft>
                <a:spcPts val="489"/>
              </a:spcAft>
              <a:buNone/>
            </a:pPr>
            <a:r>
              <a:rPr sz="1400" b="0">
                <a:solidFill>
                  <a:srgbClr val="1F2D3D"/>
                </a:solidFill>
                <a:latin typeface="맑은 고딕"/>
                <a:ea typeface="맑은 고딕"/>
                <a:cs typeface="맑은 고딕"/>
              </a:rPr>
              <a:t>일반 시퀀스 길이</a:t>
            </a:r>
          </a:p>
        </p:txBody>
      </p:sp>
      <p:sp>
        <p:nvSpPr>
          <p:cNvPr id="38" name="Rounded Rectangle 37"/>
          <p:cNvSpPr/>
          <p:nvPr/>
        </p:nvSpPr>
        <p:spPr>
          <a:xfrm>
            <a:off x="8791956" y="3483864"/>
            <a:ext cx="960120" cy="640080"/>
          </a:xfrm>
          <a:prstGeom prst="roundRect">
            <a:avLst>
              <a:gd name="adj" fmla="val 11428"/>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791956" y="3483864"/>
            <a:ext cx="960120" cy="640080"/>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FFFFFF"/>
                </a:solidFill>
                <a:latin typeface="맑은 고딕"/>
                <a:ea typeface="맑은 고딕"/>
                <a:cs typeface="맑은 고딕"/>
              </a:rPr>
              <a:t>L</a:t>
            </a:r>
          </a:p>
        </p:txBody>
      </p:sp>
      <p:sp>
        <p:nvSpPr>
          <p:cNvPr id="40" name="Rounded Rectangle 39"/>
          <p:cNvSpPr/>
          <p:nvPr/>
        </p:nvSpPr>
        <p:spPr>
          <a:xfrm>
            <a:off x="9797796" y="3483864"/>
            <a:ext cx="1933955" cy="640080"/>
          </a:xfrm>
          <a:prstGeom prst="roundRect">
            <a:avLst>
              <a:gd name="adj" fmla="val 11428"/>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843516" y="3483864"/>
            <a:ext cx="1842515" cy="640080"/>
          </a:xfrm>
          <a:prstGeom prst="rect">
            <a:avLst/>
          </a:prstGeom>
          <a:noFill/>
        </p:spPr>
        <p:txBody>
          <a:bodyPr wrap="square" lIns="73152" rIns="73152" tIns="36576" bIns="36576" anchor="ctr"/>
          <a:lstStyle/>
          <a:p>
            <a:pPr algn="l" marL="0" indent="0">
              <a:lnSpc>
                <a:spcPct val="115000"/>
              </a:lnSpc>
              <a:spcAft>
                <a:spcPts val="489"/>
              </a:spcAft>
              <a:buNone/>
            </a:pPr>
            <a:r>
              <a:rPr sz="1400" b="0">
                <a:solidFill>
                  <a:srgbClr val="1F2D3D"/>
                </a:solidFill>
                <a:latin typeface="맑은 고딕"/>
                <a:ea typeface="맑은 고딕"/>
                <a:cs typeface="맑은 고딕"/>
              </a:rPr>
              <a:t>층 수</a:t>
            </a:r>
          </a:p>
        </p:txBody>
      </p:sp>
      <p:sp>
        <p:nvSpPr>
          <p:cNvPr id="42" name="Rounded Rectangle 41"/>
          <p:cNvSpPr/>
          <p:nvPr/>
        </p:nvSpPr>
        <p:spPr>
          <a:xfrm>
            <a:off x="5669280" y="4224528"/>
            <a:ext cx="960120" cy="640080"/>
          </a:xfrm>
          <a:prstGeom prst="roundRect">
            <a:avLst>
              <a:gd name="adj" fmla="val 11428"/>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5669280" y="4224528"/>
            <a:ext cx="960120" cy="640080"/>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FFFFFF"/>
                </a:solidFill>
                <a:latin typeface="맑은 고딕"/>
                <a:ea typeface="맑은 고딕"/>
                <a:cs typeface="맑은 고딕"/>
              </a:rPr>
              <a:t>d</a:t>
            </a:r>
          </a:p>
        </p:txBody>
      </p:sp>
      <p:sp>
        <p:nvSpPr>
          <p:cNvPr id="44" name="Rounded Rectangle 43"/>
          <p:cNvSpPr/>
          <p:nvPr/>
        </p:nvSpPr>
        <p:spPr>
          <a:xfrm>
            <a:off x="6675120" y="4224528"/>
            <a:ext cx="1933955" cy="640080"/>
          </a:xfrm>
          <a:prstGeom prst="roundRect">
            <a:avLst>
              <a:gd name="adj" fmla="val 11428"/>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720840" y="4224528"/>
            <a:ext cx="1842515" cy="640080"/>
          </a:xfrm>
          <a:prstGeom prst="rect">
            <a:avLst/>
          </a:prstGeom>
          <a:noFill/>
        </p:spPr>
        <p:txBody>
          <a:bodyPr wrap="square" lIns="73152" rIns="73152" tIns="36576" bIns="36576" anchor="ctr"/>
          <a:lstStyle/>
          <a:p>
            <a:pPr algn="l" marL="0" indent="0">
              <a:lnSpc>
                <a:spcPct val="115000"/>
              </a:lnSpc>
              <a:spcAft>
                <a:spcPts val="489"/>
              </a:spcAft>
              <a:buNone/>
            </a:pPr>
            <a:r>
              <a:rPr sz="1400" b="0">
                <a:solidFill>
                  <a:srgbClr val="1F2D3D"/>
                </a:solidFill>
                <a:latin typeface="맑은 고딕"/>
                <a:ea typeface="맑은 고딕"/>
                <a:cs typeface="맑은 고딕"/>
              </a:rPr>
              <a:t>모델 차원 (d_model)</a:t>
            </a:r>
          </a:p>
        </p:txBody>
      </p:sp>
      <p:sp>
        <p:nvSpPr>
          <p:cNvPr id="46" name="Rounded Rectangle 45"/>
          <p:cNvSpPr/>
          <p:nvPr/>
        </p:nvSpPr>
        <p:spPr>
          <a:xfrm>
            <a:off x="8791956" y="4224528"/>
            <a:ext cx="960120" cy="640080"/>
          </a:xfrm>
          <a:prstGeom prst="roundRect">
            <a:avLst>
              <a:gd name="adj" fmla="val 11428"/>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8791956" y="4224528"/>
            <a:ext cx="960120" cy="640080"/>
          </a:xfrm>
          <a:prstGeom prst="rect">
            <a:avLst/>
          </a:prstGeom>
          <a:noFill/>
        </p:spPr>
        <p:txBody>
          <a:bodyPr wrap="square" lIns="73152" rIns="73152" tIns="36576" bIns="36576" anchor="ctr"/>
          <a:lstStyle/>
          <a:p>
            <a:pPr algn="ctr" marL="0" indent="0">
              <a:lnSpc>
                <a:spcPct val="115000"/>
              </a:lnSpc>
              <a:spcAft>
                <a:spcPts val="507"/>
              </a:spcAft>
              <a:buNone/>
            </a:pPr>
            <a:r>
              <a:rPr sz="1450" b="1">
                <a:solidFill>
                  <a:srgbClr val="FFFFFF"/>
                </a:solidFill>
                <a:latin typeface="맑은 고딕"/>
                <a:ea typeface="맑은 고딕"/>
                <a:cs typeface="맑은 고딕"/>
              </a:rPr>
              <a:t>H / dₕ</a:t>
            </a:r>
          </a:p>
        </p:txBody>
      </p:sp>
      <p:sp>
        <p:nvSpPr>
          <p:cNvPr id="48" name="Rounded Rectangle 47"/>
          <p:cNvSpPr/>
          <p:nvPr/>
        </p:nvSpPr>
        <p:spPr>
          <a:xfrm>
            <a:off x="9797796" y="4224528"/>
            <a:ext cx="1933955" cy="640080"/>
          </a:xfrm>
          <a:prstGeom prst="roundRect">
            <a:avLst>
              <a:gd name="adj" fmla="val 11428"/>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9843516" y="4224528"/>
            <a:ext cx="1842515" cy="640080"/>
          </a:xfrm>
          <a:prstGeom prst="rect">
            <a:avLst/>
          </a:prstGeom>
          <a:noFill/>
        </p:spPr>
        <p:txBody>
          <a:bodyPr wrap="square" lIns="73152" rIns="73152" tIns="36576" bIns="36576" anchor="ctr"/>
          <a:lstStyle/>
          <a:p>
            <a:pPr algn="l" marL="0" indent="0">
              <a:lnSpc>
                <a:spcPct val="115000"/>
              </a:lnSpc>
              <a:spcAft>
                <a:spcPts val="489"/>
              </a:spcAft>
              <a:buNone/>
            </a:pPr>
            <a:r>
              <a:rPr sz="1400" b="0">
                <a:solidFill>
                  <a:srgbClr val="1F2D3D"/>
                </a:solidFill>
                <a:latin typeface="맑은 고딕"/>
                <a:ea typeface="맑은 고딕"/>
                <a:cs typeface="맑은 고딕"/>
              </a:rPr>
              <a:t>head 수 / head 차원</a:t>
            </a:r>
          </a:p>
        </p:txBody>
      </p:sp>
      <p:sp>
        <p:nvSpPr>
          <p:cNvPr id="50" name="Rounded Rectangle 49"/>
          <p:cNvSpPr/>
          <p:nvPr/>
        </p:nvSpPr>
        <p:spPr>
          <a:xfrm>
            <a:off x="5669280" y="4965192"/>
            <a:ext cx="960120" cy="640080"/>
          </a:xfrm>
          <a:prstGeom prst="roundRect">
            <a:avLst>
              <a:gd name="adj" fmla="val 11428"/>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5669280" y="4965192"/>
            <a:ext cx="960120" cy="640080"/>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FFFFFF"/>
                </a:solidFill>
                <a:latin typeface="맑은 고딕"/>
                <a:ea typeface="맑은 고딕"/>
                <a:cs typeface="맑은 고딕"/>
              </a:rPr>
              <a:t>d_ff</a:t>
            </a:r>
          </a:p>
        </p:txBody>
      </p:sp>
      <p:sp>
        <p:nvSpPr>
          <p:cNvPr id="52" name="Rounded Rectangle 51"/>
          <p:cNvSpPr/>
          <p:nvPr/>
        </p:nvSpPr>
        <p:spPr>
          <a:xfrm>
            <a:off x="6675120" y="4965192"/>
            <a:ext cx="1933955" cy="640080"/>
          </a:xfrm>
          <a:prstGeom prst="roundRect">
            <a:avLst>
              <a:gd name="adj" fmla="val 11428"/>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6720840" y="4965192"/>
            <a:ext cx="1842515" cy="640080"/>
          </a:xfrm>
          <a:prstGeom prst="rect">
            <a:avLst/>
          </a:prstGeom>
          <a:noFill/>
        </p:spPr>
        <p:txBody>
          <a:bodyPr wrap="square" lIns="73152" rIns="73152" tIns="36576" bIns="36576" anchor="ctr"/>
          <a:lstStyle/>
          <a:p>
            <a:pPr algn="l" marL="0" indent="0">
              <a:lnSpc>
                <a:spcPct val="115000"/>
              </a:lnSpc>
              <a:spcAft>
                <a:spcPts val="489"/>
              </a:spcAft>
              <a:buNone/>
            </a:pPr>
            <a:r>
              <a:rPr sz="1400" b="0">
                <a:solidFill>
                  <a:srgbClr val="1F2D3D"/>
                </a:solidFill>
                <a:latin typeface="맑은 고딕"/>
                <a:ea typeface="맑은 고딕"/>
                <a:cs typeface="맑은 고딕"/>
              </a:rPr>
              <a:t>FFN 내부 폭</a:t>
            </a:r>
          </a:p>
        </p:txBody>
      </p:sp>
      <p:sp>
        <p:nvSpPr>
          <p:cNvPr id="54" name="Rounded Rectangle 53"/>
          <p:cNvSpPr/>
          <p:nvPr/>
        </p:nvSpPr>
        <p:spPr>
          <a:xfrm>
            <a:off x="8791956" y="4965192"/>
            <a:ext cx="960120" cy="640080"/>
          </a:xfrm>
          <a:prstGeom prst="roundRect">
            <a:avLst>
              <a:gd name="adj" fmla="val 11428"/>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8791956" y="4965192"/>
            <a:ext cx="960120" cy="640080"/>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FFFFFF"/>
                </a:solidFill>
                <a:latin typeface="맑은 고딕"/>
                <a:ea typeface="맑은 고딕"/>
                <a:cs typeface="맑은 고딕"/>
              </a:rPr>
              <a:t>|V|</a:t>
            </a:r>
          </a:p>
        </p:txBody>
      </p:sp>
      <p:sp>
        <p:nvSpPr>
          <p:cNvPr id="56" name="Rounded Rectangle 55"/>
          <p:cNvSpPr/>
          <p:nvPr/>
        </p:nvSpPr>
        <p:spPr>
          <a:xfrm>
            <a:off x="9797796" y="4965192"/>
            <a:ext cx="1933955" cy="640080"/>
          </a:xfrm>
          <a:prstGeom prst="roundRect">
            <a:avLst>
              <a:gd name="adj" fmla="val 11428"/>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9843516" y="4965192"/>
            <a:ext cx="1842515" cy="640080"/>
          </a:xfrm>
          <a:prstGeom prst="rect">
            <a:avLst/>
          </a:prstGeom>
          <a:noFill/>
        </p:spPr>
        <p:txBody>
          <a:bodyPr wrap="square" lIns="73152" rIns="73152" tIns="36576" bIns="36576" anchor="ctr"/>
          <a:lstStyle/>
          <a:p>
            <a:pPr algn="l" marL="0" indent="0">
              <a:lnSpc>
                <a:spcPct val="115000"/>
              </a:lnSpc>
              <a:spcAft>
                <a:spcPts val="489"/>
              </a:spcAft>
              <a:buNone/>
            </a:pPr>
            <a:r>
              <a:rPr sz="1400" b="0">
                <a:solidFill>
                  <a:srgbClr val="1F2D3D"/>
                </a:solidFill>
                <a:latin typeface="맑은 고딕"/>
                <a:ea typeface="맑은 고딕"/>
                <a:cs typeface="맑은 고딕"/>
              </a:rPr>
              <a:t>어휘 크기 (Value V와 구분)</a:t>
            </a:r>
          </a:p>
        </p:txBody>
      </p:sp>
      <p:sp>
        <p:nvSpPr>
          <p:cNvPr id="58" name="Rounded Rectangle 57"/>
          <p:cNvSpPr/>
          <p:nvPr/>
        </p:nvSpPr>
        <p:spPr>
          <a:xfrm>
            <a:off x="5669280" y="5705856"/>
            <a:ext cx="960120" cy="640080"/>
          </a:xfrm>
          <a:prstGeom prst="roundRect">
            <a:avLst>
              <a:gd name="adj" fmla="val 11428"/>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5669280" y="5705856"/>
            <a:ext cx="960120" cy="640080"/>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FFFFFF"/>
                </a:solidFill>
                <a:latin typeface="맑은 고딕"/>
                <a:ea typeface="맑은 고딕"/>
                <a:cs typeface="맑은 고딕"/>
              </a:rPr>
              <a:t>E / D</a:t>
            </a:r>
          </a:p>
        </p:txBody>
      </p:sp>
      <p:sp>
        <p:nvSpPr>
          <p:cNvPr id="60" name="Rounded Rectangle 59"/>
          <p:cNvSpPr/>
          <p:nvPr/>
        </p:nvSpPr>
        <p:spPr>
          <a:xfrm>
            <a:off x="6675120" y="5705856"/>
            <a:ext cx="1933955" cy="640080"/>
          </a:xfrm>
          <a:prstGeom prst="roundRect">
            <a:avLst>
              <a:gd name="adj" fmla="val 11428"/>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6720840" y="5705856"/>
            <a:ext cx="1842515" cy="640080"/>
          </a:xfrm>
          <a:prstGeom prst="rect">
            <a:avLst/>
          </a:prstGeom>
          <a:noFill/>
        </p:spPr>
        <p:txBody>
          <a:bodyPr wrap="square" lIns="73152" rIns="73152" tIns="36576" bIns="36576" anchor="ctr"/>
          <a:lstStyle/>
          <a:p>
            <a:pPr algn="l" marL="0" indent="0">
              <a:lnSpc>
                <a:spcPct val="115000"/>
              </a:lnSpc>
              <a:spcAft>
                <a:spcPts val="489"/>
              </a:spcAft>
              <a:buNone/>
            </a:pPr>
            <a:r>
              <a:rPr sz="1400" b="0">
                <a:solidFill>
                  <a:srgbClr val="1F2D3D"/>
                </a:solidFill>
                <a:latin typeface="맑은 고딕"/>
                <a:ea typeface="맑은 고딕"/>
                <a:cs typeface="맑은 고딕"/>
              </a:rPr>
              <a:t>Encoder 출력 / Decoder 표현</a:t>
            </a:r>
          </a:p>
        </p:txBody>
      </p:sp>
      <p:sp>
        <p:nvSpPr>
          <p:cNvPr id="62" name="Rounded Rectangle 61"/>
          <p:cNvSpPr/>
          <p:nvPr/>
        </p:nvSpPr>
        <p:spPr>
          <a:xfrm>
            <a:off x="8791956" y="5705856"/>
            <a:ext cx="960120" cy="640080"/>
          </a:xfrm>
          <a:prstGeom prst="roundRect">
            <a:avLst>
              <a:gd name="adj" fmla="val 11428"/>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8791956" y="5705856"/>
            <a:ext cx="960120" cy="640080"/>
          </a:xfrm>
          <a:prstGeom prst="rect">
            <a:avLst/>
          </a:prstGeom>
          <a:noFill/>
        </p:spPr>
        <p:txBody>
          <a:bodyPr wrap="square" lIns="73152" rIns="73152" tIns="36576" bIns="36576" anchor="ctr"/>
          <a:lstStyle/>
          <a:p>
            <a:pPr algn="ctr" marL="0" indent="0">
              <a:lnSpc>
                <a:spcPct val="115000"/>
              </a:lnSpc>
              <a:spcAft>
                <a:spcPts val="525"/>
              </a:spcAft>
              <a:buNone/>
            </a:pPr>
            <a:r>
              <a:rPr sz="1500" b="1">
                <a:solidFill>
                  <a:srgbClr val="FFFFFF"/>
                </a:solidFill>
                <a:latin typeface="맑은 고딕"/>
                <a:ea typeface="맑은 고딕"/>
                <a:cs typeface="맑은 고딕"/>
              </a:rPr>
              <a:t>A / M</a:t>
            </a:r>
          </a:p>
        </p:txBody>
      </p:sp>
      <p:sp>
        <p:nvSpPr>
          <p:cNvPr id="64" name="Rounded Rectangle 63"/>
          <p:cNvSpPr/>
          <p:nvPr/>
        </p:nvSpPr>
        <p:spPr>
          <a:xfrm>
            <a:off x="9797796" y="5705856"/>
            <a:ext cx="1933955" cy="640080"/>
          </a:xfrm>
          <a:prstGeom prst="roundRect">
            <a:avLst>
              <a:gd name="adj" fmla="val 11428"/>
            </a:avLst>
          </a:prstGeom>
          <a:solidFill>
            <a:srgbClr val="E6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9843516" y="5705856"/>
            <a:ext cx="1842515" cy="640080"/>
          </a:xfrm>
          <a:prstGeom prst="rect">
            <a:avLst/>
          </a:prstGeom>
          <a:noFill/>
        </p:spPr>
        <p:txBody>
          <a:bodyPr wrap="square" lIns="73152" rIns="73152" tIns="36576" bIns="36576" anchor="ctr"/>
          <a:lstStyle/>
          <a:p>
            <a:pPr algn="l" marL="0" indent="0">
              <a:lnSpc>
                <a:spcPct val="115000"/>
              </a:lnSpc>
              <a:spcAft>
                <a:spcPts val="489"/>
              </a:spcAft>
              <a:buNone/>
            </a:pPr>
            <a:r>
              <a:rPr sz="1400" b="0">
                <a:solidFill>
                  <a:srgbClr val="1F2D3D"/>
                </a:solidFill>
                <a:latin typeface="맑은 고딕"/>
                <a:ea typeface="맑은 고딕"/>
                <a:cs typeface="맑은 고딕"/>
              </a:rPr>
              <a:t>Attention 가중치 / 더하는 mask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과정 전체의 계보: 1943 → 2017 → 이후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94"/>
              </a:spcAft>
              <a:buNone/>
            </a:pPr>
            <a:r>
              <a:rPr sz="1700" b="1">
                <a:solidFill>
                  <a:srgbClr val="0F6C8C"/>
                </a:solidFill>
                <a:latin typeface="맑은 고딕"/>
                <a:ea typeface="맑은 고딕"/>
                <a:cs typeface="맑은 고딕"/>
              </a:rPr>
              <a:t>여섯 질문이 여섯 주를 이끌었다 — 각 구조는 앞 구조의 한계에 대한 답</a:t>
            </a:r>
          </a:p>
        </p:txBody>
      </p:sp>
      <p:pic>
        <p:nvPicPr>
          <p:cNvPr id="8" name="Picture 7" descr="genealogy.png"/>
          <p:cNvPicPr>
            <a:picLocks noChangeAspect="1"/>
          </p:cNvPicPr>
          <p:nvPr/>
        </p:nvPicPr>
        <p:blipFill>
          <a:blip r:embed="rId3"/>
          <a:stretch>
            <a:fillRect/>
          </a:stretch>
        </p:blipFill>
        <p:spPr>
          <a:xfrm>
            <a:off x="457200" y="1867687"/>
            <a:ext cx="11274552" cy="3854145"/>
          </a:xfrm>
          <a:prstGeom prst="rect">
            <a:avLst/>
          </a:prstGeom>
        </p:spPr>
      </p:pic>
      <p:sp>
        <p:nvSpPr>
          <p:cNvPr id="9" name="TextBox 8"/>
          <p:cNvSpPr txBox="1"/>
          <p:nvPr/>
        </p:nvSpPr>
        <p:spPr>
          <a:xfrm>
            <a:off x="457200" y="5943600"/>
            <a:ext cx="11274552" cy="411480"/>
          </a:xfrm>
          <a:prstGeom prst="rect">
            <a:avLst/>
          </a:prstGeom>
          <a:noFill/>
        </p:spPr>
        <p:txBody>
          <a:bodyPr wrap="square" lIns="73152" rIns="73152" tIns="36576" bIns="36576" anchor="ctr"/>
          <a:lstStyle/>
          <a:p>
            <a:pPr algn="ctr" marL="0" indent="0">
              <a:lnSpc>
                <a:spcPct val="115000"/>
              </a:lnSpc>
              <a:spcAft>
                <a:spcPts val="419"/>
              </a:spcAft>
              <a:buNone/>
            </a:pPr>
            <a:r>
              <a:rPr sz="1200" b="0">
                <a:solidFill>
                  <a:srgbClr val="5B6770"/>
                </a:solidFill>
                <a:latin typeface="맑은 고딕"/>
                <a:ea typeface="맑은 고딕"/>
                <a:cs typeface="맑은 고딕"/>
              </a:rPr>
              <a:t>실제 연구사는 서로 영향을 주고 병행한 여러 경로의 합이다 (CNN → RNN → Transformer로 '교체'된 것이 아님)</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다음 학습 방향과 읽을 원문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TextBox 6"/>
          <p:cNvSpPr txBox="1"/>
          <p:nvPr/>
        </p:nvSpPr>
        <p:spPr>
          <a:xfrm>
            <a:off x="457200" y="960120"/>
            <a:ext cx="11274552" cy="502920"/>
          </a:xfrm>
          <a:prstGeom prst="rect">
            <a:avLst/>
          </a:prstGeom>
          <a:noFill/>
        </p:spPr>
        <p:txBody>
          <a:bodyPr wrap="square" lIns="73152" rIns="73152" tIns="36576" bIns="36576" anchor="ctr"/>
          <a:lstStyle/>
          <a:p>
            <a:pPr algn="l" marL="0" indent="0">
              <a:lnSpc>
                <a:spcPct val="115000"/>
              </a:lnSpc>
              <a:spcAft>
                <a:spcPts val="560"/>
              </a:spcAft>
              <a:buNone/>
            </a:pPr>
            <a:r>
              <a:rPr sz="1600" b="1">
                <a:solidFill>
                  <a:srgbClr val="0F6C8C"/>
                </a:solidFill>
                <a:latin typeface="맑은 고딕"/>
                <a:ea typeface="맑은 고딕"/>
                <a:cs typeface="맑은 고딕"/>
              </a:rPr>
              <a:t>읽는 순서: Seq2Seq → Bahdanau Attention → Attention Is All You Need → Residual / LayerNorm → 공식 구현</a:t>
            </a:r>
          </a:p>
        </p:txBody>
      </p:sp>
      <p:graphicFrame>
        <p:nvGraphicFramePr>
          <p:cNvPr id="8" name="Table 7"/>
          <p:cNvGraphicFramePr>
            <a:graphicFrameLocks noGrp="1"/>
          </p:cNvGraphicFramePr>
          <p:nvPr/>
        </p:nvGraphicFramePr>
        <p:xfrm>
          <a:off x="457200" y="1691640"/>
          <a:ext cx="11274550" cy="4328160"/>
        </p:xfrm>
        <a:graphic>
          <a:graphicData uri="http://schemas.openxmlformats.org/drawingml/2006/table">
            <a:tbl>
              <a:tblPr firstRow="0" bandRow="0">
                <a:tableStyleId>{5940675A-B579-460E-94D1-54222C63F5DA}</a:tableStyleId>
              </a:tblPr>
              <a:tblGrid>
                <a:gridCol w="2033115"/>
                <a:gridCol w="3511745"/>
                <a:gridCol w="5729690"/>
              </a:tblGrid>
              <a:tr h="426720">
                <a:tc>
                  <a:txBody>
                    <a:bodyPr wrap="square" lIns="54864" rIns="54864" tIns="36576" bIns="36576" anchor="t"/>
                    <a:lstStyle/>
                    <a:p>
                      <a:pPr algn="ctr" marL="0" indent="0">
                        <a:lnSpc>
                          <a:spcPct val="115000"/>
                        </a:lnSpc>
                        <a:spcAft>
                          <a:spcPts val="0"/>
                        </a:spcAft>
                        <a:buNone/>
                      </a:pPr>
                      <a:r>
                        <a:rPr sz="1600" b="1">
                          <a:solidFill>
                            <a:srgbClr val="FFFFFF"/>
                          </a:solidFill>
                          <a:latin typeface="맑은 고딕"/>
                          <a:ea typeface="맑은 고딕"/>
                          <a:cs typeface="맑은 고딕"/>
                        </a:rPr>
                        <a:t>관심 방향</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c>
                  <a:txBody>
                    <a:bodyPr wrap="square" lIns="54864" rIns="54864" tIns="36576" bIns="36576" anchor="t"/>
                    <a:lstStyle/>
                    <a:p>
                      <a:pPr algn="ctr" marL="0" indent="0">
                        <a:lnSpc>
                          <a:spcPct val="115000"/>
                        </a:lnSpc>
                        <a:spcAft>
                          <a:spcPts val="0"/>
                        </a:spcAft>
                        <a:buNone/>
                      </a:pPr>
                      <a:r>
                        <a:rPr sz="1600" b="1">
                          <a:solidFill>
                            <a:srgbClr val="FFFFFF"/>
                          </a:solidFill>
                          <a:latin typeface="맑은 고딕"/>
                          <a:ea typeface="맑은 고딕"/>
                          <a:cs typeface="맑은 고딕"/>
                        </a:rPr>
                        <a:t>이어서 볼 것</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c>
                  <a:txBody>
                    <a:bodyPr wrap="square" lIns="54864" rIns="54864" tIns="36576" bIns="36576" anchor="t"/>
                    <a:lstStyle/>
                    <a:p>
                      <a:pPr algn="ctr" marL="0" indent="0">
                        <a:lnSpc>
                          <a:spcPct val="115000"/>
                        </a:lnSpc>
                        <a:spcAft>
                          <a:spcPts val="0"/>
                        </a:spcAft>
                        <a:buNone/>
                      </a:pPr>
                      <a:r>
                        <a:rPr sz="1600" b="1">
                          <a:solidFill>
                            <a:srgbClr val="FFFFFF"/>
                          </a:solidFill>
                          <a:latin typeface="맑은 고딕"/>
                          <a:ea typeface="맑은 고딕"/>
                          <a:cs typeface="맑은 고딕"/>
                        </a:rPr>
                        <a:t>원문 (읽을 부분)</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0F6C8C"/>
                    </a:solidFill>
                  </a:tcPr>
                </a:tc>
              </a:tr>
              <a:tr h="670560">
                <a:tc>
                  <a:txBody>
                    <a:bodyPr wrap="square" lIns="54864" rIns="54864" tIns="36576" bIns="36576" anchor="t"/>
                    <a:lstStyle/>
                    <a:p>
                      <a:pPr algn="l" marL="0" indent="0">
                        <a:lnSpc>
                          <a:spcPct val="115000"/>
                        </a:lnSpc>
                        <a:spcAft>
                          <a:spcPts val="0"/>
                        </a:spcAft>
                        <a:buNone/>
                      </a:pPr>
                      <a:r>
                        <a:rPr sz="1600" b="1">
                          <a:solidFill>
                            <a:srgbClr val="1F2D3D"/>
                          </a:solidFill>
                          <a:latin typeface="맑은 고딕"/>
                          <a:ea typeface="맑은 고딕"/>
                          <a:cs typeface="맑은 고딕"/>
                        </a:rPr>
                        <a:t>원형 다시 읽기</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구조 · 계산 경로 · 학습 recipe</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Vaswani 등 2017 [22]: Fig 1–2·§3 구조, §4 경로·계산, §5 학습, §6.2 변형</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426720">
                <a:tc>
                  <a:txBody>
                    <a:bodyPr wrap="square" lIns="54864" rIns="54864" tIns="36576" bIns="36576" anchor="t"/>
                    <a:lstStyle/>
                    <a:p>
                      <a:pPr algn="l" marL="0" indent="0">
                        <a:lnSpc>
                          <a:spcPct val="115000"/>
                        </a:lnSpc>
                        <a:spcAft>
                          <a:spcPts val="0"/>
                        </a:spcAft>
                        <a:buNone/>
                      </a:pPr>
                      <a:r>
                        <a:rPr sz="1600" b="1">
                          <a:solidFill>
                            <a:srgbClr val="1F2D3D"/>
                          </a:solidFill>
                          <a:latin typeface="맑은 고딕"/>
                          <a:ea typeface="맑은 고딕"/>
                          <a:cs typeface="맑은 고딕"/>
                        </a:rPr>
                        <a:t>학습 안정성</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Residual · LayerNorm · Pre-LN</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He 등 2015 [19], Ba 등 2016 [20], Xiong 등 2020 [25]</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r h="426720">
                <a:tc>
                  <a:txBody>
                    <a:bodyPr wrap="square" lIns="54864" rIns="54864" tIns="36576" bIns="36576" anchor="t"/>
                    <a:lstStyle/>
                    <a:p>
                      <a:pPr algn="l" marL="0" indent="0">
                        <a:lnSpc>
                          <a:spcPct val="115000"/>
                        </a:lnSpc>
                        <a:spcAft>
                          <a:spcPts val="0"/>
                        </a:spcAft>
                        <a:buNone/>
                      </a:pPr>
                      <a:r>
                        <a:rPr sz="1600" b="1">
                          <a:solidFill>
                            <a:srgbClr val="1F2D3D"/>
                          </a:solidFill>
                          <a:latin typeface="맑은 고딕"/>
                          <a:ea typeface="맑은 고딕"/>
                          <a:cs typeface="맑은 고딕"/>
                        </a:rPr>
                        <a:t>언어 생성</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Decoder-only · KV Cache · GQA</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Radford 등 2018 [32], Ainslie 등 2023 [37]</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426720">
                <a:tc>
                  <a:txBody>
                    <a:bodyPr wrap="square" lIns="54864" rIns="54864" tIns="36576" bIns="36576" anchor="t"/>
                    <a:lstStyle/>
                    <a:p>
                      <a:pPr algn="l" marL="0" indent="0">
                        <a:lnSpc>
                          <a:spcPct val="115000"/>
                        </a:lnSpc>
                        <a:spcAft>
                          <a:spcPts val="0"/>
                        </a:spcAft>
                        <a:buNone/>
                      </a:pPr>
                      <a:r>
                        <a:rPr sz="1600" b="1">
                          <a:solidFill>
                            <a:srgbClr val="1F2D3D"/>
                          </a:solidFill>
                          <a:latin typeface="맑은 고딕"/>
                          <a:ea typeface="맑은 고딕"/>
                          <a:cs typeface="맑은 고딕"/>
                        </a:rPr>
                        <a:t>표현 사전학습</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Encoder-only · text-to-text</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Devlin 등 2018 [31], Raffel 등 2019 [33]</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r h="426720">
                <a:tc>
                  <a:txBody>
                    <a:bodyPr wrap="square" lIns="54864" rIns="54864" tIns="36576" bIns="36576" anchor="t"/>
                    <a:lstStyle/>
                    <a:p>
                      <a:pPr algn="l" marL="0" indent="0">
                        <a:lnSpc>
                          <a:spcPct val="115000"/>
                        </a:lnSpc>
                        <a:spcAft>
                          <a:spcPts val="0"/>
                        </a:spcAft>
                        <a:buNone/>
                      </a:pPr>
                      <a:r>
                        <a:rPr sz="1600" b="1">
                          <a:solidFill>
                            <a:srgbClr val="1F2D3D"/>
                          </a:solidFill>
                          <a:latin typeface="맑은 고딕"/>
                          <a:ea typeface="맑은 고딕"/>
                          <a:cs typeface="맑은 고딕"/>
                        </a:rPr>
                        <a:t>시각 표현</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patch · 공간 위치 · CLS와 pooling</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Dosovitskiy 등 2020 [34] §3, Fig 1</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670560">
                <a:tc>
                  <a:txBody>
                    <a:bodyPr wrap="square" lIns="54864" rIns="54864" tIns="36576" bIns="36576" anchor="t"/>
                    <a:lstStyle/>
                    <a:p>
                      <a:pPr algn="l" marL="0" indent="0">
                        <a:lnSpc>
                          <a:spcPct val="115000"/>
                        </a:lnSpc>
                        <a:spcAft>
                          <a:spcPts val="0"/>
                        </a:spcAft>
                        <a:buNone/>
                      </a:pPr>
                      <a:r>
                        <a:rPr sz="1600" b="1">
                          <a:solidFill>
                            <a:srgbClr val="1F2D3D"/>
                          </a:solidFill>
                          <a:latin typeface="맑은 고딕"/>
                          <a:ea typeface="맑은 고딕"/>
                          <a:cs typeface="맑은 고딕"/>
                        </a:rPr>
                        <a:t>생성 모델</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diffusion 목표 · timestep conditioning</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Peebles &amp; Xie 2022 [41] §3, Fig 3</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r h="426720">
                <a:tc>
                  <a:txBody>
                    <a:bodyPr wrap="square" lIns="54864" rIns="54864" tIns="36576" bIns="36576" anchor="t"/>
                    <a:lstStyle/>
                    <a:p>
                      <a:pPr algn="l" marL="0" indent="0">
                        <a:lnSpc>
                          <a:spcPct val="115000"/>
                        </a:lnSpc>
                        <a:spcAft>
                          <a:spcPts val="0"/>
                        </a:spcAft>
                        <a:buNone/>
                      </a:pPr>
                      <a:r>
                        <a:rPr sz="1600" b="1">
                          <a:solidFill>
                            <a:srgbClr val="1F2D3D"/>
                          </a:solidFill>
                          <a:latin typeface="맑은 고딕"/>
                          <a:ea typeface="맑은 고딕"/>
                          <a:cs typeface="맑은 고딕"/>
                        </a:rPr>
                        <a:t>모델 최적화</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실제 병목 · kernel · 메모리 이동</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Dao 등 2022 [38], Shazeer 2020 [36], Su 등 2021 [35]</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FFFFFF"/>
                    </a:solidFill>
                  </a:tcPr>
                </a:tc>
              </a:tr>
              <a:tr h="426720">
                <a:tc>
                  <a:txBody>
                    <a:bodyPr wrap="square" lIns="54864" rIns="54864" tIns="36576" bIns="36576" anchor="t"/>
                    <a:lstStyle/>
                    <a:p>
                      <a:pPr algn="l" marL="0" indent="0">
                        <a:lnSpc>
                          <a:spcPct val="115000"/>
                        </a:lnSpc>
                        <a:spcAft>
                          <a:spcPts val="0"/>
                        </a:spcAft>
                        <a:buNone/>
                      </a:pPr>
                      <a:r>
                        <a:rPr sz="1600" b="1">
                          <a:solidFill>
                            <a:srgbClr val="1F2D3D"/>
                          </a:solidFill>
                          <a:latin typeface="맑은 고딕"/>
                          <a:ea typeface="맑은 고딕"/>
                          <a:cs typeface="맑은 고딕"/>
                        </a:rPr>
                        <a:t>해석</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attention은 설명인가</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c>
                  <a:txBody>
                    <a:bodyPr wrap="square" lIns="54864" rIns="54864" tIns="36576" bIns="36576" anchor="t"/>
                    <a:lstStyle/>
                    <a:p>
                      <a:pPr algn="l" marL="0" indent="0">
                        <a:lnSpc>
                          <a:spcPct val="115000"/>
                        </a:lnSpc>
                        <a:spcAft>
                          <a:spcPts val="0"/>
                        </a:spcAft>
                        <a:buNone/>
                      </a:pPr>
                      <a:r>
                        <a:rPr sz="1600" b="0">
                          <a:solidFill>
                            <a:srgbClr val="1F2D3D"/>
                          </a:solidFill>
                          <a:latin typeface="맑은 고딕"/>
                          <a:ea typeface="맑은 고딕"/>
                          <a:cs typeface="맑은 고딕"/>
                        </a:rPr>
                        <a:t>Jain &amp; Wallace 2019 [39], Wiegreffe &amp; Pinter 2019 [40]</a:t>
                      </a:r>
                    </a:p>
                  </a:txBody>
                  <a:tcPr marL="73152" marR="73152" marT="36576" marB="36576" anchor="ctr">
                    <a:lnL w="6350">
                      <a:solidFill>
                        <a:srgbClr val="B9CBD3"/>
                      </a:solidFill>
                    </a:lnL>
                    <a:lnR w="6350">
                      <a:solidFill>
                        <a:srgbClr val="B9CBD3"/>
                      </a:solidFill>
                    </a:lnR>
                    <a:lnT w="6350">
                      <a:solidFill>
                        <a:srgbClr val="B9CBD3"/>
                      </a:solidFill>
                    </a:lnT>
                    <a:lnB w="6350">
                      <a:solidFill>
                        <a:srgbClr val="B9CBD3"/>
                      </a:solidFill>
                    </a:lnB>
                    <a:solidFill>
                      <a:srgbClr val="E6F3F6"/>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정리 · 과정의 정리</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71968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AICA Lab Meeting</a:t>
            </a:r>
            <a:r>
              <a:rPr lang="en-US" altLang="ko-KR" dirty="0"/>
              <a:t> |</a:t>
            </a:r>
            <a:endParaRPr lang="en-US" dirty="0"/>
          </a:p>
        </p:txBody>
      </p:sp>
      <p:sp>
        <p:nvSpPr>
          <p:cNvPr id="7" name="Oval 6"/>
          <p:cNvSpPr/>
          <p:nvPr/>
        </p:nvSpPr>
        <p:spPr>
          <a:xfrm>
            <a:off x="457200" y="1123950"/>
            <a:ext cx="502920" cy="502920"/>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75"/>
              </a:spcAft>
              <a:buNone/>
            </a:pPr>
            <a:r>
              <a:rPr sz="1500" b="1">
                <a:solidFill>
                  <a:srgbClr val="FFFFFF"/>
                </a:solidFill>
                <a:latin typeface="맑은 고딕"/>
                <a:ea typeface="맑은 고딕"/>
                <a:cs typeface="맑은 고딕"/>
              </a:rPr>
              <a:t>1</a:t>
            </a:r>
          </a:p>
        </p:txBody>
      </p:sp>
      <p:sp>
        <p:nvSpPr>
          <p:cNvPr id="8" name="TextBox 7"/>
          <p:cNvSpPr txBox="1"/>
          <p:nvPr/>
        </p:nvSpPr>
        <p:spPr>
          <a:xfrm>
            <a:off x="1188720" y="1051560"/>
            <a:ext cx="10497311" cy="647700"/>
          </a:xfrm>
          <a:prstGeom prst="rect">
            <a:avLst/>
          </a:prstGeom>
          <a:noFill/>
        </p:spPr>
        <p:txBody>
          <a:bodyPr wrap="square" lIns="73152" rIns="73152" tIns="36576" bIns="36576" anchor="ctr"/>
          <a:lstStyle/>
          <a:p>
            <a:pPr algn="l" marL="0" indent="0">
              <a:lnSpc>
                <a:spcPct val="115000"/>
              </a:lnSpc>
              <a:spcAft>
                <a:spcPts val="560"/>
              </a:spcAft>
              <a:buNone/>
            </a:pPr>
            <a:r>
              <a:rPr sz="1600" b="0">
                <a:solidFill>
                  <a:srgbClr val="1F2D3D"/>
                </a:solidFill>
                <a:latin typeface="맑은 고딕"/>
                <a:ea typeface="맑은 고딕"/>
                <a:cs typeface="맑은 고딕"/>
              </a:rPr>
              <a:t>FFN은 위치별 비선형 변환, Residual은 표현 보존 통로, LayerNorm은 토큰의 d축 정규화 — 원형은 Post-LN</a:t>
            </a:r>
          </a:p>
        </p:txBody>
      </p:sp>
      <p:sp>
        <p:nvSpPr>
          <p:cNvPr id="9" name="Oval 8"/>
          <p:cNvSpPr/>
          <p:nvPr/>
        </p:nvSpPr>
        <p:spPr>
          <a:xfrm>
            <a:off x="457200" y="1908810"/>
            <a:ext cx="502920" cy="502920"/>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75"/>
              </a:spcAft>
              <a:buNone/>
            </a:pPr>
            <a:r>
              <a:rPr sz="1500" b="1">
                <a:solidFill>
                  <a:srgbClr val="FFFFFF"/>
                </a:solidFill>
                <a:latin typeface="맑은 고딕"/>
                <a:ea typeface="맑은 고딕"/>
                <a:cs typeface="맑은 고딕"/>
              </a:rPr>
              <a:t>2</a:t>
            </a:r>
          </a:p>
        </p:txBody>
      </p:sp>
      <p:sp>
        <p:nvSpPr>
          <p:cNvPr id="10" name="TextBox 9"/>
          <p:cNvSpPr txBox="1"/>
          <p:nvPr/>
        </p:nvSpPr>
        <p:spPr>
          <a:xfrm>
            <a:off x="1188720" y="1836420"/>
            <a:ext cx="10497311" cy="647700"/>
          </a:xfrm>
          <a:prstGeom prst="rect">
            <a:avLst/>
          </a:prstGeom>
          <a:noFill/>
        </p:spPr>
        <p:txBody>
          <a:bodyPr wrap="square" lIns="73152" rIns="73152" tIns="36576" bIns="36576" anchor="ctr"/>
          <a:lstStyle/>
          <a:p>
            <a:pPr algn="l" marL="0" indent="0">
              <a:lnSpc>
                <a:spcPct val="115000"/>
              </a:lnSpc>
              <a:spcAft>
                <a:spcPts val="577"/>
              </a:spcAft>
              <a:buNone/>
            </a:pPr>
            <a:r>
              <a:rPr sz="1650" b="0">
                <a:solidFill>
                  <a:srgbClr val="1F2D3D"/>
                </a:solidFill>
                <a:latin typeface="맑은 고딕"/>
                <a:ea typeface="맑은 고딕"/>
                <a:cs typeface="맑은 고딕"/>
              </a:rPr>
              <a:t>Target을 한 칸 shift하고 causal mask(Softmax 전 −∞)로 막으면 정답 누출 없이 병렬 학습할 수 있다</a:t>
            </a:r>
          </a:p>
        </p:txBody>
      </p:sp>
      <p:sp>
        <p:nvSpPr>
          <p:cNvPr id="11" name="Oval 10"/>
          <p:cNvSpPr/>
          <p:nvPr/>
        </p:nvSpPr>
        <p:spPr>
          <a:xfrm>
            <a:off x="457200" y="2693670"/>
            <a:ext cx="502920" cy="502920"/>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75"/>
              </a:spcAft>
              <a:buNone/>
            </a:pPr>
            <a:r>
              <a:rPr sz="1500" b="1">
                <a:solidFill>
                  <a:srgbClr val="FFFFFF"/>
                </a:solidFill>
                <a:latin typeface="맑은 고딕"/>
                <a:ea typeface="맑은 고딕"/>
                <a:cs typeface="맑은 고딕"/>
              </a:rPr>
              <a:t>3</a:t>
            </a:r>
          </a:p>
        </p:txBody>
      </p:sp>
      <p:sp>
        <p:nvSpPr>
          <p:cNvPr id="12" name="TextBox 11"/>
          <p:cNvSpPr txBox="1"/>
          <p:nvPr/>
        </p:nvSpPr>
        <p:spPr>
          <a:xfrm>
            <a:off x="1188720" y="2621280"/>
            <a:ext cx="10497311" cy="647700"/>
          </a:xfrm>
          <a:prstGeom prst="rect">
            <a:avLst/>
          </a:prstGeom>
          <a:noFill/>
        </p:spPr>
        <p:txBody>
          <a:bodyPr wrap="square" lIns="73152" rIns="73152" tIns="36576" bIns="36576" anchor="ctr"/>
          <a:lstStyle/>
          <a:p>
            <a:pPr algn="l" marL="0" indent="0">
              <a:lnSpc>
                <a:spcPct val="115000"/>
              </a:lnSpc>
              <a:spcAft>
                <a:spcPts val="630"/>
              </a:spcAft>
              <a:buNone/>
            </a:pPr>
            <a:r>
              <a:rPr sz="1800" b="0">
                <a:solidFill>
                  <a:srgbClr val="1F2D3D"/>
                </a:solidFill>
                <a:latin typeface="맑은 고딕"/>
                <a:ea typeface="맑은 고딕"/>
                <a:cs typeface="맑은 고딕"/>
              </a:rPr>
              <a:t>층당 파라미터 ≈ 4d² + 2d·d_ff: Encoder ≈ 12d², Decoder ≈ 16d² — 원형 Base 약 65M</a:t>
            </a:r>
          </a:p>
        </p:txBody>
      </p:sp>
      <p:sp>
        <p:nvSpPr>
          <p:cNvPr id="13" name="Oval 12"/>
          <p:cNvSpPr/>
          <p:nvPr/>
        </p:nvSpPr>
        <p:spPr>
          <a:xfrm>
            <a:off x="457200" y="3478530"/>
            <a:ext cx="502920" cy="502920"/>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75"/>
              </a:spcAft>
              <a:buNone/>
            </a:pPr>
            <a:r>
              <a:rPr sz="1500" b="1">
                <a:solidFill>
                  <a:srgbClr val="FFFFFF"/>
                </a:solidFill>
                <a:latin typeface="맑은 고딕"/>
                <a:ea typeface="맑은 고딕"/>
                <a:cs typeface="맑은 고딕"/>
              </a:rPr>
              <a:t>4</a:t>
            </a:r>
          </a:p>
        </p:txBody>
      </p:sp>
      <p:sp>
        <p:nvSpPr>
          <p:cNvPr id="14" name="TextBox 13"/>
          <p:cNvSpPr txBox="1"/>
          <p:nvPr/>
        </p:nvSpPr>
        <p:spPr>
          <a:xfrm>
            <a:off x="1188720" y="3406140"/>
            <a:ext cx="10497311" cy="647700"/>
          </a:xfrm>
          <a:prstGeom prst="rect">
            <a:avLst/>
          </a:prstGeom>
          <a:noFill/>
        </p:spPr>
        <p:txBody>
          <a:bodyPr wrap="square" lIns="73152" rIns="73152" tIns="36576" bIns="36576" anchor="ctr"/>
          <a:lstStyle/>
          <a:p>
            <a:pPr algn="l" marL="0" indent="0">
              <a:lnSpc>
                <a:spcPct val="115000"/>
              </a:lnSpc>
              <a:spcAft>
                <a:spcPts val="594"/>
              </a:spcAft>
              <a:buNone/>
            </a:pPr>
            <a:r>
              <a:rPr sz="1700" b="0">
                <a:solidFill>
                  <a:srgbClr val="1F2D3D"/>
                </a:solidFill>
                <a:latin typeface="맑은 고딕"/>
                <a:ea typeface="맑은 고딕"/>
                <a:cs typeface="맑은 고딕"/>
              </a:rPr>
              <a:t>학습은 PAD 제외 NLL 최소화 · 원논문: Adam(0.9, 0.98), warm-up 4000, dropout·label smoothing 0.1</a:t>
            </a:r>
          </a:p>
        </p:txBody>
      </p:sp>
      <p:sp>
        <p:nvSpPr>
          <p:cNvPr id="15" name="Oval 14"/>
          <p:cNvSpPr/>
          <p:nvPr/>
        </p:nvSpPr>
        <p:spPr>
          <a:xfrm>
            <a:off x="457200" y="4263390"/>
            <a:ext cx="502920" cy="502920"/>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75"/>
              </a:spcAft>
              <a:buNone/>
            </a:pPr>
            <a:r>
              <a:rPr sz="1500" b="1">
                <a:solidFill>
                  <a:srgbClr val="FFFFFF"/>
                </a:solidFill>
                <a:latin typeface="맑은 고딕"/>
                <a:ea typeface="맑은 고딕"/>
                <a:cs typeface="맑은 고딕"/>
              </a:rPr>
              <a:t>5</a:t>
            </a:r>
          </a:p>
        </p:txBody>
      </p:sp>
      <p:sp>
        <p:nvSpPr>
          <p:cNvPr id="16" name="TextBox 15"/>
          <p:cNvSpPr txBox="1"/>
          <p:nvPr/>
        </p:nvSpPr>
        <p:spPr>
          <a:xfrm>
            <a:off x="1188720" y="4191000"/>
            <a:ext cx="10497311" cy="647700"/>
          </a:xfrm>
          <a:prstGeom prst="rect">
            <a:avLst/>
          </a:prstGeom>
          <a:noFill/>
        </p:spPr>
        <p:txBody>
          <a:bodyPr wrap="square" lIns="73152" rIns="73152" tIns="36576" bIns="36576" anchor="ctr"/>
          <a:lstStyle/>
          <a:p>
            <a:pPr algn="l" marL="0" indent="0">
              <a:lnSpc>
                <a:spcPct val="115000"/>
              </a:lnSpc>
              <a:spcAft>
                <a:spcPts val="577"/>
              </a:spcAft>
              <a:buNone/>
            </a:pPr>
            <a:r>
              <a:rPr sz="1650" b="0">
                <a:solidFill>
                  <a:srgbClr val="1F2D3D"/>
                </a:solidFill>
                <a:latin typeface="맑은 고딕"/>
                <a:ea typeface="맑은 고딕"/>
                <a:cs typeface="맑은 고딕"/>
              </a:rPr>
              <a:t>생성은 자기회귀 — KV Cache(2·L·B·N·d·bytes)는 재계산을 줄이지만 순차성과 문맥 참조 비용은 남는다</a:t>
            </a:r>
          </a:p>
        </p:txBody>
      </p:sp>
      <p:sp>
        <p:nvSpPr>
          <p:cNvPr id="17" name="Oval 16"/>
          <p:cNvSpPr/>
          <p:nvPr/>
        </p:nvSpPr>
        <p:spPr>
          <a:xfrm>
            <a:off x="457200" y="5048250"/>
            <a:ext cx="502920" cy="502920"/>
          </a:xfrm>
          <a:prstGeom prst="ellipse">
            <a:avLst/>
          </a:prstGeom>
          <a:solidFill>
            <a:srgbClr val="0F6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Aft>
                <a:spcPts val="375"/>
              </a:spcAft>
              <a:buNone/>
            </a:pPr>
            <a:r>
              <a:rPr sz="1500" b="1">
                <a:solidFill>
                  <a:srgbClr val="FFFFFF"/>
                </a:solidFill>
                <a:latin typeface="맑은 고딕"/>
                <a:ea typeface="맑은 고딕"/>
                <a:cs typeface="맑은 고딕"/>
              </a:rPr>
              <a:t>6</a:t>
            </a:r>
          </a:p>
        </p:txBody>
      </p:sp>
      <p:sp>
        <p:nvSpPr>
          <p:cNvPr id="18" name="TextBox 17"/>
          <p:cNvSpPr txBox="1"/>
          <p:nvPr/>
        </p:nvSpPr>
        <p:spPr>
          <a:xfrm>
            <a:off x="1188720" y="4975860"/>
            <a:ext cx="10497311" cy="647700"/>
          </a:xfrm>
          <a:prstGeom prst="rect">
            <a:avLst/>
          </a:prstGeom>
          <a:noFill/>
        </p:spPr>
        <p:txBody>
          <a:bodyPr wrap="square" lIns="73152" rIns="73152" tIns="36576" bIns="36576" anchor="ctr"/>
          <a:lstStyle/>
          <a:p>
            <a:pPr algn="l" marL="0" indent="0">
              <a:lnSpc>
                <a:spcPct val="115000"/>
              </a:lnSpc>
              <a:spcAft>
                <a:spcPts val="577"/>
              </a:spcAft>
              <a:buNone/>
            </a:pPr>
            <a:r>
              <a:rPr sz="1650" b="0">
                <a:solidFill>
                  <a:srgbClr val="1F2D3D"/>
                </a:solidFill>
                <a:latin typeface="맑은 고딕"/>
                <a:ea typeface="맑은 고딕"/>
                <a:cs typeface="맑은 고딕"/>
              </a:rPr>
              <a:t>BERT·GPT·T5·ViT·DiT는 같은 부품을 다른 mask·목표·token으로 조합한 것 — 원형 표에 꽂아 비교한다</a:t>
            </a:r>
          </a:p>
        </p:txBody>
      </p:sp>
      <p:sp>
        <p:nvSpPr>
          <p:cNvPr id="19" name="Rounded Rectangle 18"/>
          <p:cNvSpPr/>
          <p:nvPr/>
        </p:nvSpPr>
        <p:spPr>
          <a:xfrm>
            <a:off x="457200" y="5760720"/>
            <a:ext cx="11274552" cy="594360"/>
          </a:xfrm>
          <a:prstGeom prst="roundRect">
            <a:avLst>
              <a:gd name="adj" fmla="val 12307"/>
            </a:avLst>
          </a:prstGeom>
          <a:solidFill>
            <a:srgbClr val="FD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36576" bIns="36576"/>
          <a:lstStyle/>
          <a:p>
            <a:pPr algn="l" marL="0" indent="0">
              <a:lnSpc>
                <a:spcPct val="110000"/>
              </a:lnSpc>
              <a:spcAft>
                <a:spcPts val="400"/>
              </a:spcAft>
              <a:buNone/>
            </a:pPr>
            <a:r>
              <a:rPr sz="1600" b="1">
                <a:solidFill>
                  <a:srgbClr val="1F2D3D"/>
                </a:solidFill>
                <a:latin typeface="맑은 고딕"/>
                <a:ea typeface="맑은 고딕"/>
                <a:cs typeface="맑은 고딕"/>
              </a:rPr>
              <a:t>다음 주 →</a:t>
            </a:r>
            <a:r>
              <a:rPr sz="1600" b="0">
                <a:solidFill>
                  <a:srgbClr val="1F2D3D"/>
                </a:solidFill>
                <a:latin typeface="맑은 고딕"/>
                <a:ea typeface="맑은 고딕"/>
                <a:cs typeface="맑은 고딕"/>
              </a:rPr>
              <a:t> 과정 종료 — 최종 프로젝트 발표와 구술 평가: 처음 보는 d·H·S·T로 입력부터 logits까지 설명하기</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2_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991B60C-0B87-4813-A3C9-C04D3D506FA3}">
  <we:reference id="WA200010001" version="1.0.0.1" store="Omex" storeType="OMEX"/>
  <we:alternateReferences>
    <we:reference id="WA200010001" version="1.0.0.1" store="WA200010001" storeType="OMEX"/>
  </we:alternateReferences>
  <we:properties>
    <we:property name="claude.fileId" value="&quot;36273689-c3e2-4185-b47f-e280f0f57d29&quot;"/>
  </we:properties>
  <we:bindings/>
  <we:snapshot xmlns:r="http://schemas.openxmlformats.org/officeDocument/2006/relationships"/>
</we:webextension>
</file>

<file path=ppt/webextensions/webextension2.xml><?xml version="1.0" encoding="utf-8"?>
<we:webextension xmlns:we="http://schemas.microsoft.com/office/webextensions/webextension/2010/11" id="{79D06B6F-593C-4965-A8E3-9778E5C31F9B}">
  <we:reference id="WA200010725" version="1.0.0.1" store="Omex" storeType="OMEX"/>
  <we:alternateReferences>
    <we:reference id="WA200010725" version="1.0.0.1" store="WA200010725" storeType="OMEX"/>
  </we:alternateReferences>
  <we:properties>
    <we:property name="claude.fileId" value="&quot;b6f5a1e2-33ed-4cdb-b763-f3262e0a716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31557</TotalTime>
  <Words>68</Words>
  <Application>Microsoft Office PowerPoint</Application>
  <PresentationFormat>와이드스크린</PresentationFormat>
  <Paragraphs>24</Paragraphs>
  <Slides>3</Slides>
  <Notes>3</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3</vt:i4>
      </vt:variant>
    </vt:vector>
  </HeadingPairs>
  <TitlesOfParts>
    <vt:vector size="10" baseType="lpstr">
      <vt:lpstr>맑은 고딕</vt:lpstr>
      <vt:lpstr>시스템 서체 일반체</vt:lpstr>
      <vt:lpstr>Arial</vt:lpstr>
      <vt:lpstr>Trebuchet MS</vt:lpstr>
      <vt:lpstr>Wingdings</vt:lpstr>
      <vt:lpstr>Office 테마</vt:lpstr>
      <vt:lpstr>2_Office 테마</vt:lpstr>
      <vt:lpstr>subject</vt:lpstr>
      <vt:lpstr>Name</vt:lpstr>
      <vt:lpstr>Question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문상준</dc:creator>
  <cp:lastModifiedBy>민윤홍</cp:lastModifiedBy>
  <cp:revision>1287</cp:revision>
  <cp:lastPrinted>2026-04-30T03:45:43Z</cp:lastPrinted>
  <dcterms:created xsi:type="dcterms:W3CDTF">2026-03-17T00:52:02Z</dcterms:created>
  <dcterms:modified xsi:type="dcterms:W3CDTF">2026-09-03T15:32:22Z</dcterms:modified>
</cp:coreProperties>
</file>