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2" r:id="rId2"/>
  </p:sldMasterIdLst>
  <p:notesMasterIdLst>
    <p:notesMasterId r:id="rId6"/>
  </p:notesMasterIdLst>
  <p:sldIdLst>
    <p:sldId id="770" r:id="rId3"/>
    <p:sldId id="1002" r:id="rId11"/>
    <p:sldId id="1003" r:id="rId12"/>
    <p:sldId id="1004" r:id="rId13"/>
    <p:sldId id="1005" r:id="rId14"/>
    <p:sldId id="1006" r:id="rId15"/>
    <p:sldId id="1007" r:id="rId16"/>
    <p:sldId id="1008" r:id="rId17"/>
    <p:sldId id="1009" r:id="rId18"/>
    <p:sldId id="1010" r:id="rId19"/>
    <p:sldId id="1011" r:id="rId20"/>
    <p:sldId id="1012" r:id="rId21"/>
    <p:sldId id="1013" r:id="rId22"/>
    <p:sldId id="1014" r:id="rId23"/>
    <p:sldId id="1015" r:id="rId24"/>
    <p:sldId id="1016" r:id="rId25"/>
    <p:sldId id="1017" r:id="rId26"/>
    <p:sldId id="1018" r:id="rId27"/>
    <p:sldId id="1019" r:id="rId28"/>
    <p:sldId id="1020" r:id="rId29"/>
    <p:sldId id="1021" r:id="rId30"/>
    <p:sldId id="1022" r:id="rId31"/>
    <p:sldId id="1023" r:id="rId32"/>
    <p:sldId id="1024" r:id="rId33"/>
    <p:sldId id="1025" r:id="rId34"/>
    <p:sldId id="1026" r:id="rId35"/>
    <p:sldId id="1027" r:id="rId36"/>
    <p:sldId id="1028" r:id="rId37"/>
    <p:sldId id="1029" r:id="rId38"/>
    <p:sldId id="1030" r:id="rId39"/>
    <p:sldId id="1031" r:id="rId40"/>
    <p:sldId id="1032" r:id="rId41"/>
    <p:sldId id="1033" r:id="rId42"/>
    <p:sldId id="1034" r:id="rId43"/>
    <p:sldId id="1035" r:id="rId44"/>
    <p:sldId id="1036" r:id="rId45"/>
    <p:sldId id="1037" r:id="rId46"/>
    <p:sldId id="1038" r:id="rId47"/>
    <p:sldId id="1039" r:id="rId48"/>
    <p:sldId id="1040" r:id="rId49"/>
    <p:sldId id="1041" r:id="rId50"/>
    <p:sldId id="1042" r:id="rId51"/>
    <p:sldId id="772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F1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65" autoAdjust="0"/>
    <p:restoredTop sz="73176" autoAdjust="0"/>
  </p:normalViewPr>
  <p:slideViewPr>
    <p:cSldViewPr snapToGrid="0" showGuides="1">
      <p:cViewPr varScale="1">
        <p:scale>
          <a:sx n="85" d="100"/>
          <a:sy n="85" d="100"/>
        </p:scale>
        <p:origin x="1476" y="90"/>
      </p:cViewPr>
      <p:guideLst>
        <p:guide orient="horz" pos="2160"/>
        <p:guide pos="3840"/>
      </p:guideLst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 showGuides="1">
      <p:cViewPr varScale="1">
        <p:scale>
          <a:sx n="118" d="100"/>
          <a:sy n="118" d="100"/>
        </p:scale>
        <p:origin x="3954" y="9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5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C70FBF-EBC7-48BC-9FF4-60E98111FAF8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5A6E62-6464-48E3-A950-8B46B2C810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3136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ko-KR" dirty="0"/>
              <a:t> </a:t>
            </a:r>
            <a:r>
              <a:rPr lang="ko-KR" altLang="ko-KR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오른쪽: →</a:t>
            </a:r>
          </a:p>
          <a:p>
            <a:pPr lvl="0"/>
            <a:r>
              <a:rPr lang="ko-KR" altLang="ko-KR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왼쪽: ←</a:t>
            </a:r>
          </a:p>
          <a:p>
            <a:pPr lvl="0"/>
            <a:r>
              <a:rPr lang="ko-KR" altLang="ko-KR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위쪽: ↑</a:t>
            </a:r>
          </a:p>
          <a:p>
            <a:pPr lvl="0"/>
            <a:r>
              <a:rPr lang="ko-KR" altLang="ko-KR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아래쪽: ↓</a:t>
            </a:r>
          </a:p>
          <a:p>
            <a:pPr lvl="0"/>
            <a:r>
              <a:rPr lang="ko-KR" altLang="ko-KR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좌우 양방향: ↔ ⇔</a:t>
            </a:r>
          </a:p>
          <a:p>
            <a:pPr lvl="0"/>
            <a:r>
              <a:rPr lang="ko-KR" altLang="ko-KR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상하 양방향: ↕</a:t>
            </a:r>
          </a:p>
          <a:p>
            <a:pPr lvl="0"/>
            <a:r>
              <a:rPr lang="ko-KR" altLang="ko-KR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대각선: ↗ ↘ ↖ ↙</a:t>
            </a:r>
          </a:p>
          <a:p>
            <a:endParaRPr lang="ko-KR" altLang="en-US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F891E5-1CD2-4B05-8178-8C49B58924F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7021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5A6E62-6464-48E3-A950-8B46B2C8108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37474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첫 시간의 질문. 사람이 규칙을 전부 적지 않고, 예시(데이터)로부터 규칙을 찾게 할 수 있을까? 오늘은 이 질문에 답하는 데 필요한 최소 도구(텐서, 모델, 손실, 기울기)를 모두 직접 계산해 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오른쪽은 2017년 Transformer 구조도(6주차의 도착점). 지금은 모르는 단어가 대부분이어도 괜찮다. 6주 동안 이 그림의 모든 상자를 '왜 필요했는가'로 하나씩 채운다. 모델 이름을 외우는 것이 목표가 아니라, 각 계산이 어떤 문제를 풀기 위해 들어왔는지 설명하는 것이 목표다.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원자료가 제시하는 학습 루프: 문제 → 아이디어 → 계산 → 검증. 슬라이드 오른쪽 위 태그가 지금 어느 단계인지 알려준다. 새 모델은 항상 이전 방법이 실패한 지점에서 출발한다. 그래서 '무엇이 안 됐나?'를 먼저 보고 나서 아이디어를 본다. 계산은 작은 숫자로 손으로 따라가고, 마지막엔 코드나 실험으로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여섯 질문 중 첫 번째. 오늘 배우는 도구(텐서, 손실, 경사하강법)는 6주 내내, 그리고 Transformer에서도 그대로 쓰인다.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용어를 외울 필요는 없다. 슬라이드를 넘기다 막히면 이 표로 돌아온다.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AI의 출발점에서 무엇이 질문이었는지 짧게 본다. 역사를 외우는 것이 목적이 아니라, '학습'이라는 생각이 어디서 나왔는지 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1943 McCulloch–Pitts: 뉴런 활동을 논리 계산(가중합과 임계값)으로 추상화. 가중치는 사람이 정했다. 1950 Turing 'Computing Machinery and Intelligence'(Mind): 기계가 생각하는지를 어떻게 평가할까라는 질문. 1955년 8월 Dartmouth 제안서가 작성되고 1956년 여름 연구 모임이 열려 'AI'가 연구 의제가 되었다(제안서와 모임의 연도를 구분). 1958 Rosenblatt Perceptron: 가중치를 데이터로 조정하는 학습 규칙. 다음 주의 주인공이다.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입력 x1, x2에 가중치를 곱해 더하고, 임계값 이상이면 1을 출력한다. w=(1,1), 임계값 2로 두면 AND가 된다. 이 뉴런은 계산 모델로는 훌륭하지만, '어떤 w와 임계값을 써야 하는가'는 사람이 풀어야 한다. 문제가 복잡해지면(스팸 판별, 필기 인식) 이 숫자들을 손으로 정할 수 없다 → 데이터로 정하자는 생각으로 이어진다.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스팸 필터 예시. 규칙 기반은 점검하기 쉽지만 예외를 모두 쓰고 유지하는 비용이 크다. 학습 기반은 규칙을 직접 쓰지 않지만, 사람이 아무것도 안 하는 것이 아니다: 데이터 수집, 목표(손실) 정의, 모델 구조 선택, 평가 설계를 한다. 규칙 기반 AI가 '실패한 과거'인 것은 아니다. 지금도 두 방식은 결합되어 쓰인다.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모델 f는 입력 x를 받아 예측 ŷ를 내는 함수이고, θ(세타)는 그 함수 안의 조절 가능한 숫자들이다. 같은 구조라도 θ가 다르면 다른 규칙이 된다. 오늘 남은 시간은 이 한 줄을 실제로 하기 위한 네 가지 질문을 차례로 푼다: 데이터를 어떻게 숫자로? 틀린 정도를 어떻게 숫자로? 어느 방향으로 고치나? 새 데이터에서도 맞나?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딥러닝 코드에서 가장 많이 보는 것은 수식이 아니라 shape이다. 이 파트의 목표는 shape을 읽고 예측하는 습관.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표: 학생 4명 × 특징 3개 = (4, 3). 흑백 이미지: 세로 28 × 가로 28 픽셀 밝기 = (28, 28), 컬러는 채널 3개 (3, 28, 28). 문장: 단어(토큰)를 번호로 바꾸면 (5,), 각 토큰을 8개 숫자로 표현하면 (5, 8). 이렇게 축이 있는 숫자 배열을 텐서라고 부른다. 3주차(이미지)와 4주차(문장)에서 각각 자세히 다룬다.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축의 개수를 차원(rank, ndim)이라고도 한다. 스칼라는 축 0개, 벡터 1개, 행렬 2개, 그 이상은 텐서. 주의: '8차원 벡터'의 8은 원소 개수(한 축의 길이)이고, '3차원 텐서'의 3은 축의 개수다. 같은 '차원'이라는 말이 두 뜻으로 쓰인다.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과정 전체에서 쓰는 표기: B(batch, 한 번에 처리하는 예시 수), N(시퀀스 길이, 토큰 수), d(특징 수, 모델 차원). 길이가 다른 문장은 PAD 토큰으로 길이를 맞춘다. shape을 볼 때마다 '각 축이 무엇을 세는가'를 먼저 말해 본다. Transformer 코드의 버그 대부분은 축을 잘못 읽어서 생긴다.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더하기·곱하기는 같은 위치끼리(원소별) 계산된다. shape이 다르면 뒤쪽 축부터 맞춰 보고, 길이가 같거나 한쪽이 1이면 그 축을 복제한 것처럼 계산한다(broadcasting). 편하지만, 의도하지 않은 broadcasting은 에러 없이 틀린 결과를 만든다. 예: 모든 토큰에 같은 편향 b(shape (d,))를 더할 때 (B,N,d)+(d,)가 바로 broadcasting이다.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내적 a·b = Σ aᵢbᵢ. 예: 점수 = 0.6×공부시간 + 0.3×수면 + 0.1×출석은 가중치 벡터와 입력 벡터의 내적이다. 가중치가 클수록 그 특징이 결과에 크게 기여한다. 내적은 두 벡터가 같은 방향일수록 커지므로 '비교 점수'로도 쓰인다 — 5주차 Attention에서 Query와 Key를 비교할 때 바로 이 계산을 쓴다. 단, 내적은 크기에도 영향을 받으므로 cosine 유사도와 같지 않다.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A의 각 행과 B의 각 열을 내적한 값이 C의 한 칸이다. 그래서 안쪽 길이(k)가 같아야 곱할 수 있고, 결과에서 k축은 사라진다. 학생 4명(행) × 특징 3개와 가중치 3개를 행렬곱하면 4명의 점수를 한 번에 얻는다. 딥러닝의 거의 모든 층은 '입력 @ 가중치 행렬'이다.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torch.tensor로 직접 만들거나 torch.randn으로 무작위 텐서를 만든다. @는 행렬곱(마지막 두 축), 앞쪽 축(배치 축)은 그대로 둔 채 묶음별로 같은 계산을 반복한다. transpose는 축의 순서를 바꾸고, reshape는 축을 합치거나 나눈다. 실습: 각 줄의 주석을 가리고 shape을 먼저 적은 뒤 실행해서 맞춰 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2 확인 문제. 답은 노트에 있다. 틀린 문제는 '뒤쪽 축부터 맞춘다', '안쪽 축이 같아야 한다' 두 규칙으로 다시 풀어 본다.</a:t>
            </a:r>
          </a:p>
          <a:p/>
          <a:p>
            <a:r>
              <a:t>[정답]</a:t>
            </a:r>
          </a:p>
          <a:p>
            <a:r>
              <a:t>Q1. (4, 3) @ (3,) 의 결과 shape은?</a:t>
            </a:r>
          </a:p>
          <a:p>
            <a:r>
              <a:t>  → (4,) — 학생 4명의 점수 하나씩</a:t>
            </a:r>
          </a:p>
          <a:p>
            <a:r>
              <a:t>Q2. (2, 5, 8) + (8,) 는 가능한가? 결과 shape은?</a:t>
            </a:r>
          </a:p>
          <a:p>
            <a:r>
              <a:t>  → 가능. 뒤쪽 축 8이 같으므로 broadcasting → (2, 5, 8)</a:t>
            </a:r>
          </a:p>
          <a:p>
            <a:r>
              <a:t>Q3. (2, 5, 8) @ (8, 16) 의 결과는?</a:t>
            </a:r>
          </a:p>
          <a:p>
            <a:r>
              <a:t>  → (2, 5, 16) — 마지막 축만 8→16으로 바뀜</a:t>
            </a:r>
          </a:p>
          <a:p>
            <a:r>
              <a:t>Q4. (3, 4) @ (3, 4) 가 오류인 이유와 고치는 방법은?</a:t>
            </a:r>
          </a:p>
          <a:p>
            <a:r>
              <a:t>  → 안쪽 4≠3. 둘째를 전치하면 (3,4)@(4,3) → (3,3)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이제 실제로 학습할 작은 문제를 하나 정하고, 끝까지 이 예제로 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데이터: (1,3), (2,5), (3,7), (4,9). 사실 y = 2x + 1이라는 규칙으로 만들었지만, 모델은 이 규칙을 모른다. 목표: 데이터만 보고 w=2, b=1을 스스로 찾게 하는 것. 이 작은 예제에 들어 있는 흐름(모델, 손실, 기울기, 갱신)이 Transformer 학습과 완전히 같은 구조다. 규모만 다르다.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ŷ(와이햇)은 모델의 예측, y는 정답. w는 x가 1 늘 때 예측이 얼마나 느는지, b는 x=0일 때의 예측이다. 처음엔 w=0, b=0 같은 임의의 값에서 시작하므로 예측이 엉망이다. 특징이 여러 개면 ŷ = w·x + b에서 w·x가 앞에서 본 내적이 된다. 데이터 여러 개를 한 번에 계산하면 행렬곱 X @ w +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오차 = 예측 − 정답. 그냥 더하면 +와 −가 상쇄되므로 제곱한다. 제곱은 큰 오차에 더 큰 벌점을 준다. w=1, b=0일 때: 예측 1,2,3,4 → 오차 −2,−3,−4,−5 → 제곱 4,9,16,25 → 평균 13.5. w=0,b=0이면 손실은 41. 손실은 '사람이 원하는 좋은 모델'의 전부가 아니라, 학습이 줄이려는 대리 목표라는 점도 기억한다.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단순화를 위해 데이터 한 점(x=2, y=6)과 b 없는 모델 ŷ = w·x를 생각한다. L = ½(2w − 6)². w를 바꿔 가며 손실을 그리면 w=3에서 바닥(손실 0)인 골짜기가 된다. 지금 w=1이면 손실은 8. 문제는 실제 모델에는 파라미터가 수백만~수십억 개라서 이 그림을 전부 그려 볼 수 없다는 것. 그래서 '지금 서 있는 곳의 경사'만 보고 내려가는 방법이 필요하다 → Part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눈을 가리고 산에서 내려오는 사람을 떠올리자. 발밑의 경사만 느낄 수 있다면, 내려가는 쪽으로 한 걸음씩 옮기면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직접 해 보는 미분: w=1에서 L=8. w를 0.01만 늘려 1.01로 하면 L=½(2.02−6)²=7.9202. 변화량 −0.0798을 0.01로 나누면 −7.98 ≈ −8. 이 값이 기울기 dL/dw이다. 공식으로는 dL/dw = (wx − y)·x = (2−6)·2 = −8. 기울기가 음수라는 것은 'w를 늘리면 손실이 줄어든다'는 뜻. 부호가 방향을, 크기가 가파름을 알려준다.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w와 b 두 개가 있으면 각각에 대한 기울기(편미분)를 구한다. MSE에서 ∂L/∂w = (2/n)Σ(ŷ−y)x, ∂L/∂b = (2/n)Σ(ŷ−y). w=1, b=0에서 오차 (−2,−3,−4,−5): Σ오차×x = −2−6−12−20 = −40 → ∂L/∂w = ½×(−40) = −20. Σ오차 = −14 → ∂L/∂b = −7. 둘 다 음수이므로 w와 b를 모두 키워야 한다. 공식을 외울 필요는 없다 — 다음 주 역전파와 PyTorch autograd가 이 계산을 자동으로 해준다.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학습률 η = 0.05로 한 걸음 이동: w = 1 − 0.05×(−20) = 2.0, b = 0 − 0.05×(−7) = 0.35. 새 예측 2.35, 4.35, 6.35, 8.35 → 오차 모두 −0.65 → 손실 0.4225. 한 걸음에 13.5에서 0.42로 줄었다. 같은 계산을 반복하면 w→2, b→1로 수렴한다. 이것이 학습의 전부다: 예측 → 손실 → 기울기 → 갱신의 반복.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원자료의 인터랙티브 예제: L(w) = (w−3)², 시작 w=−2. η=0.2는 천천히 수렴, η=0.5는 이 특정 이차함수에서 한 번에 도착, η=1.0은 좌우로 진동, η&gt;1은 발산한다. 이 수치는 이 함수에만 해당한다 — 실제 모델의 적정 학습률은 실험으로 찾는다. 6주차에서 Transformer가 학습 초반에 학습률을 서서히 올리는(warm-up) 이유도 같은 맥락이다.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Forward(예측), Loss(손실), Backward(기울기 계산), Update(갱신). 데이터를 조금씩 나눈 묶음(mini-batch)마다 한 번 돌면 1 step, 전체 데이터를 한 바퀴 돌면 1 epoch. 원자료가 강조하는 구분: 역전파(backpropagation)는 기울기를 '계산'하는 방법이고, 파라미터를 '바꾸는' 것은 optimizer(SGD, Adam 등)다. 둘을 하나로 뭉뚱그리지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requires_grad=True는 '이 값의 기울기를 계산해 달라'는 표시. loss.backward()가 기울기를 계산하고(역전파, 다음 주), opt.step()이 θ ← θ − η∇L을 수행한다. zero_grad()는 이전 step의 기울기가 누적되지 않도록 지운다. 실제 실행 결과: step 0 손실 41.0 → step 100 손실 0.0007 → step 500에서 w=2.000, b=1.000.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왼쪽: step 0(모두 0 예측)에서 한 걸음 만에 데이터 근처로, 500 step 후 정답 직선과 겹친다. 오른쪽: 손실(로그 눈금)이 계속 줄어든다. 실제 문제에서는 손실이 0이 되지 않고, 줄어드는 속도도 느려진다. 손실 곡선은 학습이 잘 되는지 판단하는 가장 기본적인 도구다.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기출문제를 외운 학생과 개념을 이해한 학생의 차이. 학습의 진짜 목표는 처음 보는 데이터다.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훈련(train) 세트로 파라미터를, 검증(validation) 세트로 설정(학습률, 모델 크기 등)을 고르고, 테스트(test) 세트는 마지막에 한 번 평가한다. 테스트 결과를 보고 계속 설정을 바꾸면 테스트 세트가 사실상 검증 세트가 된다. 과적합: 훈련 손실은 계속 내려가는데 검증 손실이 다시 올라가는 상태 — 훈련 데이터를 '외운' 것. 데이터 중복이나 미래 정보 유입도 성능을 과대평가하게 만든다.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지도/자기지도/비지도/강화학습은 학습 신호의 종류이고, MLP·CNN·RNN·Transformer는 계산 구조(아키텍처)의 종류다. 둘은 서로 다른 축이라 자유롭게 조합된다. 예: Transformer도 지도학습(번역), 자기지도학습(다음 토큰 예측), 강화학습 모두에 쓰인다. 다음 토큰 예측은 사람이 정답을 일일이 달지 않아도 되지만, 문장을 한 칸 밀어 정답을 만드는 명확한 학습 목표가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여섯 줄을 자기 말로 설명할 수 있으면 오늘 목표 달성. 특히 '모델/손실/기울기/갱신'을 섞어 부르지 않는지 점검한다.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원자료 개념 확인 01(역전파와 Optimizer의 역할)은 다음 주에 다룬다.</a:t>
            </a:r>
          </a:p>
          <a:p/>
          <a:p>
            <a:r>
              <a:t>[정답]</a:t>
            </a:r>
          </a:p>
          <a:p>
            <a:r>
              <a:t>Q1. 학생 32명 × 특징 10개 데이터에 가중치 (10, 1)을 곱하면 결과 shape은?</a:t>
            </a:r>
          </a:p>
          <a:p>
            <a:r>
              <a:t>  → (32, 1) — 학생마다 예측 하나</a:t>
            </a:r>
          </a:p>
          <a:p>
            <a:r>
              <a:t>Q2. w=1, b=0일 때 MSE가 13.5였다. 이 숫자가 뜻하는 것은?</a:t>
            </a:r>
          </a:p>
          <a:p>
            <a:r>
              <a:t>  → 예측 오차 제곱의 평균이 13.5 — 예측이 정답과 평균적으로 크게 다르다</a:t>
            </a:r>
          </a:p>
          <a:p>
            <a:r>
              <a:t>Q3. 기울기 ∂L/∂w = −20이면 w를 늘려야 하나 줄여야 하나?</a:t>
            </a:r>
          </a:p>
          <a:p>
            <a:r>
              <a:t>  → 늘린다. 음수 기울기 = w를 늘리면 손실 감소 (θ ← θ − η·(−20))</a:t>
            </a:r>
          </a:p>
          <a:p>
            <a:r>
              <a:t>Q4. 학습률을 10배 키웠더니 손실이 폭발했다. 무슨 일이 일어났나?</a:t>
            </a:r>
          </a:p>
          <a:p>
            <a:r>
              <a:t>  → 보폭이 너무 커서 골짜기를 넘어 반대편으로 튀고 점점 멀어짐(발산)</a:t>
            </a:r>
          </a:p>
          <a:p>
            <a:r>
              <a:t>Q5. 훈련 손실은 0인데 테스트 성능이 나쁘다. 무엇을 의심하나?</a:t>
            </a:r>
          </a:p>
          <a:p>
            <a:r>
              <a:t>  → 과적합(훈련 데이터 암기), 데이터 분포 차이, 데이터 누수 여부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원자료 '자주 생기는 오개념' 중 1주차 관련 항목과 본문 주의 문구를 모았다. 각 문장이 왜 틀렸는지 계산으로 설명하게 한다. “역전파가 가중치를 업데이트한다” → 역전파는 기울기를 계산하고, 업데이트는 optimizer가 한다 / “훈련 손실이 낮으면 일반화된다” → 학습에 쓰지 않은 검증·테스트 조건에서 따로 확인해야 한다 / “내적 점수 = cosine 유사도” → 내적은 크기에도 영향을 받는다. cosine은 크기로 나눈 값 / “8차원 벡터와 3차원 텐서의 ‘차원’은 같은 뜻” → 앞은 원소 개수(한 축의 길이), 뒤는 축의 개수 / “AI = 신경망” → 기호 처리·탐색·확률 추론 등도 AI. 이 과정은 Transformer를 위한 선별된 계보 / “학습하면 사람은 아무것도 설계하지 않는다” → 데이터·목표(손실)·구조·평가 기준은 사람이 설계한다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원자료 10회 운영안 1회차 산출물: 작은 학습 루프와 train/test 구분. 과제는 ‘논문 읽고 정리’ 대신 제출 결과가 분명한 질문으로 준다(원자료 운영안). 손으로 경사하강 3걸음: 데이터 (1,3),(2,5),(3,7),(4,9), 시작 w=0,b=0, η=0.05. 3걸음 동안 w, b, 손실을 표로 적는다 (첫 걸음: w=1.75, b=0.6). / shape 일기: PyTorch로 (2,5,8) 텐서를 만들고 @, +, transpose, reshape를 각각 적용 — 실행 전에 결과 shape을 먼저 적고 맞춰 본다. / 학습률 실험: PyTorch 루프에서 lr을 0.001, 0.05, 0.2로 바꿔 손실 곡선을 비교하고, 발산하는 lr을 찾는다.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번호는 원자료 참고문헌 번호. 처음부터 모든 실험을 읽기보다 표에 적은 절과 그림만 먼저 읽는다. [01] McCulloch &amp; Pitts (1943). A Logical Calculus of the Ideas Immanent in Nervous Activity / [02] Turing (1950). Computing Machinery and Intelligence. Mind / [03] McCarthy et al. (1955). A Proposal for the Dartmouth Summer Research Project on AI / [42] Goodfellow, Bengio &amp; Courville (2016). Deep Learning. MIT Press / PyTorch 공식 튜토리얼: Tensors · Autograd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다음 주는 오늘의 선형 모델에 '예/아니오'를 붙인 Perceptron에서 출발한다. 그리고 직선 하나로는 절대 나눌 수 없는 문제(XOR)를 만난다. 이번 주에 해결한 것: 데이터를 텐서로 표현하고, / 손실을 줄이는 방향으로 파라미터를 고치면 / 규칙을 적지 않아도 배울 수 있다. 남은 문제: 출력이 예/아니오(분류)라면? / 가중합 + 임계값 뉴런 하나(직선 하나)로 모든 규칙을 배울 수 있을까?. 다음: 직선으로 안 되는 문제는? / 1958 Perceptron → 1969 XOR → 1986 역전파.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252A1B-C763-C9A6-AADD-43FBC3B7C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F423261-3F68-B8A6-DA8C-C1B31F16FB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A705C5-459B-96C8-2CA2-5E12914FA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2026-07-31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D39F56-7BCA-57D8-9039-ED968753E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646A04-24C2-3C45-EE21-FB23BA2F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DC79-C875-44C7-B2EB-DB4716D8F1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0187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DC6883-1C8A-9E20-19B7-877053834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B08F0A-0E00-18F3-9E65-031448646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560133-C35C-8C4F-328E-8E9B79F40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2026-07-31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9A8A1F-82FA-EC9E-A4C5-677BD6CE2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6DF691-3C61-A125-27FF-5EF0B5181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DC79-C875-44C7-B2EB-DB4716D8F1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754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D95DA7-E147-5F92-926F-DEBDF0332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113DEB-D6E9-DC7D-3B33-DF60095FA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7413F7-6293-669A-C49C-CBD4B87F4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2026-07-31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59463A-8506-F832-BF63-0AB538324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2153CB-E77A-DDE1-B666-3A7483A05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DC79-C875-44C7-B2EB-DB4716D8F1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28366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CAB2C3-915D-1F0F-FD8B-8851B2DCE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543B65-182A-1AF8-1ADF-73493AE256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01FC3C4-0188-7117-4A57-48CDCD1BFD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5573293-D299-1ACC-B5F6-5249201C5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2026-07-31</a:t>
            </a:r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2E0B931-ECD0-9014-3A6C-96A433235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5D45AC-93A5-F441-B0D9-C72C7D961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DC79-C875-44C7-B2EB-DB4716D8F1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1792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8F5203-0A0C-E761-43DC-1E4FCF632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B12E34-F53B-1A87-9EF2-C6C9AD4AF5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B2005B8-C78F-3258-A421-5AEC2A338E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6FCEAEE-2647-1263-6BFA-6783FEEA7D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A19C9D7-D5A0-149F-D2A7-61824E4EF9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EE39A88-1C17-B89B-34ED-6E5C1BFC2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2026-07-31</a:t>
            </a:r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39754EA-D4D9-36B7-2239-6BD62CA32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DA14D8B-D0E2-0987-5C43-F597C8B9E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DC79-C875-44C7-B2EB-DB4716D8F1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0987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1830CA-B77F-223E-2F40-8194C04C9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7D32D80-AD85-E48F-7B4C-351408549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2026-07-31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9BC26F6-F455-63DE-95C5-F4225A6E7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011D057-29DE-8E21-B820-9373E1D50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DC79-C875-44C7-B2EB-DB4716D8F1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65805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EE82FB6-0C07-5848-5C12-3916F5909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2026-07-31</a:t>
            </a:r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479ED77-F80B-BC2E-F13C-AB7A6DF0B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64ADE3-6C32-5057-058C-6C8D737E1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DC79-C875-44C7-B2EB-DB4716D8F1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625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03ECFF-667E-1220-0A59-5BE19AED9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94255F-D651-1764-0366-FBA95DFD9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834124B-2B82-BDE2-890E-BFD9AA2DEA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2860289-4016-BA2D-B545-D07153FC5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2026-07-31</a:t>
            </a:r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F585F0-BA8F-2A7C-DBB7-F2289CD19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44C75D0-17A4-045E-30A7-0DCE3A877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DC79-C875-44C7-B2EB-DB4716D8F1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9143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F30D40-10EB-DE9D-C961-CAA1D931B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D68E722-038F-3A9D-65EF-E5304FA2E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9E95962-4F65-7241-5E2C-05F96638F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22B0918-E7F3-D78C-44EF-462950321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2026-07-31</a:t>
            </a:r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D36987F-BD53-DD08-6650-29BA313C1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921EE29-1D4F-8E30-549E-5034953BA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DC79-C875-44C7-B2EB-DB4716D8F1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81758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828FF4-3094-9A4A-896C-406EBC406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622EFE7-558D-D0D6-ABB0-E152FCD2D9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959EF9-421B-0B42-076F-3EAADFF2E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2026-07-31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93E55E-A7CF-31DF-B702-56441B2DD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3FED1B-F32D-7F6B-C465-88AC60496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DC79-C875-44C7-B2EB-DB4716D8F1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0459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380E2CC-C4B8-964B-F70D-8574A5993A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1FADE95-344E-A9E2-C2C0-7DA9EBB50D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B0CF5E-5337-96DA-CF9F-4B18025AF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2026-07-31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C46605-06E8-BD79-FC4E-DE7454975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4CE113-CD48-4415-1206-5002C0299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DC79-C875-44C7-B2EB-DB4716D8F1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59601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24001" y="2376766"/>
            <a:ext cx="9144000" cy="855184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400" b="1">
                <a:solidFill>
                  <a:srgbClr val="2D3F4E"/>
                </a:solidFill>
                <a:latin typeface="Trebuchet MS" panose="020B070302020209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1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rgbClr val="2D3F4E"/>
                </a:solidFill>
                <a:latin typeface="Trebuchet MS" panose="020B0703020202090204" pitchFamily="34" charset="0"/>
              </a:defRPr>
            </a:lvl1pPr>
            <a:lvl2pPr marL="457202" indent="0" algn="ctr">
              <a:buNone/>
              <a:defRPr sz="2000"/>
            </a:lvl2pPr>
            <a:lvl3pPr marL="914404" indent="0" algn="ctr">
              <a:buNone/>
              <a:defRPr sz="1800"/>
            </a:lvl3pPr>
            <a:lvl4pPr marL="1371605" indent="0" algn="ctr">
              <a:buNone/>
              <a:defRPr sz="1600"/>
            </a:lvl4pPr>
            <a:lvl5pPr marL="1828807" indent="0" algn="ctr">
              <a:buNone/>
              <a:defRPr sz="1600"/>
            </a:lvl5pPr>
            <a:lvl6pPr marL="2286009" indent="0" algn="ctr">
              <a:buNone/>
              <a:defRPr sz="1600"/>
            </a:lvl6pPr>
            <a:lvl7pPr marL="2743211" indent="0" algn="ctr">
              <a:buNone/>
              <a:defRPr sz="1600"/>
            </a:lvl7pPr>
            <a:lvl8pPr marL="3200413" indent="0" algn="ctr">
              <a:buNone/>
              <a:defRPr sz="1600"/>
            </a:lvl8pPr>
            <a:lvl9pPr marL="3657615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부제목 2">
            <a:extLst>
              <a:ext uri="{FF2B5EF4-FFF2-40B4-BE49-F238E27FC236}">
                <a16:creationId xmlns:a16="http://schemas.microsoft.com/office/drawing/2014/main" id="{EB3B124F-36C4-94D5-C22F-6D439133A7B4}"/>
              </a:ext>
            </a:extLst>
          </p:cNvPr>
          <p:cNvSpPr txBox="1">
            <a:spLocks/>
          </p:cNvSpPr>
          <p:nvPr userDrawn="1"/>
        </p:nvSpPr>
        <p:spPr>
          <a:xfrm>
            <a:off x="3787205" y="5728639"/>
            <a:ext cx="4617590" cy="3726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703020202090204" pitchFamily="34" charset="0"/>
                <a:ea typeface="Baskerville" panose="02020502070401020303" pitchFamily="18" charset="0"/>
              </a:rPr>
              <a:t>Advanced Intelligent Computing Architecture Lab.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Trebuchet MS" panose="020B0603020202020204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4BDBBFFA-AC6B-4DE0-F991-D9DA483B3EE6}"/>
              </a:ext>
            </a:extLst>
          </p:cNvPr>
          <p:cNvGrpSpPr/>
          <p:nvPr userDrawn="1"/>
        </p:nvGrpSpPr>
        <p:grpSpPr>
          <a:xfrm>
            <a:off x="5196905" y="4977344"/>
            <a:ext cx="1798190" cy="646162"/>
            <a:chOff x="5976117" y="116467"/>
            <a:chExt cx="4341047" cy="1559914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7D01C0DA-7E19-0F85-F60D-470CBEC2E8C3}"/>
                </a:ext>
              </a:extLst>
            </p:cNvPr>
            <p:cNvSpPr/>
            <p:nvPr userDrawn="1"/>
          </p:nvSpPr>
          <p:spPr>
            <a:xfrm>
              <a:off x="7547660" y="613810"/>
              <a:ext cx="360000" cy="1046263"/>
            </a:xfrm>
            <a:prstGeom prst="roundRect">
              <a:avLst/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ED4AC07B-F602-BF95-CE22-697B01DEE9B4}"/>
                </a:ext>
              </a:extLst>
            </p:cNvPr>
            <p:cNvSpPr/>
            <p:nvPr userDrawn="1"/>
          </p:nvSpPr>
          <p:spPr>
            <a:xfrm>
              <a:off x="6776499" y="1312781"/>
              <a:ext cx="1131162" cy="363600"/>
            </a:xfrm>
            <a:prstGeom prst="roundRect">
              <a:avLst/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8" name="사각형: 둥근 모서리 34">
              <a:extLst>
                <a:ext uri="{FF2B5EF4-FFF2-40B4-BE49-F238E27FC236}">
                  <a16:creationId xmlns:a16="http://schemas.microsoft.com/office/drawing/2014/main" id="{6FDA9D2B-21BB-4F37-E3AB-497C69ED2087}"/>
                </a:ext>
              </a:extLst>
            </p:cNvPr>
            <p:cNvSpPr/>
            <p:nvPr userDrawn="1"/>
          </p:nvSpPr>
          <p:spPr>
            <a:xfrm rot="923841">
              <a:off x="6171723" y="144498"/>
              <a:ext cx="372850" cy="1492452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0 w 470074"/>
                <a:gd name="connsiteY0" fmla="*/ 168229 h 2279087"/>
                <a:gd name="connsiteX1" fmla="*/ 78326 w 470074"/>
                <a:gd name="connsiteY1" fmla="*/ 89903 h 2279087"/>
                <a:gd name="connsiteX2" fmla="*/ 431082 w 470074"/>
                <a:gd name="connsiteY2" fmla="*/ 0 h 2279087"/>
                <a:gd name="connsiteX3" fmla="*/ 469949 w 470074"/>
                <a:gd name="connsiteY3" fmla="*/ 168229 h 2279087"/>
                <a:gd name="connsiteX4" fmla="*/ 469949 w 470074"/>
                <a:gd name="connsiteY4" fmla="*/ 2200761 h 2279087"/>
                <a:gd name="connsiteX5" fmla="*/ 391623 w 470074"/>
                <a:gd name="connsiteY5" fmla="*/ 2279087 h 2279087"/>
                <a:gd name="connsiteX6" fmla="*/ 78326 w 470074"/>
                <a:gd name="connsiteY6" fmla="*/ 2279087 h 2279087"/>
                <a:gd name="connsiteX7" fmla="*/ 0 w 470074"/>
                <a:gd name="connsiteY7" fmla="*/ 2200761 h 2279087"/>
                <a:gd name="connsiteX8" fmla="*/ 0 w 470074"/>
                <a:gd name="connsiteY8" fmla="*/ 168229 h 2279087"/>
                <a:gd name="connsiteX0" fmla="*/ 0 w 473939"/>
                <a:gd name="connsiteY0" fmla="*/ 152392 h 2263250"/>
                <a:gd name="connsiteX1" fmla="*/ 78326 w 473939"/>
                <a:gd name="connsiteY1" fmla="*/ 74066 h 2263250"/>
                <a:gd name="connsiteX2" fmla="*/ 445323 w 473939"/>
                <a:gd name="connsiteY2" fmla="*/ 0 h 2263250"/>
                <a:gd name="connsiteX3" fmla="*/ 469949 w 473939"/>
                <a:gd name="connsiteY3" fmla="*/ 152392 h 2263250"/>
                <a:gd name="connsiteX4" fmla="*/ 469949 w 473939"/>
                <a:gd name="connsiteY4" fmla="*/ 2184924 h 2263250"/>
                <a:gd name="connsiteX5" fmla="*/ 391623 w 473939"/>
                <a:gd name="connsiteY5" fmla="*/ 2263250 h 2263250"/>
                <a:gd name="connsiteX6" fmla="*/ 78326 w 473939"/>
                <a:gd name="connsiteY6" fmla="*/ 2263250 h 2263250"/>
                <a:gd name="connsiteX7" fmla="*/ 0 w 473939"/>
                <a:gd name="connsiteY7" fmla="*/ 2184924 h 2263250"/>
                <a:gd name="connsiteX8" fmla="*/ 0 w 473939"/>
                <a:gd name="connsiteY8" fmla="*/ 152392 h 2263250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9858" h="2286042">
                  <a:moveTo>
                    <a:pt x="0" y="175184"/>
                  </a:moveTo>
                  <a:cubicBezTo>
                    <a:pt x="0" y="131926"/>
                    <a:pt x="35068" y="96858"/>
                    <a:pt x="78326" y="96858"/>
                  </a:cubicBezTo>
                  <a:cubicBezTo>
                    <a:pt x="394302" y="4021"/>
                    <a:pt x="351903" y="0"/>
                    <a:pt x="456335" y="0"/>
                  </a:cubicBezTo>
                  <a:cubicBezTo>
                    <a:pt x="499593" y="0"/>
                    <a:pt x="469949" y="131926"/>
                    <a:pt x="469949" y="175184"/>
                  </a:cubicBezTo>
                  <a:lnTo>
                    <a:pt x="469949" y="2207716"/>
                  </a:lnTo>
                  <a:cubicBezTo>
                    <a:pt x="469949" y="2250974"/>
                    <a:pt x="434881" y="2286042"/>
                    <a:pt x="391623" y="2286042"/>
                  </a:cubicBezTo>
                  <a:lnTo>
                    <a:pt x="78326" y="2286042"/>
                  </a:lnTo>
                  <a:cubicBezTo>
                    <a:pt x="35068" y="2286042"/>
                    <a:pt x="0" y="2250974"/>
                    <a:pt x="0" y="2207716"/>
                  </a:cubicBezTo>
                  <a:lnTo>
                    <a:pt x="0" y="175184"/>
                  </a:lnTo>
                  <a:close/>
                </a:path>
              </a:pathLst>
            </a:cu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E135C6C3-D988-0443-168B-FABB6CAB15AB}"/>
                </a:ext>
              </a:extLst>
            </p:cNvPr>
            <p:cNvSpPr/>
            <p:nvPr userDrawn="1"/>
          </p:nvSpPr>
          <p:spPr>
            <a:xfrm>
              <a:off x="5976117" y="1562385"/>
              <a:ext cx="367024" cy="107393"/>
            </a:xfrm>
            <a:prstGeom prst="roundRect">
              <a:avLst>
                <a:gd name="adj" fmla="val 49751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6086E433-4747-0B2B-6F82-1F92A460E912}"/>
                </a:ext>
              </a:extLst>
            </p:cNvPr>
            <p:cNvSpPr/>
            <p:nvPr userDrawn="1"/>
          </p:nvSpPr>
          <p:spPr>
            <a:xfrm rot="17142116">
              <a:off x="5845212" y="1386473"/>
              <a:ext cx="447973" cy="107393"/>
            </a:xfrm>
            <a:prstGeom prst="roundRect">
              <a:avLst>
                <a:gd name="adj" fmla="val 49751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E9F9AE10-6C32-FE3C-D6FF-0F343E1757E3}"/>
                </a:ext>
              </a:extLst>
            </p:cNvPr>
            <p:cNvSpPr/>
            <p:nvPr userDrawn="1"/>
          </p:nvSpPr>
          <p:spPr>
            <a:xfrm>
              <a:off x="7547660" y="189796"/>
              <a:ext cx="360000" cy="355633"/>
            </a:xfrm>
            <a:prstGeom prst="roundRect">
              <a:avLst/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2" name="사각형: 둥근 모서리 34">
              <a:extLst>
                <a:ext uri="{FF2B5EF4-FFF2-40B4-BE49-F238E27FC236}">
                  <a16:creationId xmlns:a16="http://schemas.microsoft.com/office/drawing/2014/main" id="{5C706ED6-9017-234E-8BAB-E84A527A4F3C}"/>
                </a:ext>
              </a:extLst>
            </p:cNvPr>
            <p:cNvSpPr/>
            <p:nvPr userDrawn="1"/>
          </p:nvSpPr>
          <p:spPr>
            <a:xfrm rot="923841">
              <a:off x="9359767" y="144498"/>
              <a:ext cx="372850" cy="1492452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0 w 470074"/>
                <a:gd name="connsiteY0" fmla="*/ 168229 h 2279087"/>
                <a:gd name="connsiteX1" fmla="*/ 78326 w 470074"/>
                <a:gd name="connsiteY1" fmla="*/ 89903 h 2279087"/>
                <a:gd name="connsiteX2" fmla="*/ 431082 w 470074"/>
                <a:gd name="connsiteY2" fmla="*/ 0 h 2279087"/>
                <a:gd name="connsiteX3" fmla="*/ 469949 w 470074"/>
                <a:gd name="connsiteY3" fmla="*/ 168229 h 2279087"/>
                <a:gd name="connsiteX4" fmla="*/ 469949 w 470074"/>
                <a:gd name="connsiteY4" fmla="*/ 2200761 h 2279087"/>
                <a:gd name="connsiteX5" fmla="*/ 391623 w 470074"/>
                <a:gd name="connsiteY5" fmla="*/ 2279087 h 2279087"/>
                <a:gd name="connsiteX6" fmla="*/ 78326 w 470074"/>
                <a:gd name="connsiteY6" fmla="*/ 2279087 h 2279087"/>
                <a:gd name="connsiteX7" fmla="*/ 0 w 470074"/>
                <a:gd name="connsiteY7" fmla="*/ 2200761 h 2279087"/>
                <a:gd name="connsiteX8" fmla="*/ 0 w 470074"/>
                <a:gd name="connsiteY8" fmla="*/ 168229 h 2279087"/>
                <a:gd name="connsiteX0" fmla="*/ 0 w 473939"/>
                <a:gd name="connsiteY0" fmla="*/ 152392 h 2263250"/>
                <a:gd name="connsiteX1" fmla="*/ 78326 w 473939"/>
                <a:gd name="connsiteY1" fmla="*/ 74066 h 2263250"/>
                <a:gd name="connsiteX2" fmla="*/ 445323 w 473939"/>
                <a:gd name="connsiteY2" fmla="*/ 0 h 2263250"/>
                <a:gd name="connsiteX3" fmla="*/ 469949 w 473939"/>
                <a:gd name="connsiteY3" fmla="*/ 152392 h 2263250"/>
                <a:gd name="connsiteX4" fmla="*/ 469949 w 473939"/>
                <a:gd name="connsiteY4" fmla="*/ 2184924 h 2263250"/>
                <a:gd name="connsiteX5" fmla="*/ 391623 w 473939"/>
                <a:gd name="connsiteY5" fmla="*/ 2263250 h 2263250"/>
                <a:gd name="connsiteX6" fmla="*/ 78326 w 473939"/>
                <a:gd name="connsiteY6" fmla="*/ 2263250 h 2263250"/>
                <a:gd name="connsiteX7" fmla="*/ 0 w 473939"/>
                <a:gd name="connsiteY7" fmla="*/ 2184924 h 2263250"/>
                <a:gd name="connsiteX8" fmla="*/ 0 w 473939"/>
                <a:gd name="connsiteY8" fmla="*/ 152392 h 2263250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9858" h="2286042">
                  <a:moveTo>
                    <a:pt x="0" y="175184"/>
                  </a:moveTo>
                  <a:cubicBezTo>
                    <a:pt x="0" y="131926"/>
                    <a:pt x="35068" y="96858"/>
                    <a:pt x="78326" y="96858"/>
                  </a:cubicBezTo>
                  <a:cubicBezTo>
                    <a:pt x="394302" y="4021"/>
                    <a:pt x="351903" y="0"/>
                    <a:pt x="456335" y="0"/>
                  </a:cubicBezTo>
                  <a:cubicBezTo>
                    <a:pt x="499593" y="0"/>
                    <a:pt x="469949" y="131926"/>
                    <a:pt x="469949" y="175184"/>
                  </a:cubicBezTo>
                  <a:lnTo>
                    <a:pt x="469949" y="2207716"/>
                  </a:lnTo>
                  <a:cubicBezTo>
                    <a:pt x="469949" y="2250974"/>
                    <a:pt x="434881" y="2286042"/>
                    <a:pt x="391623" y="2286042"/>
                  </a:cubicBezTo>
                  <a:lnTo>
                    <a:pt x="78326" y="2286042"/>
                  </a:lnTo>
                  <a:cubicBezTo>
                    <a:pt x="35068" y="2286042"/>
                    <a:pt x="0" y="2250974"/>
                    <a:pt x="0" y="2207716"/>
                  </a:cubicBezTo>
                  <a:lnTo>
                    <a:pt x="0" y="175184"/>
                  </a:lnTo>
                  <a:close/>
                </a:path>
              </a:pathLst>
            </a:cu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A7E79BBD-9AB2-7ACC-C325-DE0F17968F3D}"/>
                </a:ext>
              </a:extLst>
            </p:cNvPr>
            <p:cNvSpPr/>
            <p:nvPr userDrawn="1"/>
          </p:nvSpPr>
          <p:spPr>
            <a:xfrm>
              <a:off x="9539301" y="186675"/>
              <a:ext cx="408152" cy="183858"/>
            </a:xfrm>
            <a:prstGeom prst="roundRect">
              <a:avLst>
                <a:gd name="adj" fmla="val 23143"/>
              </a:avLst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3E740AB6-D3B7-E380-7325-A8FCB7E27C43}"/>
                </a:ext>
              </a:extLst>
            </p:cNvPr>
            <p:cNvSpPr/>
            <p:nvPr userDrawn="1"/>
          </p:nvSpPr>
          <p:spPr>
            <a:xfrm flipH="1">
              <a:off x="9958325" y="1568154"/>
              <a:ext cx="358839" cy="107393"/>
            </a:xfrm>
            <a:prstGeom prst="roundRect">
              <a:avLst>
                <a:gd name="adj" fmla="val 43099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58020E3B-C01B-8C60-4008-5C3AE090F73D}"/>
                </a:ext>
              </a:extLst>
            </p:cNvPr>
            <p:cNvSpPr/>
            <p:nvPr userDrawn="1"/>
          </p:nvSpPr>
          <p:spPr>
            <a:xfrm rot="4506704" flipH="1">
              <a:off x="9985282" y="1378492"/>
              <a:ext cx="464231" cy="107393"/>
            </a:xfrm>
            <a:prstGeom prst="roundRect">
              <a:avLst>
                <a:gd name="adj" fmla="val 50000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3ADDB6F6-1190-2E66-F4B9-5226221B81CE}"/>
                </a:ext>
              </a:extLst>
            </p:cNvPr>
            <p:cNvSpPr/>
            <p:nvPr userDrawn="1"/>
          </p:nvSpPr>
          <p:spPr>
            <a:xfrm rot="17142116">
              <a:off x="9285907" y="1386473"/>
              <a:ext cx="447973" cy="107393"/>
            </a:xfrm>
            <a:prstGeom prst="roundRect">
              <a:avLst>
                <a:gd name="adj" fmla="val 49751"/>
              </a:avLst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446A6345-87FD-6E5B-7ED2-F7B600F78F01}"/>
                </a:ext>
              </a:extLst>
            </p:cNvPr>
            <p:cNvSpPr/>
            <p:nvPr userDrawn="1"/>
          </p:nvSpPr>
          <p:spPr>
            <a:xfrm>
              <a:off x="8225540" y="182176"/>
              <a:ext cx="976417" cy="355633"/>
            </a:xfrm>
            <a:prstGeom prst="roundRect">
              <a:avLst/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95379B5F-0DF1-1253-1ED9-2A52BE662FB2}"/>
                </a:ext>
              </a:extLst>
            </p:cNvPr>
            <p:cNvSpPr/>
            <p:nvPr userDrawn="1"/>
          </p:nvSpPr>
          <p:spPr>
            <a:xfrm>
              <a:off x="8225541" y="1310440"/>
              <a:ext cx="1287590" cy="355633"/>
            </a:xfrm>
            <a:prstGeom prst="roundRect">
              <a:avLst/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981700A3-FD95-7923-E24A-DE44C3B1E20D}"/>
                </a:ext>
              </a:extLst>
            </p:cNvPr>
            <p:cNvSpPr/>
            <p:nvPr userDrawn="1"/>
          </p:nvSpPr>
          <p:spPr>
            <a:xfrm>
              <a:off x="8210345" y="186675"/>
              <a:ext cx="360000" cy="1473398"/>
            </a:xfrm>
            <a:prstGeom prst="roundRect">
              <a:avLst/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3" name="사각형: 둥근 모서리 48">
              <a:extLst>
                <a:ext uri="{FF2B5EF4-FFF2-40B4-BE49-F238E27FC236}">
                  <a16:creationId xmlns:a16="http://schemas.microsoft.com/office/drawing/2014/main" id="{498E65AD-3F00-17C7-D5FC-9360F0D8D83F}"/>
                </a:ext>
              </a:extLst>
            </p:cNvPr>
            <p:cNvSpPr/>
            <p:nvPr userDrawn="1"/>
          </p:nvSpPr>
          <p:spPr>
            <a:xfrm rot="20700000">
              <a:off x="9757285" y="116467"/>
              <a:ext cx="365971" cy="1546595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7203 w 477152"/>
                <a:gd name="connsiteY0" fmla="*/ 202492 h 2313350"/>
                <a:gd name="connsiteX1" fmla="*/ 25429 w 477152"/>
                <a:gd name="connsiteY1" fmla="*/ 0 h 2313350"/>
                <a:gd name="connsiteX2" fmla="*/ 337626 w 477152"/>
                <a:gd name="connsiteY2" fmla="*/ 122559 h 2313350"/>
                <a:gd name="connsiteX3" fmla="*/ 477152 w 477152"/>
                <a:gd name="connsiteY3" fmla="*/ 202492 h 2313350"/>
                <a:gd name="connsiteX4" fmla="*/ 477152 w 477152"/>
                <a:gd name="connsiteY4" fmla="*/ 2235024 h 2313350"/>
                <a:gd name="connsiteX5" fmla="*/ 398826 w 477152"/>
                <a:gd name="connsiteY5" fmla="*/ 2313350 h 2313350"/>
                <a:gd name="connsiteX6" fmla="*/ 85529 w 477152"/>
                <a:gd name="connsiteY6" fmla="*/ 2313350 h 2313350"/>
                <a:gd name="connsiteX7" fmla="*/ 7203 w 477152"/>
                <a:gd name="connsiteY7" fmla="*/ 2235024 h 2313350"/>
                <a:gd name="connsiteX8" fmla="*/ 7203 w 477152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-1 w 469948"/>
                <a:gd name="connsiteY0" fmla="*/ 174286 h 2285144"/>
                <a:gd name="connsiteX1" fmla="*/ 49782 w 469948"/>
                <a:gd name="connsiteY1" fmla="*/ 1 h 2285144"/>
                <a:gd name="connsiteX2" fmla="*/ 334387 w 469948"/>
                <a:gd name="connsiteY2" fmla="*/ 77186 h 2285144"/>
                <a:gd name="connsiteX3" fmla="*/ 469948 w 469948"/>
                <a:gd name="connsiteY3" fmla="*/ 174286 h 2285144"/>
                <a:gd name="connsiteX4" fmla="*/ 469948 w 469948"/>
                <a:gd name="connsiteY4" fmla="*/ 2206818 h 2285144"/>
                <a:gd name="connsiteX5" fmla="*/ 391622 w 469948"/>
                <a:gd name="connsiteY5" fmla="*/ 2285144 h 2285144"/>
                <a:gd name="connsiteX6" fmla="*/ 78325 w 469948"/>
                <a:gd name="connsiteY6" fmla="*/ 2285144 h 2285144"/>
                <a:gd name="connsiteX7" fmla="*/ -1 w 469948"/>
                <a:gd name="connsiteY7" fmla="*/ 2206818 h 2285144"/>
                <a:gd name="connsiteX8" fmla="*/ -1 w 469948"/>
                <a:gd name="connsiteY8" fmla="*/ 174286 h 2285144"/>
                <a:gd name="connsiteX0" fmla="*/ 0 w 469949"/>
                <a:gd name="connsiteY0" fmla="*/ 174285 h 2285143"/>
                <a:gd name="connsiteX1" fmla="*/ 49783 w 469949"/>
                <a:gd name="connsiteY1" fmla="*/ 0 h 2285143"/>
                <a:gd name="connsiteX2" fmla="*/ 334388 w 469949"/>
                <a:gd name="connsiteY2" fmla="*/ 77185 h 2285143"/>
                <a:gd name="connsiteX3" fmla="*/ 469949 w 469949"/>
                <a:gd name="connsiteY3" fmla="*/ 174285 h 2285143"/>
                <a:gd name="connsiteX4" fmla="*/ 469949 w 469949"/>
                <a:gd name="connsiteY4" fmla="*/ 2206817 h 2285143"/>
                <a:gd name="connsiteX5" fmla="*/ 391623 w 469949"/>
                <a:gd name="connsiteY5" fmla="*/ 2285143 h 2285143"/>
                <a:gd name="connsiteX6" fmla="*/ 78326 w 469949"/>
                <a:gd name="connsiteY6" fmla="*/ 2285143 h 2285143"/>
                <a:gd name="connsiteX7" fmla="*/ 0 w 469949"/>
                <a:gd name="connsiteY7" fmla="*/ 2206817 h 2285143"/>
                <a:gd name="connsiteX8" fmla="*/ 0 w 469949"/>
                <a:gd name="connsiteY8" fmla="*/ 174285 h 2285143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5442 w 471003"/>
                <a:gd name="connsiteY2" fmla="*/ 100792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4861 w 471003"/>
                <a:gd name="connsiteY2" fmla="*/ 89571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1003" h="2308750">
                  <a:moveTo>
                    <a:pt x="1054" y="197892"/>
                  </a:moveTo>
                  <a:cubicBezTo>
                    <a:pt x="1054" y="154634"/>
                    <a:pt x="-9176" y="0"/>
                    <a:pt x="34082" y="0"/>
                  </a:cubicBezTo>
                  <a:cubicBezTo>
                    <a:pt x="252569" y="55222"/>
                    <a:pt x="180322" y="46561"/>
                    <a:pt x="334861" y="89571"/>
                  </a:cubicBezTo>
                  <a:cubicBezTo>
                    <a:pt x="454403" y="123843"/>
                    <a:pt x="471003" y="154634"/>
                    <a:pt x="471003" y="197892"/>
                  </a:cubicBezTo>
                  <a:lnTo>
                    <a:pt x="471003" y="2230424"/>
                  </a:lnTo>
                  <a:cubicBezTo>
                    <a:pt x="471003" y="2273682"/>
                    <a:pt x="435935" y="2308750"/>
                    <a:pt x="392677" y="2308750"/>
                  </a:cubicBezTo>
                  <a:lnTo>
                    <a:pt x="79380" y="2308750"/>
                  </a:lnTo>
                  <a:cubicBezTo>
                    <a:pt x="36122" y="2308750"/>
                    <a:pt x="1054" y="2273682"/>
                    <a:pt x="1054" y="2230424"/>
                  </a:cubicBezTo>
                  <a:lnTo>
                    <a:pt x="1054" y="197892"/>
                  </a:lnTo>
                  <a:close/>
                </a:path>
              </a:pathLst>
            </a:cu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D84E8DEB-2540-8D52-2097-8A0B84519D14}"/>
                </a:ext>
              </a:extLst>
            </p:cNvPr>
            <p:cNvSpPr/>
            <p:nvPr userDrawn="1"/>
          </p:nvSpPr>
          <p:spPr>
            <a:xfrm rot="4506704" flipH="1">
              <a:off x="9456291" y="360823"/>
              <a:ext cx="464231" cy="107393"/>
            </a:xfrm>
            <a:prstGeom prst="roundRect">
              <a:avLst>
                <a:gd name="adj" fmla="val 32586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C3344A89-4809-DD59-23EA-4FD793BECF83}"/>
                </a:ext>
              </a:extLst>
            </p:cNvPr>
            <p:cNvSpPr/>
            <p:nvPr userDrawn="1"/>
          </p:nvSpPr>
          <p:spPr>
            <a:xfrm flipH="1">
              <a:off x="9586770" y="180267"/>
              <a:ext cx="351774" cy="60140"/>
            </a:xfrm>
            <a:prstGeom prst="roundRect">
              <a:avLst>
                <a:gd name="adj" fmla="val 32586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AC3D8F07-1C02-3E73-01E8-41A155CCDB1D}"/>
                </a:ext>
              </a:extLst>
            </p:cNvPr>
            <p:cNvSpPr/>
            <p:nvPr userDrawn="1"/>
          </p:nvSpPr>
          <p:spPr>
            <a:xfrm>
              <a:off x="6347129" y="186675"/>
              <a:ext cx="408152" cy="183858"/>
            </a:xfrm>
            <a:prstGeom prst="roundRect">
              <a:avLst>
                <a:gd name="adj" fmla="val 23143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F52B978E-9C88-1E75-EF2C-6F071425AA66}"/>
                </a:ext>
              </a:extLst>
            </p:cNvPr>
            <p:cNvSpPr/>
            <p:nvPr userDrawn="1"/>
          </p:nvSpPr>
          <p:spPr>
            <a:xfrm flipH="1">
              <a:off x="6766153" y="1568154"/>
              <a:ext cx="358839" cy="107393"/>
            </a:xfrm>
            <a:prstGeom prst="roundRect">
              <a:avLst>
                <a:gd name="adj" fmla="val 43099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7CCA3927-601C-0089-540E-B40E21642851}"/>
                </a:ext>
              </a:extLst>
            </p:cNvPr>
            <p:cNvSpPr/>
            <p:nvPr userDrawn="1"/>
          </p:nvSpPr>
          <p:spPr>
            <a:xfrm rot="4506704" flipH="1">
              <a:off x="6793110" y="1378492"/>
              <a:ext cx="464231" cy="107393"/>
            </a:xfrm>
            <a:prstGeom prst="roundRect">
              <a:avLst>
                <a:gd name="adj" fmla="val 50000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9" name="사각형: 둥근 모서리 48">
              <a:extLst>
                <a:ext uri="{FF2B5EF4-FFF2-40B4-BE49-F238E27FC236}">
                  <a16:creationId xmlns:a16="http://schemas.microsoft.com/office/drawing/2014/main" id="{74ED5022-514D-AC86-79B3-BFB20B0BDA78}"/>
                </a:ext>
              </a:extLst>
            </p:cNvPr>
            <p:cNvSpPr/>
            <p:nvPr userDrawn="1"/>
          </p:nvSpPr>
          <p:spPr>
            <a:xfrm rot="20700000">
              <a:off x="6565113" y="116467"/>
              <a:ext cx="365971" cy="1546595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7203 w 477152"/>
                <a:gd name="connsiteY0" fmla="*/ 202492 h 2313350"/>
                <a:gd name="connsiteX1" fmla="*/ 25429 w 477152"/>
                <a:gd name="connsiteY1" fmla="*/ 0 h 2313350"/>
                <a:gd name="connsiteX2" fmla="*/ 337626 w 477152"/>
                <a:gd name="connsiteY2" fmla="*/ 122559 h 2313350"/>
                <a:gd name="connsiteX3" fmla="*/ 477152 w 477152"/>
                <a:gd name="connsiteY3" fmla="*/ 202492 h 2313350"/>
                <a:gd name="connsiteX4" fmla="*/ 477152 w 477152"/>
                <a:gd name="connsiteY4" fmla="*/ 2235024 h 2313350"/>
                <a:gd name="connsiteX5" fmla="*/ 398826 w 477152"/>
                <a:gd name="connsiteY5" fmla="*/ 2313350 h 2313350"/>
                <a:gd name="connsiteX6" fmla="*/ 85529 w 477152"/>
                <a:gd name="connsiteY6" fmla="*/ 2313350 h 2313350"/>
                <a:gd name="connsiteX7" fmla="*/ 7203 w 477152"/>
                <a:gd name="connsiteY7" fmla="*/ 2235024 h 2313350"/>
                <a:gd name="connsiteX8" fmla="*/ 7203 w 477152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-1 w 469948"/>
                <a:gd name="connsiteY0" fmla="*/ 174286 h 2285144"/>
                <a:gd name="connsiteX1" fmla="*/ 49782 w 469948"/>
                <a:gd name="connsiteY1" fmla="*/ 1 h 2285144"/>
                <a:gd name="connsiteX2" fmla="*/ 334387 w 469948"/>
                <a:gd name="connsiteY2" fmla="*/ 77186 h 2285144"/>
                <a:gd name="connsiteX3" fmla="*/ 469948 w 469948"/>
                <a:gd name="connsiteY3" fmla="*/ 174286 h 2285144"/>
                <a:gd name="connsiteX4" fmla="*/ 469948 w 469948"/>
                <a:gd name="connsiteY4" fmla="*/ 2206818 h 2285144"/>
                <a:gd name="connsiteX5" fmla="*/ 391622 w 469948"/>
                <a:gd name="connsiteY5" fmla="*/ 2285144 h 2285144"/>
                <a:gd name="connsiteX6" fmla="*/ 78325 w 469948"/>
                <a:gd name="connsiteY6" fmla="*/ 2285144 h 2285144"/>
                <a:gd name="connsiteX7" fmla="*/ -1 w 469948"/>
                <a:gd name="connsiteY7" fmla="*/ 2206818 h 2285144"/>
                <a:gd name="connsiteX8" fmla="*/ -1 w 469948"/>
                <a:gd name="connsiteY8" fmla="*/ 174286 h 2285144"/>
                <a:gd name="connsiteX0" fmla="*/ 0 w 469949"/>
                <a:gd name="connsiteY0" fmla="*/ 174285 h 2285143"/>
                <a:gd name="connsiteX1" fmla="*/ 49783 w 469949"/>
                <a:gd name="connsiteY1" fmla="*/ 0 h 2285143"/>
                <a:gd name="connsiteX2" fmla="*/ 334388 w 469949"/>
                <a:gd name="connsiteY2" fmla="*/ 77185 h 2285143"/>
                <a:gd name="connsiteX3" fmla="*/ 469949 w 469949"/>
                <a:gd name="connsiteY3" fmla="*/ 174285 h 2285143"/>
                <a:gd name="connsiteX4" fmla="*/ 469949 w 469949"/>
                <a:gd name="connsiteY4" fmla="*/ 2206817 h 2285143"/>
                <a:gd name="connsiteX5" fmla="*/ 391623 w 469949"/>
                <a:gd name="connsiteY5" fmla="*/ 2285143 h 2285143"/>
                <a:gd name="connsiteX6" fmla="*/ 78326 w 469949"/>
                <a:gd name="connsiteY6" fmla="*/ 2285143 h 2285143"/>
                <a:gd name="connsiteX7" fmla="*/ 0 w 469949"/>
                <a:gd name="connsiteY7" fmla="*/ 2206817 h 2285143"/>
                <a:gd name="connsiteX8" fmla="*/ 0 w 469949"/>
                <a:gd name="connsiteY8" fmla="*/ 174285 h 2285143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5442 w 471003"/>
                <a:gd name="connsiteY2" fmla="*/ 100792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4861 w 471003"/>
                <a:gd name="connsiteY2" fmla="*/ 89571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1003" h="2308750">
                  <a:moveTo>
                    <a:pt x="1054" y="197892"/>
                  </a:moveTo>
                  <a:cubicBezTo>
                    <a:pt x="1054" y="154634"/>
                    <a:pt x="-9176" y="0"/>
                    <a:pt x="34082" y="0"/>
                  </a:cubicBezTo>
                  <a:cubicBezTo>
                    <a:pt x="252569" y="55222"/>
                    <a:pt x="180322" y="46561"/>
                    <a:pt x="334861" y="89571"/>
                  </a:cubicBezTo>
                  <a:cubicBezTo>
                    <a:pt x="454403" y="123843"/>
                    <a:pt x="471003" y="154634"/>
                    <a:pt x="471003" y="197892"/>
                  </a:cubicBezTo>
                  <a:lnTo>
                    <a:pt x="471003" y="2230424"/>
                  </a:lnTo>
                  <a:cubicBezTo>
                    <a:pt x="471003" y="2273682"/>
                    <a:pt x="435935" y="2308750"/>
                    <a:pt x="392677" y="2308750"/>
                  </a:cubicBezTo>
                  <a:lnTo>
                    <a:pt x="79380" y="2308750"/>
                  </a:lnTo>
                  <a:cubicBezTo>
                    <a:pt x="36122" y="2308750"/>
                    <a:pt x="1054" y="2273682"/>
                    <a:pt x="1054" y="2230424"/>
                  </a:cubicBezTo>
                  <a:lnTo>
                    <a:pt x="1054" y="197892"/>
                  </a:lnTo>
                  <a:close/>
                </a:path>
              </a:pathLst>
            </a:cu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6DF17EFE-4DE7-23E0-83AE-F34E55751FBA}"/>
                </a:ext>
              </a:extLst>
            </p:cNvPr>
            <p:cNvSpPr/>
            <p:nvPr userDrawn="1"/>
          </p:nvSpPr>
          <p:spPr>
            <a:xfrm rot="4506704" flipH="1">
              <a:off x="6264119" y="360823"/>
              <a:ext cx="464231" cy="107393"/>
            </a:xfrm>
            <a:prstGeom prst="roundRect">
              <a:avLst>
                <a:gd name="adj" fmla="val 32586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E99538CC-61E2-1721-E8D1-CDDF420D356E}"/>
                </a:ext>
              </a:extLst>
            </p:cNvPr>
            <p:cNvSpPr/>
            <p:nvPr userDrawn="1"/>
          </p:nvSpPr>
          <p:spPr>
            <a:xfrm flipH="1">
              <a:off x="6394598" y="180267"/>
              <a:ext cx="351774" cy="60140"/>
            </a:xfrm>
            <a:prstGeom prst="roundRect">
              <a:avLst>
                <a:gd name="adj" fmla="val 32586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50790F64-4FE8-0A76-F8EF-FEA76BB718F4}"/>
              </a:ext>
            </a:extLst>
          </p:cNvPr>
          <p:cNvGrpSpPr/>
          <p:nvPr userDrawn="1"/>
        </p:nvGrpSpPr>
        <p:grpSpPr>
          <a:xfrm>
            <a:off x="9608429" y="6377262"/>
            <a:ext cx="2549704" cy="447351"/>
            <a:chOff x="2347257" y="6113745"/>
            <a:chExt cx="2549704" cy="447351"/>
          </a:xfrm>
        </p:grpSpPr>
        <p:pic>
          <p:nvPicPr>
            <p:cNvPr id="33" name="그림 32" descr="로고, 그래픽, 그래픽 디자인, 스크린샷이(가) 표시된 사진&#10;&#10;자동 생성된 설명">
              <a:extLst>
                <a:ext uri="{FF2B5EF4-FFF2-40B4-BE49-F238E27FC236}">
                  <a16:creationId xmlns:a16="http://schemas.microsoft.com/office/drawing/2014/main" id="{5F0107DC-1969-2332-9966-A8D4F04957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47257" y="6113745"/>
              <a:ext cx="1016707" cy="447351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1C8422F-847D-E2D6-6D3B-C424656E2C83}"/>
                </a:ext>
              </a:extLst>
            </p:cNvPr>
            <p:cNvSpPr txBox="1"/>
            <p:nvPr userDrawn="1"/>
          </p:nvSpPr>
          <p:spPr>
            <a:xfrm>
              <a:off x="3356155" y="6113745"/>
              <a:ext cx="1540806" cy="37452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ts val="1100"/>
                </a:lnSpc>
              </a:pPr>
              <a:r>
                <a:rPr lang="en-US" sz="1200" b="1" dirty="0">
                  <a:solidFill>
                    <a:srgbClr val="5A5B5E"/>
                  </a:solidFill>
                  <a:latin typeface="Trebuchet MS" panose="020B0703020202090204" pitchFamily="34" charset="0"/>
                  <a:ea typeface="Baskerville" panose="02020502070401020303" pitchFamily="18" charset="0"/>
                </a:rPr>
                <a:t>School of Software</a:t>
              </a:r>
            </a:p>
            <a:p>
              <a:pPr algn="ctr">
                <a:lnSpc>
                  <a:spcPts val="1100"/>
                </a:lnSpc>
              </a:pPr>
              <a:r>
                <a:rPr lang="en-US" sz="1200" b="1" dirty="0" err="1">
                  <a:solidFill>
                    <a:srgbClr val="1DA1C6"/>
                  </a:solidFill>
                  <a:latin typeface="Trebuchet MS" panose="020B0703020202090204" pitchFamily="34" charset="0"/>
                  <a:ea typeface="Baskerville" panose="02020502070401020303" pitchFamily="18" charset="0"/>
                </a:rPr>
                <a:t>Soongsil</a:t>
              </a:r>
              <a:r>
                <a:rPr lang="en-US" sz="1200" b="1" dirty="0">
                  <a:solidFill>
                    <a:srgbClr val="1DA1C6"/>
                  </a:solidFill>
                  <a:latin typeface="Trebuchet MS" panose="020B0703020202090204" pitchFamily="34" charset="0"/>
                  <a:ea typeface="Baskerville" panose="02020502070401020303" pitchFamily="18" charset="0"/>
                </a:rPr>
                <a:t> University</a:t>
              </a:r>
            </a:p>
          </p:txBody>
        </p:sp>
      </p:grpSp>
      <p:sp>
        <p:nvSpPr>
          <p:cNvPr id="43" name="내용 개체 틀 42">
            <a:extLst>
              <a:ext uri="{FF2B5EF4-FFF2-40B4-BE49-F238E27FC236}">
                <a16:creationId xmlns:a16="http://schemas.microsoft.com/office/drawing/2014/main" id="{7F399805-B9E0-9A92-4145-86CBE2C1A79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524001" y="1299326"/>
            <a:ext cx="9144000" cy="855183"/>
          </a:xfrm>
        </p:spPr>
        <p:txBody>
          <a:bodyPr anchor="b"/>
          <a:lstStyle>
            <a:lvl1pPr marL="0" indent="0" algn="ctr">
              <a:buNone/>
              <a:defRPr sz="4800" b="1">
                <a:latin typeface="Trebuchet MS" panose="020B0603020202020204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</a:t>
            </a:r>
          </a:p>
        </p:txBody>
      </p:sp>
    </p:spTree>
    <p:extLst>
      <p:ext uri="{BB962C8B-B14F-4D97-AF65-F5344CB8AC3E}">
        <p14:creationId xmlns:p14="http://schemas.microsoft.com/office/powerpoint/2010/main" val="31259890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마지막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1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4800">
                <a:latin typeface="Trebuchet MS" panose="020B070302020209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50790F64-4FE8-0A76-F8EF-FEA76BB718F4}"/>
              </a:ext>
            </a:extLst>
          </p:cNvPr>
          <p:cNvGrpSpPr/>
          <p:nvPr userDrawn="1"/>
        </p:nvGrpSpPr>
        <p:grpSpPr>
          <a:xfrm>
            <a:off x="9608429" y="6377262"/>
            <a:ext cx="2549704" cy="447351"/>
            <a:chOff x="2347257" y="6113745"/>
            <a:chExt cx="2549704" cy="447351"/>
          </a:xfrm>
        </p:grpSpPr>
        <p:pic>
          <p:nvPicPr>
            <p:cNvPr id="33" name="그림 32" descr="로고, 그래픽, 그래픽 디자인, 스크린샷이(가) 표시된 사진&#10;&#10;자동 생성된 설명">
              <a:extLst>
                <a:ext uri="{FF2B5EF4-FFF2-40B4-BE49-F238E27FC236}">
                  <a16:creationId xmlns:a16="http://schemas.microsoft.com/office/drawing/2014/main" id="{5F0107DC-1969-2332-9966-A8D4F04957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47257" y="6113745"/>
              <a:ext cx="1016707" cy="447351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1C8422F-847D-E2D6-6D3B-C424656E2C83}"/>
                </a:ext>
              </a:extLst>
            </p:cNvPr>
            <p:cNvSpPr txBox="1"/>
            <p:nvPr userDrawn="1"/>
          </p:nvSpPr>
          <p:spPr>
            <a:xfrm>
              <a:off x="3356155" y="6113745"/>
              <a:ext cx="1540806" cy="37452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ts val="1100"/>
                </a:lnSpc>
              </a:pPr>
              <a:r>
                <a:rPr lang="en-US" sz="1200" b="1" dirty="0">
                  <a:solidFill>
                    <a:srgbClr val="5A5B5E"/>
                  </a:solidFill>
                  <a:latin typeface="Trebuchet MS" panose="020B0703020202090204" pitchFamily="34" charset="0"/>
                  <a:ea typeface="Baskerville" panose="02020502070401020303" pitchFamily="18" charset="0"/>
                </a:rPr>
                <a:t>School of Software</a:t>
              </a:r>
            </a:p>
            <a:p>
              <a:pPr algn="ctr">
                <a:lnSpc>
                  <a:spcPts val="1100"/>
                </a:lnSpc>
              </a:pPr>
              <a:r>
                <a:rPr lang="en-US" sz="1200" b="1" dirty="0" err="1">
                  <a:solidFill>
                    <a:srgbClr val="1DA1C6"/>
                  </a:solidFill>
                  <a:latin typeface="Trebuchet MS" panose="020B0703020202090204" pitchFamily="34" charset="0"/>
                  <a:ea typeface="Baskerville" panose="02020502070401020303" pitchFamily="18" charset="0"/>
                </a:rPr>
                <a:t>Soongsil</a:t>
              </a:r>
              <a:r>
                <a:rPr lang="en-US" sz="1200" b="1" dirty="0">
                  <a:solidFill>
                    <a:srgbClr val="1DA1C6"/>
                  </a:solidFill>
                  <a:latin typeface="Trebuchet MS" panose="020B0703020202090204" pitchFamily="34" charset="0"/>
                  <a:ea typeface="Baskerville" panose="02020502070401020303" pitchFamily="18" charset="0"/>
                </a:rPr>
                <a:t> University</a:t>
              </a: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4538A30A-D7A1-6521-A4C9-7B9DA3C4FFD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46080"/>
            <a:ext cx="1311920" cy="1311920"/>
          </a:xfrm>
          <a:prstGeom prst="rect">
            <a:avLst/>
          </a:prstGeom>
        </p:spPr>
      </p:pic>
      <p:sp>
        <p:nvSpPr>
          <p:cNvPr id="36" name="직사각형 35">
            <a:extLst>
              <a:ext uri="{FF2B5EF4-FFF2-40B4-BE49-F238E27FC236}">
                <a16:creationId xmlns:a16="http://schemas.microsoft.com/office/drawing/2014/main" id="{25080A8C-CABB-86CB-451E-4AA69A1125FB}"/>
              </a:ext>
            </a:extLst>
          </p:cNvPr>
          <p:cNvSpPr/>
          <p:nvPr userDrawn="1"/>
        </p:nvSpPr>
        <p:spPr>
          <a:xfrm>
            <a:off x="1197392" y="6516837"/>
            <a:ext cx="239520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 dirty="0">
                <a:latin typeface="Trebuchet MS" panose="020B0603020202020204" pitchFamily="34" charset="0"/>
              </a:rPr>
              <a:t>Lab: https://aica.ssu.ac.kr</a:t>
            </a:r>
            <a:endParaRPr lang="ko-KR" altLang="en-US" sz="1400" b="1" dirty="0">
              <a:latin typeface="Trebuchet MS" panose="020B0603020202020204" pitchFamily="34" charset="0"/>
            </a:endParaRP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FB6F3407-DDCF-0C52-4C34-A45338DFBA8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7392" y="6261269"/>
            <a:ext cx="3185923" cy="307777"/>
          </a:xfrm>
        </p:spPr>
        <p:txBody>
          <a:bodyPr>
            <a:normAutofit/>
          </a:bodyPr>
          <a:lstStyle>
            <a:lvl1pPr marL="0" indent="0">
              <a:buNone/>
              <a:defRPr sz="1400" b="1">
                <a:latin typeface="Trebuchet MS" panose="020B0603020202020204" pitchFamily="34" charset="0"/>
              </a:defRPr>
            </a:lvl1pPr>
            <a:lvl2pPr marL="457202" indent="0">
              <a:buNone/>
              <a:defRPr/>
            </a:lvl2pPr>
            <a:lvl3pPr marL="914404" indent="0">
              <a:buNone/>
              <a:defRPr/>
            </a:lvl3pPr>
            <a:lvl4pPr marL="1371605" indent="0">
              <a:buNone/>
              <a:defRPr/>
            </a:lvl4pPr>
            <a:lvl5pPr marL="1828807" indent="0">
              <a:buNone/>
              <a:defRPr/>
            </a:lvl5pPr>
          </a:lstStyle>
          <a:p>
            <a:pPr lvl="0"/>
            <a:r>
              <a:rPr lang="ko-KR" altLang="en-US" dirty="0"/>
              <a:t>본인 이메일 주소 </a:t>
            </a:r>
            <a:r>
              <a:rPr lang="en-US" altLang="ko-KR" dirty="0"/>
              <a:t>(E-mail: ~)</a:t>
            </a:r>
            <a:endParaRPr lang="ko-KR" altLang="en-US" dirty="0"/>
          </a:p>
        </p:txBody>
      </p:sp>
      <p:sp>
        <p:nvSpPr>
          <p:cNvPr id="19" name="부제목 2">
            <a:extLst>
              <a:ext uri="{FF2B5EF4-FFF2-40B4-BE49-F238E27FC236}">
                <a16:creationId xmlns:a16="http://schemas.microsoft.com/office/drawing/2014/main" id="{F294413C-AB4A-7E8A-9974-28FF957DA562}"/>
              </a:ext>
            </a:extLst>
          </p:cNvPr>
          <p:cNvSpPr txBox="1">
            <a:spLocks/>
          </p:cNvSpPr>
          <p:nvPr userDrawn="1"/>
        </p:nvSpPr>
        <p:spPr>
          <a:xfrm>
            <a:off x="3787205" y="5728639"/>
            <a:ext cx="4617590" cy="3726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703020202090204" pitchFamily="34" charset="0"/>
                <a:ea typeface="Baskerville" panose="02020502070401020303" pitchFamily="18" charset="0"/>
              </a:rPr>
              <a:t>Advanced Intelligent Computing Architecture Lab.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Trebuchet MS" panose="020B0603020202020204" pitchFamily="34" charset="0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63E9D89E-488B-7C80-8E05-D47E50776676}"/>
              </a:ext>
            </a:extLst>
          </p:cNvPr>
          <p:cNvGrpSpPr/>
          <p:nvPr userDrawn="1"/>
        </p:nvGrpSpPr>
        <p:grpSpPr>
          <a:xfrm>
            <a:off x="5196905" y="4977344"/>
            <a:ext cx="1798190" cy="646162"/>
            <a:chOff x="5976117" y="116467"/>
            <a:chExt cx="4341047" cy="155991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64ADCAA0-1610-1964-CF41-4AE81DD6BF1C}"/>
                </a:ext>
              </a:extLst>
            </p:cNvPr>
            <p:cNvSpPr/>
            <p:nvPr userDrawn="1"/>
          </p:nvSpPr>
          <p:spPr>
            <a:xfrm>
              <a:off x="7547660" y="613810"/>
              <a:ext cx="360000" cy="1046263"/>
            </a:xfrm>
            <a:prstGeom prst="roundRect">
              <a:avLst/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39" name="사각형: 둥근 모서리 38">
              <a:extLst>
                <a:ext uri="{FF2B5EF4-FFF2-40B4-BE49-F238E27FC236}">
                  <a16:creationId xmlns:a16="http://schemas.microsoft.com/office/drawing/2014/main" id="{028F6839-7E1F-F31F-B8F7-895801E25D74}"/>
                </a:ext>
              </a:extLst>
            </p:cNvPr>
            <p:cNvSpPr/>
            <p:nvPr userDrawn="1"/>
          </p:nvSpPr>
          <p:spPr>
            <a:xfrm>
              <a:off x="6776499" y="1312781"/>
              <a:ext cx="1131162" cy="363600"/>
            </a:xfrm>
            <a:prstGeom prst="roundRect">
              <a:avLst/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40" name="사각형: 둥근 모서리 34">
              <a:extLst>
                <a:ext uri="{FF2B5EF4-FFF2-40B4-BE49-F238E27FC236}">
                  <a16:creationId xmlns:a16="http://schemas.microsoft.com/office/drawing/2014/main" id="{BBD4F966-775A-284D-982D-F7F64523168D}"/>
                </a:ext>
              </a:extLst>
            </p:cNvPr>
            <p:cNvSpPr/>
            <p:nvPr userDrawn="1"/>
          </p:nvSpPr>
          <p:spPr>
            <a:xfrm rot="923841">
              <a:off x="6171723" y="144498"/>
              <a:ext cx="372850" cy="1492452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0 w 470074"/>
                <a:gd name="connsiteY0" fmla="*/ 168229 h 2279087"/>
                <a:gd name="connsiteX1" fmla="*/ 78326 w 470074"/>
                <a:gd name="connsiteY1" fmla="*/ 89903 h 2279087"/>
                <a:gd name="connsiteX2" fmla="*/ 431082 w 470074"/>
                <a:gd name="connsiteY2" fmla="*/ 0 h 2279087"/>
                <a:gd name="connsiteX3" fmla="*/ 469949 w 470074"/>
                <a:gd name="connsiteY3" fmla="*/ 168229 h 2279087"/>
                <a:gd name="connsiteX4" fmla="*/ 469949 w 470074"/>
                <a:gd name="connsiteY4" fmla="*/ 2200761 h 2279087"/>
                <a:gd name="connsiteX5" fmla="*/ 391623 w 470074"/>
                <a:gd name="connsiteY5" fmla="*/ 2279087 h 2279087"/>
                <a:gd name="connsiteX6" fmla="*/ 78326 w 470074"/>
                <a:gd name="connsiteY6" fmla="*/ 2279087 h 2279087"/>
                <a:gd name="connsiteX7" fmla="*/ 0 w 470074"/>
                <a:gd name="connsiteY7" fmla="*/ 2200761 h 2279087"/>
                <a:gd name="connsiteX8" fmla="*/ 0 w 470074"/>
                <a:gd name="connsiteY8" fmla="*/ 168229 h 2279087"/>
                <a:gd name="connsiteX0" fmla="*/ 0 w 473939"/>
                <a:gd name="connsiteY0" fmla="*/ 152392 h 2263250"/>
                <a:gd name="connsiteX1" fmla="*/ 78326 w 473939"/>
                <a:gd name="connsiteY1" fmla="*/ 74066 h 2263250"/>
                <a:gd name="connsiteX2" fmla="*/ 445323 w 473939"/>
                <a:gd name="connsiteY2" fmla="*/ 0 h 2263250"/>
                <a:gd name="connsiteX3" fmla="*/ 469949 w 473939"/>
                <a:gd name="connsiteY3" fmla="*/ 152392 h 2263250"/>
                <a:gd name="connsiteX4" fmla="*/ 469949 w 473939"/>
                <a:gd name="connsiteY4" fmla="*/ 2184924 h 2263250"/>
                <a:gd name="connsiteX5" fmla="*/ 391623 w 473939"/>
                <a:gd name="connsiteY5" fmla="*/ 2263250 h 2263250"/>
                <a:gd name="connsiteX6" fmla="*/ 78326 w 473939"/>
                <a:gd name="connsiteY6" fmla="*/ 2263250 h 2263250"/>
                <a:gd name="connsiteX7" fmla="*/ 0 w 473939"/>
                <a:gd name="connsiteY7" fmla="*/ 2184924 h 2263250"/>
                <a:gd name="connsiteX8" fmla="*/ 0 w 473939"/>
                <a:gd name="connsiteY8" fmla="*/ 152392 h 2263250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9858" h="2286042">
                  <a:moveTo>
                    <a:pt x="0" y="175184"/>
                  </a:moveTo>
                  <a:cubicBezTo>
                    <a:pt x="0" y="131926"/>
                    <a:pt x="35068" y="96858"/>
                    <a:pt x="78326" y="96858"/>
                  </a:cubicBezTo>
                  <a:cubicBezTo>
                    <a:pt x="394302" y="4021"/>
                    <a:pt x="351903" y="0"/>
                    <a:pt x="456335" y="0"/>
                  </a:cubicBezTo>
                  <a:cubicBezTo>
                    <a:pt x="499593" y="0"/>
                    <a:pt x="469949" y="131926"/>
                    <a:pt x="469949" y="175184"/>
                  </a:cubicBezTo>
                  <a:lnTo>
                    <a:pt x="469949" y="2207716"/>
                  </a:lnTo>
                  <a:cubicBezTo>
                    <a:pt x="469949" y="2250974"/>
                    <a:pt x="434881" y="2286042"/>
                    <a:pt x="391623" y="2286042"/>
                  </a:cubicBezTo>
                  <a:lnTo>
                    <a:pt x="78326" y="2286042"/>
                  </a:lnTo>
                  <a:cubicBezTo>
                    <a:pt x="35068" y="2286042"/>
                    <a:pt x="0" y="2250974"/>
                    <a:pt x="0" y="2207716"/>
                  </a:cubicBezTo>
                  <a:lnTo>
                    <a:pt x="0" y="175184"/>
                  </a:lnTo>
                  <a:close/>
                </a:path>
              </a:pathLst>
            </a:cu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983DE28C-A4C4-604E-8D18-D46C51025028}"/>
                </a:ext>
              </a:extLst>
            </p:cNvPr>
            <p:cNvSpPr/>
            <p:nvPr userDrawn="1"/>
          </p:nvSpPr>
          <p:spPr>
            <a:xfrm>
              <a:off x="5976117" y="1562385"/>
              <a:ext cx="367024" cy="107393"/>
            </a:xfrm>
            <a:prstGeom prst="roundRect">
              <a:avLst>
                <a:gd name="adj" fmla="val 49751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8E9AABCB-5098-84DC-87E1-79825A6A9438}"/>
                </a:ext>
              </a:extLst>
            </p:cNvPr>
            <p:cNvSpPr/>
            <p:nvPr userDrawn="1"/>
          </p:nvSpPr>
          <p:spPr>
            <a:xfrm rot="17142116">
              <a:off x="5845212" y="1386473"/>
              <a:ext cx="447973" cy="107393"/>
            </a:xfrm>
            <a:prstGeom prst="roundRect">
              <a:avLst>
                <a:gd name="adj" fmla="val 49751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DEE37C14-9C69-3C23-0179-974AE185B185}"/>
                </a:ext>
              </a:extLst>
            </p:cNvPr>
            <p:cNvSpPr/>
            <p:nvPr userDrawn="1"/>
          </p:nvSpPr>
          <p:spPr>
            <a:xfrm>
              <a:off x="7547660" y="189796"/>
              <a:ext cx="360000" cy="355633"/>
            </a:xfrm>
            <a:prstGeom prst="roundRect">
              <a:avLst/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44" name="사각형: 둥근 모서리 34">
              <a:extLst>
                <a:ext uri="{FF2B5EF4-FFF2-40B4-BE49-F238E27FC236}">
                  <a16:creationId xmlns:a16="http://schemas.microsoft.com/office/drawing/2014/main" id="{4C38D65E-4FEC-804E-42C0-EF22F51FF0D4}"/>
                </a:ext>
              </a:extLst>
            </p:cNvPr>
            <p:cNvSpPr/>
            <p:nvPr userDrawn="1"/>
          </p:nvSpPr>
          <p:spPr>
            <a:xfrm rot="923841">
              <a:off x="9359767" y="144498"/>
              <a:ext cx="372850" cy="1492452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0 w 470074"/>
                <a:gd name="connsiteY0" fmla="*/ 168229 h 2279087"/>
                <a:gd name="connsiteX1" fmla="*/ 78326 w 470074"/>
                <a:gd name="connsiteY1" fmla="*/ 89903 h 2279087"/>
                <a:gd name="connsiteX2" fmla="*/ 431082 w 470074"/>
                <a:gd name="connsiteY2" fmla="*/ 0 h 2279087"/>
                <a:gd name="connsiteX3" fmla="*/ 469949 w 470074"/>
                <a:gd name="connsiteY3" fmla="*/ 168229 h 2279087"/>
                <a:gd name="connsiteX4" fmla="*/ 469949 w 470074"/>
                <a:gd name="connsiteY4" fmla="*/ 2200761 h 2279087"/>
                <a:gd name="connsiteX5" fmla="*/ 391623 w 470074"/>
                <a:gd name="connsiteY5" fmla="*/ 2279087 h 2279087"/>
                <a:gd name="connsiteX6" fmla="*/ 78326 w 470074"/>
                <a:gd name="connsiteY6" fmla="*/ 2279087 h 2279087"/>
                <a:gd name="connsiteX7" fmla="*/ 0 w 470074"/>
                <a:gd name="connsiteY7" fmla="*/ 2200761 h 2279087"/>
                <a:gd name="connsiteX8" fmla="*/ 0 w 470074"/>
                <a:gd name="connsiteY8" fmla="*/ 168229 h 2279087"/>
                <a:gd name="connsiteX0" fmla="*/ 0 w 473939"/>
                <a:gd name="connsiteY0" fmla="*/ 152392 h 2263250"/>
                <a:gd name="connsiteX1" fmla="*/ 78326 w 473939"/>
                <a:gd name="connsiteY1" fmla="*/ 74066 h 2263250"/>
                <a:gd name="connsiteX2" fmla="*/ 445323 w 473939"/>
                <a:gd name="connsiteY2" fmla="*/ 0 h 2263250"/>
                <a:gd name="connsiteX3" fmla="*/ 469949 w 473939"/>
                <a:gd name="connsiteY3" fmla="*/ 152392 h 2263250"/>
                <a:gd name="connsiteX4" fmla="*/ 469949 w 473939"/>
                <a:gd name="connsiteY4" fmla="*/ 2184924 h 2263250"/>
                <a:gd name="connsiteX5" fmla="*/ 391623 w 473939"/>
                <a:gd name="connsiteY5" fmla="*/ 2263250 h 2263250"/>
                <a:gd name="connsiteX6" fmla="*/ 78326 w 473939"/>
                <a:gd name="connsiteY6" fmla="*/ 2263250 h 2263250"/>
                <a:gd name="connsiteX7" fmla="*/ 0 w 473939"/>
                <a:gd name="connsiteY7" fmla="*/ 2184924 h 2263250"/>
                <a:gd name="connsiteX8" fmla="*/ 0 w 473939"/>
                <a:gd name="connsiteY8" fmla="*/ 152392 h 2263250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9858" h="2286042">
                  <a:moveTo>
                    <a:pt x="0" y="175184"/>
                  </a:moveTo>
                  <a:cubicBezTo>
                    <a:pt x="0" y="131926"/>
                    <a:pt x="35068" y="96858"/>
                    <a:pt x="78326" y="96858"/>
                  </a:cubicBezTo>
                  <a:cubicBezTo>
                    <a:pt x="394302" y="4021"/>
                    <a:pt x="351903" y="0"/>
                    <a:pt x="456335" y="0"/>
                  </a:cubicBezTo>
                  <a:cubicBezTo>
                    <a:pt x="499593" y="0"/>
                    <a:pt x="469949" y="131926"/>
                    <a:pt x="469949" y="175184"/>
                  </a:cubicBezTo>
                  <a:lnTo>
                    <a:pt x="469949" y="2207716"/>
                  </a:lnTo>
                  <a:cubicBezTo>
                    <a:pt x="469949" y="2250974"/>
                    <a:pt x="434881" y="2286042"/>
                    <a:pt x="391623" y="2286042"/>
                  </a:cubicBezTo>
                  <a:lnTo>
                    <a:pt x="78326" y="2286042"/>
                  </a:lnTo>
                  <a:cubicBezTo>
                    <a:pt x="35068" y="2286042"/>
                    <a:pt x="0" y="2250974"/>
                    <a:pt x="0" y="2207716"/>
                  </a:cubicBezTo>
                  <a:lnTo>
                    <a:pt x="0" y="175184"/>
                  </a:lnTo>
                  <a:close/>
                </a:path>
              </a:pathLst>
            </a:cu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7A23E54B-77C3-B58C-2FA5-9844FD869CAF}"/>
                </a:ext>
              </a:extLst>
            </p:cNvPr>
            <p:cNvSpPr/>
            <p:nvPr userDrawn="1"/>
          </p:nvSpPr>
          <p:spPr>
            <a:xfrm>
              <a:off x="9539301" y="186675"/>
              <a:ext cx="408152" cy="183858"/>
            </a:xfrm>
            <a:prstGeom prst="roundRect">
              <a:avLst>
                <a:gd name="adj" fmla="val 23143"/>
              </a:avLst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46" name="사각형: 둥근 모서리 45">
              <a:extLst>
                <a:ext uri="{FF2B5EF4-FFF2-40B4-BE49-F238E27FC236}">
                  <a16:creationId xmlns:a16="http://schemas.microsoft.com/office/drawing/2014/main" id="{32D96933-CDA3-3D64-DD04-22498904F2B0}"/>
                </a:ext>
              </a:extLst>
            </p:cNvPr>
            <p:cNvSpPr/>
            <p:nvPr userDrawn="1"/>
          </p:nvSpPr>
          <p:spPr>
            <a:xfrm flipH="1">
              <a:off x="9958325" y="1568154"/>
              <a:ext cx="358839" cy="107393"/>
            </a:xfrm>
            <a:prstGeom prst="roundRect">
              <a:avLst>
                <a:gd name="adj" fmla="val 43099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445C1F95-147E-F882-600A-F515FF5730DA}"/>
                </a:ext>
              </a:extLst>
            </p:cNvPr>
            <p:cNvSpPr/>
            <p:nvPr userDrawn="1"/>
          </p:nvSpPr>
          <p:spPr>
            <a:xfrm rot="4506704" flipH="1">
              <a:off x="9985282" y="1378492"/>
              <a:ext cx="464231" cy="107393"/>
            </a:xfrm>
            <a:prstGeom prst="roundRect">
              <a:avLst>
                <a:gd name="adj" fmla="val 50000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B524C14F-86B3-5F43-5AA4-229B555CD71D}"/>
                </a:ext>
              </a:extLst>
            </p:cNvPr>
            <p:cNvSpPr/>
            <p:nvPr userDrawn="1"/>
          </p:nvSpPr>
          <p:spPr>
            <a:xfrm rot="17142116">
              <a:off x="9285907" y="1386473"/>
              <a:ext cx="447973" cy="107393"/>
            </a:xfrm>
            <a:prstGeom prst="roundRect">
              <a:avLst>
                <a:gd name="adj" fmla="val 49751"/>
              </a:avLst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49" name="사각형: 둥근 모서리 48">
              <a:extLst>
                <a:ext uri="{FF2B5EF4-FFF2-40B4-BE49-F238E27FC236}">
                  <a16:creationId xmlns:a16="http://schemas.microsoft.com/office/drawing/2014/main" id="{93A75C5C-D184-FB1E-4D30-8E0C46ECE9F3}"/>
                </a:ext>
              </a:extLst>
            </p:cNvPr>
            <p:cNvSpPr/>
            <p:nvPr userDrawn="1"/>
          </p:nvSpPr>
          <p:spPr>
            <a:xfrm>
              <a:off x="8225540" y="182176"/>
              <a:ext cx="976417" cy="355633"/>
            </a:xfrm>
            <a:prstGeom prst="roundRect">
              <a:avLst/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70B536F9-A737-7889-1CA1-D9A1DF5D1FEE}"/>
                </a:ext>
              </a:extLst>
            </p:cNvPr>
            <p:cNvSpPr/>
            <p:nvPr userDrawn="1"/>
          </p:nvSpPr>
          <p:spPr>
            <a:xfrm>
              <a:off x="8225541" y="1310440"/>
              <a:ext cx="1287590" cy="355633"/>
            </a:xfrm>
            <a:prstGeom prst="roundRect">
              <a:avLst/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00B8EB24-2E34-6FC4-3C61-ECC562D3F574}"/>
                </a:ext>
              </a:extLst>
            </p:cNvPr>
            <p:cNvSpPr/>
            <p:nvPr userDrawn="1"/>
          </p:nvSpPr>
          <p:spPr>
            <a:xfrm>
              <a:off x="8210345" y="186675"/>
              <a:ext cx="360000" cy="1473398"/>
            </a:xfrm>
            <a:prstGeom prst="roundRect">
              <a:avLst/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52" name="사각형: 둥근 모서리 48">
              <a:extLst>
                <a:ext uri="{FF2B5EF4-FFF2-40B4-BE49-F238E27FC236}">
                  <a16:creationId xmlns:a16="http://schemas.microsoft.com/office/drawing/2014/main" id="{C19CBDAA-F316-CB8C-1303-809695D44691}"/>
                </a:ext>
              </a:extLst>
            </p:cNvPr>
            <p:cNvSpPr/>
            <p:nvPr userDrawn="1"/>
          </p:nvSpPr>
          <p:spPr>
            <a:xfrm rot="20700000">
              <a:off x="9757285" y="116467"/>
              <a:ext cx="365971" cy="1546595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7203 w 477152"/>
                <a:gd name="connsiteY0" fmla="*/ 202492 h 2313350"/>
                <a:gd name="connsiteX1" fmla="*/ 25429 w 477152"/>
                <a:gd name="connsiteY1" fmla="*/ 0 h 2313350"/>
                <a:gd name="connsiteX2" fmla="*/ 337626 w 477152"/>
                <a:gd name="connsiteY2" fmla="*/ 122559 h 2313350"/>
                <a:gd name="connsiteX3" fmla="*/ 477152 w 477152"/>
                <a:gd name="connsiteY3" fmla="*/ 202492 h 2313350"/>
                <a:gd name="connsiteX4" fmla="*/ 477152 w 477152"/>
                <a:gd name="connsiteY4" fmla="*/ 2235024 h 2313350"/>
                <a:gd name="connsiteX5" fmla="*/ 398826 w 477152"/>
                <a:gd name="connsiteY5" fmla="*/ 2313350 h 2313350"/>
                <a:gd name="connsiteX6" fmla="*/ 85529 w 477152"/>
                <a:gd name="connsiteY6" fmla="*/ 2313350 h 2313350"/>
                <a:gd name="connsiteX7" fmla="*/ 7203 w 477152"/>
                <a:gd name="connsiteY7" fmla="*/ 2235024 h 2313350"/>
                <a:gd name="connsiteX8" fmla="*/ 7203 w 477152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-1 w 469948"/>
                <a:gd name="connsiteY0" fmla="*/ 174286 h 2285144"/>
                <a:gd name="connsiteX1" fmla="*/ 49782 w 469948"/>
                <a:gd name="connsiteY1" fmla="*/ 1 h 2285144"/>
                <a:gd name="connsiteX2" fmla="*/ 334387 w 469948"/>
                <a:gd name="connsiteY2" fmla="*/ 77186 h 2285144"/>
                <a:gd name="connsiteX3" fmla="*/ 469948 w 469948"/>
                <a:gd name="connsiteY3" fmla="*/ 174286 h 2285144"/>
                <a:gd name="connsiteX4" fmla="*/ 469948 w 469948"/>
                <a:gd name="connsiteY4" fmla="*/ 2206818 h 2285144"/>
                <a:gd name="connsiteX5" fmla="*/ 391622 w 469948"/>
                <a:gd name="connsiteY5" fmla="*/ 2285144 h 2285144"/>
                <a:gd name="connsiteX6" fmla="*/ 78325 w 469948"/>
                <a:gd name="connsiteY6" fmla="*/ 2285144 h 2285144"/>
                <a:gd name="connsiteX7" fmla="*/ -1 w 469948"/>
                <a:gd name="connsiteY7" fmla="*/ 2206818 h 2285144"/>
                <a:gd name="connsiteX8" fmla="*/ -1 w 469948"/>
                <a:gd name="connsiteY8" fmla="*/ 174286 h 2285144"/>
                <a:gd name="connsiteX0" fmla="*/ 0 w 469949"/>
                <a:gd name="connsiteY0" fmla="*/ 174285 h 2285143"/>
                <a:gd name="connsiteX1" fmla="*/ 49783 w 469949"/>
                <a:gd name="connsiteY1" fmla="*/ 0 h 2285143"/>
                <a:gd name="connsiteX2" fmla="*/ 334388 w 469949"/>
                <a:gd name="connsiteY2" fmla="*/ 77185 h 2285143"/>
                <a:gd name="connsiteX3" fmla="*/ 469949 w 469949"/>
                <a:gd name="connsiteY3" fmla="*/ 174285 h 2285143"/>
                <a:gd name="connsiteX4" fmla="*/ 469949 w 469949"/>
                <a:gd name="connsiteY4" fmla="*/ 2206817 h 2285143"/>
                <a:gd name="connsiteX5" fmla="*/ 391623 w 469949"/>
                <a:gd name="connsiteY5" fmla="*/ 2285143 h 2285143"/>
                <a:gd name="connsiteX6" fmla="*/ 78326 w 469949"/>
                <a:gd name="connsiteY6" fmla="*/ 2285143 h 2285143"/>
                <a:gd name="connsiteX7" fmla="*/ 0 w 469949"/>
                <a:gd name="connsiteY7" fmla="*/ 2206817 h 2285143"/>
                <a:gd name="connsiteX8" fmla="*/ 0 w 469949"/>
                <a:gd name="connsiteY8" fmla="*/ 174285 h 2285143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5442 w 471003"/>
                <a:gd name="connsiteY2" fmla="*/ 100792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4861 w 471003"/>
                <a:gd name="connsiteY2" fmla="*/ 89571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1003" h="2308750">
                  <a:moveTo>
                    <a:pt x="1054" y="197892"/>
                  </a:moveTo>
                  <a:cubicBezTo>
                    <a:pt x="1054" y="154634"/>
                    <a:pt x="-9176" y="0"/>
                    <a:pt x="34082" y="0"/>
                  </a:cubicBezTo>
                  <a:cubicBezTo>
                    <a:pt x="252569" y="55222"/>
                    <a:pt x="180322" y="46561"/>
                    <a:pt x="334861" y="89571"/>
                  </a:cubicBezTo>
                  <a:cubicBezTo>
                    <a:pt x="454403" y="123843"/>
                    <a:pt x="471003" y="154634"/>
                    <a:pt x="471003" y="197892"/>
                  </a:cubicBezTo>
                  <a:lnTo>
                    <a:pt x="471003" y="2230424"/>
                  </a:lnTo>
                  <a:cubicBezTo>
                    <a:pt x="471003" y="2273682"/>
                    <a:pt x="435935" y="2308750"/>
                    <a:pt x="392677" y="2308750"/>
                  </a:cubicBezTo>
                  <a:lnTo>
                    <a:pt x="79380" y="2308750"/>
                  </a:lnTo>
                  <a:cubicBezTo>
                    <a:pt x="36122" y="2308750"/>
                    <a:pt x="1054" y="2273682"/>
                    <a:pt x="1054" y="2230424"/>
                  </a:cubicBezTo>
                  <a:lnTo>
                    <a:pt x="1054" y="197892"/>
                  </a:lnTo>
                  <a:close/>
                </a:path>
              </a:pathLst>
            </a:cu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53" name="사각형: 둥근 모서리 52">
              <a:extLst>
                <a:ext uri="{FF2B5EF4-FFF2-40B4-BE49-F238E27FC236}">
                  <a16:creationId xmlns:a16="http://schemas.microsoft.com/office/drawing/2014/main" id="{3982DA01-DAB2-66E5-E365-CFF5181A0C9C}"/>
                </a:ext>
              </a:extLst>
            </p:cNvPr>
            <p:cNvSpPr/>
            <p:nvPr userDrawn="1"/>
          </p:nvSpPr>
          <p:spPr>
            <a:xfrm rot="4506704" flipH="1">
              <a:off x="9456291" y="360823"/>
              <a:ext cx="464231" cy="107393"/>
            </a:xfrm>
            <a:prstGeom prst="roundRect">
              <a:avLst>
                <a:gd name="adj" fmla="val 32586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800FCEC9-FF7B-4B9B-DAC4-B3D9BC28F820}"/>
                </a:ext>
              </a:extLst>
            </p:cNvPr>
            <p:cNvSpPr/>
            <p:nvPr userDrawn="1"/>
          </p:nvSpPr>
          <p:spPr>
            <a:xfrm flipH="1">
              <a:off x="9586770" y="180267"/>
              <a:ext cx="351774" cy="60140"/>
            </a:xfrm>
            <a:prstGeom prst="roundRect">
              <a:avLst>
                <a:gd name="adj" fmla="val 32586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FE59132D-E0F7-5227-671D-15B4032C34B0}"/>
                </a:ext>
              </a:extLst>
            </p:cNvPr>
            <p:cNvSpPr/>
            <p:nvPr userDrawn="1"/>
          </p:nvSpPr>
          <p:spPr>
            <a:xfrm>
              <a:off x="6347129" y="186675"/>
              <a:ext cx="408152" cy="183858"/>
            </a:xfrm>
            <a:prstGeom prst="roundRect">
              <a:avLst>
                <a:gd name="adj" fmla="val 23143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56" name="사각형: 둥근 모서리 55">
              <a:extLst>
                <a:ext uri="{FF2B5EF4-FFF2-40B4-BE49-F238E27FC236}">
                  <a16:creationId xmlns:a16="http://schemas.microsoft.com/office/drawing/2014/main" id="{20FCFC37-75D1-A1F5-B779-980816D9566F}"/>
                </a:ext>
              </a:extLst>
            </p:cNvPr>
            <p:cNvSpPr/>
            <p:nvPr userDrawn="1"/>
          </p:nvSpPr>
          <p:spPr>
            <a:xfrm flipH="1">
              <a:off x="6766153" y="1568154"/>
              <a:ext cx="358839" cy="107393"/>
            </a:xfrm>
            <a:prstGeom prst="roundRect">
              <a:avLst>
                <a:gd name="adj" fmla="val 43099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57" name="사각형: 둥근 모서리 56">
              <a:extLst>
                <a:ext uri="{FF2B5EF4-FFF2-40B4-BE49-F238E27FC236}">
                  <a16:creationId xmlns:a16="http://schemas.microsoft.com/office/drawing/2014/main" id="{4A451D5E-D275-D412-8599-7730D9FAE251}"/>
                </a:ext>
              </a:extLst>
            </p:cNvPr>
            <p:cNvSpPr/>
            <p:nvPr userDrawn="1"/>
          </p:nvSpPr>
          <p:spPr>
            <a:xfrm rot="4506704" flipH="1">
              <a:off x="6793110" y="1378492"/>
              <a:ext cx="464231" cy="107393"/>
            </a:xfrm>
            <a:prstGeom prst="roundRect">
              <a:avLst>
                <a:gd name="adj" fmla="val 50000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58" name="사각형: 둥근 모서리 48">
              <a:extLst>
                <a:ext uri="{FF2B5EF4-FFF2-40B4-BE49-F238E27FC236}">
                  <a16:creationId xmlns:a16="http://schemas.microsoft.com/office/drawing/2014/main" id="{9DD62034-9CD4-BE1D-203C-464F0185C4C9}"/>
                </a:ext>
              </a:extLst>
            </p:cNvPr>
            <p:cNvSpPr/>
            <p:nvPr userDrawn="1"/>
          </p:nvSpPr>
          <p:spPr>
            <a:xfrm rot="20700000">
              <a:off x="6565113" y="116467"/>
              <a:ext cx="365971" cy="1546595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7203 w 477152"/>
                <a:gd name="connsiteY0" fmla="*/ 202492 h 2313350"/>
                <a:gd name="connsiteX1" fmla="*/ 25429 w 477152"/>
                <a:gd name="connsiteY1" fmla="*/ 0 h 2313350"/>
                <a:gd name="connsiteX2" fmla="*/ 337626 w 477152"/>
                <a:gd name="connsiteY2" fmla="*/ 122559 h 2313350"/>
                <a:gd name="connsiteX3" fmla="*/ 477152 w 477152"/>
                <a:gd name="connsiteY3" fmla="*/ 202492 h 2313350"/>
                <a:gd name="connsiteX4" fmla="*/ 477152 w 477152"/>
                <a:gd name="connsiteY4" fmla="*/ 2235024 h 2313350"/>
                <a:gd name="connsiteX5" fmla="*/ 398826 w 477152"/>
                <a:gd name="connsiteY5" fmla="*/ 2313350 h 2313350"/>
                <a:gd name="connsiteX6" fmla="*/ 85529 w 477152"/>
                <a:gd name="connsiteY6" fmla="*/ 2313350 h 2313350"/>
                <a:gd name="connsiteX7" fmla="*/ 7203 w 477152"/>
                <a:gd name="connsiteY7" fmla="*/ 2235024 h 2313350"/>
                <a:gd name="connsiteX8" fmla="*/ 7203 w 477152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-1 w 469948"/>
                <a:gd name="connsiteY0" fmla="*/ 174286 h 2285144"/>
                <a:gd name="connsiteX1" fmla="*/ 49782 w 469948"/>
                <a:gd name="connsiteY1" fmla="*/ 1 h 2285144"/>
                <a:gd name="connsiteX2" fmla="*/ 334387 w 469948"/>
                <a:gd name="connsiteY2" fmla="*/ 77186 h 2285144"/>
                <a:gd name="connsiteX3" fmla="*/ 469948 w 469948"/>
                <a:gd name="connsiteY3" fmla="*/ 174286 h 2285144"/>
                <a:gd name="connsiteX4" fmla="*/ 469948 w 469948"/>
                <a:gd name="connsiteY4" fmla="*/ 2206818 h 2285144"/>
                <a:gd name="connsiteX5" fmla="*/ 391622 w 469948"/>
                <a:gd name="connsiteY5" fmla="*/ 2285144 h 2285144"/>
                <a:gd name="connsiteX6" fmla="*/ 78325 w 469948"/>
                <a:gd name="connsiteY6" fmla="*/ 2285144 h 2285144"/>
                <a:gd name="connsiteX7" fmla="*/ -1 w 469948"/>
                <a:gd name="connsiteY7" fmla="*/ 2206818 h 2285144"/>
                <a:gd name="connsiteX8" fmla="*/ -1 w 469948"/>
                <a:gd name="connsiteY8" fmla="*/ 174286 h 2285144"/>
                <a:gd name="connsiteX0" fmla="*/ 0 w 469949"/>
                <a:gd name="connsiteY0" fmla="*/ 174285 h 2285143"/>
                <a:gd name="connsiteX1" fmla="*/ 49783 w 469949"/>
                <a:gd name="connsiteY1" fmla="*/ 0 h 2285143"/>
                <a:gd name="connsiteX2" fmla="*/ 334388 w 469949"/>
                <a:gd name="connsiteY2" fmla="*/ 77185 h 2285143"/>
                <a:gd name="connsiteX3" fmla="*/ 469949 w 469949"/>
                <a:gd name="connsiteY3" fmla="*/ 174285 h 2285143"/>
                <a:gd name="connsiteX4" fmla="*/ 469949 w 469949"/>
                <a:gd name="connsiteY4" fmla="*/ 2206817 h 2285143"/>
                <a:gd name="connsiteX5" fmla="*/ 391623 w 469949"/>
                <a:gd name="connsiteY5" fmla="*/ 2285143 h 2285143"/>
                <a:gd name="connsiteX6" fmla="*/ 78326 w 469949"/>
                <a:gd name="connsiteY6" fmla="*/ 2285143 h 2285143"/>
                <a:gd name="connsiteX7" fmla="*/ 0 w 469949"/>
                <a:gd name="connsiteY7" fmla="*/ 2206817 h 2285143"/>
                <a:gd name="connsiteX8" fmla="*/ 0 w 469949"/>
                <a:gd name="connsiteY8" fmla="*/ 174285 h 2285143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5442 w 471003"/>
                <a:gd name="connsiteY2" fmla="*/ 100792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4861 w 471003"/>
                <a:gd name="connsiteY2" fmla="*/ 89571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1003" h="2308750">
                  <a:moveTo>
                    <a:pt x="1054" y="197892"/>
                  </a:moveTo>
                  <a:cubicBezTo>
                    <a:pt x="1054" y="154634"/>
                    <a:pt x="-9176" y="0"/>
                    <a:pt x="34082" y="0"/>
                  </a:cubicBezTo>
                  <a:cubicBezTo>
                    <a:pt x="252569" y="55222"/>
                    <a:pt x="180322" y="46561"/>
                    <a:pt x="334861" y="89571"/>
                  </a:cubicBezTo>
                  <a:cubicBezTo>
                    <a:pt x="454403" y="123843"/>
                    <a:pt x="471003" y="154634"/>
                    <a:pt x="471003" y="197892"/>
                  </a:cubicBezTo>
                  <a:lnTo>
                    <a:pt x="471003" y="2230424"/>
                  </a:lnTo>
                  <a:cubicBezTo>
                    <a:pt x="471003" y="2273682"/>
                    <a:pt x="435935" y="2308750"/>
                    <a:pt x="392677" y="2308750"/>
                  </a:cubicBezTo>
                  <a:lnTo>
                    <a:pt x="79380" y="2308750"/>
                  </a:lnTo>
                  <a:cubicBezTo>
                    <a:pt x="36122" y="2308750"/>
                    <a:pt x="1054" y="2273682"/>
                    <a:pt x="1054" y="2230424"/>
                  </a:cubicBezTo>
                  <a:lnTo>
                    <a:pt x="1054" y="197892"/>
                  </a:lnTo>
                  <a:close/>
                </a:path>
              </a:pathLst>
            </a:cu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59" name="사각형: 둥근 모서리 58">
              <a:extLst>
                <a:ext uri="{FF2B5EF4-FFF2-40B4-BE49-F238E27FC236}">
                  <a16:creationId xmlns:a16="http://schemas.microsoft.com/office/drawing/2014/main" id="{9FCA9E36-697C-D30C-2533-FD6768039D7C}"/>
                </a:ext>
              </a:extLst>
            </p:cNvPr>
            <p:cNvSpPr/>
            <p:nvPr userDrawn="1"/>
          </p:nvSpPr>
          <p:spPr>
            <a:xfrm rot="4506704" flipH="1">
              <a:off x="6264119" y="360823"/>
              <a:ext cx="464231" cy="107393"/>
            </a:xfrm>
            <a:prstGeom prst="roundRect">
              <a:avLst>
                <a:gd name="adj" fmla="val 32586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60" name="사각형: 둥근 모서리 59">
              <a:extLst>
                <a:ext uri="{FF2B5EF4-FFF2-40B4-BE49-F238E27FC236}">
                  <a16:creationId xmlns:a16="http://schemas.microsoft.com/office/drawing/2014/main" id="{6E7E9F02-56F7-2C10-9878-B607F9E9684E}"/>
                </a:ext>
              </a:extLst>
            </p:cNvPr>
            <p:cNvSpPr/>
            <p:nvPr userDrawn="1"/>
          </p:nvSpPr>
          <p:spPr>
            <a:xfrm flipH="1">
              <a:off x="6394598" y="180267"/>
              <a:ext cx="351774" cy="60140"/>
            </a:xfrm>
            <a:prstGeom prst="roundRect">
              <a:avLst>
                <a:gd name="adj" fmla="val 32586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val="25466256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2A8795-CAE2-41A2-9830-252F1DB8D4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1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5D3D744-13EB-4EFF-AE30-0C7AE227FE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1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2" indent="0" algn="ctr">
              <a:buNone/>
              <a:defRPr sz="2000"/>
            </a:lvl2pPr>
            <a:lvl3pPr marL="914404" indent="0" algn="ctr">
              <a:buNone/>
              <a:defRPr sz="1800"/>
            </a:lvl3pPr>
            <a:lvl4pPr marL="1371605" indent="0" algn="ctr">
              <a:buNone/>
              <a:defRPr sz="1600"/>
            </a:lvl4pPr>
            <a:lvl5pPr marL="1828807" indent="0" algn="ctr">
              <a:buNone/>
              <a:defRPr sz="1600"/>
            </a:lvl5pPr>
            <a:lvl6pPr marL="2286009" indent="0" algn="ctr">
              <a:buNone/>
              <a:defRPr sz="1600"/>
            </a:lvl6pPr>
            <a:lvl7pPr marL="2743211" indent="0" algn="ctr">
              <a:buNone/>
              <a:defRPr sz="1600"/>
            </a:lvl7pPr>
            <a:lvl8pPr marL="3200413" indent="0" algn="ctr">
              <a:buNone/>
              <a:defRPr sz="1600"/>
            </a:lvl8pPr>
            <a:lvl9pPr marL="3657615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부제목 2">
            <a:extLst>
              <a:ext uri="{FF2B5EF4-FFF2-40B4-BE49-F238E27FC236}">
                <a16:creationId xmlns:a16="http://schemas.microsoft.com/office/drawing/2014/main" id="{A9E79BC4-6998-EDEE-667D-B7C17B3A08C0}"/>
              </a:ext>
            </a:extLst>
          </p:cNvPr>
          <p:cNvSpPr txBox="1">
            <a:spLocks/>
          </p:cNvSpPr>
          <p:nvPr userDrawn="1"/>
        </p:nvSpPr>
        <p:spPr>
          <a:xfrm>
            <a:off x="3787205" y="5907650"/>
            <a:ext cx="4617590" cy="3726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703020202090204" pitchFamily="34" charset="0"/>
                <a:ea typeface="Baskerville" panose="02020502070401020303" pitchFamily="18" charset="0"/>
              </a:rPr>
              <a:t>Advanced Intelligent Computing Architecture Lab.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Trebuchet MS" panose="020B0603020202020204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565CA89F-D0E9-8CE5-22B9-51E7DE7904E7}"/>
              </a:ext>
            </a:extLst>
          </p:cNvPr>
          <p:cNvGrpSpPr/>
          <p:nvPr userDrawn="1"/>
        </p:nvGrpSpPr>
        <p:grpSpPr>
          <a:xfrm>
            <a:off x="5196905" y="5156355"/>
            <a:ext cx="1798190" cy="646162"/>
            <a:chOff x="5976117" y="116467"/>
            <a:chExt cx="4341047" cy="1559914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633F487C-A200-17BE-5341-37611BF8FBFD}"/>
                </a:ext>
              </a:extLst>
            </p:cNvPr>
            <p:cNvSpPr/>
            <p:nvPr userDrawn="1"/>
          </p:nvSpPr>
          <p:spPr>
            <a:xfrm>
              <a:off x="7547660" y="613810"/>
              <a:ext cx="360000" cy="1046263"/>
            </a:xfrm>
            <a:prstGeom prst="roundRect">
              <a:avLst/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2F47E4AB-6462-333C-8B2F-30524FE22205}"/>
                </a:ext>
              </a:extLst>
            </p:cNvPr>
            <p:cNvSpPr/>
            <p:nvPr userDrawn="1"/>
          </p:nvSpPr>
          <p:spPr>
            <a:xfrm>
              <a:off x="6776499" y="1312781"/>
              <a:ext cx="1131162" cy="363600"/>
            </a:xfrm>
            <a:prstGeom prst="roundRect">
              <a:avLst/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1" name="사각형: 둥근 모서리 34">
              <a:extLst>
                <a:ext uri="{FF2B5EF4-FFF2-40B4-BE49-F238E27FC236}">
                  <a16:creationId xmlns:a16="http://schemas.microsoft.com/office/drawing/2014/main" id="{0A103168-CD94-921E-63B0-D7B6F62E3E6E}"/>
                </a:ext>
              </a:extLst>
            </p:cNvPr>
            <p:cNvSpPr/>
            <p:nvPr userDrawn="1"/>
          </p:nvSpPr>
          <p:spPr>
            <a:xfrm rot="923841">
              <a:off x="6171723" y="144498"/>
              <a:ext cx="372850" cy="1492452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0 w 470074"/>
                <a:gd name="connsiteY0" fmla="*/ 168229 h 2279087"/>
                <a:gd name="connsiteX1" fmla="*/ 78326 w 470074"/>
                <a:gd name="connsiteY1" fmla="*/ 89903 h 2279087"/>
                <a:gd name="connsiteX2" fmla="*/ 431082 w 470074"/>
                <a:gd name="connsiteY2" fmla="*/ 0 h 2279087"/>
                <a:gd name="connsiteX3" fmla="*/ 469949 w 470074"/>
                <a:gd name="connsiteY3" fmla="*/ 168229 h 2279087"/>
                <a:gd name="connsiteX4" fmla="*/ 469949 w 470074"/>
                <a:gd name="connsiteY4" fmla="*/ 2200761 h 2279087"/>
                <a:gd name="connsiteX5" fmla="*/ 391623 w 470074"/>
                <a:gd name="connsiteY5" fmla="*/ 2279087 h 2279087"/>
                <a:gd name="connsiteX6" fmla="*/ 78326 w 470074"/>
                <a:gd name="connsiteY6" fmla="*/ 2279087 h 2279087"/>
                <a:gd name="connsiteX7" fmla="*/ 0 w 470074"/>
                <a:gd name="connsiteY7" fmla="*/ 2200761 h 2279087"/>
                <a:gd name="connsiteX8" fmla="*/ 0 w 470074"/>
                <a:gd name="connsiteY8" fmla="*/ 168229 h 2279087"/>
                <a:gd name="connsiteX0" fmla="*/ 0 w 473939"/>
                <a:gd name="connsiteY0" fmla="*/ 152392 h 2263250"/>
                <a:gd name="connsiteX1" fmla="*/ 78326 w 473939"/>
                <a:gd name="connsiteY1" fmla="*/ 74066 h 2263250"/>
                <a:gd name="connsiteX2" fmla="*/ 445323 w 473939"/>
                <a:gd name="connsiteY2" fmla="*/ 0 h 2263250"/>
                <a:gd name="connsiteX3" fmla="*/ 469949 w 473939"/>
                <a:gd name="connsiteY3" fmla="*/ 152392 h 2263250"/>
                <a:gd name="connsiteX4" fmla="*/ 469949 w 473939"/>
                <a:gd name="connsiteY4" fmla="*/ 2184924 h 2263250"/>
                <a:gd name="connsiteX5" fmla="*/ 391623 w 473939"/>
                <a:gd name="connsiteY5" fmla="*/ 2263250 h 2263250"/>
                <a:gd name="connsiteX6" fmla="*/ 78326 w 473939"/>
                <a:gd name="connsiteY6" fmla="*/ 2263250 h 2263250"/>
                <a:gd name="connsiteX7" fmla="*/ 0 w 473939"/>
                <a:gd name="connsiteY7" fmla="*/ 2184924 h 2263250"/>
                <a:gd name="connsiteX8" fmla="*/ 0 w 473939"/>
                <a:gd name="connsiteY8" fmla="*/ 152392 h 2263250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9858" h="2286042">
                  <a:moveTo>
                    <a:pt x="0" y="175184"/>
                  </a:moveTo>
                  <a:cubicBezTo>
                    <a:pt x="0" y="131926"/>
                    <a:pt x="35068" y="96858"/>
                    <a:pt x="78326" y="96858"/>
                  </a:cubicBezTo>
                  <a:cubicBezTo>
                    <a:pt x="394302" y="4021"/>
                    <a:pt x="351903" y="0"/>
                    <a:pt x="456335" y="0"/>
                  </a:cubicBezTo>
                  <a:cubicBezTo>
                    <a:pt x="499593" y="0"/>
                    <a:pt x="469949" y="131926"/>
                    <a:pt x="469949" y="175184"/>
                  </a:cubicBezTo>
                  <a:lnTo>
                    <a:pt x="469949" y="2207716"/>
                  </a:lnTo>
                  <a:cubicBezTo>
                    <a:pt x="469949" y="2250974"/>
                    <a:pt x="434881" y="2286042"/>
                    <a:pt x="391623" y="2286042"/>
                  </a:cubicBezTo>
                  <a:lnTo>
                    <a:pt x="78326" y="2286042"/>
                  </a:lnTo>
                  <a:cubicBezTo>
                    <a:pt x="35068" y="2286042"/>
                    <a:pt x="0" y="2250974"/>
                    <a:pt x="0" y="2207716"/>
                  </a:cubicBezTo>
                  <a:lnTo>
                    <a:pt x="0" y="175184"/>
                  </a:lnTo>
                  <a:close/>
                </a:path>
              </a:pathLst>
            </a:cu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7589D919-CBEB-F8FB-07F2-12CA9E166B19}"/>
                </a:ext>
              </a:extLst>
            </p:cNvPr>
            <p:cNvSpPr/>
            <p:nvPr userDrawn="1"/>
          </p:nvSpPr>
          <p:spPr>
            <a:xfrm>
              <a:off x="5976117" y="1562385"/>
              <a:ext cx="367024" cy="107393"/>
            </a:xfrm>
            <a:prstGeom prst="roundRect">
              <a:avLst>
                <a:gd name="adj" fmla="val 49751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7C46F0AE-DB11-EB8B-FE86-FF73BA879CF9}"/>
                </a:ext>
              </a:extLst>
            </p:cNvPr>
            <p:cNvSpPr/>
            <p:nvPr userDrawn="1"/>
          </p:nvSpPr>
          <p:spPr>
            <a:xfrm rot="17142116">
              <a:off x="5845212" y="1386473"/>
              <a:ext cx="447973" cy="107393"/>
            </a:xfrm>
            <a:prstGeom prst="roundRect">
              <a:avLst>
                <a:gd name="adj" fmla="val 49751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2F1B7618-3197-6105-6B9F-CD50533BC4C8}"/>
                </a:ext>
              </a:extLst>
            </p:cNvPr>
            <p:cNvSpPr/>
            <p:nvPr userDrawn="1"/>
          </p:nvSpPr>
          <p:spPr>
            <a:xfrm>
              <a:off x="7547660" y="189796"/>
              <a:ext cx="360000" cy="355633"/>
            </a:xfrm>
            <a:prstGeom prst="roundRect">
              <a:avLst/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5" name="사각형: 둥근 모서리 34">
              <a:extLst>
                <a:ext uri="{FF2B5EF4-FFF2-40B4-BE49-F238E27FC236}">
                  <a16:creationId xmlns:a16="http://schemas.microsoft.com/office/drawing/2014/main" id="{DAEE3283-E646-D165-09D4-A4EBC9383BD5}"/>
                </a:ext>
              </a:extLst>
            </p:cNvPr>
            <p:cNvSpPr/>
            <p:nvPr userDrawn="1"/>
          </p:nvSpPr>
          <p:spPr>
            <a:xfrm rot="923841">
              <a:off x="9359767" y="144498"/>
              <a:ext cx="372850" cy="1492452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0 w 470074"/>
                <a:gd name="connsiteY0" fmla="*/ 168229 h 2279087"/>
                <a:gd name="connsiteX1" fmla="*/ 78326 w 470074"/>
                <a:gd name="connsiteY1" fmla="*/ 89903 h 2279087"/>
                <a:gd name="connsiteX2" fmla="*/ 431082 w 470074"/>
                <a:gd name="connsiteY2" fmla="*/ 0 h 2279087"/>
                <a:gd name="connsiteX3" fmla="*/ 469949 w 470074"/>
                <a:gd name="connsiteY3" fmla="*/ 168229 h 2279087"/>
                <a:gd name="connsiteX4" fmla="*/ 469949 w 470074"/>
                <a:gd name="connsiteY4" fmla="*/ 2200761 h 2279087"/>
                <a:gd name="connsiteX5" fmla="*/ 391623 w 470074"/>
                <a:gd name="connsiteY5" fmla="*/ 2279087 h 2279087"/>
                <a:gd name="connsiteX6" fmla="*/ 78326 w 470074"/>
                <a:gd name="connsiteY6" fmla="*/ 2279087 h 2279087"/>
                <a:gd name="connsiteX7" fmla="*/ 0 w 470074"/>
                <a:gd name="connsiteY7" fmla="*/ 2200761 h 2279087"/>
                <a:gd name="connsiteX8" fmla="*/ 0 w 470074"/>
                <a:gd name="connsiteY8" fmla="*/ 168229 h 2279087"/>
                <a:gd name="connsiteX0" fmla="*/ 0 w 473939"/>
                <a:gd name="connsiteY0" fmla="*/ 152392 h 2263250"/>
                <a:gd name="connsiteX1" fmla="*/ 78326 w 473939"/>
                <a:gd name="connsiteY1" fmla="*/ 74066 h 2263250"/>
                <a:gd name="connsiteX2" fmla="*/ 445323 w 473939"/>
                <a:gd name="connsiteY2" fmla="*/ 0 h 2263250"/>
                <a:gd name="connsiteX3" fmla="*/ 469949 w 473939"/>
                <a:gd name="connsiteY3" fmla="*/ 152392 h 2263250"/>
                <a:gd name="connsiteX4" fmla="*/ 469949 w 473939"/>
                <a:gd name="connsiteY4" fmla="*/ 2184924 h 2263250"/>
                <a:gd name="connsiteX5" fmla="*/ 391623 w 473939"/>
                <a:gd name="connsiteY5" fmla="*/ 2263250 h 2263250"/>
                <a:gd name="connsiteX6" fmla="*/ 78326 w 473939"/>
                <a:gd name="connsiteY6" fmla="*/ 2263250 h 2263250"/>
                <a:gd name="connsiteX7" fmla="*/ 0 w 473939"/>
                <a:gd name="connsiteY7" fmla="*/ 2184924 h 2263250"/>
                <a:gd name="connsiteX8" fmla="*/ 0 w 473939"/>
                <a:gd name="connsiteY8" fmla="*/ 152392 h 2263250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9858" h="2286042">
                  <a:moveTo>
                    <a:pt x="0" y="175184"/>
                  </a:moveTo>
                  <a:cubicBezTo>
                    <a:pt x="0" y="131926"/>
                    <a:pt x="35068" y="96858"/>
                    <a:pt x="78326" y="96858"/>
                  </a:cubicBezTo>
                  <a:cubicBezTo>
                    <a:pt x="394302" y="4021"/>
                    <a:pt x="351903" y="0"/>
                    <a:pt x="456335" y="0"/>
                  </a:cubicBezTo>
                  <a:cubicBezTo>
                    <a:pt x="499593" y="0"/>
                    <a:pt x="469949" y="131926"/>
                    <a:pt x="469949" y="175184"/>
                  </a:cubicBezTo>
                  <a:lnTo>
                    <a:pt x="469949" y="2207716"/>
                  </a:lnTo>
                  <a:cubicBezTo>
                    <a:pt x="469949" y="2250974"/>
                    <a:pt x="434881" y="2286042"/>
                    <a:pt x="391623" y="2286042"/>
                  </a:cubicBezTo>
                  <a:lnTo>
                    <a:pt x="78326" y="2286042"/>
                  </a:lnTo>
                  <a:cubicBezTo>
                    <a:pt x="35068" y="2286042"/>
                    <a:pt x="0" y="2250974"/>
                    <a:pt x="0" y="2207716"/>
                  </a:cubicBezTo>
                  <a:lnTo>
                    <a:pt x="0" y="175184"/>
                  </a:lnTo>
                  <a:close/>
                </a:path>
              </a:pathLst>
            </a:cu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FA0B60E4-48DD-E363-AC71-B8FE6390DD39}"/>
                </a:ext>
              </a:extLst>
            </p:cNvPr>
            <p:cNvSpPr/>
            <p:nvPr userDrawn="1"/>
          </p:nvSpPr>
          <p:spPr>
            <a:xfrm>
              <a:off x="9539301" y="186675"/>
              <a:ext cx="408152" cy="183858"/>
            </a:xfrm>
            <a:prstGeom prst="roundRect">
              <a:avLst>
                <a:gd name="adj" fmla="val 23143"/>
              </a:avLst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2DBD4F83-0783-F1C4-F273-6EE7BA9AA761}"/>
                </a:ext>
              </a:extLst>
            </p:cNvPr>
            <p:cNvSpPr/>
            <p:nvPr userDrawn="1"/>
          </p:nvSpPr>
          <p:spPr>
            <a:xfrm flipH="1">
              <a:off x="9958325" y="1568154"/>
              <a:ext cx="358839" cy="107393"/>
            </a:xfrm>
            <a:prstGeom prst="roundRect">
              <a:avLst>
                <a:gd name="adj" fmla="val 43099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A22CD0BC-B38F-EAB9-1662-E8974A393956}"/>
                </a:ext>
              </a:extLst>
            </p:cNvPr>
            <p:cNvSpPr/>
            <p:nvPr userDrawn="1"/>
          </p:nvSpPr>
          <p:spPr>
            <a:xfrm rot="4506704" flipH="1">
              <a:off x="9985282" y="1378492"/>
              <a:ext cx="464231" cy="107393"/>
            </a:xfrm>
            <a:prstGeom prst="roundRect">
              <a:avLst>
                <a:gd name="adj" fmla="val 50000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4A5B8AFF-1462-C09E-526A-01C1EF6A27BF}"/>
                </a:ext>
              </a:extLst>
            </p:cNvPr>
            <p:cNvSpPr/>
            <p:nvPr userDrawn="1"/>
          </p:nvSpPr>
          <p:spPr>
            <a:xfrm rot="17142116">
              <a:off x="9285907" y="1386473"/>
              <a:ext cx="447973" cy="107393"/>
            </a:xfrm>
            <a:prstGeom prst="roundRect">
              <a:avLst>
                <a:gd name="adj" fmla="val 49751"/>
              </a:avLst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1E327536-D68A-677A-9C59-B2F87215F482}"/>
                </a:ext>
              </a:extLst>
            </p:cNvPr>
            <p:cNvSpPr/>
            <p:nvPr userDrawn="1"/>
          </p:nvSpPr>
          <p:spPr>
            <a:xfrm>
              <a:off x="8225540" y="182176"/>
              <a:ext cx="976417" cy="355633"/>
            </a:xfrm>
            <a:prstGeom prst="roundRect">
              <a:avLst/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4437FD44-BC56-6D38-BDF7-4B95F0F58D41}"/>
                </a:ext>
              </a:extLst>
            </p:cNvPr>
            <p:cNvSpPr/>
            <p:nvPr userDrawn="1"/>
          </p:nvSpPr>
          <p:spPr>
            <a:xfrm>
              <a:off x="8225541" y="1310440"/>
              <a:ext cx="1287590" cy="355633"/>
            </a:xfrm>
            <a:prstGeom prst="roundRect">
              <a:avLst/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901FAF00-B3B6-32CC-742D-42EABD4FD45C}"/>
                </a:ext>
              </a:extLst>
            </p:cNvPr>
            <p:cNvSpPr/>
            <p:nvPr userDrawn="1"/>
          </p:nvSpPr>
          <p:spPr>
            <a:xfrm>
              <a:off x="8210345" y="186675"/>
              <a:ext cx="360000" cy="1473398"/>
            </a:xfrm>
            <a:prstGeom prst="roundRect">
              <a:avLst/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3" name="사각형: 둥근 모서리 48">
              <a:extLst>
                <a:ext uri="{FF2B5EF4-FFF2-40B4-BE49-F238E27FC236}">
                  <a16:creationId xmlns:a16="http://schemas.microsoft.com/office/drawing/2014/main" id="{8FC12012-F3C1-1E96-C679-68B7DA64D4C2}"/>
                </a:ext>
              </a:extLst>
            </p:cNvPr>
            <p:cNvSpPr/>
            <p:nvPr userDrawn="1"/>
          </p:nvSpPr>
          <p:spPr>
            <a:xfrm rot="20700000">
              <a:off x="9757285" y="116467"/>
              <a:ext cx="365971" cy="1546595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7203 w 477152"/>
                <a:gd name="connsiteY0" fmla="*/ 202492 h 2313350"/>
                <a:gd name="connsiteX1" fmla="*/ 25429 w 477152"/>
                <a:gd name="connsiteY1" fmla="*/ 0 h 2313350"/>
                <a:gd name="connsiteX2" fmla="*/ 337626 w 477152"/>
                <a:gd name="connsiteY2" fmla="*/ 122559 h 2313350"/>
                <a:gd name="connsiteX3" fmla="*/ 477152 w 477152"/>
                <a:gd name="connsiteY3" fmla="*/ 202492 h 2313350"/>
                <a:gd name="connsiteX4" fmla="*/ 477152 w 477152"/>
                <a:gd name="connsiteY4" fmla="*/ 2235024 h 2313350"/>
                <a:gd name="connsiteX5" fmla="*/ 398826 w 477152"/>
                <a:gd name="connsiteY5" fmla="*/ 2313350 h 2313350"/>
                <a:gd name="connsiteX6" fmla="*/ 85529 w 477152"/>
                <a:gd name="connsiteY6" fmla="*/ 2313350 h 2313350"/>
                <a:gd name="connsiteX7" fmla="*/ 7203 w 477152"/>
                <a:gd name="connsiteY7" fmla="*/ 2235024 h 2313350"/>
                <a:gd name="connsiteX8" fmla="*/ 7203 w 477152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-1 w 469948"/>
                <a:gd name="connsiteY0" fmla="*/ 174286 h 2285144"/>
                <a:gd name="connsiteX1" fmla="*/ 49782 w 469948"/>
                <a:gd name="connsiteY1" fmla="*/ 1 h 2285144"/>
                <a:gd name="connsiteX2" fmla="*/ 334387 w 469948"/>
                <a:gd name="connsiteY2" fmla="*/ 77186 h 2285144"/>
                <a:gd name="connsiteX3" fmla="*/ 469948 w 469948"/>
                <a:gd name="connsiteY3" fmla="*/ 174286 h 2285144"/>
                <a:gd name="connsiteX4" fmla="*/ 469948 w 469948"/>
                <a:gd name="connsiteY4" fmla="*/ 2206818 h 2285144"/>
                <a:gd name="connsiteX5" fmla="*/ 391622 w 469948"/>
                <a:gd name="connsiteY5" fmla="*/ 2285144 h 2285144"/>
                <a:gd name="connsiteX6" fmla="*/ 78325 w 469948"/>
                <a:gd name="connsiteY6" fmla="*/ 2285144 h 2285144"/>
                <a:gd name="connsiteX7" fmla="*/ -1 w 469948"/>
                <a:gd name="connsiteY7" fmla="*/ 2206818 h 2285144"/>
                <a:gd name="connsiteX8" fmla="*/ -1 w 469948"/>
                <a:gd name="connsiteY8" fmla="*/ 174286 h 2285144"/>
                <a:gd name="connsiteX0" fmla="*/ 0 w 469949"/>
                <a:gd name="connsiteY0" fmla="*/ 174285 h 2285143"/>
                <a:gd name="connsiteX1" fmla="*/ 49783 w 469949"/>
                <a:gd name="connsiteY1" fmla="*/ 0 h 2285143"/>
                <a:gd name="connsiteX2" fmla="*/ 334388 w 469949"/>
                <a:gd name="connsiteY2" fmla="*/ 77185 h 2285143"/>
                <a:gd name="connsiteX3" fmla="*/ 469949 w 469949"/>
                <a:gd name="connsiteY3" fmla="*/ 174285 h 2285143"/>
                <a:gd name="connsiteX4" fmla="*/ 469949 w 469949"/>
                <a:gd name="connsiteY4" fmla="*/ 2206817 h 2285143"/>
                <a:gd name="connsiteX5" fmla="*/ 391623 w 469949"/>
                <a:gd name="connsiteY5" fmla="*/ 2285143 h 2285143"/>
                <a:gd name="connsiteX6" fmla="*/ 78326 w 469949"/>
                <a:gd name="connsiteY6" fmla="*/ 2285143 h 2285143"/>
                <a:gd name="connsiteX7" fmla="*/ 0 w 469949"/>
                <a:gd name="connsiteY7" fmla="*/ 2206817 h 2285143"/>
                <a:gd name="connsiteX8" fmla="*/ 0 w 469949"/>
                <a:gd name="connsiteY8" fmla="*/ 174285 h 2285143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5442 w 471003"/>
                <a:gd name="connsiteY2" fmla="*/ 100792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4861 w 471003"/>
                <a:gd name="connsiteY2" fmla="*/ 89571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1003" h="2308750">
                  <a:moveTo>
                    <a:pt x="1054" y="197892"/>
                  </a:moveTo>
                  <a:cubicBezTo>
                    <a:pt x="1054" y="154634"/>
                    <a:pt x="-9176" y="0"/>
                    <a:pt x="34082" y="0"/>
                  </a:cubicBezTo>
                  <a:cubicBezTo>
                    <a:pt x="252569" y="55222"/>
                    <a:pt x="180322" y="46561"/>
                    <a:pt x="334861" y="89571"/>
                  </a:cubicBezTo>
                  <a:cubicBezTo>
                    <a:pt x="454403" y="123843"/>
                    <a:pt x="471003" y="154634"/>
                    <a:pt x="471003" y="197892"/>
                  </a:cubicBezTo>
                  <a:lnTo>
                    <a:pt x="471003" y="2230424"/>
                  </a:lnTo>
                  <a:cubicBezTo>
                    <a:pt x="471003" y="2273682"/>
                    <a:pt x="435935" y="2308750"/>
                    <a:pt x="392677" y="2308750"/>
                  </a:cubicBezTo>
                  <a:lnTo>
                    <a:pt x="79380" y="2308750"/>
                  </a:lnTo>
                  <a:cubicBezTo>
                    <a:pt x="36122" y="2308750"/>
                    <a:pt x="1054" y="2273682"/>
                    <a:pt x="1054" y="2230424"/>
                  </a:cubicBezTo>
                  <a:lnTo>
                    <a:pt x="1054" y="197892"/>
                  </a:lnTo>
                  <a:close/>
                </a:path>
              </a:pathLst>
            </a:cu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E85CAABF-CB4B-2B7D-A895-75F478F9E0A3}"/>
                </a:ext>
              </a:extLst>
            </p:cNvPr>
            <p:cNvSpPr/>
            <p:nvPr userDrawn="1"/>
          </p:nvSpPr>
          <p:spPr>
            <a:xfrm rot="4506704" flipH="1">
              <a:off x="9456291" y="360823"/>
              <a:ext cx="464231" cy="107393"/>
            </a:xfrm>
            <a:prstGeom prst="roundRect">
              <a:avLst>
                <a:gd name="adj" fmla="val 32586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977AD124-2D48-82D1-BF1E-379401F23CBF}"/>
                </a:ext>
              </a:extLst>
            </p:cNvPr>
            <p:cNvSpPr/>
            <p:nvPr userDrawn="1"/>
          </p:nvSpPr>
          <p:spPr>
            <a:xfrm flipH="1">
              <a:off x="9586770" y="180267"/>
              <a:ext cx="351774" cy="60140"/>
            </a:xfrm>
            <a:prstGeom prst="roundRect">
              <a:avLst>
                <a:gd name="adj" fmla="val 32586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935C0909-CA27-0C56-8530-67186FB3D7CC}"/>
                </a:ext>
              </a:extLst>
            </p:cNvPr>
            <p:cNvSpPr/>
            <p:nvPr userDrawn="1"/>
          </p:nvSpPr>
          <p:spPr>
            <a:xfrm>
              <a:off x="6347129" y="186675"/>
              <a:ext cx="408152" cy="183858"/>
            </a:xfrm>
            <a:prstGeom prst="roundRect">
              <a:avLst>
                <a:gd name="adj" fmla="val 23143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E9BDEEAD-DED1-28AC-8118-7CB4F7F9A7B3}"/>
                </a:ext>
              </a:extLst>
            </p:cNvPr>
            <p:cNvSpPr/>
            <p:nvPr userDrawn="1"/>
          </p:nvSpPr>
          <p:spPr>
            <a:xfrm flipH="1">
              <a:off x="6766153" y="1568154"/>
              <a:ext cx="358839" cy="107393"/>
            </a:xfrm>
            <a:prstGeom prst="roundRect">
              <a:avLst>
                <a:gd name="adj" fmla="val 43099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A120A2F1-9E2F-DE3C-9C0D-767223CCDCC3}"/>
                </a:ext>
              </a:extLst>
            </p:cNvPr>
            <p:cNvSpPr/>
            <p:nvPr userDrawn="1"/>
          </p:nvSpPr>
          <p:spPr>
            <a:xfrm rot="4506704" flipH="1">
              <a:off x="6793110" y="1378492"/>
              <a:ext cx="464231" cy="107393"/>
            </a:xfrm>
            <a:prstGeom prst="roundRect">
              <a:avLst>
                <a:gd name="adj" fmla="val 50000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9" name="사각형: 둥근 모서리 48">
              <a:extLst>
                <a:ext uri="{FF2B5EF4-FFF2-40B4-BE49-F238E27FC236}">
                  <a16:creationId xmlns:a16="http://schemas.microsoft.com/office/drawing/2014/main" id="{9C708ECA-1A72-51DA-2BCE-82E60DF885CF}"/>
                </a:ext>
              </a:extLst>
            </p:cNvPr>
            <p:cNvSpPr/>
            <p:nvPr userDrawn="1"/>
          </p:nvSpPr>
          <p:spPr>
            <a:xfrm rot="20700000">
              <a:off x="6565113" y="116467"/>
              <a:ext cx="365971" cy="1546595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7203 w 477152"/>
                <a:gd name="connsiteY0" fmla="*/ 202492 h 2313350"/>
                <a:gd name="connsiteX1" fmla="*/ 25429 w 477152"/>
                <a:gd name="connsiteY1" fmla="*/ 0 h 2313350"/>
                <a:gd name="connsiteX2" fmla="*/ 337626 w 477152"/>
                <a:gd name="connsiteY2" fmla="*/ 122559 h 2313350"/>
                <a:gd name="connsiteX3" fmla="*/ 477152 w 477152"/>
                <a:gd name="connsiteY3" fmla="*/ 202492 h 2313350"/>
                <a:gd name="connsiteX4" fmla="*/ 477152 w 477152"/>
                <a:gd name="connsiteY4" fmla="*/ 2235024 h 2313350"/>
                <a:gd name="connsiteX5" fmla="*/ 398826 w 477152"/>
                <a:gd name="connsiteY5" fmla="*/ 2313350 h 2313350"/>
                <a:gd name="connsiteX6" fmla="*/ 85529 w 477152"/>
                <a:gd name="connsiteY6" fmla="*/ 2313350 h 2313350"/>
                <a:gd name="connsiteX7" fmla="*/ 7203 w 477152"/>
                <a:gd name="connsiteY7" fmla="*/ 2235024 h 2313350"/>
                <a:gd name="connsiteX8" fmla="*/ 7203 w 477152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-1 w 469948"/>
                <a:gd name="connsiteY0" fmla="*/ 174286 h 2285144"/>
                <a:gd name="connsiteX1" fmla="*/ 49782 w 469948"/>
                <a:gd name="connsiteY1" fmla="*/ 1 h 2285144"/>
                <a:gd name="connsiteX2" fmla="*/ 334387 w 469948"/>
                <a:gd name="connsiteY2" fmla="*/ 77186 h 2285144"/>
                <a:gd name="connsiteX3" fmla="*/ 469948 w 469948"/>
                <a:gd name="connsiteY3" fmla="*/ 174286 h 2285144"/>
                <a:gd name="connsiteX4" fmla="*/ 469948 w 469948"/>
                <a:gd name="connsiteY4" fmla="*/ 2206818 h 2285144"/>
                <a:gd name="connsiteX5" fmla="*/ 391622 w 469948"/>
                <a:gd name="connsiteY5" fmla="*/ 2285144 h 2285144"/>
                <a:gd name="connsiteX6" fmla="*/ 78325 w 469948"/>
                <a:gd name="connsiteY6" fmla="*/ 2285144 h 2285144"/>
                <a:gd name="connsiteX7" fmla="*/ -1 w 469948"/>
                <a:gd name="connsiteY7" fmla="*/ 2206818 h 2285144"/>
                <a:gd name="connsiteX8" fmla="*/ -1 w 469948"/>
                <a:gd name="connsiteY8" fmla="*/ 174286 h 2285144"/>
                <a:gd name="connsiteX0" fmla="*/ 0 w 469949"/>
                <a:gd name="connsiteY0" fmla="*/ 174285 h 2285143"/>
                <a:gd name="connsiteX1" fmla="*/ 49783 w 469949"/>
                <a:gd name="connsiteY1" fmla="*/ 0 h 2285143"/>
                <a:gd name="connsiteX2" fmla="*/ 334388 w 469949"/>
                <a:gd name="connsiteY2" fmla="*/ 77185 h 2285143"/>
                <a:gd name="connsiteX3" fmla="*/ 469949 w 469949"/>
                <a:gd name="connsiteY3" fmla="*/ 174285 h 2285143"/>
                <a:gd name="connsiteX4" fmla="*/ 469949 w 469949"/>
                <a:gd name="connsiteY4" fmla="*/ 2206817 h 2285143"/>
                <a:gd name="connsiteX5" fmla="*/ 391623 w 469949"/>
                <a:gd name="connsiteY5" fmla="*/ 2285143 h 2285143"/>
                <a:gd name="connsiteX6" fmla="*/ 78326 w 469949"/>
                <a:gd name="connsiteY6" fmla="*/ 2285143 h 2285143"/>
                <a:gd name="connsiteX7" fmla="*/ 0 w 469949"/>
                <a:gd name="connsiteY7" fmla="*/ 2206817 h 2285143"/>
                <a:gd name="connsiteX8" fmla="*/ 0 w 469949"/>
                <a:gd name="connsiteY8" fmla="*/ 174285 h 2285143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5442 w 471003"/>
                <a:gd name="connsiteY2" fmla="*/ 100792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4861 w 471003"/>
                <a:gd name="connsiteY2" fmla="*/ 89571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1003" h="2308750">
                  <a:moveTo>
                    <a:pt x="1054" y="197892"/>
                  </a:moveTo>
                  <a:cubicBezTo>
                    <a:pt x="1054" y="154634"/>
                    <a:pt x="-9176" y="0"/>
                    <a:pt x="34082" y="0"/>
                  </a:cubicBezTo>
                  <a:cubicBezTo>
                    <a:pt x="252569" y="55222"/>
                    <a:pt x="180322" y="46561"/>
                    <a:pt x="334861" y="89571"/>
                  </a:cubicBezTo>
                  <a:cubicBezTo>
                    <a:pt x="454403" y="123843"/>
                    <a:pt x="471003" y="154634"/>
                    <a:pt x="471003" y="197892"/>
                  </a:cubicBezTo>
                  <a:lnTo>
                    <a:pt x="471003" y="2230424"/>
                  </a:lnTo>
                  <a:cubicBezTo>
                    <a:pt x="471003" y="2273682"/>
                    <a:pt x="435935" y="2308750"/>
                    <a:pt x="392677" y="2308750"/>
                  </a:cubicBezTo>
                  <a:lnTo>
                    <a:pt x="79380" y="2308750"/>
                  </a:lnTo>
                  <a:cubicBezTo>
                    <a:pt x="36122" y="2308750"/>
                    <a:pt x="1054" y="2273682"/>
                    <a:pt x="1054" y="2230424"/>
                  </a:cubicBezTo>
                  <a:lnTo>
                    <a:pt x="1054" y="197892"/>
                  </a:lnTo>
                  <a:close/>
                </a:path>
              </a:pathLst>
            </a:cu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02233A34-DD1A-0CFF-EE55-E7D78EE182A5}"/>
                </a:ext>
              </a:extLst>
            </p:cNvPr>
            <p:cNvSpPr/>
            <p:nvPr userDrawn="1"/>
          </p:nvSpPr>
          <p:spPr>
            <a:xfrm rot="4506704" flipH="1">
              <a:off x="6264119" y="360823"/>
              <a:ext cx="464231" cy="107393"/>
            </a:xfrm>
            <a:prstGeom prst="roundRect">
              <a:avLst>
                <a:gd name="adj" fmla="val 32586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14AC34DC-FFAD-AE9B-6155-5A249659B17A}"/>
                </a:ext>
              </a:extLst>
            </p:cNvPr>
            <p:cNvSpPr/>
            <p:nvPr userDrawn="1"/>
          </p:nvSpPr>
          <p:spPr>
            <a:xfrm flipH="1">
              <a:off x="6394598" y="180267"/>
              <a:ext cx="351774" cy="60140"/>
            </a:xfrm>
            <a:prstGeom prst="roundRect">
              <a:avLst>
                <a:gd name="adj" fmla="val 32586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276A3FC-BAB7-29FF-28AD-B77DB9D0D8E8}"/>
              </a:ext>
            </a:extLst>
          </p:cNvPr>
          <p:cNvGrpSpPr/>
          <p:nvPr userDrawn="1"/>
        </p:nvGrpSpPr>
        <p:grpSpPr>
          <a:xfrm>
            <a:off x="9608429" y="6377262"/>
            <a:ext cx="2549704" cy="447351"/>
            <a:chOff x="2347257" y="6113745"/>
            <a:chExt cx="2549704" cy="447351"/>
          </a:xfrm>
        </p:grpSpPr>
        <p:pic>
          <p:nvPicPr>
            <p:cNvPr id="33" name="그림 32" descr="로고, 그래픽, 그래픽 디자인, 스크린샷이(가) 표시된 사진&#10;&#10;자동 생성된 설명">
              <a:extLst>
                <a:ext uri="{FF2B5EF4-FFF2-40B4-BE49-F238E27FC236}">
                  <a16:creationId xmlns:a16="http://schemas.microsoft.com/office/drawing/2014/main" id="{307824EB-7201-2EC4-BDA2-3CA8ECC4C4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47257" y="6113745"/>
              <a:ext cx="1016707" cy="447351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724357C-B669-4A76-895B-80CA83451CEE}"/>
                </a:ext>
              </a:extLst>
            </p:cNvPr>
            <p:cNvSpPr txBox="1"/>
            <p:nvPr userDrawn="1"/>
          </p:nvSpPr>
          <p:spPr>
            <a:xfrm>
              <a:off x="3356155" y="6113745"/>
              <a:ext cx="1540806" cy="37452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ts val="1100"/>
                </a:lnSpc>
              </a:pPr>
              <a:r>
                <a:rPr lang="en-US" sz="1200" b="1" dirty="0">
                  <a:solidFill>
                    <a:srgbClr val="5A5B5E"/>
                  </a:solidFill>
                  <a:latin typeface="Trebuchet MS" panose="020B0703020202090204" pitchFamily="34" charset="0"/>
                  <a:ea typeface="Baskerville" panose="02020502070401020303" pitchFamily="18" charset="0"/>
                </a:rPr>
                <a:t>School of Software</a:t>
              </a:r>
            </a:p>
            <a:p>
              <a:pPr algn="ctr">
                <a:lnSpc>
                  <a:spcPts val="1100"/>
                </a:lnSpc>
              </a:pPr>
              <a:r>
                <a:rPr lang="en-US" sz="1200" b="1" dirty="0" err="1">
                  <a:solidFill>
                    <a:srgbClr val="1DA1C6"/>
                  </a:solidFill>
                  <a:latin typeface="Trebuchet MS" panose="020B0703020202090204" pitchFamily="34" charset="0"/>
                  <a:ea typeface="Baskerville" panose="02020502070401020303" pitchFamily="18" charset="0"/>
                </a:rPr>
                <a:t>Soongsil</a:t>
              </a:r>
              <a:r>
                <a:rPr lang="en-US" sz="1200" b="1" dirty="0">
                  <a:solidFill>
                    <a:srgbClr val="1DA1C6"/>
                  </a:solidFill>
                  <a:latin typeface="Trebuchet MS" panose="020B0703020202090204" pitchFamily="34" charset="0"/>
                  <a:ea typeface="Baskerville" panose="02020502070401020303" pitchFamily="18" charset="0"/>
                </a:rPr>
                <a:t> University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52379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24001" y="2376766"/>
            <a:ext cx="9144000" cy="855184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400" b="1">
                <a:solidFill>
                  <a:srgbClr val="2D3F4E"/>
                </a:solidFill>
                <a:latin typeface="Trebuchet MS" panose="020B070302020209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1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rgbClr val="2D3F4E"/>
                </a:solidFill>
                <a:latin typeface="Trebuchet MS" panose="020B0703020202090204" pitchFamily="34" charset="0"/>
              </a:defRPr>
            </a:lvl1pPr>
            <a:lvl2pPr marL="457202" indent="0" algn="ctr">
              <a:buNone/>
              <a:defRPr sz="2000"/>
            </a:lvl2pPr>
            <a:lvl3pPr marL="914404" indent="0" algn="ctr">
              <a:buNone/>
              <a:defRPr sz="1800"/>
            </a:lvl3pPr>
            <a:lvl4pPr marL="1371605" indent="0" algn="ctr">
              <a:buNone/>
              <a:defRPr sz="1600"/>
            </a:lvl4pPr>
            <a:lvl5pPr marL="1828807" indent="0" algn="ctr">
              <a:buNone/>
              <a:defRPr sz="1600"/>
            </a:lvl5pPr>
            <a:lvl6pPr marL="2286009" indent="0" algn="ctr">
              <a:buNone/>
              <a:defRPr sz="1600"/>
            </a:lvl6pPr>
            <a:lvl7pPr marL="2743211" indent="0" algn="ctr">
              <a:buNone/>
              <a:defRPr sz="1600"/>
            </a:lvl7pPr>
            <a:lvl8pPr marL="3200413" indent="0" algn="ctr">
              <a:buNone/>
              <a:defRPr sz="1600"/>
            </a:lvl8pPr>
            <a:lvl9pPr marL="3657615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부제목 2">
            <a:extLst>
              <a:ext uri="{FF2B5EF4-FFF2-40B4-BE49-F238E27FC236}">
                <a16:creationId xmlns:a16="http://schemas.microsoft.com/office/drawing/2014/main" id="{EB3B124F-36C4-94D5-C22F-6D439133A7B4}"/>
              </a:ext>
            </a:extLst>
          </p:cNvPr>
          <p:cNvSpPr txBox="1">
            <a:spLocks/>
          </p:cNvSpPr>
          <p:nvPr userDrawn="1"/>
        </p:nvSpPr>
        <p:spPr>
          <a:xfrm>
            <a:off x="3787205" y="5728639"/>
            <a:ext cx="4617590" cy="3726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703020202090204" pitchFamily="34" charset="0"/>
                <a:ea typeface="Baskerville" panose="02020502070401020303" pitchFamily="18" charset="0"/>
              </a:rPr>
              <a:t>Advanced Intelligent Computing Architecture Lab.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Trebuchet MS" panose="020B0603020202020204" pitchFamily="34" charset="0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4BDBBFFA-AC6B-4DE0-F991-D9DA483B3EE6}"/>
              </a:ext>
            </a:extLst>
          </p:cNvPr>
          <p:cNvGrpSpPr/>
          <p:nvPr userDrawn="1"/>
        </p:nvGrpSpPr>
        <p:grpSpPr>
          <a:xfrm>
            <a:off x="5196905" y="4977344"/>
            <a:ext cx="1798190" cy="646162"/>
            <a:chOff x="5976117" y="116467"/>
            <a:chExt cx="4341047" cy="1559914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7D01C0DA-7E19-0F85-F60D-470CBEC2E8C3}"/>
                </a:ext>
              </a:extLst>
            </p:cNvPr>
            <p:cNvSpPr/>
            <p:nvPr userDrawn="1"/>
          </p:nvSpPr>
          <p:spPr>
            <a:xfrm>
              <a:off x="7547660" y="613810"/>
              <a:ext cx="360000" cy="1046263"/>
            </a:xfrm>
            <a:prstGeom prst="roundRect">
              <a:avLst/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ED4AC07B-F602-BF95-CE22-697B01DEE9B4}"/>
                </a:ext>
              </a:extLst>
            </p:cNvPr>
            <p:cNvSpPr/>
            <p:nvPr userDrawn="1"/>
          </p:nvSpPr>
          <p:spPr>
            <a:xfrm>
              <a:off x="6776499" y="1312781"/>
              <a:ext cx="1131162" cy="363600"/>
            </a:xfrm>
            <a:prstGeom prst="roundRect">
              <a:avLst/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8" name="사각형: 둥근 모서리 34">
              <a:extLst>
                <a:ext uri="{FF2B5EF4-FFF2-40B4-BE49-F238E27FC236}">
                  <a16:creationId xmlns:a16="http://schemas.microsoft.com/office/drawing/2014/main" id="{6FDA9D2B-21BB-4F37-E3AB-497C69ED2087}"/>
                </a:ext>
              </a:extLst>
            </p:cNvPr>
            <p:cNvSpPr/>
            <p:nvPr userDrawn="1"/>
          </p:nvSpPr>
          <p:spPr>
            <a:xfrm rot="923841">
              <a:off x="6171723" y="144498"/>
              <a:ext cx="372850" cy="1492452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0 w 470074"/>
                <a:gd name="connsiteY0" fmla="*/ 168229 h 2279087"/>
                <a:gd name="connsiteX1" fmla="*/ 78326 w 470074"/>
                <a:gd name="connsiteY1" fmla="*/ 89903 h 2279087"/>
                <a:gd name="connsiteX2" fmla="*/ 431082 w 470074"/>
                <a:gd name="connsiteY2" fmla="*/ 0 h 2279087"/>
                <a:gd name="connsiteX3" fmla="*/ 469949 w 470074"/>
                <a:gd name="connsiteY3" fmla="*/ 168229 h 2279087"/>
                <a:gd name="connsiteX4" fmla="*/ 469949 w 470074"/>
                <a:gd name="connsiteY4" fmla="*/ 2200761 h 2279087"/>
                <a:gd name="connsiteX5" fmla="*/ 391623 w 470074"/>
                <a:gd name="connsiteY5" fmla="*/ 2279087 h 2279087"/>
                <a:gd name="connsiteX6" fmla="*/ 78326 w 470074"/>
                <a:gd name="connsiteY6" fmla="*/ 2279087 h 2279087"/>
                <a:gd name="connsiteX7" fmla="*/ 0 w 470074"/>
                <a:gd name="connsiteY7" fmla="*/ 2200761 h 2279087"/>
                <a:gd name="connsiteX8" fmla="*/ 0 w 470074"/>
                <a:gd name="connsiteY8" fmla="*/ 168229 h 2279087"/>
                <a:gd name="connsiteX0" fmla="*/ 0 w 473939"/>
                <a:gd name="connsiteY0" fmla="*/ 152392 h 2263250"/>
                <a:gd name="connsiteX1" fmla="*/ 78326 w 473939"/>
                <a:gd name="connsiteY1" fmla="*/ 74066 h 2263250"/>
                <a:gd name="connsiteX2" fmla="*/ 445323 w 473939"/>
                <a:gd name="connsiteY2" fmla="*/ 0 h 2263250"/>
                <a:gd name="connsiteX3" fmla="*/ 469949 w 473939"/>
                <a:gd name="connsiteY3" fmla="*/ 152392 h 2263250"/>
                <a:gd name="connsiteX4" fmla="*/ 469949 w 473939"/>
                <a:gd name="connsiteY4" fmla="*/ 2184924 h 2263250"/>
                <a:gd name="connsiteX5" fmla="*/ 391623 w 473939"/>
                <a:gd name="connsiteY5" fmla="*/ 2263250 h 2263250"/>
                <a:gd name="connsiteX6" fmla="*/ 78326 w 473939"/>
                <a:gd name="connsiteY6" fmla="*/ 2263250 h 2263250"/>
                <a:gd name="connsiteX7" fmla="*/ 0 w 473939"/>
                <a:gd name="connsiteY7" fmla="*/ 2184924 h 2263250"/>
                <a:gd name="connsiteX8" fmla="*/ 0 w 473939"/>
                <a:gd name="connsiteY8" fmla="*/ 152392 h 2263250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9858" h="2286042">
                  <a:moveTo>
                    <a:pt x="0" y="175184"/>
                  </a:moveTo>
                  <a:cubicBezTo>
                    <a:pt x="0" y="131926"/>
                    <a:pt x="35068" y="96858"/>
                    <a:pt x="78326" y="96858"/>
                  </a:cubicBezTo>
                  <a:cubicBezTo>
                    <a:pt x="394302" y="4021"/>
                    <a:pt x="351903" y="0"/>
                    <a:pt x="456335" y="0"/>
                  </a:cubicBezTo>
                  <a:cubicBezTo>
                    <a:pt x="499593" y="0"/>
                    <a:pt x="469949" y="131926"/>
                    <a:pt x="469949" y="175184"/>
                  </a:cubicBezTo>
                  <a:lnTo>
                    <a:pt x="469949" y="2207716"/>
                  </a:lnTo>
                  <a:cubicBezTo>
                    <a:pt x="469949" y="2250974"/>
                    <a:pt x="434881" y="2286042"/>
                    <a:pt x="391623" y="2286042"/>
                  </a:cubicBezTo>
                  <a:lnTo>
                    <a:pt x="78326" y="2286042"/>
                  </a:lnTo>
                  <a:cubicBezTo>
                    <a:pt x="35068" y="2286042"/>
                    <a:pt x="0" y="2250974"/>
                    <a:pt x="0" y="2207716"/>
                  </a:cubicBezTo>
                  <a:lnTo>
                    <a:pt x="0" y="175184"/>
                  </a:lnTo>
                  <a:close/>
                </a:path>
              </a:pathLst>
            </a:cu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E135C6C3-D988-0443-168B-FABB6CAB15AB}"/>
                </a:ext>
              </a:extLst>
            </p:cNvPr>
            <p:cNvSpPr/>
            <p:nvPr userDrawn="1"/>
          </p:nvSpPr>
          <p:spPr>
            <a:xfrm>
              <a:off x="5976117" y="1562385"/>
              <a:ext cx="367024" cy="107393"/>
            </a:xfrm>
            <a:prstGeom prst="roundRect">
              <a:avLst>
                <a:gd name="adj" fmla="val 49751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6086E433-4747-0B2B-6F82-1F92A460E912}"/>
                </a:ext>
              </a:extLst>
            </p:cNvPr>
            <p:cNvSpPr/>
            <p:nvPr userDrawn="1"/>
          </p:nvSpPr>
          <p:spPr>
            <a:xfrm rot="17142116">
              <a:off x="5845212" y="1386473"/>
              <a:ext cx="447973" cy="107393"/>
            </a:xfrm>
            <a:prstGeom prst="roundRect">
              <a:avLst>
                <a:gd name="adj" fmla="val 49751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E9F9AE10-6C32-FE3C-D6FF-0F343E1757E3}"/>
                </a:ext>
              </a:extLst>
            </p:cNvPr>
            <p:cNvSpPr/>
            <p:nvPr userDrawn="1"/>
          </p:nvSpPr>
          <p:spPr>
            <a:xfrm>
              <a:off x="7547660" y="189796"/>
              <a:ext cx="360000" cy="355633"/>
            </a:xfrm>
            <a:prstGeom prst="roundRect">
              <a:avLst/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2" name="사각형: 둥근 모서리 34">
              <a:extLst>
                <a:ext uri="{FF2B5EF4-FFF2-40B4-BE49-F238E27FC236}">
                  <a16:creationId xmlns:a16="http://schemas.microsoft.com/office/drawing/2014/main" id="{5C706ED6-9017-234E-8BAB-E84A527A4F3C}"/>
                </a:ext>
              </a:extLst>
            </p:cNvPr>
            <p:cNvSpPr/>
            <p:nvPr userDrawn="1"/>
          </p:nvSpPr>
          <p:spPr>
            <a:xfrm rot="923841">
              <a:off x="9359767" y="144498"/>
              <a:ext cx="372850" cy="1492452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0 w 470074"/>
                <a:gd name="connsiteY0" fmla="*/ 168229 h 2279087"/>
                <a:gd name="connsiteX1" fmla="*/ 78326 w 470074"/>
                <a:gd name="connsiteY1" fmla="*/ 89903 h 2279087"/>
                <a:gd name="connsiteX2" fmla="*/ 431082 w 470074"/>
                <a:gd name="connsiteY2" fmla="*/ 0 h 2279087"/>
                <a:gd name="connsiteX3" fmla="*/ 469949 w 470074"/>
                <a:gd name="connsiteY3" fmla="*/ 168229 h 2279087"/>
                <a:gd name="connsiteX4" fmla="*/ 469949 w 470074"/>
                <a:gd name="connsiteY4" fmla="*/ 2200761 h 2279087"/>
                <a:gd name="connsiteX5" fmla="*/ 391623 w 470074"/>
                <a:gd name="connsiteY5" fmla="*/ 2279087 h 2279087"/>
                <a:gd name="connsiteX6" fmla="*/ 78326 w 470074"/>
                <a:gd name="connsiteY6" fmla="*/ 2279087 h 2279087"/>
                <a:gd name="connsiteX7" fmla="*/ 0 w 470074"/>
                <a:gd name="connsiteY7" fmla="*/ 2200761 h 2279087"/>
                <a:gd name="connsiteX8" fmla="*/ 0 w 470074"/>
                <a:gd name="connsiteY8" fmla="*/ 168229 h 2279087"/>
                <a:gd name="connsiteX0" fmla="*/ 0 w 473939"/>
                <a:gd name="connsiteY0" fmla="*/ 152392 h 2263250"/>
                <a:gd name="connsiteX1" fmla="*/ 78326 w 473939"/>
                <a:gd name="connsiteY1" fmla="*/ 74066 h 2263250"/>
                <a:gd name="connsiteX2" fmla="*/ 445323 w 473939"/>
                <a:gd name="connsiteY2" fmla="*/ 0 h 2263250"/>
                <a:gd name="connsiteX3" fmla="*/ 469949 w 473939"/>
                <a:gd name="connsiteY3" fmla="*/ 152392 h 2263250"/>
                <a:gd name="connsiteX4" fmla="*/ 469949 w 473939"/>
                <a:gd name="connsiteY4" fmla="*/ 2184924 h 2263250"/>
                <a:gd name="connsiteX5" fmla="*/ 391623 w 473939"/>
                <a:gd name="connsiteY5" fmla="*/ 2263250 h 2263250"/>
                <a:gd name="connsiteX6" fmla="*/ 78326 w 473939"/>
                <a:gd name="connsiteY6" fmla="*/ 2263250 h 2263250"/>
                <a:gd name="connsiteX7" fmla="*/ 0 w 473939"/>
                <a:gd name="connsiteY7" fmla="*/ 2184924 h 2263250"/>
                <a:gd name="connsiteX8" fmla="*/ 0 w 473939"/>
                <a:gd name="connsiteY8" fmla="*/ 152392 h 2263250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9858" h="2286042">
                  <a:moveTo>
                    <a:pt x="0" y="175184"/>
                  </a:moveTo>
                  <a:cubicBezTo>
                    <a:pt x="0" y="131926"/>
                    <a:pt x="35068" y="96858"/>
                    <a:pt x="78326" y="96858"/>
                  </a:cubicBezTo>
                  <a:cubicBezTo>
                    <a:pt x="394302" y="4021"/>
                    <a:pt x="351903" y="0"/>
                    <a:pt x="456335" y="0"/>
                  </a:cubicBezTo>
                  <a:cubicBezTo>
                    <a:pt x="499593" y="0"/>
                    <a:pt x="469949" y="131926"/>
                    <a:pt x="469949" y="175184"/>
                  </a:cubicBezTo>
                  <a:lnTo>
                    <a:pt x="469949" y="2207716"/>
                  </a:lnTo>
                  <a:cubicBezTo>
                    <a:pt x="469949" y="2250974"/>
                    <a:pt x="434881" y="2286042"/>
                    <a:pt x="391623" y="2286042"/>
                  </a:cubicBezTo>
                  <a:lnTo>
                    <a:pt x="78326" y="2286042"/>
                  </a:lnTo>
                  <a:cubicBezTo>
                    <a:pt x="35068" y="2286042"/>
                    <a:pt x="0" y="2250974"/>
                    <a:pt x="0" y="2207716"/>
                  </a:cubicBezTo>
                  <a:lnTo>
                    <a:pt x="0" y="175184"/>
                  </a:lnTo>
                  <a:close/>
                </a:path>
              </a:pathLst>
            </a:cu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A7E79BBD-9AB2-7ACC-C325-DE0F17968F3D}"/>
                </a:ext>
              </a:extLst>
            </p:cNvPr>
            <p:cNvSpPr/>
            <p:nvPr userDrawn="1"/>
          </p:nvSpPr>
          <p:spPr>
            <a:xfrm>
              <a:off x="9539301" y="186675"/>
              <a:ext cx="408152" cy="183858"/>
            </a:xfrm>
            <a:prstGeom prst="roundRect">
              <a:avLst>
                <a:gd name="adj" fmla="val 23143"/>
              </a:avLst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3E740AB6-D3B7-E380-7325-A8FCB7E27C43}"/>
                </a:ext>
              </a:extLst>
            </p:cNvPr>
            <p:cNvSpPr/>
            <p:nvPr userDrawn="1"/>
          </p:nvSpPr>
          <p:spPr>
            <a:xfrm flipH="1">
              <a:off x="9958325" y="1568154"/>
              <a:ext cx="358839" cy="107393"/>
            </a:xfrm>
            <a:prstGeom prst="roundRect">
              <a:avLst>
                <a:gd name="adj" fmla="val 43099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58020E3B-C01B-8C60-4008-5C3AE090F73D}"/>
                </a:ext>
              </a:extLst>
            </p:cNvPr>
            <p:cNvSpPr/>
            <p:nvPr userDrawn="1"/>
          </p:nvSpPr>
          <p:spPr>
            <a:xfrm rot="4506704" flipH="1">
              <a:off x="9985282" y="1378492"/>
              <a:ext cx="464231" cy="107393"/>
            </a:xfrm>
            <a:prstGeom prst="roundRect">
              <a:avLst>
                <a:gd name="adj" fmla="val 50000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3ADDB6F6-1190-2E66-F4B9-5226221B81CE}"/>
                </a:ext>
              </a:extLst>
            </p:cNvPr>
            <p:cNvSpPr/>
            <p:nvPr userDrawn="1"/>
          </p:nvSpPr>
          <p:spPr>
            <a:xfrm rot="17142116">
              <a:off x="9285907" y="1386473"/>
              <a:ext cx="447973" cy="107393"/>
            </a:xfrm>
            <a:prstGeom prst="roundRect">
              <a:avLst>
                <a:gd name="adj" fmla="val 49751"/>
              </a:avLst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446A6345-87FD-6E5B-7ED2-F7B600F78F01}"/>
                </a:ext>
              </a:extLst>
            </p:cNvPr>
            <p:cNvSpPr/>
            <p:nvPr userDrawn="1"/>
          </p:nvSpPr>
          <p:spPr>
            <a:xfrm>
              <a:off x="8225540" y="182176"/>
              <a:ext cx="976417" cy="355633"/>
            </a:xfrm>
            <a:prstGeom prst="roundRect">
              <a:avLst/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95379B5F-0DF1-1253-1ED9-2A52BE662FB2}"/>
                </a:ext>
              </a:extLst>
            </p:cNvPr>
            <p:cNvSpPr/>
            <p:nvPr userDrawn="1"/>
          </p:nvSpPr>
          <p:spPr>
            <a:xfrm>
              <a:off x="8225541" y="1310440"/>
              <a:ext cx="1287590" cy="355633"/>
            </a:xfrm>
            <a:prstGeom prst="roundRect">
              <a:avLst/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981700A3-FD95-7923-E24A-DE44C3B1E20D}"/>
                </a:ext>
              </a:extLst>
            </p:cNvPr>
            <p:cNvSpPr/>
            <p:nvPr userDrawn="1"/>
          </p:nvSpPr>
          <p:spPr>
            <a:xfrm>
              <a:off x="8210345" y="186675"/>
              <a:ext cx="360000" cy="1473398"/>
            </a:xfrm>
            <a:prstGeom prst="roundRect">
              <a:avLst/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3" name="사각형: 둥근 모서리 48">
              <a:extLst>
                <a:ext uri="{FF2B5EF4-FFF2-40B4-BE49-F238E27FC236}">
                  <a16:creationId xmlns:a16="http://schemas.microsoft.com/office/drawing/2014/main" id="{498E65AD-3F00-17C7-D5FC-9360F0D8D83F}"/>
                </a:ext>
              </a:extLst>
            </p:cNvPr>
            <p:cNvSpPr/>
            <p:nvPr userDrawn="1"/>
          </p:nvSpPr>
          <p:spPr>
            <a:xfrm rot="20700000">
              <a:off x="9757285" y="116467"/>
              <a:ext cx="365971" cy="1546595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7203 w 477152"/>
                <a:gd name="connsiteY0" fmla="*/ 202492 h 2313350"/>
                <a:gd name="connsiteX1" fmla="*/ 25429 w 477152"/>
                <a:gd name="connsiteY1" fmla="*/ 0 h 2313350"/>
                <a:gd name="connsiteX2" fmla="*/ 337626 w 477152"/>
                <a:gd name="connsiteY2" fmla="*/ 122559 h 2313350"/>
                <a:gd name="connsiteX3" fmla="*/ 477152 w 477152"/>
                <a:gd name="connsiteY3" fmla="*/ 202492 h 2313350"/>
                <a:gd name="connsiteX4" fmla="*/ 477152 w 477152"/>
                <a:gd name="connsiteY4" fmla="*/ 2235024 h 2313350"/>
                <a:gd name="connsiteX5" fmla="*/ 398826 w 477152"/>
                <a:gd name="connsiteY5" fmla="*/ 2313350 h 2313350"/>
                <a:gd name="connsiteX6" fmla="*/ 85529 w 477152"/>
                <a:gd name="connsiteY6" fmla="*/ 2313350 h 2313350"/>
                <a:gd name="connsiteX7" fmla="*/ 7203 w 477152"/>
                <a:gd name="connsiteY7" fmla="*/ 2235024 h 2313350"/>
                <a:gd name="connsiteX8" fmla="*/ 7203 w 477152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-1 w 469948"/>
                <a:gd name="connsiteY0" fmla="*/ 174286 h 2285144"/>
                <a:gd name="connsiteX1" fmla="*/ 49782 w 469948"/>
                <a:gd name="connsiteY1" fmla="*/ 1 h 2285144"/>
                <a:gd name="connsiteX2" fmla="*/ 334387 w 469948"/>
                <a:gd name="connsiteY2" fmla="*/ 77186 h 2285144"/>
                <a:gd name="connsiteX3" fmla="*/ 469948 w 469948"/>
                <a:gd name="connsiteY3" fmla="*/ 174286 h 2285144"/>
                <a:gd name="connsiteX4" fmla="*/ 469948 w 469948"/>
                <a:gd name="connsiteY4" fmla="*/ 2206818 h 2285144"/>
                <a:gd name="connsiteX5" fmla="*/ 391622 w 469948"/>
                <a:gd name="connsiteY5" fmla="*/ 2285144 h 2285144"/>
                <a:gd name="connsiteX6" fmla="*/ 78325 w 469948"/>
                <a:gd name="connsiteY6" fmla="*/ 2285144 h 2285144"/>
                <a:gd name="connsiteX7" fmla="*/ -1 w 469948"/>
                <a:gd name="connsiteY7" fmla="*/ 2206818 h 2285144"/>
                <a:gd name="connsiteX8" fmla="*/ -1 w 469948"/>
                <a:gd name="connsiteY8" fmla="*/ 174286 h 2285144"/>
                <a:gd name="connsiteX0" fmla="*/ 0 w 469949"/>
                <a:gd name="connsiteY0" fmla="*/ 174285 h 2285143"/>
                <a:gd name="connsiteX1" fmla="*/ 49783 w 469949"/>
                <a:gd name="connsiteY1" fmla="*/ 0 h 2285143"/>
                <a:gd name="connsiteX2" fmla="*/ 334388 w 469949"/>
                <a:gd name="connsiteY2" fmla="*/ 77185 h 2285143"/>
                <a:gd name="connsiteX3" fmla="*/ 469949 w 469949"/>
                <a:gd name="connsiteY3" fmla="*/ 174285 h 2285143"/>
                <a:gd name="connsiteX4" fmla="*/ 469949 w 469949"/>
                <a:gd name="connsiteY4" fmla="*/ 2206817 h 2285143"/>
                <a:gd name="connsiteX5" fmla="*/ 391623 w 469949"/>
                <a:gd name="connsiteY5" fmla="*/ 2285143 h 2285143"/>
                <a:gd name="connsiteX6" fmla="*/ 78326 w 469949"/>
                <a:gd name="connsiteY6" fmla="*/ 2285143 h 2285143"/>
                <a:gd name="connsiteX7" fmla="*/ 0 w 469949"/>
                <a:gd name="connsiteY7" fmla="*/ 2206817 h 2285143"/>
                <a:gd name="connsiteX8" fmla="*/ 0 w 469949"/>
                <a:gd name="connsiteY8" fmla="*/ 174285 h 2285143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5442 w 471003"/>
                <a:gd name="connsiteY2" fmla="*/ 100792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4861 w 471003"/>
                <a:gd name="connsiteY2" fmla="*/ 89571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1003" h="2308750">
                  <a:moveTo>
                    <a:pt x="1054" y="197892"/>
                  </a:moveTo>
                  <a:cubicBezTo>
                    <a:pt x="1054" y="154634"/>
                    <a:pt x="-9176" y="0"/>
                    <a:pt x="34082" y="0"/>
                  </a:cubicBezTo>
                  <a:cubicBezTo>
                    <a:pt x="252569" y="55222"/>
                    <a:pt x="180322" y="46561"/>
                    <a:pt x="334861" y="89571"/>
                  </a:cubicBezTo>
                  <a:cubicBezTo>
                    <a:pt x="454403" y="123843"/>
                    <a:pt x="471003" y="154634"/>
                    <a:pt x="471003" y="197892"/>
                  </a:cubicBezTo>
                  <a:lnTo>
                    <a:pt x="471003" y="2230424"/>
                  </a:lnTo>
                  <a:cubicBezTo>
                    <a:pt x="471003" y="2273682"/>
                    <a:pt x="435935" y="2308750"/>
                    <a:pt x="392677" y="2308750"/>
                  </a:cubicBezTo>
                  <a:lnTo>
                    <a:pt x="79380" y="2308750"/>
                  </a:lnTo>
                  <a:cubicBezTo>
                    <a:pt x="36122" y="2308750"/>
                    <a:pt x="1054" y="2273682"/>
                    <a:pt x="1054" y="2230424"/>
                  </a:cubicBezTo>
                  <a:lnTo>
                    <a:pt x="1054" y="197892"/>
                  </a:lnTo>
                  <a:close/>
                </a:path>
              </a:pathLst>
            </a:cu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D84E8DEB-2540-8D52-2097-8A0B84519D14}"/>
                </a:ext>
              </a:extLst>
            </p:cNvPr>
            <p:cNvSpPr/>
            <p:nvPr userDrawn="1"/>
          </p:nvSpPr>
          <p:spPr>
            <a:xfrm rot="4506704" flipH="1">
              <a:off x="9456291" y="360823"/>
              <a:ext cx="464231" cy="107393"/>
            </a:xfrm>
            <a:prstGeom prst="roundRect">
              <a:avLst>
                <a:gd name="adj" fmla="val 32586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C3344A89-4809-DD59-23EA-4FD793BECF83}"/>
                </a:ext>
              </a:extLst>
            </p:cNvPr>
            <p:cNvSpPr/>
            <p:nvPr userDrawn="1"/>
          </p:nvSpPr>
          <p:spPr>
            <a:xfrm flipH="1">
              <a:off x="9586770" y="180267"/>
              <a:ext cx="351774" cy="60140"/>
            </a:xfrm>
            <a:prstGeom prst="roundRect">
              <a:avLst>
                <a:gd name="adj" fmla="val 32586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AC3D8F07-1C02-3E73-01E8-41A155CCDB1D}"/>
                </a:ext>
              </a:extLst>
            </p:cNvPr>
            <p:cNvSpPr/>
            <p:nvPr userDrawn="1"/>
          </p:nvSpPr>
          <p:spPr>
            <a:xfrm>
              <a:off x="6347129" y="186675"/>
              <a:ext cx="408152" cy="183858"/>
            </a:xfrm>
            <a:prstGeom prst="roundRect">
              <a:avLst>
                <a:gd name="adj" fmla="val 23143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F52B978E-9C88-1E75-EF2C-6F071425AA66}"/>
                </a:ext>
              </a:extLst>
            </p:cNvPr>
            <p:cNvSpPr/>
            <p:nvPr userDrawn="1"/>
          </p:nvSpPr>
          <p:spPr>
            <a:xfrm flipH="1">
              <a:off x="6766153" y="1568154"/>
              <a:ext cx="358839" cy="107393"/>
            </a:xfrm>
            <a:prstGeom prst="roundRect">
              <a:avLst>
                <a:gd name="adj" fmla="val 43099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7CCA3927-601C-0089-540E-B40E21642851}"/>
                </a:ext>
              </a:extLst>
            </p:cNvPr>
            <p:cNvSpPr/>
            <p:nvPr userDrawn="1"/>
          </p:nvSpPr>
          <p:spPr>
            <a:xfrm rot="4506704" flipH="1">
              <a:off x="6793110" y="1378492"/>
              <a:ext cx="464231" cy="107393"/>
            </a:xfrm>
            <a:prstGeom prst="roundRect">
              <a:avLst>
                <a:gd name="adj" fmla="val 50000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9" name="사각형: 둥근 모서리 48">
              <a:extLst>
                <a:ext uri="{FF2B5EF4-FFF2-40B4-BE49-F238E27FC236}">
                  <a16:creationId xmlns:a16="http://schemas.microsoft.com/office/drawing/2014/main" id="{74ED5022-514D-AC86-79B3-BFB20B0BDA78}"/>
                </a:ext>
              </a:extLst>
            </p:cNvPr>
            <p:cNvSpPr/>
            <p:nvPr userDrawn="1"/>
          </p:nvSpPr>
          <p:spPr>
            <a:xfrm rot="20700000">
              <a:off x="6565113" y="116467"/>
              <a:ext cx="365971" cy="1546595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7203 w 477152"/>
                <a:gd name="connsiteY0" fmla="*/ 202492 h 2313350"/>
                <a:gd name="connsiteX1" fmla="*/ 25429 w 477152"/>
                <a:gd name="connsiteY1" fmla="*/ 0 h 2313350"/>
                <a:gd name="connsiteX2" fmla="*/ 337626 w 477152"/>
                <a:gd name="connsiteY2" fmla="*/ 122559 h 2313350"/>
                <a:gd name="connsiteX3" fmla="*/ 477152 w 477152"/>
                <a:gd name="connsiteY3" fmla="*/ 202492 h 2313350"/>
                <a:gd name="connsiteX4" fmla="*/ 477152 w 477152"/>
                <a:gd name="connsiteY4" fmla="*/ 2235024 h 2313350"/>
                <a:gd name="connsiteX5" fmla="*/ 398826 w 477152"/>
                <a:gd name="connsiteY5" fmla="*/ 2313350 h 2313350"/>
                <a:gd name="connsiteX6" fmla="*/ 85529 w 477152"/>
                <a:gd name="connsiteY6" fmla="*/ 2313350 h 2313350"/>
                <a:gd name="connsiteX7" fmla="*/ 7203 w 477152"/>
                <a:gd name="connsiteY7" fmla="*/ 2235024 h 2313350"/>
                <a:gd name="connsiteX8" fmla="*/ 7203 w 477152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-1 w 469948"/>
                <a:gd name="connsiteY0" fmla="*/ 174286 h 2285144"/>
                <a:gd name="connsiteX1" fmla="*/ 49782 w 469948"/>
                <a:gd name="connsiteY1" fmla="*/ 1 h 2285144"/>
                <a:gd name="connsiteX2" fmla="*/ 334387 w 469948"/>
                <a:gd name="connsiteY2" fmla="*/ 77186 h 2285144"/>
                <a:gd name="connsiteX3" fmla="*/ 469948 w 469948"/>
                <a:gd name="connsiteY3" fmla="*/ 174286 h 2285144"/>
                <a:gd name="connsiteX4" fmla="*/ 469948 w 469948"/>
                <a:gd name="connsiteY4" fmla="*/ 2206818 h 2285144"/>
                <a:gd name="connsiteX5" fmla="*/ 391622 w 469948"/>
                <a:gd name="connsiteY5" fmla="*/ 2285144 h 2285144"/>
                <a:gd name="connsiteX6" fmla="*/ 78325 w 469948"/>
                <a:gd name="connsiteY6" fmla="*/ 2285144 h 2285144"/>
                <a:gd name="connsiteX7" fmla="*/ -1 w 469948"/>
                <a:gd name="connsiteY7" fmla="*/ 2206818 h 2285144"/>
                <a:gd name="connsiteX8" fmla="*/ -1 w 469948"/>
                <a:gd name="connsiteY8" fmla="*/ 174286 h 2285144"/>
                <a:gd name="connsiteX0" fmla="*/ 0 w 469949"/>
                <a:gd name="connsiteY0" fmla="*/ 174285 h 2285143"/>
                <a:gd name="connsiteX1" fmla="*/ 49783 w 469949"/>
                <a:gd name="connsiteY1" fmla="*/ 0 h 2285143"/>
                <a:gd name="connsiteX2" fmla="*/ 334388 w 469949"/>
                <a:gd name="connsiteY2" fmla="*/ 77185 h 2285143"/>
                <a:gd name="connsiteX3" fmla="*/ 469949 w 469949"/>
                <a:gd name="connsiteY3" fmla="*/ 174285 h 2285143"/>
                <a:gd name="connsiteX4" fmla="*/ 469949 w 469949"/>
                <a:gd name="connsiteY4" fmla="*/ 2206817 h 2285143"/>
                <a:gd name="connsiteX5" fmla="*/ 391623 w 469949"/>
                <a:gd name="connsiteY5" fmla="*/ 2285143 h 2285143"/>
                <a:gd name="connsiteX6" fmla="*/ 78326 w 469949"/>
                <a:gd name="connsiteY6" fmla="*/ 2285143 h 2285143"/>
                <a:gd name="connsiteX7" fmla="*/ 0 w 469949"/>
                <a:gd name="connsiteY7" fmla="*/ 2206817 h 2285143"/>
                <a:gd name="connsiteX8" fmla="*/ 0 w 469949"/>
                <a:gd name="connsiteY8" fmla="*/ 174285 h 2285143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5442 w 471003"/>
                <a:gd name="connsiteY2" fmla="*/ 100792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4861 w 471003"/>
                <a:gd name="connsiteY2" fmla="*/ 89571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1003" h="2308750">
                  <a:moveTo>
                    <a:pt x="1054" y="197892"/>
                  </a:moveTo>
                  <a:cubicBezTo>
                    <a:pt x="1054" y="154634"/>
                    <a:pt x="-9176" y="0"/>
                    <a:pt x="34082" y="0"/>
                  </a:cubicBezTo>
                  <a:cubicBezTo>
                    <a:pt x="252569" y="55222"/>
                    <a:pt x="180322" y="46561"/>
                    <a:pt x="334861" y="89571"/>
                  </a:cubicBezTo>
                  <a:cubicBezTo>
                    <a:pt x="454403" y="123843"/>
                    <a:pt x="471003" y="154634"/>
                    <a:pt x="471003" y="197892"/>
                  </a:cubicBezTo>
                  <a:lnTo>
                    <a:pt x="471003" y="2230424"/>
                  </a:lnTo>
                  <a:cubicBezTo>
                    <a:pt x="471003" y="2273682"/>
                    <a:pt x="435935" y="2308750"/>
                    <a:pt x="392677" y="2308750"/>
                  </a:cubicBezTo>
                  <a:lnTo>
                    <a:pt x="79380" y="2308750"/>
                  </a:lnTo>
                  <a:cubicBezTo>
                    <a:pt x="36122" y="2308750"/>
                    <a:pt x="1054" y="2273682"/>
                    <a:pt x="1054" y="2230424"/>
                  </a:cubicBezTo>
                  <a:lnTo>
                    <a:pt x="1054" y="197892"/>
                  </a:lnTo>
                  <a:close/>
                </a:path>
              </a:pathLst>
            </a:cu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6DF17EFE-4DE7-23E0-83AE-F34E55751FBA}"/>
                </a:ext>
              </a:extLst>
            </p:cNvPr>
            <p:cNvSpPr/>
            <p:nvPr userDrawn="1"/>
          </p:nvSpPr>
          <p:spPr>
            <a:xfrm rot="4506704" flipH="1">
              <a:off x="6264119" y="360823"/>
              <a:ext cx="464231" cy="107393"/>
            </a:xfrm>
            <a:prstGeom prst="roundRect">
              <a:avLst>
                <a:gd name="adj" fmla="val 32586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E99538CC-61E2-1721-E8D1-CDDF420D356E}"/>
                </a:ext>
              </a:extLst>
            </p:cNvPr>
            <p:cNvSpPr/>
            <p:nvPr userDrawn="1"/>
          </p:nvSpPr>
          <p:spPr>
            <a:xfrm flipH="1">
              <a:off x="6394598" y="180267"/>
              <a:ext cx="351774" cy="60140"/>
            </a:xfrm>
            <a:prstGeom prst="roundRect">
              <a:avLst>
                <a:gd name="adj" fmla="val 32586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50790F64-4FE8-0A76-F8EF-FEA76BB718F4}"/>
              </a:ext>
            </a:extLst>
          </p:cNvPr>
          <p:cNvGrpSpPr/>
          <p:nvPr userDrawn="1"/>
        </p:nvGrpSpPr>
        <p:grpSpPr>
          <a:xfrm>
            <a:off x="9608429" y="6377262"/>
            <a:ext cx="2549704" cy="447351"/>
            <a:chOff x="2347257" y="6113745"/>
            <a:chExt cx="2549704" cy="447351"/>
          </a:xfrm>
        </p:grpSpPr>
        <p:pic>
          <p:nvPicPr>
            <p:cNvPr id="33" name="그림 32" descr="로고, 그래픽, 그래픽 디자인, 스크린샷이(가) 표시된 사진&#10;&#10;자동 생성된 설명">
              <a:extLst>
                <a:ext uri="{FF2B5EF4-FFF2-40B4-BE49-F238E27FC236}">
                  <a16:creationId xmlns:a16="http://schemas.microsoft.com/office/drawing/2014/main" id="{5F0107DC-1969-2332-9966-A8D4F04957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47257" y="6113745"/>
              <a:ext cx="1016707" cy="447351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1C8422F-847D-E2D6-6D3B-C424656E2C83}"/>
                </a:ext>
              </a:extLst>
            </p:cNvPr>
            <p:cNvSpPr txBox="1"/>
            <p:nvPr userDrawn="1"/>
          </p:nvSpPr>
          <p:spPr>
            <a:xfrm>
              <a:off x="3356155" y="6113745"/>
              <a:ext cx="1540806" cy="37452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ts val="1100"/>
                </a:lnSpc>
              </a:pPr>
              <a:r>
                <a:rPr lang="en-US" sz="1200" b="1" dirty="0">
                  <a:solidFill>
                    <a:srgbClr val="5A5B5E"/>
                  </a:solidFill>
                  <a:latin typeface="Trebuchet MS" panose="020B0703020202090204" pitchFamily="34" charset="0"/>
                  <a:ea typeface="Baskerville" panose="02020502070401020303" pitchFamily="18" charset="0"/>
                </a:rPr>
                <a:t>School of Software</a:t>
              </a:r>
            </a:p>
            <a:p>
              <a:pPr algn="ctr">
                <a:lnSpc>
                  <a:spcPts val="1100"/>
                </a:lnSpc>
              </a:pPr>
              <a:r>
                <a:rPr lang="en-US" sz="1200" b="1" dirty="0" err="1">
                  <a:solidFill>
                    <a:srgbClr val="1DA1C6"/>
                  </a:solidFill>
                  <a:latin typeface="Trebuchet MS" panose="020B0703020202090204" pitchFamily="34" charset="0"/>
                  <a:ea typeface="Baskerville" panose="02020502070401020303" pitchFamily="18" charset="0"/>
                </a:rPr>
                <a:t>Soongsil</a:t>
              </a:r>
              <a:r>
                <a:rPr lang="en-US" sz="1200" b="1" dirty="0">
                  <a:solidFill>
                    <a:srgbClr val="1DA1C6"/>
                  </a:solidFill>
                  <a:latin typeface="Trebuchet MS" panose="020B0703020202090204" pitchFamily="34" charset="0"/>
                  <a:ea typeface="Baskerville" panose="02020502070401020303" pitchFamily="18" charset="0"/>
                </a:rPr>
                <a:t> University</a:t>
              </a:r>
            </a:p>
          </p:txBody>
        </p:sp>
      </p:grpSp>
      <p:sp>
        <p:nvSpPr>
          <p:cNvPr id="43" name="내용 개체 틀 42">
            <a:extLst>
              <a:ext uri="{FF2B5EF4-FFF2-40B4-BE49-F238E27FC236}">
                <a16:creationId xmlns:a16="http://schemas.microsoft.com/office/drawing/2014/main" id="{7F399805-B9E0-9A92-4145-86CBE2C1A79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524001" y="1299326"/>
            <a:ext cx="9144000" cy="855183"/>
          </a:xfrm>
        </p:spPr>
        <p:txBody>
          <a:bodyPr anchor="b"/>
          <a:lstStyle>
            <a:lvl1pPr marL="0" indent="0" algn="ctr">
              <a:buNone/>
              <a:defRPr sz="4800" b="1">
                <a:latin typeface="Trebuchet MS" panose="020B0603020202020204" pitchFamily="34" charset="0"/>
              </a:defRPr>
            </a:lvl1pPr>
          </a:lstStyle>
          <a:p>
            <a:pPr lvl="0"/>
            <a:r>
              <a:rPr lang="ko-KR" altLang="en-US" dirty="0"/>
              <a:t>마스터 텍스트 스타일</a:t>
            </a:r>
          </a:p>
        </p:txBody>
      </p:sp>
    </p:spTree>
    <p:extLst>
      <p:ext uri="{BB962C8B-B14F-4D97-AF65-F5344CB8AC3E}">
        <p14:creationId xmlns:p14="http://schemas.microsoft.com/office/powerpoint/2010/main" val="18610629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3AEBF52-76E9-B938-4862-6D13627AFD4C}"/>
              </a:ext>
            </a:extLst>
          </p:cNvPr>
          <p:cNvSpPr/>
          <p:nvPr userDrawn="1"/>
        </p:nvSpPr>
        <p:spPr>
          <a:xfrm>
            <a:off x="2" y="-1"/>
            <a:ext cx="12191999" cy="681037"/>
          </a:xfrm>
          <a:prstGeom prst="rect">
            <a:avLst/>
          </a:prstGeom>
          <a:gradFill flip="none" rotWithShape="1">
            <a:gsLst>
              <a:gs pos="0">
                <a:srgbClr val="01688F"/>
              </a:gs>
              <a:gs pos="100000">
                <a:schemeClr val="bg1">
                  <a:alpha val="0"/>
                </a:schemeClr>
              </a:gs>
              <a:gs pos="70000">
                <a:srgbClr val="72ABC8"/>
              </a:gs>
              <a:gs pos="85000">
                <a:schemeClr val="accent1">
                  <a:lumMod val="40000"/>
                  <a:lumOff val="60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latin typeface="Trebuchet MS" panose="020B0703020202090204" pitchFamily="34" charset="0"/>
            </a:endParaRPr>
          </a:p>
        </p:txBody>
      </p:sp>
      <p:pic>
        <p:nvPicPr>
          <p:cNvPr id="8" name="그림 7" descr="옥외설치물이(가) 표시된 사진&#10;&#10;자동 생성된 설명">
            <a:extLst>
              <a:ext uri="{FF2B5EF4-FFF2-40B4-BE49-F238E27FC236}">
                <a16:creationId xmlns:a16="http://schemas.microsoft.com/office/drawing/2014/main" id="{F966DF82-ED07-FCE8-124A-FFE8ACAFE1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70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93627" y="-1"/>
            <a:ext cx="2598373" cy="68103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7749" y="150607"/>
            <a:ext cx="11456504" cy="530430"/>
          </a:xfrm>
          <a:prstGeom prst="rect">
            <a:avLst/>
          </a:prstGeom>
        </p:spPr>
        <p:txBody>
          <a:bodyPr anchor="ctr"/>
          <a:lstStyle>
            <a:lvl1pPr>
              <a:defRPr sz="3200" b="1">
                <a:solidFill>
                  <a:schemeClr val="bg1"/>
                </a:solidFill>
                <a:latin typeface="Trebuchet MS" panose="020B070302020209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7749" y="1172818"/>
            <a:ext cx="11456504" cy="5004146"/>
          </a:xfrm>
        </p:spPr>
        <p:txBody>
          <a:bodyPr>
            <a:normAutofit/>
          </a:bodyPr>
          <a:lstStyle>
            <a:lvl1pPr marL="228601" indent="-228601">
              <a:lnSpc>
                <a:spcPct val="150000"/>
              </a:lnSpc>
              <a:buFont typeface="Wingdings" pitchFamily="2" charset="2"/>
              <a:buChar char="§"/>
              <a:defRPr sz="2000" b="1">
                <a:latin typeface="Trebuchet MS" panose="020B0703020202090204" pitchFamily="34" charset="0"/>
              </a:defRPr>
            </a:lvl1pPr>
            <a:lvl2pPr marL="685803" indent="-228601">
              <a:lnSpc>
                <a:spcPct val="150000"/>
              </a:lnSpc>
              <a:buFont typeface="시스템 서체 일반체"/>
              <a:buChar char="-"/>
              <a:defRPr sz="1600">
                <a:latin typeface="Trebuchet MS" panose="020B0703020202090204" pitchFamily="34" charset="0"/>
              </a:defRPr>
            </a:lvl2pPr>
            <a:lvl3pPr>
              <a:lnSpc>
                <a:spcPct val="150000"/>
              </a:lnSpc>
              <a:defRPr sz="1400">
                <a:latin typeface="Trebuchet MS" panose="020B0703020202090204" pitchFamily="34" charset="0"/>
              </a:defRPr>
            </a:lvl3pPr>
            <a:lvl4pPr marL="1600206" indent="-228601">
              <a:lnSpc>
                <a:spcPct val="150000"/>
              </a:lnSpc>
              <a:buFont typeface="Trebuchet MS" panose="020B0603020202020204" pitchFamily="34" charset="0"/>
              <a:buChar char=":"/>
              <a:defRPr sz="1050">
                <a:latin typeface="Trebuchet MS" panose="020B0703020202090204" pitchFamily="34" charset="0"/>
              </a:defRPr>
            </a:lvl4pPr>
            <a:lvl5pPr marL="2057408" indent="-228601">
              <a:lnSpc>
                <a:spcPct val="150000"/>
              </a:lnSpc>
              <a:buFont typeface="Wingdings" panose="05000000000000000000" pitchFamily="2" charset="2"/>
              <a:buChar char="ü"/>
              <a:defRPr sz="1000"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B74EEE4B-5648-1141-8DE7-F35CCED6AB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16996" y="6598733"/>
            <a:ext cx="2564404" cy="213734"/>
          </a:xfrm>
          <a:prstGeom prst="rect">
            <a:avLst/>
          </a:prstGeom>
        </p:spPr>
        <p:txBody>
          <a:bodyPr/>
          <a:lstStyle>
            <a:lvl1pPr>
              <a:defRPr>
                <a:latin typeface="Trebuchet MS" panose="020B0703020202090204" pitchFamily="34" charset="0"/>
              </a:defRPr>
            </a:lvl1pPr>
          </a:lstStyle>
          <a:p>
            <a:r>
              <a:rPr lang="en-US" altLang="ko-KR"/>
              <a:t>2026-07-31</a:t>
            </a:r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B95CB966-C0B0-BF40-9B2D-EFD92EBA5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1" y="6598733"/>
            <a:ext cx="4114800" cy="213734"/>
          </a:xfrm>
          <a:prstGeom prst="rect">
            <a:avLst/>
          </a:prstGeom>
        </p:spPr>
        <p:txBody>
          <a:bodyPr/>
          <a:lstStyle>
            <a:lvl1pPr>
              <a:defRPr>
                <a:latin typeface="Trebuchet MS" panose="020B070302020209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812EEE38-D0A6-0A45-82F8-581A904D7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06309" y="6598733"/>
            <a:ext cx="3110345" cy="213734"/>
          </a:xfrm>
          <a:prstGeom prst="rect">
            <a:avLst/>
          </a:prstGeom>
        </p:spPr>
        <p:txBody>
          <a:bodyPr/>
          <a:lstStyle>
            <a:lvl1pPr>
              <a:defRPr>
                <a:latin typeface="Trebuchet MS" panose="020B0703020202090204" pitchFamily="34" charset="0"/>
              </a:defRPr>
            </a:lvl1pPr>
          </a:lstStyle>
          <a:p>
            <a:r>
              <a:rPr lang="en-US" altLang="ko-KR" dirty="0"/>
              <a:t>Sang-Jun Moon 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AICA Lab Meeting</a:t>
            </a:r>
            <a:r>
              <a:rPr lang="en-US" altLang="ko-KR" dirty="0"/>
              <a:t> | </a:t>
            </a:r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AF465BD3-D334-A698-AE1D-AAE802C779D9}"/>
              </a:ext>
            </a:extLst>
          </p:cNvPr>
          <p:cNvGrpSpPr/>
          <p:nvPr userDrawn="1"/>
        </p:nvGrpSpPr>
        <p:grpSpPr>
          <a:xfrm>
            <a:off x="135856" y="6450684"/>
            <a:ext cx="899987" cy="323081"/>
            <a:chOff x="5976117" y="116467"/>
            <a:chExt cx="4341047" cy="1559914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09E45834-AE31-A9B9-9BE3-8876DD4BFA7F}"/>
                </a:ext>
              </a:extLst>
            </p:cNvPr>
            <p:cNvSpPr/>
            <p:nvPr userDrawn="1"/>
          </p:nvSpPr>
          <p:spPr>
            <a:xfrm>
              <a:off x="7547660" y="613810"/>
              <a:ext cx="360000" cy="1046263"/>
            </a:xfrm>
            <a:prstGeom prst="roundRect">
              <a:avLst/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09BE6CC6-B0C2-D1F8-C568-1636306F8597}"/>
                </a:ext>
              </a:extLst>
            </p:cNvPr>
            <p:cNvSpPr/>
            <p:nvPr userDrawn="1"/>
          </p:nvSpPr>
          <p:spPr>
            <a:xfrm>
              <a:off x="6776499" y="1312781"/>
              <a:ext cx="1131162" cy="363600"/>
            </a:xfrm>
            <a:prstGeom prst="roundRect">
              <a:avLst/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9" name="사각형: 둥근 모서리 34">
              <a:extLst>
                <a:ext uri="{FF2B5EF4-FFF2-40B4-BE49-F238E27FC236}">
                  <a16:creationId xmlns:a16="http://schemas.microsoft.com/office/drawing/2014/main" id="{372FB6C3-D418-1840-6AE7-B37D603006F2}"/>
                </a:ext>
              </a:extLst>
            </p:cNvPr>
            <p:cNvSpPr/>
            <p:nvPr userDrawn="1"/>
          </p:nvSpPr>
          <p:spPr>
            <a:xfrm rot="923841">
              <a:off x="6171723" y="144498"/>
              <a:ext cx="372850" cy="1492452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0 w 470074"/>
                <a:gd name="connsiteY0" fmla="*/ 168229 h 2279087"/>
                <a:gd name="connsiteX1" fmla="*/ 78326 w 470074"/>
                <a:gd name="connsiteY1" fmla="*/ 89903 h 2279087"/>
                <a:gd name="connsiteX2" fmla="*/ 431082 w 470074"/>
                <a:gd name="connsiteY2" fmla="*/ 0 h 2279087"/>
                <a:gd name="connsiteX3" fmla="*/ 469949 w 470074"/>
                <a:gd name="connsiteY3" fmla="*/ 168229 h 2279087"/>
                <a:gd name="connsiteX4" fmla="*/ 469949 w 470074"/>
                <a:gd name="connsiteY4" fmla="*/ 2200761 h 2279087"/>
                <a:gd name="connsiteX5" fmla="*/ 391623 w 470074"/>
                <a:gd name="connsiteY5" fmla="*/ 2279087 h 2279087"/>
                <a:gd name="connsiteX6" fmla="*/ 78326 w 470074"/>
                <a:gd name="connsiteY6" fmla="*/ 2279087 h 2279087"/>
                <a:gd name="connsiteX7" fmla="*/ 0 w 470074"/>
                <a:gd name="connsiteY7" fmla="*/ 2200761 h 2279087"/>
                <a:gd name="connsiteX8" fmla="*/ 0 w 470074"/>
                <a:gd name="connsiteY8" fmla="*/ 168229 h 2279087"/>
                <a:gd name="connsiteX0" fmla="*/ 0 w 473939"/>
                <a:gd name="connsiteY0" fmla="*/ 152392 h 2263250"/>
                <a:gd name="connsiteX1" fmla="*/ 78326 w 473939"/>
                <a:gd name="connsiteY1" fmla="*/ 74066 h 2263250"/>
                <a:gd name="connsiteX2" fmla="*/ 445323 w 473939"/>
                <a:gd name="connsiteY2" fmla="*/ 0 h 2263250"/>
                <a:gd name="connsiteX3" fmla="*/ 469949 w 473939"/>
                <a:gd name="connsiteY3" fmla="*/ 152392 h 2263250"/>
                <a:gd name="connsiteX4" fmla="*/ 469949 w 473939"/>
                <a:gd name="connsiteY4" fmla="*/ 2184924 h 2263250"/>
                <a:gd name="connsiteX5" fmla="*/ 391623 w 473939"/>
                <a:gd name="connsiteY5" fmla="*/ 2263250 h 2263250"/>
                <a:gd name="connsiteX6" fmla="*/ 78326 w 473939"/>
                <a:gd name="connsiteY6" fmla="*/ 2263250 h 2263250"/>
                <a:gd name="connsiteX7" fmla="*/ 0 w 473939"/>
                <a:gd name="connsiteY7" fmla="*/ 2184924 h 2263250"/>
                <a:gd name="connsiteX8" fmla="*/ 0 w 473939"/>
                <a:gd name="connsiteY8" fmla="*/ 152392 h 2263250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9858" h="2286042">
                  <a:moveTo>
                    <a:pt x="0" y="175184"/>
                  </a:moveTo>
                  <a:cubicBezTo>
                    <a:pt x="0" y="131926"/>
                    <a:pt x="35068" y="96858"/>
                    <a:pt x="78326" y="96858"/>
                  </a:cubicBezTo>
                  <a:cubicBezTo>
                    <a:pt x="394302" y="4021"/>
                    <a:pt x="351903" y="0"/>
                    <a:pt x="456335" y="0"/>
                  </a:cubicBezTo>
                  <a:cubicBezTo>
                    <a:pt x="499593" y="0"/>
                    <a:pt x="469949" y="131926"/>
                    <a:pt x="469949" y="175184"/>
                  </a:cubicBezTo>
                  <a:lnTo>
                    <a:pt x="469949" y="2207716"/>
                  </a:lnTo>
                  <a:cubicBezTo>
                    <a:pt x="469949" y="2250974"/>
                    <a:pt x="434881" y="2286042"/>
                    <a:pt x="391623" y="2286042"/>
                  </a:cubicBezTo>
                  <a:lnTo>
                    <a:pt x="78326" y="2286042"/>
                  </a:lnTo>
                  <a:cubicBezTo>
                    <a:pt x="35068" y="2286042"/>
                    <a:pt x="0" y="2250974"/>
                    <a:pt x="0" y="2207716"/>
                  </a:cubicBezTo>
                  <a:lnTo>
                    <a:pt x="0" y="175184"/>
                  </a:lnTo>
                  <a:close/>
                </a:path>
              </a:pathLst>
            </a:cu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19B36722-692B-8A85-ABBD-C0C3519B7975}"/>
                </a:ext>
              </a:extLst>
            </p:cNvPr>
            <p:cNvSpPr/>
            <p:nvPr userDrawn="1"/>
          </p:nvSpPr>
          <p:spPr>
            <a:xfrm>
              <a:off x="5976117" y="1562385"/>
              <a:ext cx="367024" cy="107393"/>
            </a:xfrm>
            <a:prstGeom prst="roundRect">
              <a:avLst>
                <a:gd name="adj" fmla="val 49751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27978080-5DA3-C7AF-D53C-7B04AA55674D}"/>
                </a:ext>
              </a:extLst>
            </p:cNvPr>
            <p:cNvSpPr/>
            <p:nvPr userDrawn="1"/>
          </p:nvSpPr>
          <p:spPr>
            <a:xfrm rot="17142116">
              <a:off x="5845212" y="1386473"/>
              <a:ext cx="447973" cy="107393"/>
            </a:xfrm>
            <a:prstGeom prst="roundRect">
              <a:avLst>
                <a:gd name="adj" fmla="val 49751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D2E2207A-833C-96F1-DDEA-EAD252C6E34C}"/>
                </a:ext>
              </a:extLst>
            </p:cNvPr>
            <p:cNvSpPr/>
            <p:nvPr userDrawn="1"/>
          </p:nvSpPr>
          <p:spPr>
            <a:xfrm>
              <a:off x="7547660" y="189796"/>
              <a:ext cx="360000" cy="355633"/>
            </a:xfrm>
            <a:prstGeom prst="roundRect">
              <a:avLst/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6" name="사각형: 둥근 모서리 34">
              <a:extLst>
                <a:ext uri="{FF2B5EF4-FFF2-40B4-BE49-F238E27FC236}">
                  <a16:creationId xmlns:a16="http://schemas.microsoft.com/office/drawing/2014/main" id="{B9063DDA-A961-FAC9-63D8-26984466EFA9}"/>
                </a:ext>
              </a:extLst>
            </p:cNvPr>
            <p:cNvSpPr/>
            <p:nvPr userDrawn="1"/>
          </p:nvSpPr>
          <p:spPr>
            <a:xfrm rot="923841">
              <a:off x="9359767" y="144498"/>
              <a:ext cx="372850" cy="1492452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0 w 470074"/>
                <a:gd name="connsiteY0" fmla="*/ 168229 h 2279087"/>
                <a:gd name="connsiteX1" fmla="*/ 78326 w 470074"/>
                <a:gd name="connsiteY1" fmla="*/ 89903 h 2279087"/>
                <a:gd name="connsiteX2" fmla="*/ 431082 w 470074"/>
                <a:gd name="connsiteY2" fmla="*/ 0 h 2279087"/>
                <a:gd name="connsiteX3" fmla="*/ 469949 w 470074"/>
                <a:gd name="connsiteY3" fmla="*/ 168229 h 2279087"/>
                <a:gd name="connsiteX4" fmla="*/ 469949 w 470074"/>
                <a:gd name="connsiteY4" fmla="*/ 2200761 h 2279087"/>
                <a:gd name="connsiteX5" fmla="*/ 391623 w 470074"/>
                <a:gd name="connsiteY5" fmla="*/ 2279087 h 2279087"/>
                <a:gd name="connsiteX6" fmla="*/ 78326 w 470074"/>
                <a:gd name="connsiteY6" fmla="*/ 2279087 h 2279087"/>
                <a:gd name="connsiteX7" fmla="*/ 0 w 470074"/>
                <a:gd name="connsiteY7" fmla="*/ 2200761 h 2279087"/>
                <a:gd name="connsiteX8" fmla="*/ 0 w 470074"/>
                <a:gd name="connsiteY8" fmla="*/ 168229 h 2279087"/>
                <a:gd name="connsiteX0" fmla="*/ 0 w 473939"/>
                <a:gd name="connsiteY0" fmla="*/ 152392 h 2263250"/>
                <a:gd name="connsiteX1" fmla="*/ 78326 w 473939"/>
                <a:gd name="connsiteY1" fmla="*/ 74066 h 2263250"/>
                <a:gd name="connsiteX2" fmla="*/ 445323 w 473939"/>
                <a:gd name="connsiteY2" fmla="*/ 0 h 2263250"/>
                <a:gd name="connsiteX3" fmla="*/ 469949 w 473939"/>
                <a:gd name="connsiteY3" fmla="*/ 152392 h 2263250"/>
                <a:gd name="connsiteX4" fmla="*/ 469949 w 473939"/>
                <a:gd name="connsiteY4" fmla="*/ 2184924 h 2263250"/>
                <a:gd name="connsiteX5" fmla="*/ 391623 w 473939"/>
                <a:gd name="connsiteY5" fmla="*/ 2263250 h 2263250"/>
                <a:gd name="connsiteX6" fmla="*/ 78326 w 473939"/>
                <a:gd name="connsiteY6" fmla="*/ 2263250 h 2263250"/>
                <a:gd name="connsiteX7" fmla="*/ 0 w 473939"/>
                <a:gd name="connsiteY7" fmla="*/ 2184924 h 2263250"/>
                <a:gd name="connsiteX8" fmla="*/ 0 w 473939"/>
                <a:gd name="connsiteY8" fmla="*/ 152392 h 2263250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9858" h="2286042">
                  <a:moveTo>
                    <a:pt x="0" y="175184"/>
                  </a:moveTo>
                  <a:cubicBezTo>
                    <a:pt x="0" y="131926"/>
                    <a:pt x="35068" y="96858"/>
                    <a:pt x="78326" y="96858"/>
                  </a:cubicBezTo>
                  <a:cubicBezTo>
                    <a:pt x="394302" y="4021"/>
                    <a:pt x="351903" y="0"/>
                    <a:pt x="456335" y="0"/>
                  </a:cubicBezTo>
                  <a:cubicBezTo>
                    <a:pt x="499593" y="0"/>
                    <a:pt x="469949" y="131926"/>
                    <a:pt x="469949" y="175184"/>
                  </a:cubicBezTo>
                  <a:lnTo>
                    <a:pt x="469949" y="2207716"/>
                  </a:lnTo>
                  <a:cubicBezTo>
                    <a:pt x="469949" y="2250974"/>
                    <a:pt x="434881" y="2286042"/>
                    <a:pt x="391623" y="2286042"/>
                  </a:cubicBezTo>
                  <a:lnTo>
                    <a:pt x="78326" y="2286042"/>
                  </a:lnTo>
                  <a:cubicBezTo>
                    <a:pt x="35068" y="2286042"/>
                    <a:pt x="0" y="2250974"/>
                    <a:pt x="0" y="2207716"/>
                  </a:cubicBezTo>
                  <a:lnTo>
                    <a:pt x="0" y="175184"/>
                  </a:lnTo>
                  <a:close/>
                </a:path>
              </a:pathLst>
            </a:cu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9449855F-497C-8550-D86C-A828CBDE267F}"/>
                </a:ext>
              </a:extLst>
            </p:cNvPr>
            <p:cNvSpPr/>
            <p:nvPr userDrawn="1"/>
          </p:nvSpPr>
          <p:spPr>
            <a:xfrm>
              <a:off x="9539301" y="186675"/>
              <a:ext cx="408152" cy="183858"/>
            </a:xfrm>
            <a:prstGeom prst="roundRect">
              <a:avLst>
                <a:gd name="adj" fmla="val 23143"/>
              </a:avLst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1476E7BE-7201-2BAA-2109-35756C4E0B96}"/>
                </a:ext>
              </a:extLst>
            </p:cNvPr>
            <p:cNvSpPr/>
            <p:nvPr userDrawn="1"/>
          </p:nvSpPr>
          <p:spPr>
            <a:xfrm flipH="1">
              <a:off x="9958325" y="1568154"/>
              <a:ext cx="358839" cy="107393"/>
            </a:xfrm>
            <a:prstGeom prst="roundRect">
              <a:avLst>
                <a:gd name="adj" fmla="val 43099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B59F5F96-C357-E1E5-2993-D5FD41332B5F}"/>
                </a:ext>
              </a:extLst>
            </p:cNvPr>
            <p:cNvSpPr/>
            <p:nvPr userDrawn="1"/>
          </p:nvSpPr>
          <p:spPr>
            <a:xfrm rot="4506704" flipH="1">
              <a:off x="9985282" y="1378492"/>
              <a:ext cx="464231" cy="107393"/>
            </a:xfrm>
            <a:prstGeom prst="roundRect">
              <a:avLst>
                <a:gd name="adj" fmla="val 50000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DB242B9F-572D-693F-C111-AAC93D5DB279}"/>
                </a:ext>
              </a:extLst>
            </p:cNvPr>
            <p:cNvSpPr/>
            <p:nvPr userDrawn="1"/>
          </p:nvSpPr>
          <p:spPr>
            <a:xfrm rot="17142116">
              <a:off x="9285907" y="1386473"/>
              <a:ext cx="447973" cy="107393"/>
            </a:xfrm>
            <a:prstGeom prst="roundRect">
              <a:avLst>
                <a:gd name="adj" fmla="val 49751"/>
              </a:avLst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9160EE91-D1F0-219D-E7ED-4A5F2BBB074B}"/>
                </a:ext>
              </a:extLst>
            </p:cNvPr>
            <p:cNvSpPr/>
            <p:nvPr userDrawn="1"/>
          </p:nvSpPr>
          <p:spPr>
            <a:xfrm>
              <a:off x="8225540" y="182176"/>
              <a:ext cx="976417" cy="355633"/>
            </a:xfrm>
            <a:prstGeom prst="roundRect">
              <a:avLst/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055F6797-B96E-6564-AB39-222EF22DE181}"/>
                </a:ext>
              </a:extLst>
            </p:cNvPr>
            <p:cNvSpPr/>
            <p:nvPr userDrawn="1"/>
          </p:nvSpPr>
          <p:spPr>
            <a:xfrm>
              <a:off x="8225541" y="1310440"/>
              <a:ext cx="1287590" cy="355633"/>
            </a:xfrm>
            <a:prstGeom prst="roundRect">
              <a:avLst/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5C206942-3972-3DDD-C25C-F55CC59874CB}"/>
                </a:ext>
              </a:extLst>
            </p:cNvPr>
            <p:cNvSpPr/>
            <p:nvPr userDrawn="1"/>
          </p:nvSpPr>
          <p:spPr>
            <a:xfrm>
              <a:off x="8210345" y="186675"/>
              <a:ext cx="360000" cy="1473398"/>
            </a:xfrm>
            <a:prstGeom prst="roundRect">
              <a:avLst/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4" name="사각형: 둥근 모서리 48">
              <a:extLst>
                <a:ext uri="{FF2B5EF4-FFF2-40B4-BE49-F238E27FC236}">
                  <a16:creationId xmlns:a16="http://schemas.microsoft.com/office/drawing/2014/main" id="{45C36541-3C29-52C7-87AA-2CE2ECC800FB}"/>
                </a:ext>
              </a:extLst>
            </p:cNvPr>
            <p:cNvSpPr/>
            <p:nvPr userDrawn="1"/>
          </p:nvSpPr>
          <p:spPr>
            <a:xfrm rot="20700000">
              <a:off x="9757285" y="116467"/>
              <a:ext cx="365971" cy="1546595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7203 w 477152"/>
                <a:gd name="connsiteY0" fmla="*/ 202492 h 2313350"/>
                <a:gd name="connsiteX1" fmla="*/ 25429 w 477152"/>
                <a:gd name="connsiteY1" fmla="*/ 0 h 2313350"/>
                <a:gd name="connsiteX2" fmla="*/ 337626 w 477152"/>
                <a:gd name="connsiteY2" fmla="*/ 122559 h 2313350"/>
                <a:gd name="connsiteX3" fmla="*/ 477152 w 477152"/>
                <a:gd name="connsiteY3" fmla="*/ 202492 h 2313350"/>
                <a:gd name="connsiteX4" fmla="*/ 477152 w 477152"/>
                <a:gd name="connsiteY4" fmla="*/ 2235024 h 2313350"/>
                <a:gd name="connsiteX5" fmla="*/ 398826 w 477152"/>
                <a:gd name="connsiteY5" fmla="*/ 2313350 h 2313350"/>
                <a:gd name="connsiteX6" fmla="*/ 85529 w 477152"/>
                <a:gd name="connsiteY6" fmla="*/ 2313350 h 2313350"/>
                <a:gd name="connsiteX7" fmla="*/ 7203 w 477152"/>
                <a:gd name="connsiteY7" fmla="*/ 2235024 h 2313350"/>
                <a:gd name="connsiteX8" fmla="*/ 7203 w 477152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-1 w 469948"/>
                <a:gd name="connsiteY0" fmla="*/ 174286 h 2285144"/>
                <a:gd name="connsiteX1" fmla="*/ 49782 w 469948"/>
                <a:gd name="connsiteY1" fmla="*/ 1 h 2285144"/>
                <a:gd name="connsiteX2" fmla="*/ 334387 w 469948"/>
                <a:gd name="connsiteY2" fmla="*/ 77186 h 2285144"/>
                <a:gd name="connsiteX3" fmla="*/ 469948 w 469948"/>
                <a:gd name="connsiteY3" fmla="*/ 174286 h 2285144"/>
                <a:gd name="connsiteX4" fmla="*/ 469948 w 469948"/>
                <a:gd name="connsiteY4" fmla="*/ 2206818 h 2285144"/>
                <a:gd name="connsiteX5" fmla="*/ 391622 w 469948"/>
                <a:gd name="connsiteY5" fmla="*/ 2285144 h 2285144"/>
                <a:gd name="connsiteX6" fmla="*/ 78325 w 469948"/>
                <a:gd name="connsiteY6" fmla="*/ 2285144 h 2285144"/>
                <a:gd name="connsiteX7" fmla="*/ -1 w 469948"/>
                <a:gd name="connsiteY7" fmla="*/ 2206818 h 2285144"/>
                <a:gd name="connsiteX8" fmla="*/ -1 w 469948"/>
                <a:gd name="connsiteY8" fmla="*/ 174286 h 2285144"/>
                <a:gd name="connsiteX0" fmla="*/ 0 w 469949"/>
                <a:gd name="connsiteY0" fmla="*/ 174285 h 2285143"/>
                <a:gd name="connsiteX1" fmla="*/ 49783 w 469949"/>
                <a:gd name="connsiteY1" fmla="*/ 0 h 2285143"/>
                <a:gd name="connsiteX2" fmla="*/ 334388 w 469949"/>
                <a:gd name="connsiteY2" fmla="*/ 77185 h 2285143"/>
                <a:gd name="connsiteX3" fmla="*/ 469949 w 469949"/>
                <a:gd name="connsiteY3" fmla="*/ 174285 h 2285143"/>
                <a:gd name="connsiteX4" fmla="*/ 469949 w 469949"/>
                <a:gd name="connsiteY4" fmla="*/ 2206817 h 2285143"/>
                <a:gd name="connsiteX5" fmla="*/ 391623 w 469949"/>
                <a:gd name="connsiteY5" fmla="*/ 2285143 h 2285143"/>
                <a:gd name="connsiteX6" fmla="*/ 78326 w 469949"/>
                <a:gd name="connsiteY6" fmla="*/ 2285143 h 2285143"/>
                <a:gd name="connsiteX7" fmla="*/ 0 w 469949"/>
                <a:gd name="connsiteY7" fmla="*/ 2206817 h 2285143"/>
                <a:gd name="connsiteX8" fmla="*/ 0 w 469949"/>
                <a:gd name="connsiteY8" fmla="*/ 174285 h 2285143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5442 w 471003"/>
                <a:gd name="connsiteY2" fmla="*/ 100792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4861 w 471003"/>
                <a:gd name="connsiteY2" fmla="*/ 89571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1003" h="2308750">
                  <a:moveTo>
                    <a:pt x="1054" y="197892"/>
                  </a:moveTo>
                  <a:cubicBezTo>
                    <a:pt x="1054" y="154634"/>
                    <a:pt x="-9176" y="0"/>
                    <a:pt x="34082" y="0"/>
                  </a:cubicBezTo>
                  <a:cubicBezTo>
                    <a:pt x="252569" y="55222"/>
                    <a:pt x="180322" y="46561"/>
                    <a:pt x="334861" y="89571"/>
                  </a:cubicBezTo>
                  <a:cubicBezTo>
                    <a:pt x="454403" y="123843"/>
                    <a:pt x="471003" y="154634"/>
                    <a:pt x="471003" y="197892"/>
                  </a:cubicBezTo>
                  <a:lnTo>
                    <a:pt x="471003" y="2230424"/>
                  </a:lnTo>
                  <a:cubicBezTo>
                    <a:pt x="471003" y="2273682"/>
                    <a:pt x="435935" y="2308750"/>
                    <a:pt x="392677" y="2308750"/>
                  </a:cubicBezTo>
                  <a:lnTo>
                    <a:pt x="79380" y="2308750"/>
                  </a:lnTo>
                  <a:cubicBezTo>
                    <a:pt x="36122" y="2308750"/>
                    <a:pt x="1054" y="2273682"/>
                    <a:pt x="1054" y="2230424"/>
                  </a:cubicBezTo>
                  <a:lnTo>
                    <a:pt x="1054" y="197892"/>
                  </a:lnTo>
                  <a:close/>
                </a:path>
              </a:pathLst>
            </a:cu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D08F501E-0785-E0FC-C8AB-E929D4BE4665}"/>
                </a:ext>
              </a:extLst>
            </p:cNvPr>
            <p:cNvSpPr/>
            <p:nvPr userDrawn="1"/>
          </p:nvSpPr>
          <p:spPr>
            <a:xfrm rot="4506704" flipH="1">
              <a:off x="9456291" y="360823"/>
              <a:ext cx="464231" cy="107393"/>
            </a:xfrm>
            <a:prstGeom prst="roundRect">
              <a:avLst>
                <a:gd name="adj" fmla="val 32586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6670ADF1-C53B-D670-DE1C-F0C3990DDD82}"/>
                </a:ext>
              </a:extLst>
            </p:cNvPr>
            <p:cNvSpPr/>
            <p:nvPr userDrawn="1"/>
          </p:nvSpPr>
          <p:spPr>
            <a:xfrm flipH="1">
              <a:off x="9586770" y="180267"/>
              <a:ext cx="351774" cy="60140"/>
            </a:xfrm>
            <a:prstGeom prst="roundRect">
              <a:avLst>
                <a:gd name="adj" fmla="val 32586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728DC771-DBFE-4F81-F2CA-992EBFCE0D41}"/>
                </a:ext>
              </a:extLst>
            </p:cNvPr>
            <p:cNvSpPr/>
            <p:nvPr userDrawn="1"/>
          </p:nvSpPr>
          <p:spPr>
            <a:xfrm>
              <a:off x="6347129" y="186675"/>
              <a:ext cx="408152" cy="183858"/>
            </a:xfrm>
            <a:prstGeom prst="roundRect">
              <a:avLst>
                <a:gd name="adj" fmla="val 23143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3D8C4B1D-A6E0-AEF3-4AED-22807E641D72}"/>
                </a:ext>
              </a:extLst>
            </p:cNvPr>
            <p:cNvSpPr/>
            <p:nvPr userDrawn="1"/>
          </p:nvSpPr>
          <p:spPr>
            <a:xfrm flipH="1">
              <a:off x="6766153" y="1568154"/>
              <a:ext cx="358839" cy="107393"/>
            </a:xfrm>
            <a:prstGeom prst="roundRect">
              <a:avLst>
                <a:gd name="adj" fmla="val 43099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74FAB4B6-B9C7-9AEC-57FF-C2E4371644E2}"/>
                </a:ext>
              </a:extLst>
            </p:cNvPr>
            <p:cNvSpPr/>
            <p:nvPr userDrawn="1"/>
          </p:nvSpPr>
          <p:spPr>
            <a:xfrm rot="4506704" flipH="1">
              <a:off x="6793110" y="1378492"/>
              <a:ext cx="464231" cy="107393"/>
            </a:xfrm>
            <a:prstGeom prst="roundRect">
              <a:avLst>
                <a:gd name="adj" fmla="val 50000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30" name="사각형: 둥근 모서리 48">
              <a:extLst>
                <a:ext uri="{FF2B5EF4-FFF2-40B4-BE49-F238E27FC236}">
                  <a16:creationId xmlns:a16="http://schemas.microsoft.com/office/drawing/2014/main" id="{E70AF9CE-687E-9C42-5294-C1A0274A53D2}"/>
                </a:ext>
              </a:extLst>
            </p:cNvPr>
            <p:cNvSpPr/>
            <p:nvPr userDrawn="1"/>
          </p:nvSpPr>
          <p:spPr>
            <a:xfrm rot="20700000">
              <a:off x="6565113" y="116467"/>
              <a:ext cx="365971" cy="1546595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7203 w 477152"/>
                <a:gd name="connsiteY0" fmla="*/ 202492 h 2313350"/>
                <a:gd name="connsiteX1" fmla="*/ 25429 w 477152"/>
                <a:gd name="connsiteY1" fmla="*/ 0 h 2313350"/>
                <a:gd name="connsiteX2" fmla="*/ 337626 w 477152"/>
                <a:gd name="connsiteY2" fmla="*/ 122559 h 2313350"/>
                <a:gd name="connsiteX3" fmla="*/ 477152 w 477152"/>
                <a:gd name="connsiteY3" fmla="*/ 202492 h 2313350"/>
                <a:gd name="connsiteX4" fmla="*/ 477152 w 477152"/>
                <a:gd name="connsiteY4" fmla="*/ 2235024 h 2313350"/>
                <a:gd name="connsiteX5" fmla="*/ 398826 w 477152"/>
                <a:gd name="connsiteY5" fmla="*/ 2313350 h 2313350"/>
                <a:gd name="connsiteX6" fmla="*/ 85529 w 477152"/>
                <a:gd name="connsiteY6" fmla="*/ 2313350 h 2313350"/>
                <a:gd name="connsiteX7" fmla="*/ 7203 w 477152"/>
                <a:gd name="connsiteY7" fmla="*/ 2235024 h 2313350"/>
                <a:gd name="connsiteX8" fmla="*/ 7203 w 477152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-1 w 469948"/>
                <a:gd name="connsiteY0" fmla="*/ 174286 h 2285144"/>
                <a:gd name="connsiteX1" fmla="*/ 49782 w 469948"/>
                <a:gd name="connsiteY1" fmla="*/ 1 h 2285144"/>
                <a:gd name="connsiteX2" fmla="*/ 334387 w 469948"/>
                <a:gd name="connsiteY2" fmla="*/ 77186 h 2285144"/>
                <a:gd name="connsiteX3" fmla="*/ 469948 w 469948"/>
                <a:gd name="connsiteY3" fmla="*/ 174286 h 2285144"/>
                <a:gd name="connsiteX4" fmla="*/ 469948 w 469948"/>
                <a:gd name="connsiteY4" fmla="*/ 2206818 h 2285144"/>
                <a:gd name="connsiteX5" fmla="*/ 391622 w 469948"/>
                <a:gd name="connsiteY5" fmla="*/ 2285144 h 2285144"/>
                <a:gd name="connsiteX6" fmla="*/ 78325 w 469948"/>
                <a:gd name="connsiteY6" fmla="*/ 2285144 h 2285144"/>
                <a:gd name="connsiteX7" fmla="*/ -1 w 469948"/>
                <a:gd name="connsiteY7" fmla="*/ 2206818 h 2285144"/>
                <a:gd name="connsiteX8" fmla="*/ -1 w 469948"/>
                <a:gd name="connsiteY8" fmla="*/ 174286 h 2285144"/>
                <a:gd name="connsiteX0" fmla="*/ 0 w 469949"/>
                <a:gd name="connsiteY0" fmla="*/ 174285 h 2285143"/>
                <a:gd name="connsiteX1" fmla="*/ 49783 w 469949"/>
                <a:gd name="connsiteY1" fmla="*/ 0 h 2285143"/>
                <a:gd name="connsiteX2" fmla="*/ 334388 w 469949"/>
                <a:gd name="connsiteY2" fmla="*/ 77185 h 2285143"/>
                <a:gd name="connsiteX3" fmla="*/ 469949 w 469949"/>
                <a:gd name="connsiteY3" fmla="*/ 174285 h 2285143"/>
                <a:gd name="connsiteX4" fmla="*/ 469949 w 469949"/>
                <a:gd name="connsiteY4" fmla="*/ 2206817 h 2285143"/>
                <a:gd name="connsiteX5" fmla="*/ 391623 w 469949"/>
                <a:gd name="connsiteY5" fmla="*/ 2285143 h 2285143"/>
                <a:gd name="connsiteX6" fmla="*/ 78326 w 469949"/>
                <a:gd name="connsiteY6" fmla="*/ 2285143 h 2285143"/>
                <a:gd name="connsiteX7" fmla="*/ 0 w 469949"/>
                <a:gd name="connsiteY7" fmla="*/ 2206817 h 2285143"/>
                <a:gd name="connsiteX8" fmla="*/ 0 w 469949"/>
                <a:gd name="connsiteY8" fmla="*/ 174285 h 2285143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5442 w 471003"/>
                <a:gd name="connsiteY2" fmla="*/ 100792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4861 w 471003"/>
                <a:gd name="connsiteY2" fmla="*/ 89571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1003" h="2308750">
                  <a:moveTo>
                    <a:pt x="1054" y="197892"/>
                  </a:moveTo>
                  <a:cubicBezTo>
                    <a:pt x="1054" y="154634"/>
                    <a:pt x="-9176" y="0"/>
                    <a:pt x="34082" y="0"/>
                  </a:cubicBezTo>
                  <a:cubicBezTo>
                    <a:pt x="252569" y="55222"/>
                    <a:pt x="180322" y="46561"/>
                    <a:pt x="334861" y="89571"/>
                  </a:cubicBezTo>
                  <a:cubicBezTo>
                    <a:pt x="454403" y="123843"/>
                    <a:pt x="471003" y="154634"/>
                    <a:pt x="471003" y="197892"/>
                  </a:cubicBezTo>
                  <a:lnTo>
                    <a:pt x="471003" y="2230424"/>
                  </a:lnTo>
                  <a:cubicBezTo>
                    <a:pt x="471003" y="2273682"/>
                    <a:pt x="435935" y="2308750"/>
                    <a:pt x="392677" y="2308750"/>
                  </a:cubicBezTo>
                  <a:lnTo>
                    <a:pt x="79380" y="2308750"/>
                  </a:lnTo>
                  <a:cubicBezTo>
                    <a:pt x="36122" y="2308750"/>
                    <a:pt x="1054" y="2273682"/>
                    <a:pt x="1054" y="2230424"/>
                  </a:cubicBezTo>
                  <a:lnTo>
                    <a:pt x="1054" y="197892"/>
                  </a:lnTo>
                  <a:close/>
                </a:path>
              </a:pathLst>
            </a:cu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552996F6-B24D-378B-A68E-04BDE56A165D}"/>
                </a:ext>
              </a:extLst>
            </p:cNvPr>
            <p:cNvSpPr/>
            <p:nvPr userDrawn="1"/>
          </p:nvSpPr>
          <p:spPr>
            <a:xfrm rot="4506704" flipH="1">
              <a:off x="6264119" y="360823"/>
              <a:ext cx="464231" cy="107393"/>
            </a:xfrm>
            <a:prstGeom prst="roundRect">
              <a:avLst>
                <a:gd name="adj" fmla="val 32586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C7522EE9-1A44-8DCD-2F6A-7CD0BF51F0FD}"/>
                </a:ext>
              </a:extLst>
            </p:cNvPr>
            <p:cNvSpPr/>
            <p:nvPr userDrawn="1"/>
          </p:nvSpPr>
          <p:spPr>
            <a:xfrm flipH="1">
              <a:off x="6394598" y="180267"/>
              <a:ext cx="351774" cy="60140"/>
            </a:xfrm>
            <a:prstGeom prst="roundRect">
              <a:avLst>
                <a:gd name="adj" fmla="val 32586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val="1699759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지막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1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4800">
                <a:latin typeface="Trebuchet MS" panose="020B070302020209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50790F64-4FE8-0A76-F8EF-FEA76BB718F4}"/>
              </a:ext>
            </a:extLst>
          </p:cNvPr>
          <p:cNvGrpSpPr/>
          <p:nvPr userDrawn="1"/>
        </p:nvGrpSpPr>
        <p:grpSpPr>
          <a:xfrm>
            <a:off x="9608429" y="6377262"/>
            <a:ext cx="2549704" cy="447351"/>
            <a:chOff x="2347257" y="6113745"/>
            <a:chExt cx="2549704" cy="447351"/>
          </a:xfrm>
        </p:grpSpPr>
        <p:pic>
          <p:nvPicPr>
            <p:cNvPr id="33" name="그림 32" descr="로고, 그래픽, 그래픽 디자인, 스크린샷이(가) 표시된 사진&#10;&#10;자동 생성된 설명">
              <a:extLst>
                <a:ext uri="{FF2B5EF4-FFF2-40B4-BE49-F238E27FC236}">
                  <a16:creationId xmlns:a16="http://schemas.microsoft.com/office/drawing/2014/main" id="{5F0107DC-1969-2332-9966-A8D4F04957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47257" y="6113745"/>
              <a:ext cx="1016707" cy="447351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1C8422F-847D-E2D6-6D3B-C424656E2C83}"/>
                </a:ext>
              </a:extLst>
            </p:cNvPr>
            <p:cNvSpPr txBox="1"/>
            <p:nvPr userDrawn="1"/>
          </p:nvSpPr>
          <p:spPr>
            <a:xfrm>
              <a:off x="3356155" y="6113745"/>
              <a:ext cx="1540806" cy="37452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ts val="1100"/>
                </a:lnSpc>
              </a:pPr>
              <a:r>
                <a:rPr lang="en-US" sz="1200" b="1" dirty="0">
                  <a:solidFill>
                    <a:srgbClr val="5A5B5E"/>
                  </a:solidFill>
                  <a:latin typeface="Trebuchet MS" panose="020B0703020202090204" pitchFamily="34" charset="0"/>
                  <a:ea typeface="Baskerville" panose="02020502070401020303" pitchFamily="18" charset="0"/>
                </a:rPr>
                <a:t>School of Software</a:t>
              </a:r>
            </a:p>
            <a:p>
              <a:pPr algn="ctr">
                <a:lnSpc>
                  <a:spcPts val="1100"/>
                </a:lnSpc>
              </a:pPr>
              <a:r>
                <a:rPr lang="en-US" sz="1200" b="1" dirty="0" err="1">
                  <a:solidFill>
                    <a:srgbClr val="1DA1C6"/>
                  </a:solidFill>
                  <a:latin typeface="Trebuchet MS" panose="020B0703020202090204" pitchFamily="34" charset="0"/>
                  <a:ea typeface="Baskerville" panose="02020502070401020303" pitchFamily="18" charset="0"/>
                </a:rPr>
                <a:t>Soongsil</a:t>
              </a:r>
              <a:r>
                <a:rPr lang="en-US" sz="1200" b="1" dirty="0">
                  <a:solidFill>
                    <a:srgbClr val="1DA1C6"/>
                  </a:solidFill>
                  <a:latin typeface="Trebuchet MS" panose="020B0703020202090204" pitchFamily="34" charset="0"/>
                  <a:ea typeface="Baskerville" panose="02020502070401020303" pitchFamily="18" charset="0"/>
                </a:rPr>
                <a:t> University</a:t>
              </a: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4538A30A-D7A1-6521-A4C9-7B9DA3C4FFD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46080"/>
            <a:ext cx="1311920" cy="1311920"/>
          </a:xfrm>
          <a:prstGeom prst="rect">
            <a:avLst/>
          </a:prstGeom>
        </p:spPr>
      </p:pic>
      <p:sp>
        <p:nvSpPr>
          <p:cNvPr id="36" name="직사각형 35">
            <a:extLst>
              <a:ext uri="{FF2B5EF4-FFF2-40B4-BE49-F238E27FC236}">
                <a16:creationId xmlns:a16="http://schemas.microsoft.com/office/drawing/2014/main" id="{25080A8C-CABB-86CB-451E-4AA69A1125FB}"/>
              </a:ext>
            </a:extLst>
          </p:cNvPr>
          <p:cNvSpPr/>
          <p:nvPr userDrawn="1"/>
        </p:nvSpPr>
        <p:spPr>
          <a:xfrm>
            <a:off x="1197392" y="6516837"/>
            <a:ext cx="239520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 dirty="0">
                <a:latin typeface="Trebuchet MS" panose="020B0603020202020204" pitchFamily="34" charset="0"/>
              </a:rPr>
              <a:t>Lab: https://aica.ssu.ac.kr</a:t>
            </a:r>
            <a:endParaRPr lang="ko-KR" altLang="en-US" sz="1400" b="1" dirty="0">
              <a:latin typeface="Trebuchet MS" panose="020B0603020202020204" pitchFamily="34" charset="0"/>
            </a:endParaRP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FB6F3407-DDCF-0C52-4C34-A45338DFBA8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7392" y="6261269"/>
            <a:ext cx="3185923" cy="307777"/>
          </a:xfrm>
        </p:spPr>
        <p:txBody>
          <a:bodyPr>
            <a:normAutofit/>
          </a:bodyPr>
          <a:lstStyle>
            <a:lvl1pPr marL="0" indent="0">
              <a:buNone/>
              <a:defRPr sz="1400" b="1">
                <a:latin typeface="Trebuchet MS" panose="020B0603020202020204" pitchFamily="34" charset="0"/>
              </a:defRPr>
            </a:lvl1pPr>
            <a:lvl2pPr marL="457202" indent="0">
              <a:buNone/>
              <a:defRPr/>
            </a:lvl2pPr>
            <a:lvl3pPr marL="914404" indent="0">
              <a:buNone/>
              <a:defRPr/>
            </a:lvl3pPr>
            <a:lvl4pPr marL="1371605" indent="0">
              <a:buNone/>
              <a:defRPr/>
            </a:lvl4pPr>
            <a:lvl5pPr marL="1828807" indent="0">
              <a:buNone/>
              <a:defRPr/>
            </a:lvl5pPr>
          </a:lstStyle>
          <a:p>
            <a:pPr lvl="0"/>
            <a:r>
              <a:rPr lang="ko-KR" altLang="en-US" dirty="0"/>
              <a:t>본인 이메일 주소 </a:t>
            </a:r>
            <a:r>
              <a:rPr lang="en-US" altLang="ko-KR" dirty="0"/>
              <a:t>(E-mail: ~)</a:t>
            </a:r>
            <a:endParaRPr lang="ko-KR" altLang="en-US" dirty="0"/>
          </a:p>
        </p:txBody>
      </p:sp>
      <p:sp>
        <p:nvSpPr>
          <p:cNvPr id="19" name="부제목 2">
            <a:extLst>
              <a:ext uri="{FF2B5EF4-FFF2-40B4-BE49-F238E27FC236}">
                <a16:creationId xmlns:a16="http://schemas.microsoft.com/office/drawing/2014/main" id="{F294413C-AB4A-7E8A-9974-28FF957DA562}"/>
              </a:ext>
            </a:extLst>
          </p:cNvPr>
          <p:cNvSpPr txBox="1">
            <a:spLocks/>
          </p:cNvSpPr>
          <p:nvPr userDrawn="1"/>
        </p:nvSpPr>
        <p:spPr>
          <a:xfrm>
            <a:off x="3787205" y="5728639"/>
            <a:ext cx="4617590" cy="3726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703020202090204" pitchFamily="34" charset="0"/>
                <a:ea typeface="Baskerville" panose="02020502070401020303" pitchFamily="18" charset="0"/>
              </a:rPr>
              <a:t>Advanced Intelligent Computing Architecture Lab.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Trebuchet MS" panose="020B0603020202020204" pitchFamily="34" charset="0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63E9D89E-488B-7C80-8E05-D47E50776676}"/>
              </a:ext>
            </a:extLst>
          </p:cNvPr>
          <p:cNvGrpSpPr/>
          <p:nvPr userDrawn="1"/>
        </p:nvGrpSpPr>
        <p:grpSpPr>
          <a:xfrm>
            <a:off x="5196905" y="4977344"/>
            <a:ext cx="1798190" cy="646162"/>
            <a:chOff x="5976117" y="116467"/>
            <a:chExt cx="4341047" cy="155991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64ADCAA0-1610-1964-CF41-4AE81DD6BF1C}"/>
                </a:ext>
              </a:extLst>
            </p:cNvPr>
            <p:cNvSpPr/>
            <p:nvPr userDrawn="1"/>
          </p:nvSpPr>
          <p:spPr>
            <a:xfrm>
              <a:off x="7547660" y="613810"/>
              <a:ext cx="360000" cy="1046263"/>
            </a:xfrm>
            <a:prstGeom prst="roundRect">
              <a:avLst/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39" name="사각형: 둥근 모서리 38">
              <a:extLst>
                <a:ext uri="{FF2B5EF4-FFF2-40B4-BE49-F238E27FC236}">
                  <a16:creationId xmlns:a16="http://schemas.microsoft.com/office/drawing/2014/main" id="{028F6839-7E1F-F31F-B8F7-895801E25D74}"/>
                </a:ext>
              </a:extLst>
            </p:cNvPr>
            <p:cNvSpPr/>
            <p:nvPr userDrawn="1"/>
          </p:nvSpPr>
          <p:spPr>
            <a:xfrm>
              <a:off x="6776499" y="1312781"/>
              <a:ext cx="1131162" cy="363600"/>
            </a:xfrm>
            <a:prstGeom prst="roundRect">
              <a:avLst/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40" name="사각형: 둥근 모서리 34">
              <a:extLst>
                <a:ext uri="{FF2B5EF4-FFF2-40B4-BE49-F238E27FC236}">
                  <a16:creationId xmlns:a16="http://schemas.microsoft.com/office/drawing/2014/main" id="{BBD4F966-775A-284D-982D-F7F64523168D}"/>
                </a:ext>
              </a:extLst>
            </p:cNvPr>
            <p:cNvSpPr/>
            <p:nvPr userDrawn="1"/>
          </p:nvSpPr>
          <p:spPr>
            <a:xfrm rot="923841">
              <a:off x="6171723" y="144498"/>
              <a:ext cx="372850" cy="1492452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0 w 470074"/>
                <a:gd name="connsiteY0" fmla="*/ 168229 h 2279087"/>
                <a:gd name="connsiteX1" fmla="*/ 78326 w 470074"/>
                <a:gd name="connsiteY1" fmla="*/ 89903 h 2279087"/>
                <a:gd name="connsiteX2" fmla="*/ 431082 w 470074"/>
                <a:gd name="connsiteY2" fmla="*/ 0 h 2279087"/>
                <a:gd name="connsiteX3" fmla="*/ 469949 w 470074"/>
                <a:gd name="connsiteY3" fmla="*/ 168229 h 2279087"/>
                <a:gd name="connsiteX4" fmla="*/ 469949 w 470074"/>
                <a:gd name="connsiteY4" fmla="*/ 2200761 h 2279087"/>
                <a:gd name="connsiteX5" fmla="*/ 391623 w 470074"/>
                <a:gd name="connsiteY5" fmla="*/ 2279087 h 2279087"/>
                <a:gd name="connsiteX6" fmla="*/ 78326 w 470074"/>
                <a:gd name="connsiteY6" fmla="*/ 2279087 h 2279087"/>
                <a:gd name="connsiteX7" fmla="*/ 0 w 470074"/>
                <a:gd name="connsiteY7" fmla="*/ 2200761 h 2279087"/>
                <a:gd name="connsiteX8" fmla="*/ 0 w 470074"/>
                <a:gd name="connsiteY8" fmla="*/ 168229 h 2279087"/>
                <a:gd name="connsiteX0" fmla="*/ 0 w 473939"/>
                <a:gd name="connsiteY0" fmla="*/ 152392 h 2263250"/>
                <a:gd name="connsiteX1" fmla="*/ 78326 w 473939"/>
                <a:gd name="connsiteY1" fmla="*/ 74066 h 2263250"/>
                <a:gd name="connsiteX2" fmla="*/ 445323 w 473939"/>
                <a:gd name="connsiteY2" fmla="*/ 0 h 2263250"/>
                <a:gd name="connsiteX3" fmla="*/ 469949 w 473939"/>
                <a:gd name="connsiteY3" fmla="*/ 152392 h 2263250"/>
                <a:gd name="connsiteX4" fmla="*/ 469949 w 473939"/>
                <a:gd name="connsiteY4" fmla="*/ 2184924 h 2263250"/>
                <a:gd name="connsiteX5" fmla="*/ 391623 w 473939"/>
                <a:gd name="connsiteY5" fmla="*/ 2263250 h 2263250"/>
                <a:gd name="connsiteX6" fmla="*/ 78326 w 473939"/>
                <a:gd name="connsiteY6" fmla="*/ 2263250 h 2263250"/>
                <a:gd name="connsiteX7" fmla="*/ 0 w 473939"/>
                <a:gd name="connsiteY7" fmla="*/ 2184924 h 2263250"/>
                <a:gd name="connsiteX8" fmla="*/ 0 w 473939"/>
                <a:gd name="connsiteY8" fmla="*/ 152392 h 2263250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9858" h="2286042">
                  <a:moveTo>
                    <a:pt x="0" y="175184"/>
                  </a:moveTo>
                  <a:cubicBezTo>
                    <a:pt x="0" y="131926"/>
                    <a:pt x="35068" y="96858"/>
                    <a:pt x="78326" y="96858"/>
                  </a:cubicBezTo>
                  <a:cubicBezTo>
                    <a:pt x="394302" y="4021"/>
                    <a:pt x="351903" y="0"/>
                    <a:pt x="456335" y="0"/>
                  </a:cubicBezTo>
                  <a:cubicBezTo>
                    <a:pt x="499593" y="0"/>
                    <a:pt x="469949" y="131926"/>
                    <a:pt x="469949" y="175184"/>
                  </a:cubicBezTo>
                  <a:lnTo>
                    <a:pt x="469949" y="2207716"/>
                  </a:lnTo>
                  <a:cubicBezTo>
                    <a:pt x="469949" y="2250974"/>
                    <a:pt x="434881" y="2286042"/>
                    <a:pt x="391623" y="2286042"/>
                  </a:cubicBezTo>
                  <a:lnTo>
                    <a:pt x="78326" y="2286042"/>
                  </a:lnTo>
                  <a:cubicBezTo>
                    <a:pt x="35068" y="2286042"/>
                    <a:pt x="0" y="2250974"/>
                    <a:pt x="0" y="2207716"/>
                  </a:cubicBezTo>
                  <a:lnTo>
                    <a:pt x="0" y="175184"/>
                  </a:lnTo>
                  <a:close/>
                </a:path>
              </a:pathLst>
            </a:cu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983DE28C-A4C4-604E-8D18-D46C51025028}"/>
                </a:ext>
              </a:extLst>
            </p:cNvPr>
            <p:cNvSpPr/>
            <p:nvPr userDrawn="1"/>
          </p:nvSpPr>
          <p:spPr>
            <a:xfrm>
              <a:off x="5976117" y="1562385"/>
              <a:ext cx="367024" cy="107393"/>
            </a:xfrm>
            <a:prstGeom prst="roundRect">
              <a:avLst>
                <a:gd name="adj" fmla="val 49751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8E9AABCB-5098-84DC-87E1-79825A6A9438}"/>
                </a:ext>
              </a:extLst>
            </p:cNvPr>
            <p:cNvSpPr/>
            <p:nvPr userDrawn="1"/>
          </p:nvSpPr>
          <p:spPr>
            <a:xfrm rot="17142116">
              <a:off x="5845212" y="1386473"/>
              <a:ext cx="447973" cy="107393"/>
            </a:xfrm>
            <a:prstGeom prst="roundRect">
              <a:avLst>
                <a:gd name="adj" fmla="val 49751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DEE37C14-9C69-3C23-0179-974AE185B185}"/>
                </a:ext>
              </a:extLst>
            </p:cNvPr>
            <p:cNvSpPr/>
            <p:nvPr userDrawn="1"/>
          </p:nvSpPr>
          <p:spPr>
            <a:xfrm>
              <a:off x="7547660" y="189796"/>
              <a:ext cx="360000" cy="355633"/>
            </a:xfrm>
            <a:prstGeom prst="roundRect">
              <a:avLst/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44" name="사각형: 둥근 모서리 34">
              <a:extLst>
                <a:ext uri="{FF2B5EF4-FFF2-40B4-BE49-F238E27FC236}">
                  <a16:creationId xmlns:a16="http://schemas.microsoft.com/office/drawing/2014/main" id="{4C38D65E-4FEC-804E-42C0-EF22F51FF0D4}"/>
                </a:ext>
              </a:extLst>
            </p:cNvPr>
            <p:cNvSpPr/>
            <p:nvPr userDrawn="1"/>
          </p:nvSpPr>
          <p:spPr>
            <a:xfrm rot="923841">
              <a:off x="9359767" y="144498"/>
              <a:ext cx="372850" cy="1492452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0 w 470074"/>
                <a:gd name="connsiteY0" fmla="*/ 168229 h 2279087"/>
                <a:gd name="connsiteX1" fmla="*/ 78326 w 470074"/>
                <a:gd name="connsiteY1" fmla="*/ 89903 h 2279087"/>
                <a:gd name="connsiteX2" fmla="*/ 431082 w 470074"/>
                <a:gd name="connsiteY2" fmla="*/ 0 h 2279087"/>
                <a:gd name="connsiteX3" fmla="*/ 469949 w 470074"/>
                <a:gd name="connsiteY3" fmla="*/ 168229 h 2279087"/>
                <a:gd name="connsiteX4" fmla="*/ 469949 w 470074"/>
                <a:gd name="connsiteY4" fmla="*/ 2200761 h 2279087"/>
                <a:gd name="connsiteX5" fmla="*/ 391623 w 470074"/>
                <a:gd name="connsiteY5" fmla="*/ 2279087 h 2279087"/>
                <a:gd name="connsiteX6" fmla="*/ 78326 w 470074"/>
                <a:gd name="connsiteY6" fmla="*/ 2279087 h 2279087"/>
                <a:gd name="connsiteX7" fmla="*/ 0 w 470074"/>
                <a:gd name="connsiteY7" fmla="*/ 2200761 h 2279087"/>
                <a:gd name="connsiteX8" fmla="*/ 0 w 470074"/>
                <a:gd name="connsiteY8" fmla="*/ 168229 h 2279087"/>
                <a:gd name="connsiteX0" fmla="*/ 0 w 473939"/>
                <a:gd name="connsiteY0" fmla="*/ 152392 h 2263250"/>
                <a:gd name="connsiteX1" fmla="*/ 78326 w 473939"/>
                <a:gd name="connsiteY1" fmla="*/ 74066 h 2263250"/>
                <a:gd name="connsiteX2" fmla="*/ 445323 w 473939"/>
                <a:gd name="connsiteY2" fmla="*/ 0 h 2263250"/>
                <a:gd name="connsiteX3" fmla="*/ 469949 w 473939"/>
                <a:gd name="connsiteY3" fmla="*/ 152392 h 2263250"/>
                <a:gd name="connsiteX4" fmla="*/ 469949 w 473939"/>
                <a:gd name="connsiteY4" fmla="*/ 2184924 h 2263250"/>
                <a:gd name="connsiteX5" fmla="*/ 391623 w 473939"/>
                <a:gd name="connsiteY5" fmla="*/ 2263250 h 2263250"/>
                <a:gd name="connsiteX6" fmla="*/ 78326 w 473939"/>
                <a:gd name="connsiteY6" fmla="*/ 2263250 h 2263250"/>
                <a:gd name="connsiteX7" fmla="*/ 0 w 473939"/>
                <a:gd name="connsiteY7" fmla="*/ 2184924 h 2263250"/>
                <a:gd name="connsiteX8" fmla="*/ 0 w 473939"/>
                <a:gd name="connsiteY8" fmla="*/ 152392 h 2263250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  <a:gd name="connsiteX0" fmla="*/ 0 w 479858"/>
                <a:gd name="connsiteY0" fmla="*/ 175184 h 2286042"/>
                <a:gd name="connsiteX1" fmla="*/ 78326 w 479858"/>
                <a:gd name="connsiteY1" fmla="*/ 96858 h 2286042"/>
                <a:gd name="connsiteX2" fmla="*/ 456335 w 479858"/>
                <a:gd name="connsiteY2" fmla="*/ 0 h 2286042"/>
                <a:gd name="connsiteX3" fmla="*/ 469949 w 479858"/>
                <a:gd name="connsiteY3" fmla="*/ 175184 h 2286042"/>
                <a:gd name="connsiteX4" fmla="*/ 469949 w 479858"/>
                <a:gd name="connsiteY4" fmla="*/ 2207716 h 2286042"/>
                <a:gd name="connsiteX5" fmla="*/ 391623 w 479858"/>
                <a:gd name="connsiteY5" fmla="*/ 2286042 h 2286042"/>
                <a:gd name="connsiteX6" fmla="*/ 78326 w 479858"/>
                <a:gd name="connsiteY6" fmla="*/ 2286042 h 2286042"/>
                <a:gd name="connsiteX7" fmla="*/ 0 w 479858"/>
                <a:gd name="connsiteY7" fmla="*/ 2207716 h 2286042"/>
                <a:gd name="connsiteX8" fmla="*/ 0 w 479858"/>
                <a:gd name="connsiteY8" fmla="*/ 175184 h 2286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9858" h="2286042">
                  <a:moveTo>
                    <a:pt x="0" y="175184"/>
                  </a:moveTo>
                  <a:cubicBezTo>
                    <a:pt x="0" y="131926"/>
                    <a:pt x="35068" y="96858"/>
                    <a:pt x="78326" y="96858"/>
                  </a:cubicBezTo>
                  <a:cubicBezTo>
                    <a:pt x="394302" y="4021"/>
                    <a:pt x="351903" y="0"/>
                    <a:pt x="456335" y="0"/>
                  </a:cubicBezTo>
                  <a:cubicBezTo>
                    <a:pt x="499593" y="0"/>
                    <a:pt x="469949" y="131926"/>
                    <a:pt x="469949" y="175184"/>
                  </a:cubicBezTo>
                  <a:lnTo>
                    <a:pt x="469949" y="2207716"/>
                  </a:lnTo>
                  <a:cubicBezTo>
                    <a:pt x="469949" y="2250974"/>
                    <a:pt x="434881" y="2286042"/>
                    <a:pt x="391623" y="2286042"/>
                  </a:cubicBezTo>
                  <a:lnTo>
                    <a:pt x="78326" y="2286042"/>
                  </a:lnTo>
                  <a:cubicBezTo>
                    <a:pt x="35068" y="2286042"/>
                    <a:pt x="0" y="2250974"/>
                    <a:pt x="0" y="2207716"/>
                  </a:cubicBezTo>
                  <a:lnTo>
                    <a:pt x="0" y="175184"/>
                  </a:lnTo>
                  <a:close/>
                </a:path>
              </a:pathLst>
            </a:cu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7A23E54B-77C3-B58C-2FA5-9844FD869CAF}"/>
                </a:ext>
              </a:extLst>
            </p:cNvPr>
            <p:cNvSpPr/>
            <p:nvPr userDrawn="1"/>
          </p:nvSpPr>
          <p:spPr>
            <a:xfrm>
              <a:off x="9539301" y="186675"/>
              <a:ext cx="408152" cy="183858"/>
            </a:xfrm>
            <a:prstGeom prst="roundRect">
              <a:avLst>
                <a:gd name="adj" fmla="val 23143"/>
              </a:avLst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46" name="사각형: 둥근 모서리 45">
              <a:extLst>
                <a:ext uri="{FF2B5EF4-FFF2-40B4-BE49-F238E27FC236}">
                  <a16:creationId xmlns:a16="http://schemas.microsoft.com/office/drawing/2014/main" id="{32D96933-CDA3-3D64-DD04-22498904F2B0}"/>
                </a:ext>
              </a:extLst>
            </p:cNvPr>
            <p:cNvSpPr/>
            <p:nvPr userDrawn="1"/>
          </p:nvSpPr>
          <p:spPr>
            <a:xfrm flipH="1">
              <a:off x="9958325" y="1568154"/>
              <a:ext cx="358839" cy="107393"/>
            </a:xfrm>
            <a:prstGeom prst="roundRect">
              <a:avLst>
                <a:gd name="adj" fmla="val 43099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445C1F95-147E-F882-600A-F515FF5730DA}"/>
                </a:ext>
              </a:extLst>
            </p:cNvPr>
            <p:cNvSpPr/>
            <p:nvPr userDrawn="1"/>
          </p:nvSpPr>
          <p:spPr>
            <a:xfrm rot="4506704" flipH="1">
              <a:off x="9985282" y="1378492"/>
              <a:ext cx="464231" cy="107393"/>
            </a:xfrm>
            <a:prstGeom prst="roundRect">
              <a:avLst>
                <a:gd name="adj" fmla="val 50000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B524C14F-86B3-5F43-5AA4-229B555CD71D}"/>
                </a:ext>
              </a:extLst>
            </p:cNvPr>
            <p:cNvSpPr/>
            <p:nvPr userDrawn="1"/>
          </p:nvSpPr>
          <p:spPr>
            <a:xfrm rot="17142116">
              <a:off x="9285907" y="1386473"/>
              <a:ext cx="447973" cy="107393"/>
            </a:xfrm>
            <a:prstGeom prst="roundRect">
              <a:avLst>
                <a:gd name="adj" fmla="val 49751"/>
              </a:avLst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49" name="사각형: 둥근 모서리 48">
              <a:extLst>
                <a:ext uri="{FF2B5EF4-FFF2-40B4-BE49-F238E27FC236}">
                  <a16:creationId xmlns:a16="http://schemas.microsoft.com/office/drawing/2014/main" id="{93A75C5C-D184-FB1E-4D30-8E0C46ECE9F3}"/>
                </a:ext>
              </a:extLst>
            </p:cNvPr>
            <p:cNvSpPr/>
            <p:nvPr userDrawn="1"/>
          </p:nvSpPr>
          <p:spPr>
            <a:xfrm>
              <a:off x="8225540" y="182176"/>
              <a:ext cx="976417" cy="355633"/>
            </a:xfrm>
            <a:prstGeom prst="roundRect">
              <a:avLst/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70B536F9-A737-7889-1CA1-D9A1DF5D1FEE}"/>
                </a:ext>
              </a:extLst>
            </p:cNvPr>
            <p:cNvSpPr/>
            <p:nvPr userDrawn="1"/>
          </p:nvSpPr>
          <p:spPr>
            <a:xfrm>
              <a:off x="8225541" y="1310440"/>
              <a:ext cx="1287590" cy="355633"/>
            </a:xfrm>
            <a:prstGeom prst="roundRect">
              <a:avLst/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00B8EB24-2E34-6FC4-3C61-ECC562D3F574}"/>
                </a:ext>
              </a:extLst>
            </p:cNvPr>
            <p:cNvSpPr/>
            <p:nvPr userDrawn="1"/>
          </p:nvSpPr>
          <p:spPr>
            <a:xfrm>
              <a:off x="8210345" y="186675"/>
              <a:ext cx="360000" cy="1473398"/>
            </a:xfrm>
            <a:prstGeom prst="roundRect">
              <a:avLst/>
            </a:prstGeom>
            <a:solidFill>
              <a:srgbClr val="62C6C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52" name="사각형: 둥근 모서리 48">
              <a:extLst>
                <a:ext uri="{FF2B5EF4-FFF2-40B4-BE49-F238E27FC236}">
                  <a16:creationId xmlns:a16="http://schemas.microsoft.com/office/drawing/2014/main" id="{C19CBDAA-F316-CB8C-1303-809695D44691}"/>
                </a:ext>
              </a:extLst>
            </p:cNvPr>
            <p:cNvSpPr/>
            <p:nvPr userDrawn="1"/>
          </p:nvSpPr>
          <p:spPr>
            <a:xfrm rot="20700000">
              <a:off x="9757285" y="116467"/>
              <a:ext cx="365971" cy="1546595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7203 w 477152"/>
                <a:gd name="connsiteY0" fmla="*/ 202492 h 2313350"/>
                <a:gd name="connsiteX1" fmla="*/ 25429 w 477152"/>
                <a:gd name="connsiteY1" fmla="*/ 0 h 2313350"/>
                <a:gd name="connsiteX2" fmla="*/ 337626 w 477152"/>
                <a:gd name="connsiteY2" fmla="*/ 122559 h 2313350"/>
                <a:gd name="connsiteX3" fmla="*/ 477152 w 477152"/>
                <a:gd name="connsiteY3" fmla="*/ 202492 h 2313350"/>
                <a:gd name="connsiteX4" fmla="*/ 477152 w 477152"/>
                <a:gd name="connsiteY4" fmla="*/ 2235024 h 2313350"/>
                <a:gd name="connsiteX5" fmla="*/ 398826 w 477152"/>
                <a:gd name="connsiteY5" fmla="*/ 2313350 h 2313350"/>
                <a:gd name="connsiteX6" fmla="*/ 85529 w 477152"/>
                <a:gd name="connsiteY6" fmla="*/ 2313350 h 2313350"/>
                <a:gd name="connsiteX7" fmla="*/ 7203 w 477152"/>
                <a:gd name="connsiteY7" fmla="*/ 2235024 h 2313350"/>
                <a:gd name="connsiteX8" fmla="*/ 7203 w 477152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-1 w 469948"/>
                <a:gd name="connsiteY0" fmla="*/ 174286 h 2285144"/>
                <a:gd name="connsiteX1" fmla="*/ 49782 w 469948"/>
                <a:gd name="connsiteY1" fmla="*/ 1 h 2285144"/>
                <a:gd name="connsiteX2" fmla="*/ 334387 w 469948"/>
                <a:gd name="connsiteY2" fmla="*/ 77186 h 2285144"/>
                <a:gd name="connsiteX3" fmla="*/ 469948 w 469948"/>
                <a:gd name="connsiteY3" fmla="*/ 174286 h 2285144"/>
                <a:gd name="connsiteX4" fmla="*/ 469948 w 469948"/>
                <a:gd name="connsiteY4" fmla="*/ 2206818 h 2285144"/>
                <a:gd name="connsiteX5" fmla="*/ 391622 w 469948"/>
                <a:gd name="connsiteY5" fmla="*/ 2285144 h 2285144"/>
                <a:gd name="connsiteX6" fmla="*/ 78325 w 469948"/>
                <a:gd name="connsiteY6" fmla="*/ 2285144 h 2285144"/>
                <a:gd name="connsiteX7" fmla="*/ -1 w 469948"/>
                <a:gd name="connsiteY7" fmla="*/ 2206818 h 2285144"/>
                <a:gd name="connsiteX8" fmla="*/ -1 w 469948"/>
                <a:gd name="connsiteY8" fmla="*/ 174286 h 2285144"/>
                <a:gd name="connsiteX0" fmla="*/ 0 w 469949"/>
                <a:gd name="connsiteY0" fmla="*/ 174285 h 2285143"/>
                <a:gd name="connsiteX1" fmla="*/ 49783 w 469949"/>
                <a:gd name="connsiteY1" fmla="*/ 0 h 2285143"/>
                <a:gd name="connsiteX2" fmla="*/ 334388 w 469949"/>
                <a:gd name="connsiteY2" fmla="*/ 77185 h 2285143"/>
                <a:gd name="connsiteX3" fmla="*/ 469949 w 469949"/>
                <a:gd name="connsiteY3" fmla="*/ 174285 h 2285143"/>
                <a:gd name="connsiteX4" fmla="*/ 469949 w 469949"/>
                <a:gd name="connsiteY4" fmla="*/ 2206817 h 2285143"/>
                <a:gd name="connsiteX5" fmla="*/ 391623 w 469949"/>
                <a:gd name="connsiteY5" fmla="*/ 2285143 h 2285143"/>
                <a:gd name="connsiteX6" fmla="*/ 78326 w 469949"/>
                <a:gd name="connsiteY6" fmla="*/ 2285143 h 2285143"/>
                <a:gd name="connsiteX7" fmla="*/ 0 w 469949"/>
                <a:gd name="connsiteY7" fmla="*/ 2206817 h 2285143"/>
                <a:gd name="connsiteX8" fmla="*/ 0 w 469949"/>
                <a:gd name="connsiteY8" fmla="*/ 174285 h 2285143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5442 w 471003"/>
                <a:gd name="connsiteY2" fmla="*/ 100792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4861 w 471003"/>
                <a:gd name="connsiteY2" fmla="*/ 89571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1003" h="2308750">
                  <a:moveTo>
                    <a:pt x="1054" y="197892"/>
                  </a:moveTo>
                  <a:cubicBezTo>
                    <a:pt x="1054" y="154634"/>
                    <a:pt x="-9176" y="0"/>
                    <a:pt x="34082" y="0"/>
                  </a:cubicBezTo>
                  <a:cubicBezTo>
                    <a:pt x="252569" y="55222"/>
                    <a:pt x="180322" y="46561"/>
                    <a:pt x="334861" y="89571"/>
                  </a:cubicBezTo>
                  <a:cubicBezTo>
                    <a:pt x="454403" y="123843"/>
                    <a:pt x="471003" y="154634"/>
                    <a:pt x="471003" y="197892"/>
                  </a:cubicBezTo>
                  <a:lnTo>
                    <a:pt x="471003" y="2230424"/>
                  </a:lnTo>
                  <a:cubicBezTo>
                    <a:pt x="471003" y="2273682"/>
                    <a:pt x="435935" y="2308750"/>
                    <a:pt x="392677" y="2308750"/>
                  </a:cubicBezTo>
                  <a:lnTo>
                    <a:pt x="79380" y="2308750"/>
                  </a:lnTo>
                  <a:cubicBezTo>
                    <a:pt x="36122" y="2308750"/>
                    <a:pt x="1054" y="2273682"/>
                    <a:pt x="1054" y="2230424"/>
                  </a:cubicBezTo>
                  <a:lnTo>
                    <a:pt x="1054" y="197892"/>
                  </a:lnTo>
                  <a:close/>
                </a:path>
              </a:pathLst>
            </a:cu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53" name="사각형: 둥근 모서리 52">
              <a:extLst>
                <a:ext uri="{FF2B5EF4-FFF2-40B4-BE49-F238E27FC236}">
                  <a16:creationId xmlns:a16="http://schemas.microsoft.com/office/drawing/2014/main" id="{3982DA01-DAB2-66E5-E365-CFF5181A0C9C}"/>
                </a:ext>
              </a:extLst>
            </p:cNvPr>
            <p:cNvSpPr/>
            <p:nvPr userDrawn="1"/>
          </p:nvSpPr>
          <p:spPr>
            <a:xfrm rot="4506704" flipH="1">
              <a:off x="9456291" y="360823"/>
              <a:ext cx="464231" cy="107393"/>
            </a:xfrm>
            <a:prstGeom prst="roundRect">
              <a:avLst>
                <a:gd name="adj" fmla="val 32586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800FCEC9-FF7B-4B9B-DAC4-B3D9BC28F820}"/>
                </a:ext>
              </a:extLst>
            </p:cNvPr>
            <p:cNvSpPr/>
            <p:nvPr userDrawn="1"/>
          </p:nvSpPr>
          <p:spPr>
            <a:xfrm flipH="1">
              <a:off x="9586770" y="180267"/>
              <a:ext cx="351774" cy="60140"/>
            </a:xfrm>
            <a:prstGeom prst="roundRect">
              <a:avLst>
                <a:gd name="adj" fmla="val 32586"/>
              </a:avLst>
            </a:prstGeom>
            <a:solidFill>
              <a:srgbClr val="00A7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FE59132D-E0F7-5227-671D-15B4032C34B0}"/>
                </a:ext>
              </a:extLst>
            </p:cNvPr>
            <p:cNvSpPr/>
            <p:nvPr userDrawn="1"/>
          </p:nvSpPr>
          <p:spPr>
            <a:xfrm>
              <a:off x="6347129" y="186675"/>
              <a:ext cx="408152" cy="183858"/>
            </a:xfrm>
            <a:prstGeom prst="roundRect">
              <a:avLst>
                <a:gd name="adj" fmla="val 23143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56" name="사각형: 둥근 모서리 55">
              <a:extLst>
                <a:ext uri="{FF2B5EF4-FFF2-40B4-BE49-F238E27FC236}">
                  <a16:creationId xmlns:a16="http://schemas.microsoft.com/office/drawing/2014/main" id="{20FCFC37-75D1-A1F5-B779-980816D9566F}"/>
                </a:ext>
              </a:extLst>
            </p:cNvPr>
            <p:cNvSpPr/>
            <p:nvPr userDrawn="1"/>
          </p:nvSpPr>
          <p:spPr>
            <a:xfrm flipH="1">
              <a:off x="6766153" y="1568154"/>
              <a:ext cx="358839" cy="107393"/>
            </a:xfrm>
            <a:prstGeom prst="roundRect">
              <a:avLst>
                <a:gd name="adj" fmla="val 43099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57" name="사각형: 둥근 모서리 56">
              <a:extLst>
                <a:ext uri="{FF2B5EF4-FFF2-40B4-BE49-F238E27FC236}">
                  <a16:creationId xmlns:a16="http://schemas.microsoft.com/office/drawing/2014/main" id="{4A451D5E-D275-D412-8599-7730D9FAE251}"/>
                </a:ext>
              </a:extLst>
            </p:cNvPr>
            <p:cNvSpPr/>
            <p:nvPr userDrawn="1"/>
          </p:nvSpPr>
          <p:spPr>
            <a:xfrm rot="4506704" flipH="1">
              <a:off x="6793110" y="1378492"/>
              <a:ext cx="464231" cy="107393"/>
            </a:xfrm>
            <a:prstGeom prst="roundRect">
              <a:avLst>
                <a:gd name="adj" fmla="val 50000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58" name="사각형: 둥근 모서리 48">
              <a:extLst>
                <a:ext uri="{FF2B5EF4-FFF2-40B4-BE49-F238E27FC236}">
                  <a16:creationId xmlns:a16="http://schemas.microsoft.com/office/drawing/2014/main" id="{9DD62034-9CD4-BE1D-203C-464F0185C4C9}"/>
                </a:ext>
              </a:extLst>
            </p:cNvPr>
            <p:cNvSpPr/>
            <p:nvPr userDrawn="1"/>
          </p:nvSpPr>
          <p:spPr>
            <a:xfrm rot="20700000">
              <a:off x="6565113" y="116467"/>
              <a:ext cx="365971" cy="1546595"/>
            </a:xfrm>
            <a:custGeom>
              <a:avLst/>
              <a:gdLst>
                <a:gd name="connsiteX0" fmla="*/ 0 w 469949"/>
                <a:gd name="connsiteY0" fmla="*/ 78326 h 2189184"/>
                <a:gd name="connsiteX1" fmla="*/ 78326 w 469949"/>
                <a:gd name="connsiteY1" fmla="*/ 0 h 2189184"/>
                <a:gd name="connsiteX2" fmla="*/ 391623 w 469949"/>
                <a:gd name="connsiteY2" fmla="*/ 0 h 2189184"/>
                <a:gd name="connsiteX3" fmla="*/ 469949 w 469949"/>
                <a:gd name="connsiteY3" fmla="*/ 78326 h 2189184"/>
                <a:gd name="connsiteX4" fmla="*/ 469949 w 469949"/>
                <a:gd name="connsiteY4" fmla="*/ 2110858 h 2189184"/>
                <a:gd name="connsiteX5" fmla="*/ 391623 w 469949"/>
                <a:gd name="connsiteY5" fmla="*/ 2189184 h 2189184"/>
                <a:gd name="connsiteX6" fmla="*/ 78326 w 469949"/>
                <a:gd name="connsiteY6" fmla="*/ 2189184 h 2189184"/>
                <a:gd name="connsiteX7" fmla="*/ 0 w 469949"/>
                <a:gd name="connsiteY7" fmla="*/ 2110858 h 2189184"/>
                <a:gd name="connsiteX8" fmla="*/ 0 w 469949"/>
                <a:gd name="connsiteY8" fmla="*/ 78326 h 218918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401214 w 479540"/>
                <a:gd name="connsiteY2" fmla="*/ 64040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9591 w 479540"/>
                <a:gd name="connsiteY0" fmla="*/ 142366 h 2253224"/>
                <a:gd name="connsiteX1" fmla="*/ 23723 w 479540"/>
                <a:gd name="connsiteY1" fmla="*/ 0 h 2253224"/>
                <a:gd name="connsiteX2" fmla="*/ 340014 w 479540"/>
                <a:gd name="connsiteY2" fmla="*/ 62433 h 2253224"/>
                <a:gd name="connsiteX3" fmla="*/ 479540 w 479540"/>
                <a:gd name="connsiteY3" fmla="*/ 142366 h 2253224"/>
                <a:gd name="connsiteX4" fmla="*/ 479540 w 479540"/>
                <a:gd name="connsiteY4" fmla="*/ 2174898 h 2253224"/>
                <a:gd name="connsiteX5" fmla="*/ 401214 w 479540"/>
                <a:gd name="connsiteY5" fmla="*/ 2253224 h 2253224"/>
                <a:gd name="connsiteX6" fmla="*/ 87917 w 479540"/>
                <a:gd name="connsiteY6" fmla="*/ 2253224 h 2253224"/>
                <a:gd name="connsiteX7" fmla="*/ 9591 w 479540"/>
                <a:gd name="connsiteY7" fmla="*/ 2174898 h 2253224"/>
                <a:gd name="connsiteX8" fmla="*/ 9591 w 479540"/>
                <a:gd name="connsiteY8" fmla="*/ 142366 h 2253224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4 w 469953"/>
                <a:gd name="connsiteY0" fmla="*/ 154603 h 2265461"/>
                <a:gd name="connsiteX1" fmla="*/ 42068 w 469953"/>
                <a:gd name="connsiteY1" fmla="*/ 0 h 2265461"/>
                <a:gd name="connsiteX2" fmla="*/ 330427 w 469953"/>
                <a:gd name="connsiteY2" fmla="*/ 74670 h 2265461"/>
                <a:gd name="connsiteX3" fmla="*/ 469953 w 469953"/>
                <a:gd name="connsiteY3" fmla="*/ 154603 h 2265461"/>
                <a:gd name="connsiteX4" fmla="*/ 469953 w 469953"/>
                <a:gd name="connsiteY4" fmla="*/ 2187135 h 2265461"/>
                <a:gd name="connsiteX5" fmla="*/ 391627 w 469953"/>
                <a:gd name="connsiteY5" fmla="*/ 2265461 h 2265461"/>
                <a:gd name="connsiteX6" fmla="*/ 78330 w 469953"/>
                <a:gd name="connsiteY6" fmla="*/ 2265461 h 2265461"/>
                <a:gd name="connsiteX7" fmla="*/ 4 w 469953"/>
                <a:gd name="connsiteY7" fmla="*/ 2187135 h 2265461"/>
                <a:gd name="connsiteX8" fmla="*/ 4 w 469953"/>
                <a:gd name="connsiteY8" fmla="*/ 154603 h 2265461"/>
                <a:gd name="connsiteX0" fmla="*/ 7203 w 477152"/>
                <a:gd name="connsiteY0" fmla="*/ 202492 h 2313350"/>
                <a:gd name="connsiteX1" fmla="*/ 25429 w 477152"/>
                <a:gd name="connsiteY1" fmla="*/ 0 h 2313350"/>
                <a:gd name="connsiteX2" fmla="*/ 337626 w 477152"/>
                <a:gd name="connsiteY2" fmla="*/ 122559 h 2313350"/>
                <a:gd name="connsiteX3" fmla="*/ 477152 w 477152"/>
                <a:gd name="connsiteY3" fmla="*/ 202492 h 2313350"/>
                <a:gd name="connsiteX4" fmla="*/ 477152 w 477152"/>
                <a:gd name="connsiteY4" fmla="*/ 2235024 h 2313350"/>
                <a:gd name="connsiteX5" fmla="*/ 398826 w 477152"/>
                <a:gd name="connsiteY5" fmla="*/ 2313350 h 2313350"/>
                <a:gd name="connsiteX6" fmla="*/ 85529 w 477152"/>
                <a:gd name="connsiteY6" fmla="*/ 2313350 h 2313350"/>
                <a:gd name="connsiteX7" fmla="*/ 7203 w 477152"/>
                <a:gd name="connsiteY7" fmla="*/ 2235024 h 2313350"/>
                <a:gd name="connsiteX8" fmla="*/ 7203 w 477152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7204 w 477153"/>
                <a:gd name="connsiteY0" fmla="*/ 202492 h 2313350"/>
                <a:gd name="connsiteX1" fmla="*/ 25430 w 477153"/>
                <a:gd name="connsiteY1" fmla="*/ 0 h 2313350"/>
                <a:gd name="connsiteX2" fmla="*/ 341592 w 477153"/>
                <a:gd name="connsiteY2" fmla="*/ 105392 h 2313350"/>
                <a:gd name="connsiteX3" fmla="*/ 477153 w 477153"/>
                <a:gd name="connsiteY3" fmla="*/ 202492 h 2313350"/>
                <a:gd name="connsiteX4" fmla="*/ 477153 w 477153"/>
                <a:gd name="connsiteY4" fmla="*/ 2235024 h 2313350"/>
                <a:gd name="connsiteX5" fmla="*/ 398827 w 477153"/>
                <a:gd name="connsiteY5" fmla="*/ 2313350 h 2313350"/>
                <a:gd name="connsiteX6" fmla="*/ 85530 w 477153"/>
                <a:gd name="connsiteY6" fmla="*/ 2313350 h 2313350"/>
                <a:gd name="connsiteX7" fmla="*/ 7204 w 477153"/>
                <a:gd name="connsiteY7" fmla="*/ 2235024 h 2313350"/>
                <a:gd name="connsiteX8" fmla="*/ 7204 w 477153"/>
                <a:gd name="connsiteY8" fmla="*/ 202492 h 2313350"/>
                <a:gd name="connsiteX0" fmla="*/ -1 w 469948"/>
                <a:gd name="connsiteY0" fmla="*/ 174286 h 2285144"/>
                <a:gd name="connsiteX1" fmla="*/ 49782 w 469948"/>
                <a:gd name="connsiteY1" fmla="*/ 1 h 2285144"/>
                <a:gd name="connsiteX2" fmla="*/ 334387 w 469948"/>
                <a:gd name="connsiteY2" fmla="*/ 77186 h 2285144"/>
                <a:gd name="connsiteX3" fmla="*/ 469948 w 469948"/>
                <a:gd name="connsiteY3" fmla="*/ 174286 h 2285144"/>
                <a:gd name="connsiteX4" fmla="*/ 469948 w 469948"/>
                <a:gd name="connsiteY4" fmla="*/ 2206818 h 2285144"/>
                <a:gd name="connsiteX5" fmla="*/ 391622 w 469948"/>
                <a:gd name="connsiteY5" fmla="*/ 2285144 h 2285144"/>
                <a:gd name="connsiteX6" fmla="*/ 78325 w 469948"/>
                <a:gd name="connsiteY6" fmla="*/ 2285144 h 2285144"/>
                <a:gd name="connsiteX7" fmla="*/ -1 w 469948"/>
                <a:gd name="connsiteY7" fmla="*/ 2206818 h 2285144"/>
                <a:gd name="connsiteX8" fmla="*/ -1 w 469948"/>
                <a:gd name="connsiteY8" fmla="*/ 174286 h 2285144"/>
                <a:gd name="connsiteX0" fmla="*/ 0 w 469949"/>
                <a:gd name="connsiteY0" fmla="*/ 174285 h 2285143"/>
                <a:gd name="connsiteX1" fmla="*/ 49783 w 469949"/>
                <a:gd name="connsiteY1" fmla="*/ 0 h 2285143"/>
                <a:gd name="connsiteX2" fmla="*/ 334388 w 469949"/>
                <a:gd name="connsiteY2" fmla="*/ 77185 h 2285143"/>
                <a:gd name="connsiteX3" fmla="*/ 469949 w 469949"/>
                <a:gd name="connsiteY3" fmla="*/ 174285 h 2285143"/>
                <a:gd name="connsiteX4" fmla="*/ 469949 w 469949"/>
                <a:gd name="connsiteY4" fmla="*/ 2206817 h 2285143"/>
                <a:gd name="connsiteX5" fmla="*/ 391623 w 469949"/>
                <a:gd name="connsiteY5" fmla="*/ 2285143 h 2285143"/>
                <a:gd name="connsiteX6" fmla="*/ 78326 w 469949"/>
                <a:gd name="connsiteY6" fmla="*/ 2285143 h 2285143"/>
                <a:gd name="connsiteX7" fmla="*/ 0 w 469949"/>
                <a:gd name="connsiteY7" fmla="*/ 2206817 h 2285143"/>
                <a:gd name="connsiteX8" fmla="*/ 0 w 469949"/>
                <a:gd name="connsiteY8" fmla="*/ 174285 h 2285143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5442 w 471003"/>
                <a:gd name="connsiteY2" fmla="*/ 100792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  <a:gd name="connsiteX0" fmla="*/ 1054 w 471003"/>
                <a:gd name="connsiteY0" fmla="*/ 197892 h 2308750"/>
                <a:gd name="connsiteX1" fmla="*/ 34082 w 471003"/>
                <a:gd name="connsiteY1" fmla="*/ 0 h 2308750"/>
                <a:gd name="connsiteX2" fmla="*/ 334861 w 471003"/>
                <a:gd name="connsiteY2" fmla="*/ 89571 h 2308750"/>
                <a:gd name="connsiteX3" fmla="*/ 471003 w 471003"/>
                <a:gd name="connsiteY3" fmla="*/ 197892 h 2308750"/>
                <a:gd name="connsiteX4" fmla="*/ 471003 w 471003"/>
                <a:gd name="connsiteY4" fmla="*/ 2230424 h 2308750"/>
                <a:gd name="connsiteX5" fmla="*/ 392677 w 471003"/>
                <a:gd name="connsiteY5" fmla="*/ 2308750 h 2308750"/>
                <a:gd name="connsiteX6" fmla="*/ 79380 w 471003"/>
                <a:gd name="connsiteY6" fmla="*/ 2308750 h 2308750"/>
                <a:gd name="connsiteX7" fmla="*/ 1054 w 471003"/>
                <a:gd name="connsiteY7" fmla="*/ 2230424 h 2308750"/>
                <a:gd name="connsiteX8" fmla="*/ 1054 w 471003"/>
                <a:gd name="connsiteY8" fmla="*/ 197892 h 230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1003" h="2308750">
                  <a:moveTo>
                    <a:pt x="1054" y="197892"/>
                  </a:moveTo>
                  <a:cubicBezTo>
                    <a:pt x="1054" y="154634"/>
                    <a:pt x="-9176" y="0"/>
                    <a:pt x="34082" y="0"/>
                  </a:cubicBezTo>
                  <a:cubicBezTo>
                    <a:pt x="252569" y="55222"/>
                    <a:pt x="180322" y="46561"/>
                    <a:pt x="334861" y="89571"/>
                  </a:cubicBezTo>
                  <a:cubicBezTo>
                    <a:pt x="454403" y="123843"/>
                    <a:pt x="471003" y="154634"/>
                    <a:pt x="471003" y="197892"/>
                  </a:cubicBezTo>
                  <a:lnTo>
                    <a:pt x="471003" y="2230424"/>
                  </a:lnTo>
                  <a:cubicBezTo>
                    <a:pt x="471003" y="2273682"/>
                    <a:pt x="435935" y="2308750"/>
                    <a:pt x="392677" y="2308750"/>
                  </a:cubicBezTo>
                  <a:lnTo>
                    <a:pt x="79380" y="2308750"/>
                  </a:lnTo>
                  <a:cubicBezTo>
                    <a:pt x="36122" y="2308750"/>
                    <a:pt x="1054" y="2273682"/>
                    <a:pt x="1054" y="2230424"/>
                  </a:cubicBezTo>
                  <a:lnTo>
                    <a:pt x="1054" y="197892"/>
                  </a:lnTo>
                  <a:close/>
                </a:path>
              </a:pathLst>
            </a:cu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59" name="사각형: 둥근 모서리 58">
              <a:extLst>
                <a:ext uri="{FF2B5EF4-FFF2-40B4-BE49-F238E27FC236}">
                  <a16:creationId xmlns:a16="http://schemas.microsoft.com/office/drawing/2014/main" id="{9FCA9E36-697C-D30C-2533-FD6768039D7C}"/>
                </a:ext>
              </a:extLst>
            </p:cNvPr>
            <p:cNvSpPr/>
            <p:nvPr userDrawn="1"/>
          </p:nvSpPr>
          <p:spPr>
            <a:xfrm rot="4506704" flipH="1">
              <a:off x="6264119" y="360823"/>
              <a:ext cx="464231" cy="107393"/>
            </a:xfrm>
            <a:prstGeom prst="roundRect">
              <a:avLst>
                <a:gd name="adj" fmla="val 32586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60" name="사각형: 둥근 모서리 59">
              <a:extLst>
                <a:ext uri="{FF2B5EF4-FFF2-40B4-BE49-F238E27FC236}">
                  <a16:creationId xmlns:a16="http://schemas.microsoft.com/office/drawing/2014/main" id="{6E7E9F02-56F7-2C10-9878-B607F9E9684E}"/>
                </a:ext>
              </a:extLst>
            </p:cNvPr>
            <p:cNvSpPr/>
            <p:nvPr userDrawn="1"/>
          </p:nvSpPr>
          <p:spPr>
            <a:xfrm flipH="1">
              <a:off x="6394598" y="180267"/>
              <a:ext cx="351774" cy="60140"/>
            </a:xfrm>
            <a:prstGeom prst="roundRect">
              <a:avLst>
                <a:gd name="adj" fmla="val 32586"/>
              </a:avLst>
            </a:prstGeom>
            <a:solidFill>
              <a:srgbClr val="006E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val="11286820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736D39C-E17C-A364-3719-16AC7911D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E6840F-8B5F-3FBD-6419-8AFE6AC60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0AEC86-6903-7FA5-5907-91F1DC80DF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ko-KR"/>
              <a:t>2026-07-31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0C5AA7-AF4B-27BC-291C-EB359758B7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DF7195-719B-0ADE-61C3-943AD62275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7ADC79-C875-44C7-B2EB-DB4716D8F1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8033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5E567E6-AE26-4E8E-B312-C95BB81BB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30C5C33-B2C4-4686-B825-1347A5F7C4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00B2AC-F741-4F9D-88DA-C2BBCD28AA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/>
              <a:t>2026-07-31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A871F7-7716-4B35-B16F-5215D47AEF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B17825-BD73-4B44-AE33-E311A76C2B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D3D6F-2C60-4B7A-8BF3-E953E669A3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9771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</p:sldLayoutIdLst>
  <p:hf hdr="0" ftr="0"/>
  <p:txStyles>
    <p:titleStyle>
      <a:lvl1pPr algn="l" defTabSz="914404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1" indent="-228601" algn="l" defTabSz="914404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3" indent="-228601" algn="l" defTabSz="91440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5" indent="-228601" algn="l" defTabSz="91440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6" indent="-228601" algn="l" defTabSz="91440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8" indent="-228601" algn="l" defTabSz="91440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10" indent="-228601" algn="l" defTabSz="91440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12" indent="-228601" algn="l" defTabSz="91440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14" indent="-228601" algn="l" defTabSz="91440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16" indent="-228601" algn="l" defTabSz="91440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2" algn="l" defTabSz="91440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4" algn="l" defTabSz="91440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5" algn="l" defTabSz="91440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7" algn="l" defTabSz="91440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9" algn="l" defTabSz="91440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11" algn="l" defTabSz="91440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13" algn="l" defTabSz="91440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15" algn="l" defTabSz="91440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E8A260-966E-CEEB-B2DB-29375CB554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06243"/>
            <a:ext cx="9144000" cy="855184"/>
          </a:xfrm>
        </p:spPr>
        <p:txBody>
          <a:bodyPr>
            <a:noAutofit/>
          </a:bodyPr>
          <a:lstStyle/>
          <a:p>
            <a:r>
              <a:rPr lang="en-US" altLang="ko-KR" sz="3200" dirty="0"/>
              <a:t>Week 1. Tensor와 학습</a:t>
            </a:r>
            <a:endParaRPr lang="ko-KR" altLang="en-US" sz="32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D781DF1-B9BC-46C6-B822-1CB5D8F227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37062" y="3602039"/>
            <a:ext cx="9144000" cy="165576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ko-KR" dirty="0">
                <a:ea typeface="맑은 고딕" panose="020B0503020000020004" pitchFamily="50" charset="-127"/>
                <a:cs typeface="Calibri" panose="020F0502020204030204" pitchFamily="34" charset="0"/>
              </a:rPr>
              <a:t>Yun-Hong Min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ko-KR" dirty="0">
                <a:ea typeface="맑은 고딕" panose="020B0503020000020004" pitchFamily="50" charset="-127"/>
                <a:cs typeface="Calibri" panose="020F0502020204030204" pitchFamily="34" charset="0"/>
              </a:rPr>
              <a:t>(picomin1027@gmail.com)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71A4431-2231-1E65-66CF-DEB583250F5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AI Zero 2 Transformer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4700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116ECB-EA11-2EAA-88FA-7B43A1F5A6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Question ?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8D9C941-A705-0CAA-855B-4FB547507C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7391" y="6261267"/>
            <a:ext cx="3896261" cy="38526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altLang="ko-KR" dirty="0">
                <a:latin typeface="Trebuchet MS"/>
                <a:ea typeface="맑은 고딕"/>
              </a:rPr>
              <a:t>E-mail: picomin1027@gmail.com</a:t>
            </a:r>
            <a:endParaRPr lang="ko-KR" altLang="en-US" dirty="0">
              <a:latin typeface="Trebuchet MS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959509466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73152" rIns="73152" tIns="36576" bIns="36576" anchor="b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None/>
            </a:pPr>
            <a:r>
              <a:rPr sz="22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Week 1 · 이번 주의 질문</a:t>
            </a:r>
          </a:p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None/>
            </a:pPr>
            <a:r>
              <a:rPr sz="36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규칙을 다 쓰지 않고 배울 수 있을까?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 lIns="73152" rIns="73152" tIns="36576" bIns="36576" anchor="t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000" b="0">
                <a:solidFill>
                  <a:srgbClr val="5E6B75"/>
                </a:solidFill>
                <a:latin typeface="맑은 고딕"/>
                <a:ea typeface="맑은 고딕"/>
                <a:cs typeface="맑은 고딕"/>
              </a:rPr>
              <a:t>1943–1958 · Tensor · 모델 · 손실 · 경사하강법 · 일반화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 과정의 도착점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8176"/>
            <a:ext cx="5696346" cy="4974336"/>
          </a:xfrm>
        </p:spPr>
        <p:txBody>
          <a:bodyPr wrap="square" lIns="73152" rIns="73152" tIns="36576" bIns="36576" anchor="t">
            <a:normAutofit/>
          </a:bodyPr>
          <a:lstStyle/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9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</a:rPr>
              <a:t>입력이 </a:t>
            </a:r>
            <a:r>
              <a:rPr sz="1800" b="1">
                <a:solidFill>
                  <a:srgbClr val="1B2A36"/>
                </a:solidFill>
              </a:rPr>
              <a:t>어떤 숫자 배열</a:t>
            </a:r>
            <a:r>
              <a:rPr sz="1800" b="0">
                <a:solidFill>
                  <a:srgbClr val="1B2A36"/>
                </a:solidFill>
              </a:rPr>
              <a:t>로 바뀌는지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9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</a:rPr>
              <a:t>각 블록에서 </a:t>
            </a:r>
            <a:r>
              <a:rPr sz="1800" b="1">
                <a:solidFill>
                  <a:srgbClr val="1B2A36"/>
                </a:solidFill>
              </a:rPr>
              <a:t>shape</a:t>
            </a:r>
            <a:r>
              <a:rPr sz="1800" b="0">
                <a:solidFill>
                  <a:srgbClr val="1B2A36"/>
                </a:solidFill>
              </a:rPr>
              <a:t>가 어떻게 바뀌는지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9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</a:rPr>
              <a:t>무엇이 </a:t>
            </a:r>
            <a:r>
              <a:rPr sz="1800" b="1">
                <a:solidFill>
                  <a:srgbClr val="1B2A36"/>
                </a:solidFill>
              </a:rPr>
              <a:t>학습되는 파라미터</a:t>
            </a:r>
            <a:r>
              <a:rPr sz="1800" b="0">
                <a:solidFill>
                  <a:srgbClr val="1B2A36"/>
                </a:solidFill>
              </a:rPr>
              <a:t>이고 무엇이 계산 결과인지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9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</a:rPr>
              <a:t>각 위치가 </a:t>
            </a:r>
            <a:r>
              <a:rPr sz="1800" b="1">
                <a:solidFill>
                  <a:srgbClr val="1B2A36"/>
                </a:solidFill>
              </a:rPr>
              <a:t>어떤 정보를 참조</a:t>
            </a:r>
            <a:r>
              <a:rPr sz="1800" b="0">
                <a:solidFill>
                  <a:srgbClr val="1B2A36"/>
                </a:solidFill>
              </a:rPr>
              <a:t>할 수 있는지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9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</a:rPr>
              <a:t>어떻게 </a:t>
            </a:r>
            <a:r>
              <a:rPr sz="1800" b="1">
                <a:solidFill>
                  <a:srgbClr val="1B2A36"/>
                </a:solidFill>
              </a:rPr>
              <a:t>다음 토큰</a:t>
            </a:r>
            <a:r>
              <a:rPr sz="1800" b="0">
                <a:solidFill>
                  <a:srgbClr val="1B2A36"/>
                </a:solidFill>
              </a:rPr>
              <a:t>을 하나씩 만들어 내는지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9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</a:rPr>
              <a:t>그리고 이 모든 것이 </a:t>
            </a:r>
            <a:r>
              <a:rPr sz="1800" b="1">
                <a:solidFill>
                  <a:srgbClr val="1B2A36"/>
                </a:solidFill>
              </a:rPr>
              <a:t>왜 필요해졌는지</a:t>
            </a:r>
            <a:r>
              <a:rPr sz="1800" b="0">
                <a:solidFill>
                  <a:srgbClr val="1B2A36"/>
                </a:solidFill>
              </a:rPr>
              <a:t> — 1943년부터의 흐름으로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2026-10-05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58252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 Zero 2 Transformer</a:t>
            </a:r>
            <a:r>
              <a:rPr lang="en-US" altLang="ko-KR" dirty="0"/>
              <a:t> |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9857232" cy="50292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6주 뒤, 이 그림을 처음부터 끝까지 설명할 수 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3032" y="914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72A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도입</a:t>
            </a:r>
          </a:p>
        </p:txBody>
      </p:sp>
      <p:pic>
        <p:nvPicPr>
          <p:cNvPr id="9" name="Picture 8" descr="transformer_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586" y="2179521"/>
            <a:ext cx="5258165" cy="34316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공부하는 방법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648456"/>
            <a:ext cx="11274552" cy="2734056"/>
          </a:xfrm>
        </p:spPr>
        <p:txBody>
          <a:bodyPr wrap="square" lIns="73152" rIns="73152" tIns="36576" bIns="36576" anchor="t">
            <a:normAutofit/>
          </a:bodyPr>
          <a:lstStyle/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1">
                <a:solidFill>
                  <a:srgbClr val="1B2A36"/>
                </a:solidFill>
              </a:rPr>
              <a:t>결과를 보기 전에 먼저 예측</a:t>
            </a:r>
            <a:r>
              <a:rPr sz="1800" b="0">
                <a:solidFill>
                  <a:srgbClr val="1B2A36"/>
                </a:solidFill>
              </a:rPr>
              <a:t>한다 — shape, 부호, 크기를 말로 적어 본 뒤 확인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</a:rPr>
              <a:t>모르는 기호가 나오면 </a:t>
            </a:r>
            <a:r>
              <a:rPr sz="1800" b="1">
                <a:solidFill>
                  <a:srgbClr val="1B2A36"/>
                </a:solidFill>
              </a:rPr>
              <a:t>shape부터</a:t>
            </a:r>
            <a:r>
              <a:rPr sz="1800" b="0">
                <a:solidFill>
                  <a:srgbClr val="1B2A36"/>
                </a:solidFill>
              </a:rPr>
              <a:t> 적는다 — 축마다 무슨 의미인지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</a:rPr>
              <a:t>각 주 끝의 </a:t>
            </a:r>
            <a:r>
              <a:rPr sz="1800" b="1">
                <a:solidFill>
                  <a:srgbClr val="1B2A36"/>
                </a:solidFill>
              </a:rPr>
              <a:t>셀프 체크</a:t>
            </a:r>
            <a:r>
              <a:rPr sz="1800" b="0">
                <a:solidFill>
                  <a:srgbClr val="1B2A36"/>
                </a:solidFill>
              </a:rPr>
              <a:t>를 자기 말로 설명할 수 있으면 다음 주로 넘어간다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2026-10-05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58252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 Zero 2 Transformer</a:t>
            </a:r>
            <a:r>
              <a:rPr lang="en-US" altLang="ko-KR" dirty="0"/>
              <a:t> |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9857232" cy="50292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모든 주제를 같은 네 단계로 따라간다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3032" y="914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72A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도입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08176"/>
            <a:ext cx="2530602" cy="1920240"/>
          </a:xfrm>
          <a:prstGeom prst="roundRect">
            <a:avLst>
              <a:gd name="adj" fmla="val 4761"/>
            </a:avLst>
          </a:prstGeom>
          <a:solidFill>
            <a:srgbClr val="FDF1E9"/>
          </a:solidFill>
          <a:ln w="1270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99616"/>
            <a:ext cx="2347722" cy="36576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문제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11095"/>
            <a:ext cx="2347722" cy="1325880"/>
          </a:xfrm>
          <a:prstGeom prst="rect">
            <a:avLst/>
          </a:prstGeom>
          <a:noFill/>
        </p:spPr>
        <p:txBody>
          <a:bodyPr wrap="square" lIns="18288" rIns="18288" tIns="36576" bIns="36576" anchor="t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375"/>
              </a:spcAft>
              <a:buNone/>
            </a:pP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이전 방법은 무엇에 실패했나?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33522" y="2368296"/>
            <a:ext cx="292608" cy="0"/>
          </a:xfrm>
          <a:prstGeom prst="line">
            <a:avLst/>
          </a:prstGeom>
          <a:ln w="25400">
            <a:solidFill>
              <a:srgbClr val="72AB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371850" y="1408176"/>
            <a:ext cx="2530602" cy="1920240"/>
          </a:xfrm>
          <a:prstGeom prst="roundRect">
            <a:avLst>
              <a:gd name="adj" fmla="val 4761"/>
            </a:avLst>
          </a:prstGeom>
          <a:solidFill>
            <a:srgbClr val="ED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63290" y="1499616"/>
            <a:ext cx="2347722" cy="36576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아이디어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3290" y="1911095"/>
            <a:ext cx="2347722" cy="1325880"/>
          </a:xfrm>
          <a:prstGeom prst="rect">
            <a:avLst/>
          </a:prstGeom>
          <a:noFill/>
        </p:spPr>
        <p:txBody>
          <a:bodyPr wrap="square" lIns="18288" rIns="18288" tIns="36576" bIns="36576" anchor="t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375"/>
              </a:spcAft>
              <a:buNone/>
            </a:pP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무엇을 바꾸면 풀릴까?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48172" y="2368296"/>
            <a:ext cx="292608" cy="0"/>
          </a:xfrm>
          <a:prstGeom prst="line">
            <a:avLst/>
          </a:prstGeom>
          <a:ln w="25400">
            <a:solidFill>
              <a:srgbClr val="72AB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86500" y="1408176"/>
            <a:ext cx="2530602" cy="1920240"/>
          </a:xfrm>
          <a:prstGeom prst="roundRect">
            <a:avLst>
              <a:gd name="adj" fmla="val 4761"/>
            </a:avLst>
          </a:prstGeom>
          <a:solidFill>
            <a:srgbClr val="ED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7940" y="1499616"/>
            <a:ext cx="2347722" cy="36576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계산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7940" y="1911095"/>
            <a:ext cx="2347722" cy="1325880"/>
          </a:xfrm>
          <a:prstGeom prst="rect">
            <a:avLst/>
          </a:prstGeom>
          <a:noFill/>
        </p:spPr>
        <p:txBody>
          <a:bodyPr wrap="square" lIns="18288" rIns="18288" tIns="36576" bIns="36576" anchor="t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375"/>
              </a:spcAft>
              <a:buNone/>
            </a:pP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작은 숫자로 직접 따라가기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862822" y="2368296"/>
            <a:ext cx="292608" cy="0"/>
          </a:xfrm>
          <a:prstGeom prst="line">
            <a:avLst/>
          </a:prstGeom>
          <a:ln w="25400">
            <a:solidFill>
              <a:srgbClr val="72AB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201150" y="1408176"/>
            <a:ext cx="2530602" cy="1920240"/>
          </a:xfrm>
          <a:prstGeom prst="roundRect">
            <a:avLst>
              <a:gd name="adj" fmla="val 4761"/>
            </a:avLst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2590" y="1499616"/>
            <a:ext cx="2347722" cy="36576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2590" y="1911095"/>
            <a:ext cx="2347722" cy="1325880"/>
          </a:xfrm>
          <a:prstGeom prst="rect">
            <a:avLst/>
          </a:prstGeom>
          <a:noFill/>
        </p:spPr>
        <p:txBody>
          <a:bodyPr wrap="square" lIns="18288" rIns="18288" tIns="36576" bIns="36576" anchor="t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375"/>
              </a:spcAft>
              <a:buNone/>
            </a:pPr>
            <a:r>
              <a:rPr sz="1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코드·그림·실험으로 확인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오늘의 지도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2026-10-05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58252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 Zero 2 Transformer</a:t>
            </a:r>
            <a:r>
              <a:rPr lang="en-US" altLang="ko-KR" dirty="0"/>
              <a:t> |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9857232" cy="50292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여섯 질문 중 1번째 — 오늘의 순서와 목표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3032" y="914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72A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도입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08176"/>
            <a:ext cx="1711452" cy="1874519"/>
          </a:xfrm>
          <a:prstGeom prst="roundRect">
            <a:avLst>
              <a:gd name="adj" fmla="val 5342"/>
            </a:avLst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499616"/>
            <a:ext cx="1565148" cy="287578"/>
          </a:xfrm>
          <a:prstGeom prst="rect">
            <a:avLst/>
          </a:prstGeom>
          <a:noFill/>
        </p:spPr>
        <p:txBody>
          <a:bodyPr wrap="square" lIns="0" rIns="0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Week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804111"/>
            <a:ext cx="1565148" cy="710488"/>
          </a:xfrm>
          <a:prstGeom prst="rect">
            <a:avLst/>
          </a:prstGeom>
          <a:noFill/>
        </p:spPr>
        <p:txBody>
          <a:bodyPr wrap="square" lIns="0" rIns="0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배울 수</a:t>
            </a:r>
          </a:p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있을까?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531516"/>
            <a:ext cx="1565148" cy="372160"/>
          </a:xfrm>
          <a:prstGeom prst="rect">
            <a:avLst/>
          </a:prstGeom>
          <a:noFill/>
        </p:spPr>
        <p:txBody>
          <a:bodyPr wrap="square" lIns="0" rIns="0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Tensor · 학습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903677"/>
            <a:ext cx="1565148" cy="287578"/>
          </a:xfrm>
          <a:prstGeom prst="rect">
            <a:avLst/>
          </a:prstGeom>
          <a:noFill/>
        </p:spPr>
        <p:txBody>
          <a:bodyPr wrap="square" lIns="0" rIns="0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1943–1958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86940" y="2345436"/>
            <a:ext cx="164592" cy="0"/>
          </a:xfrm>
          <a:prstGeom prst="line">
            <a:avLst/>
          </a:prstGeom>
          <a:ln w="19050">
            <a:solidFill>
              <a:srgbClr val="72AB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369820" y="1408176"/>
            <a:ext cx="1711452" cy="1874519"/>
          </a:xfrm>
          <a:prstGeom prst="roundRect">
            <a:avLst>
              <a:gd name="adj" fmla="val 5342"/>
            </a:avLst>
          </a:prstGeom>
          <a:solidFill>
            <a:srgbClr val="EDF5F9"/>
          </a:solidFill>
          <a:ln w="12700">
            <a:solidFill>
              <a:srgbClr val="C5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42972" y="1499616"/>
            <a:ext cx="1565148" cy="287578"/>
          </a:xfrm>
          <a:prstGeom prst="rect">
            <a:avLst/>
          </a:prstGeom>
          <a:noFill/>
        </p:spPr>
        <p:txBody>
          <a:bodyPr wrap="square" lIns="0" rIns="0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72ABC8"/>
                </a:solidFill>
                <a:latin typeface="맑은 고딕"/>
                <a:ea typeface="맑은 고딕"/>
                <a:cs typeface="맑은 고딕"/>
              </a:rPr>
              <a:t>Week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42972" y="1804111"/>
            <a:ext cx="1565148" cy="710488"/>
          </a:xfrm>
          <a:prstGeom prst="rect">
            <a:avLst/>
          </a:prstGeom>
          <a:noFill/>
        </p:spPr>
        <p:txBody>
          <a:bodyPr wrap="square" lIns="0" rIns="0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5E6B75"/>
                </a:solidFill>
                <a:latin typeface="맑은 고딕"/>
                <a:ea typeface="맑은 고딕"/>
                <a:cs typeface="맑은 고딕"/>
              </a:rPr>
              <a:t>직선으로</a:t>
            </a:r>
          </a:p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5E6B75"/>
                </a:solidFill>
                <a:latin typeface="맑은 고딕"/>
                <a:ea typeface="맑은 고딕"/>
                <a:cs typeface="맑은 고딕"/>
              </a:rPr>
              <a:t>안 되면?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42972" y="2531516"/>
            <a:ext cx="1565148" cy="372160"/>
          </a:xfrm>
          <a:prstGeom prst="rect">
            <a:avLst/>
          </a:prstGeom>
          <a:noFill/>
        </p:spPr>
        <p:txBody>
          <a:bodyPr wrap="square" lIns="0" rIns="0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5E6B75"/>
                </a:solidFill>
                <a:latin typeface="맑은 고딕"/>
                <a:ea typeface="맑은 고딕"/>
                <a:cs typeface="맑은 고딕"/>
              </a:rPr>
              <a:t>Perceptron · MLP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42972" y="2903677"/>
            <a:ext cx="1565148" cy="287578"/>
          </a:xfrm>
          <a:prstGeom prst="rect">
            <a:avLst/>
          </a:prstGeom>
          <a:noFill/>
        </p:spPr>
        <p:txBody>
          <a:bodyPr wrap="square" lIns="0" rIns="0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>
                <a:solidFill>
                  <a:srgbClr val="5E6B75"/>
                </a:solidFill>
                <a:latin typeface="맑은 고딕"/>
                <a:ea typeface="맑은 고딕"/>
                <a:cs typeface="맑은 고딕"/>
              </a:rPr>
              <a:t>1958–1986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099560" y="2345436"/>
            <a:ext cx="164592" cy="0"/>
          </a:xfrm>
          <a:prstGeom prst="line">
            <a:avLst/>
          </a:prstGeom>
          <a:ln w="19050">
            <a:solidFill>
              <a:srgbClr val="72AB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282440" y="1408176"/>
            <a:ext cx="1711452" cy="1874519"/>
          </a:xfrm>
          <a:prstGeom prst="roundRect">
            <a:avLst>
              <a:gd name="adj" fmla="val 5342"/>
            </a:avLst>
          </a:prstGeom>
          <a:solidFill>
            <a:srgbClr val="EDF5F9"/>
          </a:solidFill>
          <a:ln w="12700">
            <a:solidFill>
              <a:srgbClr val="C5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55592" y="1499616"/>
            <a:ext cx="1565148" cy="287578"/>
          </a:xfrm>
          <a:prstGeom prst="rect">
            <a:avLst/>
          </a:prstGeom>
          <a:noFill/>
        </p:spPr>
        <p:txBody>
          <a:bodyPr wrap="square" lIns="0" rIns="0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72ABC8"/>
                </a:solidFill>
                <a:latin typeface="맑은 고딕"/>
                <a:ea typeface="맑은 고딕"/>
                <a:cs typeface="맑은 고딕"/>
              </a:rPr>
              <a:t>Week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55592" y="1804111"/>
            <a:ext cx="1565148" cy="710488"/>
          </a:xfrm>
          <a:prstGeom prst="rect">
            <a:avLst/>
          </a:prstGeom>
          <a:noFill/>
        </p:spPr>
        <p:txBody>
          <a:bodyPr wrap="square" lIns="0" rIns="0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5E6B75"/>
                </a:solidFill>
                <a:latin typeface="맑은 고딕"/>
                <a:ea typeface="맑은 고딕"/>
                <a:cs typeface="맑은 고딕"/>
              </a:rPr>
              <a:t>공간과</a:t>
            </a:r>
          </a:p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5E6B75"/>
                </a:solidFill>
                <a:latin typeface="맑은 고딕"/>
                <a:ea typeface="맑은 고딕"/>
                <a:cs typeface="맑은 고딕"/>
              </a:rPr>
              <a:t>깊이는?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55592" y="2531516"/>
            <a:ext cx="1565148" cy="372160"/>
          </a:xfrm>
          <a:prstGeom prst="rect">
            <a:avLst/>
          </a:prstGeom>
          <a:noFill/>
        </p:spPr>
        <p:txBody>
          <a:bodyPr wrap="square" lIns="0" rIns="0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E6B75"/>
                </a:solidFill>
                <a:latin typeface="맑은 고딕"/>
                <a:ea typeface="맑은 고딕"/>
                <a:cs typeface="맑은 고딕"/>
              </a:rPr>
              <a:t>CNN · ResNet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55592" y="2903677"/>
            <a:ext cx="1565148" cy="287578"/>
          </a:xfrm>
          <a:prstGeom prst="rect">
            <a:avLst/>
          </a:prstGeom>
          <a:noFill/>
        </p:spPr>
        <p:txBody>
          <a:bodyPr wrap="square" lIns="0" rIns="0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>
                <a:solidFill>
                  <a:srgbClr val="5E6B75"/>
                </a:solidFill>
                <a:latin typeface="맑은 고딕"/>
                <a:ea typeface="맑은 고딕"/>
                <a:cs typeface="맑은 고딕"/>
              </a:rPr>
              <a:t>1989–2016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12180" y="2345436"/>
            <a:ext cx="164592" cy="0"/>
          </a:xfrm>
          <a:prstGeom prst="line">
            <a:avLst/>
          </a:prstGeom>
          <a:ln w="19050">
            <a:solidFill>
              <a:srgbClr val="72AB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195060" y="1408176"/>
            <a:ext cx="1711452" cy="1874519"/>
          </a:xfrm>
          <a:prstGeom prst="roundRect">
            <a:avLst>
              <a:gd name="adj" fmla="val 5342"/>
            </a:avLst>
          </a:prstGeom>
          <a:solidFill>
            <a:srgbClr val="EDF5F9"/>
          </a:solidFill>
          <a:ln w="12700">
            <a:solidFill>
              <a:srgbClr val="C5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8212" y="1499616"/>
            <a:ext cx="1565148" cy="287578"/>
          </a:xfrm>
          <a:prstGeom prst="rect">
            <a:avLst/>
          </a:prstGeom>
          <a:noFill/>
        </p:spPr>
        <p:txBody>
          <a:bodyPr wrap="square" lIns="0" rIns="0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72ABC8"/>
                </a:solidFill>
                <a:latin typeface="맑은 고딕"/>
                <a:ea typeface="맑은 고딕"/>
                <a:cs typeface="맑은 고딕"/>
              </a:rPr>
              <a:t>Week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8212" y="1804111"/>
            <a:ext cx="1565148" cy="710488"/>
          </a:xfrm>
          <a:prstGeom prst="rect">
            <a:avLst/>
          </a:prstGeom>
          <a:noFill/>
        </p:spPr>
        <p:txBody>
          <a:bodyPr wrap="square" lIns="0" rIns="0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5E6B75"/>
                </a:solidFill>
                <a:latin typeface="맑은 고딕"/>
                <a:ea typeface="맑은 고딕"/>
                <a:cs typeface="맑은 고딕"/>
              </a:rPr>
              <a:t>먼 정보를</a:t>
            </a:r>
          </a:p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5E6B75"/>
                </a:solidFill>
                <a:latin typeface="맑은 고딕"/>
                <a:ea typeface="맑은 고딕"/>
                <a:cs typeface="맑은 고딕"/>
              </a:rPr>
              <a:t>기억하려면?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8212" y="2531516"/>
            <a:ext cx="1565148" cy="372160"/>
          </a:xfrm>
          <a:prstGeom prst="rect">
            <a:avLst/>
          </a:prstGeom>
          <a:noFill/>
        </p:spPr>
        <p:txBody>
          <a:bodyPr wrap="square" lIns="0" rIns="0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E6B75"/>
                </a:solidFill>
                <a:latin typeface="맑은 고딕"/>
                <a:ea typeface="맑은 고딕"/>
                <a:cs typeface="맑은 고딕"/>
              </a:rPr>
              <a:t>RNN · LSTM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8212" y="2903677"/>
            <a:ext cx="1565148" cy="287578"/>
          </a:xfrm>
          <a:prstGeom prst="rect">
            <a:avLst/>
          </a:prstGeom>
          <a:noFill/>
        </p:spPr>
        <p:txBody>
          <a:bodyPr wrap="square" lIns="0" rIns="0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>
                <a:solidFill>
                  <a:srgbClr val="5E6B75"/>
                </a:solidFill>
                <a:latin typeface="맑은 고딕"/>
                <a:ea typeface="맑은 고딕"/>
                <a:cs typeface="맑은 고딕"/>
              </a:rPr>
              <a:t>1986–2014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924799" y="2345436"/>
            <a:ext cx="164593" cy="0"/>
          </a:xfrm>
          <a:prstGeom prst="line">
            <a:avLst/>
          </a:prstGeom>
          <a:ln w="19050">
            <a:solidFill>
              <a:srgbClr val="72AB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107680" y="1408176"/>
            <a:ext cx="1711452" cy="1874519"/>
          </a:xfrm>
          <a:prstGeom prst="roundRect">
            <a:avLst>
              <a:gd name="adj" fmla="val 5342"/>
            </a:avLst>
          </a:prstGeom>
          <a:solidFill>
            <a:srgbClr val="EDF5F9"/>
          </a:solidFill>
          <a:ln w="12700">
            <a:solidFill>
              <a:srgbClr val="C5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80832" y="1499616"/>
            <a:ext cx="1565148" cy="287578"/>
          </a:xfrm>
          <a:prstGeom prst="rect">
            <a:avLst/>
          </a:prstGeom>
          <a:noFill/>
        </p:spPr>
        <p:txBody>
          <a:bodyPr wrap="square" lIns="0" rIns="0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72ABC8"/>
                </a:solidFill>
                <a:latin typeface="맑은 고딕"/>
                <a:ea typeface="맑은 고딕"/>
                <a:cs typeface="맑은 고딕"/>
              </a:rPr>
              <a:t>Week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0832" y="1804111"/>
            <a:ext cx="1565148" cy="710488"/>
          </a:xfrm>
          <a:prstGeom prst="rect">
            <a:avLst/>
          </a:prstGeom>
          <a:noFill/>
        </p:spPr>
        <p:txBody>
          <a:bodyPr wrap="square" lIns="0" rIns="0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5E6B75"/>
                </a:solidFill>
                <a:latin typeface="맑은 고딕"/>
                <a:ea typeface="맑은 고딕"/>
                <a:cs typeface="맑은 고딕"/>
              </a:rPr>
              <a:t>원문을</a:t>
            </a:r>
          </a:p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5E6B75"/>
                </a:solidFill>
                <a:latin typeface="맑은 고딕"/>
                <a:ea typeface="맑은 고딕"/>
                <a:cs typeface="맑은 고딕"/>
              </a:rPr>
              <a:t>다시 보면?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0832" y="2531516"/>
            <a:ext cx="1565148" cy="372160"/>
          </a:xfrm>
          <a:prstGeom prst="rect">
            <a:avLst/>
          </a:prstGeom>
          <a:noFill/>
        </p:spPr>
        <p:txBody>
          <a:bodyPr wrap="square" lIns="0" rIns="0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E6B75"/>
                </a:solidFill>
                <a:latin typeface="맑은 고딕"/>
                <a:ea typeface="맑은 고딕"/>
                <a:cs typeface="맑은 고딕"/>
              </a:rPr>
              <a:t>Attention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0832" y="2903677"/>
            <a:ext cx="1565148" cy="287578"/>
          </a:xfrm>
          <a:prstGeom prst="rect">
            <a:avLst/>
          </a:prstGeom>
          <a:noFill/>
        </p:spPr>
        <p:txBody>
          <a:bodyPr wrap="square" lIns="0" rIns="0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>
                <a:solidFill>
                  <a:srgbClr val="5E6B75"/>
                </a:solidFill>
                <a:latin typeface="맑은 고딕"/>
                <a:ea typeface="맑은 고딕"/>
                <a:cs typeface="맑은 고딕"/>
              </a:rPr>
              <a:t>2014–2017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837420" y="2345436"/>
            <a:ext cx="164592" cy="0"/>
          </a:xfrm>
          <a:prstGeom prst="line">
            <a:avLst/>
          </a:prstGeom>
          <a:ln w="19050">
            <a:solidFill>
              <a:srgbClr val="72AB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10020300" y="1408176"/>
            <a:ext cx="1711452" cy="1874519"/>
          </a:xfrm>
          <a:prstGeom prst="roundRect">
            <a:avLst>
              <a:gd name="adj" fmla="val 5342"/>
            </a:avLst>
          </a:prstGeom>
          <a:solidFill>
            <a:srgbClr val="EDF5F9"/>
          </a:solidFill>
          <a:ln w="12700">
            <a:solidFill>
              <a:srgbClr val="C5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93452" y="1499616"/>
            <a:ext cx="1565148" cy="287578"/>
          </a:xfrm>
          <a:prstGeom prst="rect">
            <a:avLst/>
          </a:prstGeom>
          <a:noFill/>
        </p:spPr>
        <p:txBody>
          <a:bodyPr wrap="square" lIns="0" rIns="0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72ABC8"/>
                </a:solidFill>
                <a:latin typeface="맑은 고딕"/>
                <a:ea typeface="맑은 고딕"/>
                <a:cs typeface="맑은 고딕"/>
              </a:rPr>
              <a:t>Week 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93452" y="1804111"/>
            <a:ext cx="1565148" cy="710488"/>
          </a:xfrm>
          <a:prstGeom prst="rect">
            <a:avLst/>
          </a:prstGeom>
          <a:noFill/>
        </p:spPr>
        <p:txBody>
          <a:bodyPr wrap="square" lIns="0" rIns="0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5E6B75"/>
                </a:solidFill>
                <a:latin typeface="맑은 고딕"/>
                <a:ea typeface="맑은 고딕"/>
                <a:cs typeface="맑은 고딕"/>
              </a:rPr>
              <a:t>참조만으로</a:t>
            </a:r>
          </a:p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5E6B75"/>
                </a:solidFill>
                <a:latin typeface="맑은 고딕"/>
                <a:ea typeface="맑은 고딕"/>
                <a:cs typeface="맑은 고딕"/>
              </a:rPr>
              <a:t>만들면?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93452" y="2531516"/>
            <a:ext cx="1565148" cy="372160"/>
          </a:xfrm>
          <a:prstGeom prst="rect">
            <a:avLst/>
          </a:prstGeom>
          <a:noFill/>
        </p:spPr>
        <p:txBody>
          <a:bodyPr wrap="square" lIns="0" rIns="0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E6B75"/>
                </a:solidFill>
                <a:latin typeface="맑은 고딕"/>
                <a:ea typeface="맑은 고딕"/>
                <a:cs typeface="맑은 고딕"/>
              </a:rPr>
              <a:t>Transformer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93452" y="2903677"/>
            <a:ext cx="1565148" cy="287578"/>
          </a:xfrm>
          <a:prstGeom prst="rect">
            <a:avLst/>
          </a:prstGeom>
          <a:noFill/>
        </p:spPr>
        <p:txBody>
          <a:bodyPr wrap="square" lIns="0" rIns="0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>
                <a:solidFill>
                  <a:srgbClr val="5E6B75"/>
                </a:solidFill>
                <a:latin typeface="맑은 고딕"/>
                <a:ea typeface="맑은 고딕"/>
                <a:cs typeface="맑은 고딕"/>
              </a:rPr>
              <a:t>2017–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3557015"/>
            <a:ext cx="5454396" cy="2825496"/>
          </a:xfrm>
          <a:prstGeom prst="roundRect">
            <a:avLst>
              <a:gd name="adj" fmla="val 3236"/>
            </a:avLst>
          </a:prstGeom>
          <a:solidFill>
            <a:srgbClr val="ED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3648456"/>
            <a:ext cx="5088636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오늘의 순서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4059935"/>
            <a:ext cx="5088636" cy="223113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None/>
            </a:pPr>
            <a:r>
              <a:rPr sz="15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Part 1</a:t>
            </a: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 규칙에서 학습으로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None/>
            </a:pPr>
            <a:r>
              <a:rPr sz="15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Part 2</a:t>
            </a: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 Tensor: 데이터를 담는 그릇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None/>
            </a:pPr>
            <a:r>
              <a:rPr sz="15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Part 3</a:t>
            </a: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 모델과 손실: 얼마나 틀렸나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None/>
            </a:pPr>
            <a:r>
              <a:rPr sz="15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Part 4</a:t>
            </a: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 경사하강법: 틀린 만큼 고치기</a:t>
            </a:r>
          </a:p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None/>
            </a:pPr>
            <a:r>
              <a:rPr sz="15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Part 5</a:t>
            </a: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 일반화: 처음 보는 데이터에서도?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77356" y="3557015"/>
            <a:ext cx="5454396" cy="2825496"/>
          </a:xfrm>
          <a:prstGeom prst="roundRect">
            <a:avLst>
              <a:gd name="adj" fmla="val 3236"/>
            </a:avLst>
          </a:prstGeom>
          <a:solidFill>
            <a:srgbClr val="FFFFFF"/>
          </a:solidFill>
          <a:ln w="12700">
            <a:solidFill>
              <a:srgbClr val="C5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60236" y="3648456"/>
            <a:ext cx="5088636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끝나면 할 수 있는 것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60236" y="4059935"/>
            <a:ext cx="5088636" cy="223113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텐서의 </a:t>
            </a:r>
            <a:r>
              <a:rPr sz="15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shape</a:t>
            </a: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를 읽고 행렬곱 결과를 예측한다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5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모델·손실·기울기·갱신</a:t>
            </a: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을 구분해 설명한다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경사하강법 한 걸음을 </a:t>
            </a:r>
            <a:r>
              <a:rPr sz="15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손으로 계산</a:t>
            </a: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한다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PyTorch 학습 루프를 읽고 </a:t>
            </a:r>
            <a:r>
              <a:rPr sz="15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train/test</a:t>
            </a: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를 구분한다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오늘의 새 용어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2026-10-05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58252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 Zero 2 Transformer</a:t>
            </a:r>
            <a:r>
              <a:rPr lang="en-US" altLang="ko-KR" dirty="0"/>
              <a:t> |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9857232" cy="50292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낯선 단어를 먼저 한 번 보고 시작한다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3032" y="914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72A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도입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408176"/>
          <a:ext cx="11274551" cy="3227831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2016586"/>
                <a:gridCol w="4766477"/>
                <a:gridCol w="4491488"/>
              </a:tblGrid>
              <a:tr h="374904"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용어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01688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한 줄 뜻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01688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비유 · 예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01688F"/>
                    </a:solidFill>
                  </a:tcPr>
                </a:tc>
              </a:tr>
              <a:tr h="374904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텐서 (tensor)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축(axis)이 여러 개인 숫자 배열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엑셀 표를 여러 장 겹친 것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shape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각 축의 길이를 적은 목록 예: (2, 5, 8)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상자의 가로·세로·높이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</a:tr>
              <a:tr h="374904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파라미터 (θ)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학습으로 바뀌는 숫자 (w, b …)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레시피의 양념 비율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손실 (loss)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예측이 틀린 정도를 숫자 하나로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과녁 중심까지의 거리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</a:tr>
              <a:tr h="603503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기울기 (gradient)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파라미터를 조금 바꿀 때 손실이 변하는 비율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산비탈의 경사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학습률 (η)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한 번에 파라미터를 움직이는 크기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한 걸음의 보폭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</a:tr>
              <a:tr h="374904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일반화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학습에 안 쓴 데이터에서도 잘 맞는 것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기출이 아닌 새 문제를 푸는 것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73152" rIns="73152" tIns="36576" bIns="36576" anchor="b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None/>
            </a:pPr>
            <a:r>
              <a:rPr sz="22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Part 1</a:t>
            </a:r>
          </a:p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None/>
            </a:pPr>
            <a:r>
              <a:rPr sz="36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규칙에서 학습으로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 lIns="73152" rIns="73152" tIns="36576" bIns="36576" anchor="t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000" b="0">
                <a:solidFill>
                  <a:srgbClr val="5E6B75"/>
                </a:solidFill>
                <a:latin typeface="맑은 고딕"/>
                <a:ea typeface="맑은 고딕"/>
                <a:cs typeface="맑은 고딕"/>
              </a:rPr>
              <a:t>사람이 규칙을 적는 대신, 기계가 예시에서 규칙을 찾게 할 수 있을까?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1943–1958: 질문이 생겨난 시기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2026-10-05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58252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 Zero 2 Transformer</a:t>
            </a:r>
            <a:r>
              <a:rPr lang="en-US" altLang="ko-KR" dirty="0"/>
              <a:t> |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9857232" cy="50292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뉴런을 계산으로 보고 → 지능을 묻고 → 가중치를 배우기까지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3032" y="914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72A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역사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43684"/>
            <a:ext cx="11274552" cy="45720"/>
          </a:xfrm>
          <a:prstGeom prst="rect">
            <a:avLst/>
          </a:prstGeom>
          <a:solidFill>
            <a:srgbClr val="C5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08176"/>
            <a:ext cx="2708910" cy="457200"/>
          </a:xfrm>
          <a:prstGeom prst="rect">
            <a:avLst/>
          </a:prstGeom>
          <a:noFill/>
        </p:spPr>
        <p:txBody>
          <a:bodyPr wrap="square" lIns="0" rIns="0" tIns="36576" bIns="36576" anchor="b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1943</a:t>
            </a:r>
          </a:p>
        </p:txBody>
      </p:sp>
      <p:sp>
        <p:nvSpPr>
          <p:cNvPr id="11" name="Oval 10"/>
          <p:cNvSpPr/>
          <p:nvPr/>
        </p:nvSpPr>
        <p:spPr>
          <a:xfrm>
            <a:off x="1701927" y="1956815"/>
            <a:ext cx="219456" cy="219456"/>
          </a:xfrm>
          <a:prstGeom prst="ellipse">
            <a:avLst/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2340863"/>
            <a:ext cx="2708910" cy="1848993"/>
          </a:xfrm>
          <a:prstGeom prst="roundRect">
            <a:avLst>
              <a:gd name="adj" fmla="val 4945"/>
            </a:avLst>
          </a:prstGeom>
          <a:solidFill>
            <a:srgbClr val="ED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2432303"/>
            <a:ext cx="2562606" cy="68580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McCulloch–Pitts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3182111"/>
            <a:ext cx="2562606" cy="916304"/>
          </a:xfrm>
          <a:prstGeom prst="rect">
            <a:avLst/>
          </a:prstGeom>
          <a:noFill/>
        </p:spPr>
        <p:txBody>
          <a:bodyPr wrap="square" lIns="18288" rIns="18288" tIns="36576" bIns="36576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375"/>
              </a:spcAft>
              <a:buNone/>
            </a:pP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뉴런 = 가중합 + 임계값이라는 </a:t>
            </a:r>
            <a:r>
              <a:rPr sz="15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논리 계산</a:t>
            </a: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. 가중치는 사람이 정한다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2414" y="1408176"/>
            <a:ext cx="2708910" cy="457200"/>
          </a:xfrm>
          <a:prstGeom prst="rect">
            <a:avLst/>
          </a:prstGeom>
          <a:noFill/>
        </p:spPr>
        <p:txBody>
          <a:bodyPr wrap="square" lIns="0" rIns="0" tIns="36576" bIns="36576" anchor="b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1950</a:t>
            </a:r>
          </a:p>
        </p:txBody>
      </p:sp>
      <p:sp>
        <p:nvSpPr>
          <p:cNvPr id="16" name="Oval 15"/>
          <p:cNvSpPr/>
          <p:nvPr/>
        </p:nvSpPr>
        <p:spPr>
          <a:xfrm>
            <a:off x="4557141" y="1956815"/>
            <a:ext cx="219456" cy="219456"/>
          </a:xfrm>
          <a:prstGeom prst="ellipse">
            <a:avLst/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312414" y="2340863"/>
            <a:ext cx="2708910" cy="1848993"/>
          </a:xfrm>
          <a:prstGeom prst="roundRect">
            <a:avLst>
              <a:gd name="adj" fmla="val 4945"/>
            </a:avLst>
          </a:prstGeom>
          <a:solidFill>
            <a:srgbClr val="ED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5566" y="2432303"/>
            <a:ext cx="2562606" cy="68580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Turing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5566" y="3182111"/>
            <a:ext cx="2562606" cy="916304"/>
          </a:xfrm>
          <a:prstGeom prst="rect">
            <a:avLst/>
          </a:prstGeom>
          <a:noFill/>
        </p:spPr>
        <p:txBody>
          <a:bodyPr wrap="square" lIns="18288" rIns="18288" tIns="36576" bIns="36576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375"/>
              </a:spcAft>
              <a:buNone/>
            </a:pP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“기계는 생각할 수 있는가?” — 지능을 </a:t>
            </a:r>
            <a:r>
              <a:rPr sz="15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어떻게 평가</a:t>
            </a: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할지 묻다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7628" y="1408176"/>
            <a:ext cx="2708910" cy="457200"/>
          </a:xfrm>
          <a:prstGeom prst="rect">
            <a:avLst/>
          </a:prstGeom>
          <a:noFill/>
        </p:spPr>
        <p:txBody>
          <a:bodyPr wrap="square" lIns="0" rIns="0" tIns="36576" bIns="36576" anchor="b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1955–56</a:t>
            </a:r>
          </a:p>
        </p:txBody>
      </p:sp>
      <p:sp>
        <p:nvSpPr>
          <p:cNvPr id="21" name="Oval 20"/>
          <p:cNvSpPr/>
          <p:nvPr/>
        </p:nvSpPr>
        <p:spPr>
          <a:xfrm>
            <a:off x="7412355" y="1956815"/>
            <a:ext cx="219456" cy="219456"/>
          </a:xfrm>
          <a:prstGeom prst="ellipse">
            <a:avLst/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67628" y="2340863"/>
            <a:ext cx="2708910" cy="1848993"/>
          </a:xfrm>
          <a:prstGeom prst="roundRect">
            <a:avLst>
              <a:gd name="adj" fmla="val 4945"/>
            </a:avLst>
          </a:prstGeom>
          <a:solidFill>
            <a:srgbClr val="ED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40780" y="2432303"/>
            <a:ext cx="2562606" cy="68580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Dartmouth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40780" y="3182111"/>
            <a:ext cx="2562606" cy="916304"/>
          </a:xfrm>
          <a:prstGeom prst="rect">
            <a:avLst/>
          </a:prstGeom>
          <a:noFill/>
        </p:spPr>
        <p:txBody>
          <a:bodyPr wrap="square" lIns="18288" rIns="18288" tIns="36576" bIns="36576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375"/>
              </a:spcAft>
              <a:buNone/>
            </a:pP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1955 제안서, 1956 여름 연구 — </a:t>
            </a:r>
            <a:r>
              <a:rPr sz="15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AI</a:t>
            </a: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라는 연구 의제의 시작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22842" y="1408176"/>
            <a:ext cx="2708910" cy="457200"/>
          </a:xfrm>
          <a:prstGeom prst="rect">
            <a:avLst/>
          </a:prstGeom>
          <a:noFill/>
        </p:spPr>
        <p:txBody>
          <a:bodyPr wrap="square" lIns="0" rIns="0" tIns="36576" bIns="36576" anchor="b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1958</a:t>
            </a:r>
          </a:p>
        </p:txBody>
      </p:sp>
      <p:sp>
        <p:nvSpPr>
          <p:cNvPr id="26" name="Oval 25"/>
          <p:cNvSpPr/>
          <p:nvPr/>
        </p:nvSpPr>
        <p:spPr>
          <a:xfrm>
            <a:off x="10267569" y="1956815"/>
            <a:ext cx="219456" cy="219456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022842" y="2340863"/>
            <a:ext cx="2708910" cy="1848993"/>
          </a:xfrm>
          <a:prstGeom prst="roundRect">
            <a:avLst>
              <a:gd name="adj" fmla="val 4945"/>
            </a:avLst>
          </a:prstGeom>
          <a:solidFill>
            <a:srgbClr val="FD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95994" y="2432303"/>
            <a:ext cx="2562606" cy="68580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Perceptron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5994" y="3182111"/>
            <a:ext cx="2562606" cy="916304"/>
          </a:xfrm>
          <a:prstGeom prst="rect">
            <a:avLst/>
          </a:prstGeom>
          <a:noFill/>
        </p:spPr>
        <p:txBody>
          <a:bodyPr wrap="square" lIns="18288" rIns="18288" tIns="36576" bIns="36576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375"/>
              </a:spcAft>
              <a:buNone/>
            </a:pP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가중치를 </a:t>
            </a:r>
            <a:r>
              <a:rPr sz="15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데이터로 조정</a:t>
            </a: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하는 학습 규칙 (→ 2주차)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608576"/>
            <a:ext cx="11274552" cy="868680"/>
          </a:xfrm>
          <a:prstGeom prst="roundRect">
            <a:avLst>
              <a:gd name="adj" fmla="val 10526"/>
            </a:avLst>
          </a:prstGeom>
          <a:solidFill>
            <a:srgbClr val="EDF5F9"/>
          </a:solidFill>
          <a:ln w="12700">
            <a:solidFill>
              <a:srgbClr val="72AB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320"/>
              </a:spcAft>
              <a:buNone/>
            </a:pPr>
            <a:r>
              <a:rPr sz="16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배울 것: 영감의 출처(뉴런), 실제 계산(가중합), 평가 기준(지능 판정)은 </a:t>
            </a:r>
            <a:r>
              <a:rPr sz="16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서로 다른 문제</a:t>
            </a:r>
            <a:r>
              <a:rPr sz="16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다. 그리고 1958년에 처음으로 ‘가중치를 데이터로 정한다’는 생각이 계산 규칙이 되었다.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McCulloch–Pitts 뉴런: 규칙을 사람이 정한다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4496" y="1408176"/>
            <a:ext cx="5477256" cy="4974336"/>
          </a:xfrm>
        </p:spPr>
        <p:txBody>
          <a:bodyPr wrap="square" lIns="73152" rIns="73152" tIns="36576" bIns="36576" anchor="t">
            <a:normAutofit/>
          </a:bodyPr>
          <a:lstStyle/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</a:rPr>
              <a:t>w = (1, 1), 임계값 2 → </a:t>
            </a:r>
            <a:r>
              <a:rPr sz="1800" b="1">
                <a:solidFill>
                  <a:srgbClr val="1B2A36"/>
                </a:solidFill>
              </a:rPr>
              <a:t>AND</a:t>
            </a:r>
            <a:r>
              <a:rPr sz="1800" b="0">
                <a:solidFill>
                  <a:srgbClr val="1B2A36"/>
                </a:solidFill>
              </a:rPr>
              <a:t> 게이트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</a:rPr>
              <a:t>임계값을 1로 바꾸면 → </a:t>
            </a:r>
            <a:r>
              <a:rPr sz="1800" b="1">
                <a:solidFill>
                  <a:srgbClr val="1B2A36"/>
                </a:solidFill>
              </a:rPr>
              <a:t>OR</a:t>
            </a:r>
            <a:r>
              <a:rPr sz="1800" b="0">
                <a:solidFill>
                  <a:srgbClr val="1B2A36"/>
                </a:solidFill>
              </a:rPr>
              <a:t> 게이트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</a:rPr>
              <a:t>하지만 </a:t>
            </a:r>
            <a:r>
              <a:rPr sz="1800" b="1">
                <a:solidFill>
                  <a:srgbClr val="1B2A36"/>
                </a:solidFill>
              </a:rPr>
              <a:t>누가</a:t>
            </a:r>
            <a:r>
              <a:rPr sz="1800" b="0">
                <a:solidFill>
                  <a:srgbClr val="1B2A36"/>
                </a:solidFill>
              </a:rPr>
              <a:t> 이 숫자를 정하나? → 사람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</a:rPr>
              <a:t>스팸 판별처럼 입력이 수천 개면 손으로 정할 수 없다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</a:rPr>
              <a:t>→ </a:t>
            </a:r>
            <a:r>
              <a:rPr sz="1800" b="1">
                <a:solidFill>
                  <a:srgbClr val="1B2A36"/>
                </a:solidFill>
              </a:rPr>
              <a:t>예시(데이터)를 보고 숫자를 정하게</a:t>
            </a:r>
            <a:r>
              <a:rPr sz="1800" b="0">
                <a:solidFill>
                  <a:srgbClr val="1B2A36"/>
                </a:solidFill>
              </a:rPr>
              <a:t> 하자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2026-10-05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58252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 Zero 2 Transformer</a:t>
            </a:r>
            <a:r>
              <a:rPr lang="en-US" altLang="ko-KR" dirty="0"/>
              <a:t> |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9857232" cy="50292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가중합이 기준을 넘으면 1 — 계산은 되지만 가중치는 손으로 정한다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3032" y="914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00A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아이디어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08176"/>
            <a:ext cx="5477256" cy="1234440"/>
          </a:xfrm>
          <a:prstGeom prst="roundRect">
            <a:avLst>
              <a:gd name="adj" fmla="val 7407"/>
            </a:avLst>
          </a:prstGeom>
          <a:solidFill>
            <a:srgbClr val="F4F7F9"/>
          </a:solidFill>
          <a:ln w="12700">
            <a:solidFill>
              <a:srgbClr val="C5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408176"/>
            <a:ext cx="5202936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2200" b="1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합 = w₁x₁ + w₂x₂</a:t>
            </a:r>
          </a:p>
          <a:p>
            <a:pPr algn="ctr" marL="0" indent="0">
              <a:buNone/>
            </a:pPr>
            <a:r>
              <a:rPr sz="2200" b="1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출력 = 1  (합 ≥ 임계값)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2871216"/>
          <a:ext cx="5477256" cy="2103119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369314"/>
                <a:gridCol w="1369314"/>
                <a:gridCol w="1369314"/>
                <a:gridCol w="1369314"/>
              </a:tblGrid>
              <a:tr h="603503"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x1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01688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x2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01688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 (w = 1, 1)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01688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 ≥ 2 ?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01688F"/>
                    </a:solidFill>
                  </a:tcPr>
                </a:tc>
              </a:tr>
              <a:tr h="374904"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</a:tr>
              <a:tr h="374904"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규칙을 쓰는 방식 vs 배우는 방식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2026-10-05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58252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 Zero 2 Transformer</a:t>
            </a:r>
            <a:r>
              <a:rPr lang="en-US" altLang="ko-KR" dirty="0"/>
              <a:t> |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9857232" cy="50292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사람은 규칙 대신 데이터·목표·구조·평가 기준을 설계한다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3032" y="914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문제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08176"/>
            <a:ext cx="5522976" cy="2399792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5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536192"/>
            <a:ext cx="5193792" cy="384048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규칙 기반 — 사람이 규칙을 적는다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993392"/>
            <a:ext cx="5193792" cy="1686560"/>
          </a:xfrm>
          <a:prstGeom prst="rect">
            <a:avLst/>
          </a:prstGeom>
          <a:noFill/>
        </p:spPr>
        <p:txBody>
          <a:bodyPr wrap="square" lIns="18288" rIns="18288" tIns="36576" bIns="36576" anchor="t">
            <a:spAutoFit/>
          </a:bodyPr>
          <a:lstStyle/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600" b="0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if '무료' in 제목: 스팸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600" b="0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if 링크 수 &gt; 5: 스팸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6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장점: 점검하기 쉽고 이유가 분명하다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6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한계: 예외가 끝없이 생긴다 → 규칙을 계속 고쳐야 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1408176"/>
            <a:ext cx="5522976" cy="2399792"/>
          </a:xfrm>
          <a:prstGeom prst="roundRect">
            <a:avLst>
              <a:gd name="adj" fmla="val 3810"/>
            </a:avLst>
          </a:prstGeom>
          <a:solidFill>
            <a:srgbClr val="ED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536192"/>
            <a:ext cx="5193791" cy="384048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학습 기반 — 예시에서 규칙을 찾는다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1993392"/>
            <a:ext cx="5193792" cy="1686560"/>
          </a:xfrm>
          <a:prstGeom prst="rect">
            <a:avLst/>
          </a:prstGeom>
          <a:noFill/>
        </p:spPr>
        <p:txBody>
          <a:bodyPr wrap="square" lIns="18288" rIns="18288" tIns="36576" bIns="36576" anchor="t">
            <a:spAutoFit/>
          </a:bodyPr>
          <a:lstStyle/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6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스팸/정상 </a:t>
            </a:r>
            <a:r>
              <a:rPr sz="16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예시 수만 개</a:t>
            </a:r>
            <a:r>
              <a:rPr sz="16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를 모은다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6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점수 = w1·‘무료’ + w2·링크 수 + … + b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6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틀린 만큼 </a:t>
            </a:r>
            <a:r>
              <a:rPr sz="16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w를 조금씩 고친다</a:t>
            </a:r>
            <a:r>
              <a:rPr sz="16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 (오늘의 핵심)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6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사람은 데이터·목표·구조·평가를 설계한다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173728"/>
            <a:ext cx="11274552" cy="868680"/>
          </a:xfrm>
          <a:prstGeom prst="roundRect">
            <a:avLst>
              <a:gd name="adj" fmla="val 10526"/>
            </a:avLst>
          </a:prstGeom>
          <a:solidFill>
            <a:srgbClr val="EDF5F9"/>
          </a:solidFill>
          <a:ln w="12700">
            <a:solidFill>
              <a:srgbClr val="72AB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320"/>
              </a:spcAft>
              <a:buNone/>
            </a:pPr>
            <a:r>
              <a:rPr sz="16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규칙 기반 AI가 ‘실패한 과거’는 아니다 — 지금도 두 방식을 </a:t>
            </a:r>
            <a:r>
              <a:rPr sz="16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결합</a:t>
            </a:r>
            <a:r>
              <a:rPr sz="16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해 쓴다. 이 과정은 그중 ‘학습’의 계보를 따라간다.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모델 = 조절 손잡이가 달린 함수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2026-10-05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58252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 Zero 2 Transformer</a:t>
            </a:r>
            <a:r>
              <a:rPr lang="en-US" altLang="ko-KR" dirty="0"/>
              <a:t> |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9857232" cy="50292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학습이란 데이터를 보고 손잡이(파라미터 θ)의 값을 정하는 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3032" y="914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00A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아이디어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852160"/>
            <a:ext cx="11274552" cy="530352"/>
          </a:xfrm>
          <a:prstGeom prst="roundRect">
            <a:avLst>
              <a:gd name="adj" fmla="val 17241"/>
            </a:avLst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320"/>
              </a:spcAft>
              <a:buNone/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나머지 = 이 네 질문에 하나씩 답하기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08176"/>
            <a:ext cx="11274552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C5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408176"/>
            <a:ext cx="11000232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2400" b="1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ŷ = f_θ(x)      θ: 학습으로 정해지는 숫자들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734056"/>
            <a:ext cx="2647188" cy="2013712"/>
          </a:xfrm>
          <a:prstGeom prst="roundRect">
            <a:avLst>
              <a:gd name="adj" fmla="val 4540"/>
            </a:avLst>
          </a:prstGeom>
          <a:solidFill>
            <a:srgbClr val="ED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2862072"/>
            <a:ext cx="2318004" cy="594359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① 데이터를 숫자로?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529584"/>
            <a:ext cx="2318004" cy="1090167"/>
          </a:xfrm>
          <a:prstGeom prst="rect">
            <a:avLst/>
          </a:prstGeom>
          <a:noFill/>
        </p:spPr>
        <p:txBody>
          <a:bodyPr wrap="square" lIns="18288" rIns="18288" tIns="36576" bIns="36576" anchor="t">
            <a:spAutoFit/>
          </a:bodyPr>
          <a:lstStyle/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6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Part 2 · Tensor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6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shape · 내적 · 행렬곱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2988" y="2734056"/>
            <a:ext cx="2647188" cy="2013712"/>
          </a:xfrm>
          <a:prstGeom prst="roundRect">
            <a:avLst>
              <a:gd name="adj" fmla="val 4540"/>
            </a:avLst>
          </a:prstGeom>
          <a:solidFill>
            <a:srgbClr val="ED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97580" y="2862072"/>
            <a:ext cx="2318004" cy="384048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② 얼마나 틀렸나?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7580" y="3319272"/>
            <a:ext cx="2318004" cy="1300479"/>
          </a:xfrm>
          <a:prstGeom prst="rect">
            <a:avLst/>
          </a:prstGeom>
          <a:noFill/>
        </p:spPr>
        <p:txBody>
          <a:bodyPr wrap="square" lIns="18288" rIns="18288" tIns="36576" bIns="36576" anchor="t">
            <a:spAutoFit/>
          </a:bodyPr>
          <a:lstStyle/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6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Part 3 · 손실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6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선형 모델 · MSE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734056"/>
            <a:ext cx="2647188" cy="2013712"/>
          </a:xfrm>
          <a:prstGeom prst="roundRect">
            <a:avLst>
              <a:gd name="adj" fmla="val 4540"/>
            </a:avLst>
          </a:prstGeom>
          <a:solidFill>
            <a:srgbClr val="ED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2862072"/>
            <a:ext cx="2318003" cy="384048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③ 어떻게 고치나?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3319272"/>
            <a:ext cx="2318004" cy="1300479"/>
          </a:xfrm>
          <a:prstGeom prst="rect">
            <a:avLst/>
          </a:prstGeom>
          <a:noFill/>
        </p:spPr>
        <p:txBody>
          <a:bodyPr wrap="square" lIns="18288" rIns="18288" tIns="36576" bIns="36576" anchor="t">
            <a:spAutoFit/>
          </a:bodyPr>
          <a:lstStyle/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6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Part 4 · 경사하강법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6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기울기 · 학습률 · 학습 루프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84564" y="2734056"/>
            <a:ext cx="2647188" cy="2013712"/>
          </a:xfrm>
          <a:prstGeom prst="roundRect">
            <a:avLst>
              <a:gd name="adj" fmla="val 4540"/>
            </a:avLst>
          </a:prstGeom>
          <a:solidFill>
            <a:srgbClr val="FD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49156" y="2862072"/>
            <a:ext cx="2318004" cy="384048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④ 새 데이터에도?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9156" y="3319272"/>
            <a:ext cx="2318004" cy="1300479"/>
          </a:xfrm>
          <a:prstGeom prst="rect">
            <a:avLst/>
          </a:prstGeom>
          <a:noFill/>
        </p:spPr>
        <p:txBody>
          <a:bodyPr wrap="square" lIns="18288" rIns="18288" tIns="36576" bIns="36576" anchor="t">
            <a:spAutoFit/>
          </a:bodyPr>
          <a:lstStyle/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6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Part 5 · 일반화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6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train / val / test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067808"/>
            <a:ext cx="11274552" cy="614680"/>
          </a:xfrm>
          <a:prstGeom prst="roundRect">
            <a:avLst>
              <a:gd name="adj" fmla="val 14876"/>
            </a:avLst>
          </a:prstGeom>
          <a:solidFill>
            <a:srgbClr val="EDF5F9"/>
          </a:solidFill>
          <a:ln w="12700">
            <a:solidFill>
              <a:srgbClr val="72AB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320"/>
              </a:spcAft>
              <a:buNone/>
            </a:pPr>
            <a:r>
              <a:rPr sz="16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각 Part는 같은 순서로 진행한다: </a:t>
            </a:r>
            <a:r>
              <a:rPr sz="16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문제 → 아이디어 → 계산 → 검증</a:t>
            </a:r>
            <a:r>
              <a:rPr sz="16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 (슬라이드 오른쪽 위 태그)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73152" rIns="73152" tIns="36576" bIns="36576" anchor="b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None/>
            </a:pPr>
            <a:r>
              <a:rPr sz="22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Part 2</a:t>
            </a:r>
          </a:p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None/>
            </a:pPr>
            <a:r>
              <a:rPr sz="36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Tensor: 데이터를 담는 그릇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 lIns="73152" rIns="73152" tIns="36576" bIns="36576" anchor="t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000" b="0">
                <a:solidFill>
                  <a:srgbClr val="5E6B75"/>
                </a:solidFill>
                <a:latin typeface="맑은 고딕"/>
                <a:ea typeface="맑은 고딕"/>
                <a:cs typeface="맑은 고딕"/>
              </a:rPr>
              <a:t>컴퓨터는 숫자만 계산한다 — 표·이미지·문장을 어떤 숫자로 바꿀까?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모든 데이터는 숫자 배열이 된다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557016"/>
            <a:ext cx="11274552" cy="2825496"/>
          </a:xfrm>
        </p:spPr>
        <p:txBody>
          <a:bodyPr wrap="square" lIns="73152" rIns="73152" tIns="36576" bIns="36576" anchor="t">
            <a:normAutofit/>
          </a:bodyPr>
          <a:lstStyle/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</a:rPr>
              <a:t>형태는 달라도 모두 </a:t>
            </a:r>
            <a:r>
              <a:rPr sz="1800" b="1">
                <a:solidFill>
                  <a:srgbClr val="1B2A36"/>
                </a:solidFill>
              </a:rPr>
              <a:t>축(axis)이 있는 숫자 배열</a:t>
            </a:r>
            <a:r>
              <a:rPr sz="1800" b="0">
                <a:solidFill>
                  <a:srgbClr val="1B2A36"/>
                </a:solidFill>
              </a:rPr>
              <a:t> → 이것을 </a:t>
            </a:r>
            <a:r>
              <a:rPr sz="1800" b="1">
                <a:solidFill>
                  <a:srgbClr val="1B2A36"/>
                </a:solidFill>
              </a:rPr>
              <a:t>텐서</a:t>
            </a:r>
            <a:r>
              <a:rPr sz="1800" b="0">
                <a:solidFill>
                  <a:srgbClr val="1B2A36"/>
                </a:solidFill>
              </a:rPr>
              <a:t>라고 부른다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</a:rPr>
              <a:t>이미지·문장을 숫자로 바꾸는 구체적 방법은 3주차(이미지)·4주차(문장)에서 다룬다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</a:rPr>
              <a:t>오늘은 이 배열을 다루는 </a:t>
            </a:r>
            <a:r>
              <a:rPr sz="1800" b="1">
                <a:solidFill>
                  <a:srgbClr val="1B2A36"/>
                </a:solidFill>
              </a:rPr>
              <a:t>공통 규칙</a:t>
            </a:r>
            <a:r>
              <a:rPr sz="1800" b="0">
                <a:solidFill>
                  <a:srgbClr val="1B2A36"/>
                </a:solidFill>
              </a:rPr>
              <a:t>(shape, 원소별 연산, 내적, 행렬곱)을 익힌다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2026-10-05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58252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 Zero 2 Transformer</a:t>
            </a:r>
            <a:r>
              <a:rPr lang="en-US" altLang="ko-KR" dirty="0"/>
              <a:t> |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9857232" cy="50292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표·이미지·문장 — 형태는 달라도 결국 축이 있는 숫자 배열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3032" y="914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문제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08176"/>
            <a:ext cx="3605784" cy="2083562"/>
          </a:xfrm>
          <a:prstGeom prst="roundRect">
            <a:avLst>
              <a:gd name="adj" fmla="val 4388"/>
            </a:avLst>
          </a:prstGeom>
          <a:solidFill>
            <a:srgbClr val="ED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536192"/>
            <a:ext cx="3276600" cy="384048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표 데이터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993392"/>
            <a:ext cx="3276600" cy="1370330"/>
          </a:xfrm>
          <a:prstGeom prst="rect">
            <a:avLst/>
          </a:prstGeom>
          <a:noFill/>
        </p:spPr>
        <p:txBody>
          <a:bodyPr wrap="square" lIns="18288" rIns="18288" tIns="36576" bIns="36576" anchor="t">
            <a:spAutoFit/>
          </a:bodyPr>
          <a:lstStyle/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594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7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학생 4명 × (공부 시간, 수면, 출석)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594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7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→ shape </a:t>
            </a:r>
            <a:r>
              <a:rPr sz="17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(4, 3)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1584" y="1408176"/>
            <a:ext cx="3605784" cy="2083562"/>
          </a:xfrm>
          <a:prstGeom prst="roundRect">
            <a:avLst>
              <a:gd name="adj" fmla="val 4388"/>
            </a:avLst>
          </a:prstGeom>
          <a:solidFill>
            <a:srgbClr val="ED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6176" y="1536192"/>
            <a:ext cx="3276600" cy="384048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이미지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6176" y="1993392"/>
            <a:ext cx="3276600" cy="1370330"/>
          </a:xfrm>
          <a:prstGeom prst="rect">
            <a:avLst/>
          </a:prstGeom>
          <a:noFill/>
        </p:spPr>
        <p:txBody>
          <a:bodyPr wrap="square" lIns="18288" rIns="18288" tIns="36576" bIns="36576" anchor="t">
            <a:spAutoFit/>
          </a:bodyPr>
          <a:lstStyle/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594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7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컬러 28×28 사진 1장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594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7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→ (채널, 세로, 가로) = </a:t>
            </a:r>
            <a:r>
              <a:rPr sz="17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(3, 28, 28)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5968" y="1408176"/>
            <a:ext cx="3605784" cy="2083562"/>
          </a:xfrm>
          <a:prstGeom prst="roundRect">
            <a:avLst>
              <a:gd name="adj" fmla="val 4388"/>
            </a:avLst>
          </a:prstGeom>
          <a:solidFill>
            <a:srgbClr val="ED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0560" y="1536192"/>
            <a:ext cx="3276600" cy="384048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문장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0560" y="1993392"/>
            <a:ext cx="3276600" cy="1370330"/>
          </a:xfrm>
          <a:prstGeom prst="rect">
            <a:avLst/>
          </a:prstGeom>
          <a:noFill/>
        </p:spPr>
        <p:txBody>
          <a:bodyPr wrap="square" lIns="18288" rIns="18288" tIns="36576" bIns="36576" anchor="t">
            <a:spAutoFit/>
          </a:bodyPr>
          <a:lstStyle/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594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7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“나는 학교에 간다 .” → 토큰 5개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594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7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각 토큰을 숫자 8개로 → </a:t>
            </a:r>
            <a:r>
              <a:rPr sz="17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(5, 8)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스칼라에서 텐서까지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8176"/>
            <a:ext cx="4600895" cy="4974336"/>
          </a:xfrm>
        </p:spPr>
        <p:txBody>
          <a:bodyPr wrap="square" lIns="73152" rIns="73152" tIns="36576" bIns="36576" anchor="t">
            <a:normAutofit/>
          </a:bodyPr>
          <a:lstStyle/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1">
                <a:solidFill>
                  <a:srgbClr val="1B2A36"/>
                </a:solidFill>
              </a:rPr>
              <a:t>스칼라</a:t>
            </a:r>
            <a:r>
              <a:rPr sz="1800" b="0">
                <a:solidFill>
                  <a:srgbClr val="1B2A36"/>
                </a:solidFill>
              </a:rPr>
              <a:t>: 숫자 하나 — shape </a:t>
            </a:r>
            <a:r>
              <a:rPr sz="1800" b="0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()</a:t>
            </a:r>
          </a:p>
          <a:p>
            <a:pPr algn="l" marL="566928" indent="-237744">
              <a:lnSpc>
                <a:spcPct val="110000"/>
              </a:lnSpc>
              <a:spcBef>
                <a:spcPts val="0"/>
              </a:spcBef>
              <a:spcAft>
                <a:spcPts val="542"/>
              </a:spcAft>
              <a:buClr>
                <a:srgbClr val="01688F"/>
              </a:buClr>
              <a:buFont typeface="Arial"/>
              <a:buChar char="-"/>
            </a:pPr>
            <a:r>
              <a:rPr sz="1550" b="0">
                <a:solidFill>
                  <a:srgbClr val="1B2A36"/>
                </a:solidFill>
              </a:rPr>
              <a:t>예: 손실 값 0.42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1">
                <a:solidFill>
                  <a:srgbClr val="1B2A36"/>
                </a:solidFill>
              </a:rPr>
              <a:t>벡터</a:t>
            </a:r>
            <a:r>
              <a:rPr sz="1800" b="0">
                <a:solidFill>
                  <a:srgbClr val="1B2A36"/>
                </a:solidFill>
              </a:rPr>
              <a:t>: 한 줄 — shape </a:t>
            </a:r>
            <a:r>
              <a:rPr sz="1800" b="0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(8,)</a:t>
            </a:r>
          </a:p>
          <a:p>
            <a:pPr algn="l" marL="566928" indent="-237744">
              <a:lnSpc>
                <a:spcPct val="110000"/>
              </a:lnSpc>
              <a:spcBef>
                <a:spcPts val="0"/>
              </a:spcBef>
              <a:spcAft>
                <a:spcPts val="542"/>
              </a:spcAft>
              <a:buClr>
                <a:srgbClr val="01688F"/>
              </a:buClr>
              <a:buFont typeface="Arial"/>
              <a:buChar char="-"/>
            </a:pPr>
            <a:r>
              <a:rPr sz="1550" b="0">
                <a:solidFill>
                  <a:srgbClr val="1B2A36"/>
                </a:solidFill>
              </a:rPr>
              <a:t>토큰 하나의 특징 8개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1">
                <a:solidFill>
                  <a:srgbClr val="1B2A36"/>
                </a:solidFill>
              </a:rPr>
              <a:t>행렬</a:t>
            </a:r>
            <a:r>
              <a:rPr sz="1800" b="0">
                <a:solidFill>
                  <a:srgbClr val="1B2A36"/>
                </a:solidFill>
              </a:rPr>
              <a:t>: 표 — shape </a:t>
            </a:r>
            <a:r>
              <a:rPr sz="1800" b="0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(5, 8)</a:t>
            </a:r>
          </a:p>
          <a:p>
            <a:pPr algn="l" marL="566928" indent="-237744">
              <a:lnSpc>
                <a:spcPct val="110000"/>
              </a:lnSpc>
              <a:spcBef>
                <a:spcPts val="0"/>
              </a:spcBef>
              <a:spcAft>
                <a:spcPts val="542"/>
              </a:spcAft>
              <a:buClr>
                <a:srgbClr val="01688F"/>
              </a:buClr>
              <a:buFont typeface="Arial"/>
              <a:buChar char="-"/>
            </a:pPr>
            <a:r>
              <a:rPr sz="1550" b="0">
                <a:solidFill>
                  <a:srgbClr val="1B2A36"/>
                </a:solidFill>
              </a:rPr>
              <a:t>토큰 5개 × 특징 8개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1">
                <a:solidFill>
                  <a:srgbClr val="1B2A36"/>
                </a:solidFill>
              </a:rPr>
              <a:t>텐서</a:t>
            </a:r>
            <a:r>
              <a:rPr sz="1800" b="0">
                <a:solidFill>
                  <a:srgbClr val="1B2A36"/>
                </a:solidFill>
              </a:rPr>
              <a:t>: 축 3개 이상 — </a:t>
            </a:r>
            <a:r>
              <a:rPr sz="1800" b="0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(2, 5, 8)</a:t>
            </a:r>
          </a:p>
          <a:p>
            <a:pPr algn="l" marL="566928" indent="-237744">
              <a:lnSpc>
                <a:spcPct val="110000"/>
              </a:lnSpc>
              <a:spcBef>
                <a:spcPts val="0"/>
              </a:spcBef>
              <a:spcAft>
                <a:spcPts val="542"/>
              </a:spcAft>
              <a:buClr>
                <a:srgbClr val="01688F"/>
              </a:buClr>
              <a:buFont typeface="Arial"/>
              <a:buChar char="-"/>
            </a:pPr>
            <a:r>
              <a:rPr sz="1550" b="0">
                <a:solidFill>
                  <a:srgbClr val="1B2A36"/>
                </a:solidFill>
              </a:rPr>
              <a:t>문장 2개를 한 번에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2026-10-05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58252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 Zero 2 Transformer</a:t>
            </a:r>
            <a:r>
              <a:rPr lang="en-US" altLang="ko-KR" dirty="0"/>
              <a:t> |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9857232" cy="50292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텐서 = 축(axis)이 여러 개인 숫자 배열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3032" y="914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00A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아이디어</a:t>
            </a:r>
          </a:p>
        </p:txBody>
      </p:sp>
      <p:pic>
        <p:nvPicPr>
          <p:cNvPr id="9" name="Picture 8" descr="tensor_ran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135" y="1949700"/>
            <a:ext cx="6353616" cy="389128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shape 읽기: 축마다 이름이 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2026-10-05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58252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 Zero 2 Transformer</a:t>
            </a:r>
            <a:r>
              <a:rPr lang="en-US" altLang="ko-KR" dirty="0"/>
              <a:t> |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9857232" cy="50292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(B, N, d) = (문장 수, 토큰 수, 특징 수) — 숫자보다 축의 의미가 먼저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3032" y="914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계산</a:t>
            </a:r>
          </a:p>
        </p:txBody>
      </p:sp>
      <p:pic>
        <p:nvPicPr>
          <p:cNvPr id="9" name="Picture 8" descr="batch_ax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33787"/>
            <a:ext cx="5477256" cy="2923113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54496" y="1408176"/>
          <a:ext cx="5477255" cy="1956814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944354"/>
                <a:gridCol w="3021934"/>
                <a:gridCol w="1510967"/>
              </a:tblGrid>
              <a:tr h="374904"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기호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01688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뜻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01688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01688F"/>
                    </a:solidFill>
                  </a:tcPr>
                </a:tc>
              </a:tr>
              <a:tr h="603503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배치: 한 번에 처리하는 예시 수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문장 2개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시퀀스 길이: 토큰 수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토큰 5개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</a:tr>
              <a:tr h="603503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특징 수: 토큰 하나를 표현하는 숫자 개수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8개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254496" y="3694176"/>
            <a:ext cx="5477256" cy="834390"/>
          </a:xfrm>
          <a:prstGeom prst="roundRect">
            <a:avLst>
              <a:gd name="adj" fmla="val 10958"/>
            </a:avLst>
          </a:prstGeom>
          <a:solidFill>
            <a:srgbClr val="EDF5F9"/>
          </a:solidFill>
          <a:ln w="12700">
            <a:solidFill>
              <a:srgbClr val="72AB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습관: 코드를 읽을 때마다 </a:t>
            </a:r>
            <a:r>
              <a:rPr sz="1500" b="0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print(x.shape)</a:t>
            </a: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 하고, 각 축의 이름을 소리 내어 말한다.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원소별 연산과 Broadcasting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2221" y="1408176"/>
            <a:ext cx="4929530" cy="4974336"/>
          </a:xfrm>
        </p:spPr>
        <p:txBody>
          <a:bodyPr wrap="square" lIns="73152" rIns="73152" tIns="36576" bIns="36576" anchor="t">
            <a:normAutofit/>
          </a:bodyPr>
          <a:lstStyle/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</a:rPr>
              <a:t>규칙: </a:t>
            </a:r>
            <a:r>
              <a:rPr sz="1800" b="1">
                <a:solidFill>
                  <a:srgbClr val="1B2A36"/>
                </a:solidFill>
              </a:rPr>
              <a:t>뒤쪽 축부터</a:t>
            </a:r>
            <a:r>
              <a:rPr sz="1800" b="0">
                <a:solidFill>
                  <a:srgbClr val="1B2A36"/>
                </a:solidFill>
              </a:rPr>
              <a:t> 비교</a:t>
            </a:r>
          </a:p>
          <a:p>
            <a:pPr algn="l" marL="566928" indent="-237744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lr>
                <a:srgbClr val="01688F"/>
              </a:buClr>
              <a:buFont typeface="Arial"/>
              <a:buChar char="-"/>
            </a:pPr>
            <a:r>
              <a:rPr sz="1550" b="0">
                <a:solidFill>
                  <a:srgbClr val="1B2A36"/>
                </a:solidFill>
              </a:rPr>
              <a:t>길이가 같거나, 한쪽이 1이면 OK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(2, 3) + (3,)</a:t>
            </a:r>
            <a:r>
              <a:rPr sz="1800" b="0">
                <a:solidFill>
                  <a:srgbClr val="1B2A36"/>
                </a:solidFill>
              </a:rPr>
              <a:t> → (2, 3) ✔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(2, 1) + (1, 3)</a:t>
            </a:r>
            <a:r>
              <a:rPr sz="1800" b="0">
                <a:solidFill>
                  <a:srgbClr val="1B2A36"/>
                </a:solidFill>
              </a:rPr>
              <a:t> → (2, 3) ✔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(2, 3) + (2,)</a:t>
            </a:r>
            <a:r>
              <a:rPr sz="1800" b="0">
                <a:solidFill>
                  <a:srgbClr val="1B2A36"/>
                </a:solidFill>
              </a:rPr>
              <a:t> → </a:t>
            </a:r>
            <a:r>
              <a:rPr sz="1800" b="1">
                <a:solidFill>
                  <a:srgbClr val="E97132"/>
                </a:solidFill>
              </a:rPr>
              <a:t>오류</a:t>
            </a:r>
            <a:r>
              <a:rPr sz="1800" b="0">
                <a:solidFill>
                  <a:srgbClr val="1B2A36"/>
                </a:solidFill>
              </a:rPr>
              <a:t> (3 ≠ 2)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</a:rPr>
              <a:t>실전 예: 모든 토큰에 편향 더하기</a:t>
            </a:r>
          </a:p>
          <a:p>
            <a:pPr algn="l" marL="566928" indent="-237744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lr>
                <a:srgbClr val="01688F"/>
              </a:buClr>
              <a:buFont typeface="Arial"/>
              <a:buChar char="-"/>
            </a:pPr>
            <a:r>
              <a:rPr sz="1550" b="0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(B, N, d) + (d,)</a:t>
            </a:r>
            <a:r>
              <a:rPr sz="1550" b="0">
                <a:solidFill>
                  <a:srgbClr val="1B2A36"/>
                </a:solidFill>
              </a:rPr>
              <a:t> → (B, N, d)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2026-10-05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58252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 Zero 2 Transformer</a:t>
            </a:r>
            <a:r>
              <a:rPr lang="en-US" altLang="ko-KR" dirty="0"/>
              <a:t> |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9857232" cy="50292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크기가 다른 텐서도 규칙에 맞으면 자동으로 늘려 계산한다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3032" y="914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계산</a:t>
            </a:r>
          </a:p>
        </p:txBody>
      </p:sp>
      <p:pic>
        <p:nvPicPr>
          <p:cNvPr id="9" name="Picture 8" descr="broadcas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02586"/>
            <a:ext cx="6024981" cy="418551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내적: 가중합이자 비교 점수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2026-10-05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58252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 Zero 2 Transformer</a:t>
            </a:r>
            <a:r>
              <a:rPr lang="en-US" altLang="ko-KR" dirty="0"/>
              <a:t> |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9857232" cy="50292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같은 위치끼리 곱해서 모두 더한다 — 모델의 가장 기본 계산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3032" y="914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계산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852160"/>
            <a:ext cx="11274552" cy="530352"/>
          </a:xfrm>
          <a:prstGeom prst="roundRect">
            <a:avLst>
              <a:gd name="adj" fmla="val 17241"/>
            </a:avLst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320"/>
              </a:spcAft>
              <a:buNone/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내적 = “얼마나 중요하게 섞을까”(가중합) = “얼마나 닮았나”(비교 점수)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08176"/>
            <a:ext cx="11274552" cy="914400"/>
          </a:xfrm>
          <a:prstGeom prst="roundRect">
            <a:avLst>
              <a:gd name="adj" fmla="val 10000"/>
            </a:avLst>
          </a:prstGeom>
          <a:solidFill>
            <a:srgbClr val="F4F7F9"/>
          </a:solidFill>
          <a:ln w="12700">
            <a:solidFill>
              <a:srgbClr val="C5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408176"/>
            <a:ext cx="11000232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2400" b="1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a · b = a₁b₁ + a₂b₂ + … + a_d b_d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596896"/>
            <a:ext cx="5454396" cy="3054096"/>
          </a:xfrm>
          <a:prstGeom prst="roundRect">
            <a:avLst>
              <a:gd name="adj" fmla="val 2994"/>
            </a:avLst>
          </a:prstGeom>
          <a:solidFill>
            <a:srgbClr val="ED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2724912"/>
            <a:ext cx="5125212" cy="384048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가중합으로 읽기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182112"/>
            <a:ext cx="5125212" cy="2340864"/>
          </a:xfrm>
          <a:prstGeom prst="rect">
            <a:avLst/>
          </a:prstGeom>
          <a:noFill/>
        </p:spPr>
        <p:txBody>
          <a:bodyPr wrap="square" lIns="18288" rIns="18288" tIns="36576" bIns="36576" anchor="t">
            <a:spAutoFit/>
          </a:bodyPr>
          <a:lstStyle/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525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w = (0.6, 0.3, 0.1)  ← 중요도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525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x = (5시간, 7시간, 10회)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525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w·x = 3.0 + 2.1 + 1.0 = </a:t>
            </a:r>
            <a:r>
              <a:rPr sz="15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6.1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525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가중치가 큰 특징이 결과를 좌우한다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7356" y="2596896"/>
            <a:ext cx="5454396" cy="3054096"/>
          </a:xfrm>
          <a:prstGeom prst="roundRect">
            <a:avLst>
              <a:gd name="adj" fmla="val 2994"/>
            </a:avLst>
          </a:prstGeom>
          <a:solidFill>
            <a:srgbClr val="FFFFFF"/>
          </a:solidFill>
          <a:ln w="12700">
            <a:solidFill>
              <a:srgbClr val="C5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1948" y="2724912"/>
            <a:ext cx="5125211" cy="384048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비교 점수로 읽기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1948" y="3182112"/>
            <a:ext cx="5125212" cy="2340864"/>
          </a:xfrm>
          <a:prstGeom prst="rect">
            <a:avLst/>
          </a:prstGeom>
          <a:noFill/>
        </p:spPr>
        <p:txBody>
          <a:bodyPr wrap="square" lIns="18288" rIns="18288" tIns="36576" bIns="36576" anchor="t">
            <a:spAutoFit/>
          </a:bodyPr>
          <a:lstStyle/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525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q = (1, 2), k = (3, −1)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525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q·k = 3 − 2 = </a:t>
            </a:r>
            <a:r>
              <a:rPr sz="15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1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525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같은 방향일수록 크고, 반대면 음수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525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500" b="1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주의</a:t>
            </a: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 크기에도 영향 → cosine과 다르다 (5주차)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행렬곱 = 내적 여러 개를 한 번에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2221" y="1408176"/>
            <a:ext cx="4929530" cy="4974336"/>
          </a:xfrm>
        </p:spPr>
        <p:txBody>
          <a:bodyPr wrap="square" lIns="73152" rIns="73152" tIns="36576" bIns="36576" anchor="t">
            <a:normAutofit/>
          </a:bodyPr>
          <a:lstStyle/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</a:rPr>
              <a:t>C[i, j] = </a:t>
            </a:r>
            <a:r>
              <a:rPr sz="1800" b="1">
                <a:solidFill>
                  <a:srgbClr val="1B2A36"/>
                </a:solidFill>
              </a:rPr>
              <a:t>A의 i행 · B의 j열</a:t>
            </a:r>
            <a:r>
              <a:rPr sz="1800" b="0">
                <a:solidFill>
                  <a:srgbClr val="1B2A36"/>
                </a:solidFill>
              </a:rPr>
              <a:t> (내적)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(2, 3) @ (3, 4)</a:t>
            </a:r>
            <a:r>
              <a:rPr sz="1800" b="0">
                <a:solidFill>
                  <a:srgbClr val="1B2A36"/>
                </a:solidFill>
              </a:rPr>
              <a:t> → </a:t>
            </a:r>
            <a:r>
              <a:rPr sz="1800" b="0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(2, 4)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(4, 3) @ (3, 1)</a:t>
            </a:r>
            <a:r>
              <a:rPr sz="1800" b="0">
                <a:solidFill>
                  <a:srgbClr val="1B2A36"/>
                </a:solidFill>
              </a:rPr>
              <a:t> → </a:t>
            </a:r>
            <a:r>
              <a:rPr sz="1800" b="0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(4, 1)</a:t>
            </a:r>
          </a:p>
          <a:p>
            <a:pPr algn="l" marL="566928" indent="-237744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lr>
                <a:srgbClr val="01688F"/>
              </a:buClr>
              <a:buFont typeface="Arial"/>
              <a:buChar char="-"/>
            </a:pPr>
            <a:r>
              <a:rPr sz="1550" b="0">
                <a:solidFill>
                  <a:srgbClr val="1B2A36"/>
                </a:solidFill>
              </a:rPr>
              <a:t>학생 4명의 점수를 </a:t>
            </a:r>
            <a:r>
              <a:rPr sz="1550" b="1">
                <a:solidFill>
                  <a:srgbClr val="1B2A36"/>
                </a:solidFill>
              </a:rPr>
              <a:t>한 번에</a:t>
            </a:r>
            <a:r>
              <a:rPr sz="1550" b="0">
                <a:solidFill>
                  <a:srgbClr val="1B2A36"/>
                </a:solidFill>
              </a:rPr>
              <a:t> 계산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(2, 3) @ (2, 3)</a:t>
            </a:r>
            <a:r>
              <a:rPr sz="1800" b="0">
                <a:solidFill>
                  <a:srgbClr val="1B2A36"/>
                </a:solidFill>
              </a:rPr>
              <a:t> → </a:t>
            </a:r>
            <a:r>
              <a:rPr sz="1800" b="1">
                <a:solidFill>
                  <a:srgbClr val="E97132"/>
                </a:solidFill>
              </a:rPr>
              <a:t>오류</a:t>
            </a:r>
            <a:r>
              <a:rPr sz="1800" b="0">
                <a:solidFill>
                  <a:srgbClr val="1B2A36"/>
                </a:solidFill>
              </a:rPr>
              <a:t> (3 ≠ 2)</a:t>
            </a:r>
          </a:p>
          <a:p>
            <a:pPr algn="l" marL="566928" indent="-237744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lr>
                <a:srgbClr val="01688F"/>
              </a:buClr>
              <a:buFont typeface="Arial"/>
              <a:buChar char="-"/>
            </a:pPr>
            <a:r>
              <a:rPr sz="1550" b="0">
                <a:solidFill>
                  <a:srgbClr val="1B2A36"/>
                </a:solidFill>
              </a:rPr>
              <a:t>전치(transpose)로 축을 바꿔야 한다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2026-10-05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58252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 Zero 2 Transformer</a:t>
            </a:r>
            <a:r>
              <a:rPr lang="en-US" altLang="ko-KR" dirty="0"/>
              <a:t> |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9857232" cy="50292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(m, k) @ (k, n) → (m, n): 안쪽 k가 같아야 하고, 곱하면서 사라진다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3032" y="914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계산</a:t>
            </a:r>
          </a:p>
        </p:txBody>
      </p:sp>
      <p:pic>
        <p:nvPicPr>
          <p:cNvPr id="9" name="Picture 8" descr="matmul_sha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46839"/>
            <a:ext cx="6024981" cy="249700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PyTorch로 확인하기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49947" y="1408176"/>
            <a:ext cx="4381804" cy="4974336"/>
          </a:xfrm>
        </p:spPr>
        <p:txBody>
          <a:bodyPr wrap="square" lIns="73152" rIns="73152" tIns="36576" bIns="36576" anchor="t">
            <a:normAutofit/>
          </a:bodyPr>
          <a:lstStyle/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X @ w</a:t>
            </a:r>
            <a:r>
              <a:rPr sz="1800" b="0">
                <a:solidFill>
                  <a:srgbClr val="1B2A36"/>
                </a:solidFill>
              </a:rPr>
              <a:t>: 학생 2명의 점수를 한 번에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x @ W</a:t>
            </a:r>
            <a:r>
              <a:rPr sz="1800" b="0">
                <a:solidFill>
                  <a:srgbClr val="1B2A36"/>
                </a:solidFill>
              </a:rPr>
              <a:t>: 마지막 축 d=8 → 4로 변환</a:t>
            </a:r>
          </a:p>
          <a:p>
            <a:pPr algn="l" marL="566928" indent="-237744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lr>
                <a:srgbClr val="01688F"/>
              </a:buClr>
              <a:buFont typeface="Arial"/>
              <a:buChar char="-"/>
            </a:pPr>
            <a:r>
              <a:rPr sz="1550" b="0">
                <a:solidFill>
                  <a:srgbClr val="1B2A36"/>
                </a:solidFill>
              </a:rPr>
              <a:t>앞쪽 (B, N)은 그대로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transpose</a:t>
            </a:r>
            <a:r>
              <a:rPr sz="1800" b="0">
                <a:solidFill>
                  <a:srgbClr val="1B2A36"/>
                </a:solidFill>
              </a:rPr>
              <a:t>: 축 </a:t>
            </a:r>
            <a:r>
              <a:rPr sz="1800" b="1">
                <a:solidFill>
                  <a:srgbClr val="1B2A36"/>
                </a:solidFill>
              </a:rPr>
              <a:t>순서</a:t>
            </a:r>
            <a:r>
              <a:rPr sz="1800" b="0">
                <a:solidFill>
                  <a:srgbClr val="1B2A36"/>
                </a:solidFill>
              </a:rPr>
              <a:t> 교환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reshape</a:t>
            </a:r>
            <a:r>
              <a:rPr sz="1800" b="0">
                <a:solidFill>
                  <a:srgbClr val="1B2A36"/>
                </a:solidFill>
              </a:rPr>
              <a:t>: 축을 </a:t>
            </a:r>
            <a:r>
              <a:rPr sz="1800" b="1">
                <a:solidFill>
                  <a:srgbClr val="1B2A36"/>
                </a:solidFill>
              </a:rPr>
              <a:t>합치거나</a:t>
            </a:r>
            <a:r>
              <a:rPr sz="1800" b="0">
                <a:solidFill>
                  <a:srgbClr val="1B2A36"/>
                </a:solidFill>
              </a:rPr>
              <a:t> 나눔</a:t>
            </a:r>
          </a:p>
          <a:p>
            <a:pPr algn="l" marL="566928" indent="-237744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lr>
                <a:srgbClr val="01688F"/>
              </a:buClr>
              <a:buFont typeface="Arial"/>
              <a:buChar char="-"/>
            </a:pPr>
            <a:r>
              <a:rPr sz="1550" b="0">
                <a:solidFill>
                  <a:srgbClr val="1B2A36"/>
                </a:solidFill>
              </a:rPr>
              <a:t>B·N = 10개 토큰을 한 줄로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2026-10-05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58252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 Zero 2 Transformer</a:t>
            </a:r>
            <a:r>
              <a:rPr lang="en-US" altLang="ko-KR" dirty="0"/>
              <a:t> |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9857232" cy="50292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코드 한 줄마다 shape을 먼저 예측하고 실행한다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3032" y="914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1B2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코드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08176"/>
            <a:ext cx="6572707" cy="2782823"/>
          </a:xfrm>
          <a:prstGeom prst="roundRect">
            <a:avLst>
              <a:gd name="adj" fmla="val 1971"/>
            </a:avLst>
          </a:prstGeom>
          <a:solidFill>
            <a:srgbClr val="F4F7F9"/>
          </a:solidFill>
          <a:ln w="12700">
            <a:solidFill>
              <a:srgbClr val="C5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517904"/>
            <a:ext cx="6353251" cy="2599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import torch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X = torch.tensor([[5., 7., 10.],   </a:t>
            </a:r>
            <a:r>
              <a:rPr sz="1300">
                <a:solidFill>
                  <a:srgbClr val="3F8A6E"/>
                </a:solidFill>
                <a:latin typeface="Courier New"/>
                <a:ea typeface="맑은 고딕"/>
                <a:cs typeface="Courier New"/>
              </a:rPr>
              <a:t># 학생 1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                  [2., 8.,  6.]])  </a:t>
            </a:r>
            <a:r>
              <a:rPr sz="1300">
                <a:solidFill>
                  <a:srgbClr val="3F8A6E"/>
                </a:solidFill>
                <a:latin typeface="Courier New"/>
                <a:ea typeface="맑은 고딕"/>
                <a:cs typeface="Courier New"/>
              </a:rPr>
              <a:t># 학생 2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w = torch.tensor([0.6, 0.3, 0.1])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print(X.shape, w.shape)  </a:t>
            </a:r>
            <a:r>
              <a:rPr sz="1300">
                <a:solidFill>
                  <a:srgbClr val="3F8A6E"/>
                </a:solidFill>
                <a:latin typeface="Courier New"/>
                <a:ea typeface="맑은 고딕"/>
                <a:cs typeface="Courier New"/>
              </a:rPr>
              <a:t># (2, 3) (3,)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print(X @ w)             </a:t>
            </a:r>
            <a:r>
              <a:rPr sz="1300">
                <a:solidFill>
                  <a:srgbClr val="3F8A6E"/>
                </a:solidFill>
                <a:latin typeface="Courier New"/>
                <a:ea typeface="맑은 고딕"/>
                <a:cs typeface="Courier New"/>
              </a:rPr>
              <a:t># tensor([6.1, 4.2])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300">
                <a:latin typeface="Courier New"/>
                <a:ea typeface="맑은 고딕"/>
                <a:cs typeface="Courier New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x = torch.randn(2, 5, 8)       </a:t>
            </a:r>
            <a:r>
              <a:rPr sz="1300">
                <a:solidFill>
                  <a:srgbClr val="3F8A6E"/>
                </a:solidFill>
                <a:latin typeface="Courier New"/>
                <a:ea typeface="맑은 고딕"/>
                <a:cs typeface="Courier New"/>
              </a:rPr>
              <a:t># (B, N, d)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W = torch.randn(8, 4)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print((x @ W).shape)           </a:t>
            </a:r>
            <a:r>
              <a:rPr sz="1300">
                <a:solidFill>
                  <a:srgbClr val="3F8A6E"/>
                </a:solidFill>
                <a:latin typeface="Courier New"/>
                <a:ea typeface="맑은 고딕"/>
                <a:cs typeface="Courier New"/>
              </a:rPr>
              <a:t># (2, 5, 4)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print(x.transpose(1, 2).shape) </a:t>
            </a:r>
            <a:r>
              <a:rPr sz="1300">
                <a:solidFill>
                  <a:srgbClr val="3F8A6E"/>
                </a:solidFill>
                <a:latin typeface="Courier New"/>
                <a:ea typeface="맑은 고딕"/>
                <a:cs typeface="Courier New"/>
              </a:rPr>
              <a:t># (2, 8, 5)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print(x.reshape(10, 8).shape)  </a:t>
            </a:r>
            <a:r>
              <a:rPr sz="1300">
                <a:solidFill>
                  <a:srgbClr val="3F8A6E"/>
                </a:solidFill>
                <a:latin typeface="Courier New"/>
                <a:ea typeface="맑은 고딕"/>
                <a:cs typeface="Courier New"/>
              </a:rPr>
              <a:t># (10, 8)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419600"/>
            <a:ext cx="6572707" cy="731520"/>
          </a:xfrm>
          <a:prstGeom prst="roundRect">
            <a:avLst>
              <a:gd name="adj" fmla="val 12500"/>
            </a:avLst>
          </a:prstGeom>
          <a:solidFill>
            <a:srgbClr val="EDF5F9"/>
          </a:solidFill>
          <a:ln w="12700">
            <a:solidFill>
              <a:srgbClr val="72AB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실습: 주석(# 뒤)을 가리고 shape을 먼저 적은 뒤 실행해서 맞춰 본다.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shape 예측하기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2026-10-05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58252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 Zero 2 Transformer</a:t>
            </a:r>
            <a:r>
              <a:rPr lang="en-US" altLang="ko-KR" dirty="0"/>
              <a:t> |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9857232" cy="50292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답을 보기 전에 종이에 먼저 적는다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3032" y="914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2E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08176"/>
            <a:ext cx="11274552" cy="960120"/>
          </a:xfrm>
          <a:prstGeom prst="roundRect">
            <a:avLst>
              <a:gd name="adj" fmla="val 9523"/>
            </a:avLst>
          </a:prstGeom>
          <a:solidFill>
            <a:srgbClr val="ED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94360" y="1659636"/>
            <a:ext cx="457200" cy="457200"/>
          </a:xfrm>
          <a:prstGeom prst="ellipse">
            <a:avLst/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220"/>
              </a:spcAft>
              <a:buNone/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408176"/>
            <a:ext cx="10405872" cy="9601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(4, 3) @ (3,)</a:t>
            </a:r>
            <a:r>
              <a:rPr sz="17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 의 결과 shape은?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514600"/>
            <a:ext cx="11274552" cy="960120"/>
          </a:xfrm>
          <a:prstGeom prst="roundRect">
            <a:avLst>
              <a:gd name="adj" fmla="val 9523"/>
            </a:avLst>
          </a:prstGeom>
          <a:solidFill>
            <a:srgbClr val="ED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4360" y="2766060"/>
            <a:ext cx="457200" cy="457200"/>
          </a:xfrm>
          <a:prstGeom prst="ellipse">
            <a:avLst/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220"/>
              </a:spcAft>
              <a:buNone/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514600"/>
            <a:ext cx="10405872" cy="9601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(2, 5, 8) + (8,)</a:t>
            </a:r>
            <a:r>
              <a:rPr sz="17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 는 가능한가? 결과 shape은?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621024"/>
            <a:ext cx="11274552" cy="960120"/>
          </a:xfrm>
          <a:prstGeom prst="roundRect">
            <a:avLst>
              <a:gd name="adj" fmla="val 9523"/>
            </a:avLst>
          </a:prstGeom>
          <a:solidFill>
            <a:srgbClr val="ED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94360" y="3872484"/>
            <a:ext cx="457200" cy="457200"/>
          </a:xfrm>
          <a:prstGeom prst="ellipse">
            <a:avLst/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220"/>
              </a:spcAft>
              <a:buNone/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621024"/>
            <a:ext cx="10405872" cy="9601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(2, 5, 8) @ (8, 16)</a:t>
            </a:r>
            <a:r>
              <a:rPr sz="17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 의 결과는?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727448"/>
            <a:ext cx="11274552" cy="960120"/>
          </a:xfrm>
          <a:prstGeom prst="roundRect">
            <a:avLst>
              <a:gd name="adj" fmla="val 9523"/>
            </a:avLst>
          </a:prstGeom>
          <a:solidFill>
            <a:srgbClr val="ED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4360" y="4978908"/>
            <a:ext cx="457200" cy="457200"/>
          </a:xfrm>
          <a:prstGeom prst="ellipse">
            <a:avLst/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220"/>
              </a:spcAft>
              <a:buNone/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727448"/>
            <a:ext cx="10405872" cy="9601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(3, 4) @ (3, 4)</a:t>
            </a:r>
            <a:r>
              <a:rPr sz="17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 가 오류인 이유와 고치는 방법은?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73152" rIns="73152" tIns="36576" bIns="36576" anchor="b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None/>
            </a:pPr>
            <a:r>
              <a:rPr sz="22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Part 3</a:t>
            </a:r>
          </a:p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None/>
            </a:pPr>
            <a:r>
              <a:rPr sz="36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모델과 손실: 얼마나 틀렸나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 lIns="73152" rIns="73152" tIns="36576" bIns="36576" anchor="t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000" b="0">
                <a:solidFill>
                  <a:srgbClr val="5E6B75"/>
                </a:solidFill>
                <a:latin typeface="맑은 고딕"/>
                <a:ea typeface="맑은 고딕"/>
                <a:cs typeface="맑은 고딕"/>
              </a:rPr>
              <a:t>예측이 틀린 정도를 어떻게 숫자 하나로 말할까?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오늘의 예제: 공부 시간 → 점수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648456"/>
            <a:ext cx="4929530" cy="2734056"/>
          </a:xfrm>
        </p:spPr>
        <p:txBody>
          <a:bodyPr wrap="square" lIns="73152" rIns="73152" tIns="36576" bIns="36576" anchor="t">
            <a:normAutofit/>
          </a:bodyPr>
          <a:lstStyle/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700" b="0">
                <a:solidFill>
                  <a:srgbClr val="1B2A36"/>
                </a:solidFill>
              </a:rPr>
              <a:t>우리는 규칙을 </a:t>
            </a:r>
            <a:r>
              <a:rPr sz="1700" b="1">
                <a:solidFill>
                  <a:srgbClr val="1B2A36"/>
                </a:solidFill>
              </a:rPr>
              <a:t>모른다</a:t>
            </a:r>
            <a:r>
              <a:rPr sz="1700" b="0">
                <a:solidFill>
                  <a:srgbClr val="1B2A36"/>
                </a:solidFill>
              </a:rPr>
              <a:t>고 가정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700" b="0">
                <a:solidFill>
                  <a:srgbClr val="1B2A36"/>
                </a:solidFill>
              </a:rPr>
              <a:t>후보 모델: 직선 </a:t>
            </a:r>
            <a:r>
              <a:rPr sz="1700" b="0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ŷ = w·x + b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700" b="0">
                <a:solidFill>
                  <a:srgbClr val="1B2A36"/>
                </a:solidFill>
              </a:rPr>
              <a:t>찾아야 할 것: </a:t>
            </a:r>
            <a:r>
              <a:rPr sz="1700" b="1">
                <a:solidFill>
                  <a:srgbClr val="1B2A36"/>
                </a:solidFill>
              </a:rPr>
              <a:t>w와 b</a:t>
            </a:r>
            <a:r>
              <a:rPr sz="1700" b="0">
                <a:solidFill>
                  <a:srgbClr val="1B2A36"/>
                </a:solidFill>
              </a:rPr>
              <a:t> (파라미터 2개)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2026-10-05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58252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 Zero 2 Transformer</a:t>
            </a:r>
            <a:r>
              <a:rPr lang="en-US" altLang="ko-KR" dirty="0"/>
              <a:t> |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9857232" cy="50292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규칙(y = 2x + 1)을 모른다고 가정하고, 데이터 4개만으로 찾아낸다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3032" y="914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문제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408176"/>
          <a:ext cx="4929530" cy="195072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2464765"/>
                <a:gridCol w="2464765"/>
              </a:tblGrid>
              <a:tr h="390144"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공부 시간 x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01688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점수 y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01688F"/>
                    </a:solidFill>
                  </a:tcPr>
                </a:tc>
              </a:tr>
              <a:tr h="390144"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</a:tr>
              <a:tr h="390144"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</a:tr>
            </a:tbl>
          </a:graphicData>
        </a:graphic>
      </p:graphicFrame>
      <p:pic>
        <p:nvPicPr>
          <p:cNvPr id="10" name="Picture 9" descr="data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9451" y="1408176"/>
            <a:ext cx="5719619" cy="497433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선형 모델: ŷ = w·x + b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2026-10-05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58252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 Zero 2 Transformer</a:t>
            </a:r>
            <a:r>
              <a:rPr lang="en-US" altLang="ko-KR" dirty="0"/>
              <a:t> |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9857232" cy="50292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w는 기울기(중요도), b는 기본값 — 둘을 바꾸면 다른 직선이 된다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3032" y="914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00A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아이디어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08176"/>
            <a:ext cx="11274552" cy="914400"/>
          </a:xfrm>
          <a:prstGeom prst="roundRect">
            <a:avLst>
              <a:gd name="adj" fmla="val 10000"/>
            </a:avLst>
          </a:prstGeom>
          <a:solidFill>
            <a:srgbClr val="F4F7F9"/>
          </a:solidFill>
          <a:ln w="12700">
            <a:solidFill>
              <a:srgbClr val="C5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408176"/>
            <a:ext cx="11000232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2800" b="1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ŷ = w · x + 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42615"/>
            <a:ext cx="1554480" cy="475488"/>
          </a:xfrm>
          <a:prstGeom prst="roundRect">
            <a:avLst>
              <a:gd name="adj" fmla="val 19230"/>
            </a:avLst>
          </a:prstGeom>
          <a:solidFill>
            <a:srgbClr val="D8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500" b="1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21408" y="2596896"/>
            <a:ext cx="3790187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입력 (공부 시간)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09544"/>
            <a:ext cx="1554480" cy="475488"/>
          </a:xfrm>
          <a:prstGeom prst="roundRect">
            <a:avLst>
              <a:gd name="adj" fmla="val 19230"/>
            </a:avLst>
          </a:prstGeom>
          <a:solidFill>
            <a:srgbClr val="D8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500" b="1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21408" y="3163824"/>
            <a:ext cx="3790187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모델의 예측 점수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776472"/>
            <a:ext cx="1554480" cy="475488"/>
          </a:xfrm>
          <a:prstGeom prst="roundRect">
            <a:avLst>
              <a:gd name="adj" fmla="val 19230"/>
            </a:avLst>
          </a:prstGeom>
          <a:solidFill>
            <a:srgbClr val="D8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500" b="1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21408" y="3730752"/>
            <a:ext cx="3790187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실제 정답 점수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343399"/>
            <a:ext cx="1554480" cy="475488"/>
          </a:xfrm>
          <a:prstGeom prst="roundRect">
            <a:avLst>
              <a:gd name="adj" fmla="val 19230"/>
            </a:avLst>
          </a:prstGeom>
          <a:solidFill>
            <a:srgbClr val="D8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500" b="1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21408" y="4297679"/>
            <a:ext cx="3790187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기울기: x가 1 늘 때 예측 증가량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910328"/>
            <a:ext cx="1554480" cy="475488"/>
          </a:xfrm>
          <a:prstGeom prst="roundRect">
            <a:avLst>
              <a:gd name="adj" fmla="val 19230"/>
            </a:avLst>
          </a:prstGeom>
          <a:solidFill>
            <a:srgbClr val="D8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500" b="1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21408" y="4864608"/>
            <a:ext cx="3790187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기본값: x = 0일 때 예측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77356" y="2596896"/>
            <a:ext cx="5454396" cy="2077212"/>
          </a:xfrm>
          <a:prstGeom prst="roundRect">
            <a:avLst>
              <a:gd name="adj" fmla="val 4402"/>
            </a:avLst>
          </a:prstGeom>
          <a:solidFill>
            <a:srgbClr val="FD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1948" y="2724912"/>
            <a:ext cx="5125211" cy="384048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처음엔 아무것도 모른다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1948" y="3182112"/>
            <a:ext cx="5125212" cy="1363980"/>
          </a:xfrm>
          <a:prstGeom prst="rect">
            <a:avLst/>
          </a:prstGeom>
          <a:noFill/>
        </p:spPr>
        <p:txBody>
          <a:bodyPr wrap="square" lIns="18288" rIns="18288" tIns="36576" bIns="36576" anchor="t">
            <a:spAutoFit/>
          </a:bodyPr>
          <a:lstStyle/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525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w = 0, b = 0 에서 시작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525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예측: ŷ = 0, 0, 0, 0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525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정답: y = 3, 5, 7, 9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525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→ 얼마나 틀렸는지 </a:t>
            </a:r>
            <a:r>
              <a:rPr sz="15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숫자로</a:t>
            </a: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 재야 고칠 수 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77356" y="4902708"/>
            <a:ext cx="5454396" cy="834390"/>
          </a:xfrm>
          <a:prstGeom prst="roundRect">
            <a:avLst>
              <a:gd name="adj" fmla="val 10958"/>
            </a:avLst>
          </a:prstGeom>
          <a:solidFill>
            <a:srgbClr val="EDF5F9"/>
          </a:solidFill>
          <a:ln w="12700">
            <a:solidFill>
              <a:srgbClr val="72AB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특징이 여러 개면 w·x 가 앞에서 본 </a:t>
            </a:r>
            <a:r>
              <a:rPr sz="15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내적</a:t>
            </a: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, 데이터 여러 개를 한 번에 하면 </a:t>
            </a:r>
            <a:r>
              <a:rPr sz="15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행렬곱</a:t>
            </a: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 X @ w + b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손실: 틀린 정도를 숫자 하나로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31883" y="2596896"/>
            <a:ext cx="4799868" cy="3785616"/>
          </a:xfrm>
        </p:spPr>
        <p:txBody>
          <a:bodyPr wrap="square" lIns="73152" rIns="73152" tIns="36576" bIns="36576" anchor="t">
            <a:normAutofit/>
          </a:bodyPr>
          <a:lstStyle/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1">
                <a:solidFill>
                  <a:srgbClr val="1B2A36"/>
                </a:solidFill>
              </a:rPr>
              <a:t>왜 제곱?</a:t>
            </a:r>
            <a:r>
              <a:rPr sz="1800" b="0">
                <a:solidFill>
                  <a:srgbClr val="1B2A36"/>
                </a:solidFill>
              </a:rPr>
              <a:t> +/− 오차가 상쇄되지 않게</a:t>
            </a:r>
          </a:p>
          <a:p>
            <a:pPr algn="l" marL="566928" indent="-237744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lr>
                <a:srgbClr val="01688F"/>
              </a:buClr>
              <a:buFont typeface="Arial"/>
              <a:buChar char="-"/>
            </a:pPr>
            <a:r>
              <a:rPr sz="1550" b="0">
                <a:solidFill>
                  <a:srgbClr val="1B2A36"/>
                </a:solidFill>
              </a:rPr>
              <a:t>큰 오차에 더 큰 벌점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</a:rPr>
              <a:t>w=0, b=0 → L = </a:t>
            </a:r>
            <a:r>
              <a:rPr sz="1800" b="1">
                <a:solidFill>
                  <a:srgbClr val="1B2A36"/>
                </a:solidFill>
              </a:rPr>
              <a:t>41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</a:rPr>
              <a:t>w=1, b=0 → L = </a:t>
            </a:r>
            <a:r>
              <a:rPr sz="1800" b="1">
                <a:solidFill>
                  <a:srgbClr val="1B2A36"/>
                </a:solidFill>
              </a:rPr>
              <a:t>13.5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</a:rPr>
              <a:t>w=2, b=1 → L = </a:t>
            </a:r>
            <a:r>
              <a:rPr sz="1800" b="1">
                <a:solidFill>
                  <a:srgbClr val="1B2A36"/>
                </a:solidFill>
              </a:rPr>
              <a:t>0</a:t>
            </a:r>
            <a:r>
              <a:rPr sz="1800" b="0">
                <a:solidFill>
                  <a:srgbClr val="1B2A36"/>
                </a:solidFill>
              </a:rPr>
              <a:t> (정답 규칙)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</a:rPr>
              <a:t>손실이 </a:t>
            </a:r>
            <a:r>
              <a:rPr sz="1800" b="1">
                <a:solidFill>
                  <a:srgbClr val="1B2A36"/>
                </a:solidFill>
              </a:rPr>
              <a:t>작을수록</a:t>
            </a:r>
            <a:r>
              <a:rPr sz="1800" b="0">
                <a:solidFill>
                  <a:srgbClr val="1B2A36"/>
                </a:solidFill>
              </a:rPr>
              <a:t> 좋은 파라미터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2026-10-05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58252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 Zero 2 Transformer</a:t>
            </a:r>
            <a:r>
              <a:rPr lang="en-US" altLang="ko-KR" dirty="0"/>
              <a:t> |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9857232" cy="50292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평균 제곱 오차(MSE) — 오차를 제곱해서 평균낸다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3032" y="914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계산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08176"/>
            <a:ext cx="11274552" cy="914400"/>
          </a:xfrm>
          <a:prstGeom prst="roundRect">
            <a:avLst>
              <a:gd name="adj" fmla="val 10000"/>
            </a:avLst>
          </a:prstGeom>
          <a:solidFill>
            <a:srgbClr val="F4F7F9"/>
          </a:solidFill>
          <a:ln w="12700">
            <a:solidFill>
              <a:srgbClr val="C5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408176"/>
            <a:ext cx="11000232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2600" b="1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L = (1/n) · Σ (ŷᵢ − yᵢ)²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2596896"/>
          <a:ext cx="6108920" cy="2706623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221784"/>
                <a:gridCol w="1221784"/>
                <a:gridCol w="1221784"/>
                <a:gridCol w="1221784"/>
                <a:gridCol w="1221784"/>
              </a:tblGrid>
              <a:tr h="832103"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x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01688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정답 y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01688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예측 ŷ (w=1, b=0)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01688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오차 ŷ−y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01688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제곱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01688F"/>
                    </a:solidFill>
                  </a:tcPr>
                </a:tc>
              </a:tr>
              <a:tr h="374904"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−2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−3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</a:tr>
              <a:tr h="374904"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−4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−5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</a:tr>
              <a:tr h="374904"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평균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13.5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손실 지형: 학습 = 골짜기의 바닥 찾기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30856" y="1408176"/>
            <a:ext cx="4600895" cy="4974336"/>
          </a:xfrm>
        </p:spPr>
        <p:txBody>
          <a:bodyPr wrap="square" lIns="73152" rIns="73152" tIns="36576" bIns="36576" anchor="t">
            <a:normAutofit/>
          </a:bodyPr>
          <a:lstStyle/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</a:rPr>
              <a:t>예: 한 점 (x=2, y=6), 모델 </a:t>
            </a:r>
            <a:r>
              <a:rPr sz="1800" b="0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ŷ = w·x</a:t>
            </a:r>
          </a:p>
          <a:p>
            <a:pPr algn="l" marL="566928" indent="-237744">
              <a:lnSpc>
                <a:spcPct val="110000"/>
              </a:lnSpc>
              <a:spcBef>
                <a:spcPts val="0"/>
              </a:spcBef>
              <a:spcAft>
                <a:spcPts val="775"/>
              </a:spcAft>
              <a:buClr>
                <a:srgbClr val="01688F"/>
              </a:buClr>
              <a:buFont typeface="Arial"/>
              <a:buChar char="-"/>
            </a:pPr>
            <a:r>
              <a:rPr sz="1550" b="0">
                <a:solidFill>
                  <a:srgbClr val="1B2A36"/>
                </a:solidFill>
              </a:rPr>
              <a:t>L(w) = ½(2w − 6)²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</a:rPr>
              <a:t>w = 1 → L = 8, w = 3 → L = </a:t>
            </a:r>
            <a:r>
              <a:rPr sz="1800" b="1">
                <a:solidFill>
                  <a:srgbClr val="1B2A36"/>
                </a:solidFill>
              </a:rPr>
              <a:t>0</a:t>
            </a:r>
            <a:r>
              <a:rPr sz="1800" b="0">
                <a:solidFill>
                  <a:srgbClr val="1B2A36"/>
                </a:solidFill>
              </a:rPr>
              <a:t> (바닥)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</a:rPr>
              <a:t>실제 모델은 파라미터가 수백만 개 → 지형 전체를 그릴 수 </a:t>
            </a:r>
            <a:r>
              <a:rPr sz="1800" b="1">
                <a:solidFill>
                  <a:srgbClr val="1B2A36"/>
                </a:solidFill>
              </a:rPr>
              <a:t>없다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</a:rPr>
              <a:t>필요한 것: </a:t>
            </a:r>
            <a:r>
              <a:rPr sz="1800" b="1">
                <a:solidFill>
                  <a:srgbClr val="1B2A36"/>
                </a:solidFill>
              </a:rPr>
              <a:t>지금 위치의 경사만</a:t>
            </a:r>
            <a:r>
              <a:rPr sz="1800" b="0">
                <a:solidFill>
                  <a:srgbClr val="1B2A36"/>
                </a:solidFill>
              </a:rPr>
              <a:t> 보고 내려가는 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2026-10-05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58252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 Zero 2 Transformer</a:t>
            </a:r>
            <a:r>
              <a:rPr lang="en-US" altLang="ko-KR" dirty="0"/>
              <a:t> |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9857232" cy="50292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파라미터를 가로축에 두면 손실은 골짜기 모양 — 바닥이 최적의 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3032" y="914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00A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아이디어</a:t>
            </a:r>
          </a:p>
        </p:txBody>
      </p:sp>
      <p:pic>
        <p:nvPicPr>
          <p:cNvPr id="9" name="Picture 8" descr="deriva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74139"/>
            <a:ext cx="6353616" cy="424240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73152" rIns="73152" tIns="36576" bIns="36576" anchor="b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None/>
            </a:pPr>
            <a:r>
              <a:rPr sz="22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Part 4</a:t>
            </a:r>
          </a:p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None/>
            </a:pPr>
            <a:r>
              <a:rPr sz="36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경사하강법: 틀린 만큼 고치기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 lIns="73152" rIns="73152" tIns="36576" bIns="36576" anchor="t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000" b="0">
                <a:solidFill>
                  <a:srgbClr val="5E6B75"/>
                </a:solidFill>
                <a:latin typeface="맑은 고딕"/>
                <a:ea typeface="맑은 고딕"/>
                <a:cs typeface="맑은 고딕"/>
              </a:rPr>
              <a:t>어느 방향으로, 얼마나 움직여야 손실이 줄어들까?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미분 = 조금 움직였을 때의 변화율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95531" y="1408176"/>
            <a:ext cx="5236220" cy="4974336"/>
          </a:xfrm>
        </p:spPr>
        <p:txBody>
          <a:bodyPr wrap="square" lIns="73152" rIns="73152" tIns="36576" bIns="36576" anchor="t">
            <a:normAutofit/>
          </a:bodyPr>
          <a:lstStyle/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</a:rPr>
              <a:t>기울기의 </a:t>
            </a:r>
            <a:r>
              <a:rPr sz="1800" b="1">
                <a:solidFill>
                  <a:srgbClr val="1B2A36"/>
                </a:solidFill>
              </a:rPr>
              <a:t>부호</a:t>
            </a:r>
            <a:r>
              <a:rPr sz="1800" b="0">
                <a:solidFill>
                  <a:srgbClr val="1B2A36"/>
                </a:solidFill>
              </a:rPr>
              <a:t> = 방향</a:t>
            </a:r>
          </a:p>
          <a:p>
            <a:pPr algn="l" marL="566928" indent="-237744">
              <a:lnSpc>
                <a:spcPct val="110000"/>
              </a:lnSpc>
              <a:spcBef>
                <a:spcPts val="0"/>
              </a:spcBef>
              <a:spcAft>
                <a:spcPts val="697"/>
              </a:spcAft>
              <a:buClr>
                <a:srgbClr val="01688F"/>
              </a:buClr>
              <a:buFont typeface="Arial"/>
              <a:buChar char="-"/>
            </a:pPr>
            <a:r>
              <a:rPr sz="1550" b="0">
                <a:solidFill>
                  <a:srgbClr val="1B2A36"/>
                </a:solidFill>
              </a:rPr>
              <a:t>음수 → w를 </a:t>
            </a:r>
            <a:r>
              <a:rPr sz="1550" b="1">
                <a:solidFill>
                  <a:srgbClr val="1B2A36"/>
                </a:solidFill>
              </a:rPr>
              <a:t>늘리면</a:t>
            </a:r>
            <a:r>
              <a:rPr sz="1550" b="0">
                <a:solidFill>
                  <a:srgbClr val="1B2A36"/>
                </a:solidFill>
              </a:rPr>
              <a:t> 손실 감소</a:t>
            </a:r>
          </a:p>
          <a:p>
            <a:pPr algn="l" marL="566928" indent="-237744">
              <a:lnSpc>
                <a:spcPct val="110000"/>
              </a:lnSpc>
              <a:spcBef>
                <a:spcPts val="0"/>
              </a:spcBef>
              <a:spcAft>
                <a:spcPts val="697"/>
              </a:spcAft>
              <a:buClr>
                <a:srgbClr val="01688F"/>
              </a:buClr>
              <a:buFont typeface="Arial"/>
              <a:buChar char="-"/>
            </a:pPr>
            <a:r>
              <a:rPr sz="1550" b="0">
                <a:solidFill>
                  <a:srgbClr val="1B2A36"/>
                </a:solidFill>
              </a:rPr>
              <a:t>양수 → w를 </a:t>
            </a:r>
            <a:r>
              <a:rPr sz="1550" b="1">
                <a:solidFill>
                  <a:srgbClr val="1B2A36"/>
                </a:solidFill>
              </a:rPr>
              <a:t>줄이면</a:t>
            </a:r>
            <a:r>
              <a:rPr sz="1550" b="0">
                <a:solidFill>
                  <a:srgbClr val="1B2A36"/>
                </a:solidFill>
              </a:rPr>
              <a:t> 손실 감소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</a:rPr>
              <a:t>기울기의 </a:t>
            </a:r>
            <a:r>
              <a:rPr sz="1800" b="1">
                <a:solidFill>
                  <a:srgbClr val="1B2A36"/>
                </a:solidFill>
              </a:rPr>
              <a:t>크기</a:t>
            </a:r>
            <a:r>
              <a:rPr sz="1800" b="0">
                <a:solidFill>
                  <a:srgbClr val="1B2A36"/>
                </a:solidFill>
              </a:rPr>
              <a:t> = 가파른 정도</a:t>
            </a:r>
          </a:p>
          <a:p>
            <a:pPr algn="l" marL="566928" indent="-237744">
              <a:lnSpc>
                <a:spcPct val="110000"/>
              </a:lnSpc>
              <a:spcBef>
                <a:spcPts val="0"/>
              </a:spcBef>
              <a:spcAft>
                <a:spcPts val="697"/>
              </a:spcAft>
              <a:buClr>
                <a:srgbClr val="01688F"/>
              </a:buClr>
              <a:buFont typeface="Arial"/>
              <a:buChar char="-"/>
            </a:pPr>
            <a:r>
              <a:rPr sz="1550" b="0">
                <a:solidFill>
                  <a:srgbClr val="1B2A36"/>
                </a:solidFill>
              </a:rPr>
              <a:t>바닥에 가까울수록 0에 가까워진다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81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</a:rPr>
              <a:t>그래서 </a:t>
            </a:r>
            <a:r>
              <a:rPr sz="1800" b="1">
                <a:solidFill>
                  <a:srgbClr val="1B2A36"/>
                </a:solidFill>
              </a:rPr>
              <a:t>기울기의 반대 방향</a:t>
            </a:r>
            <a:r>
              <a:rPr sz="1800" b="0">
                <a:solidFill>
                  <a:srgbClr val="1B2A36"/>
                </a:solidFill>
              </a:rPr>
              <a:t>으로 움직이면 내려간다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2026-10-05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58252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 Zero 2 Transformer</a:t>
            </a:r>
            <a:r>
              <a:rPr lang="en-US" altLang="ko-KR" dirty="0"/>
              <a:t> |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9857232" cy="50292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w를 아주 조금 바꿨을 때 손실이 얼마나 변하나? 그 비율이 기울기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3032" y="914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00A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아이디어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408176"/>
          <a:ext cx="5672570" cy="1912615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2836285"/>
                <a:gridCol w="2836285"/>
              </a:tblGrid>
              <a:tr h="382523"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01688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L(w) = ½(2w−6)²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01688F"/>
                    </a:solidFill>
                  </a:tcPr>
                </a:tc>
              </a:tr>
              <a:tr h="382523"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5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1.00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5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8.0000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2523"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5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1.01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5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7.9202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</a:tr>
              <a:tr h="382523"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5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변화량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5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−0.0798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2523"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5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변화율 = −0.0798 / 0.01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5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≈ −8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DF1E9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457200" y="3877056"/>
            <a:ext cx="5672571" cy="822960"/>
          </a:xfrm>
          <a:prstGeom prst="roundRect">
            <a:avLst>
              <a:gd name="adj" fmla="val 11111"/>
            </a:avLst>
          </a:prstGeom>
          <a:solidFill>
            <a:srgbClr val="F4F7F9"/>
          </a:solidFill>
          <a:ln w="12700">
            <a:solidFill>
              <a:srgbClr val="C5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877056"/>
            <a:ext cx="5398251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2000" b="1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dL/dw = (w·x − y)·x = −8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파라미터가 여럿이면: gradient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2026-10-05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58252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 Zero 2 Transformer</a:t>
            </a:r>
            <a:r>
              <a:rPr lang="en-US" altLang="ko-KR" dirty="0"/>
              <a:t> |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9857232" cy="50292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다른 것은 고정하고 하나씩 움직여 본 기울기들을 모은 벡터 ∇L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3032" y="914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계산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08176"/>
            <a:ext cx="11274552" cy="960120"/>
          </a:xfrm>
          <a:prstGeom prst="roundRect">
            <a:avLst>
              <a:gd name="adj" fmla="val 9523"/>
            </a:avLst>
          </a:prstGeom>
          <a:solidFill>
            <a:srgbClr val="F4F7F9"/>
          </a:solidFill>
          <a:ln w="12700">
            <a:solidFill>
              <a:srgbClr val="C5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408176"/>
            <a:ext cx="11000232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2600" b="1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∇L = ( ∂L/∂w , ∂L/∂b 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42615"/>
            <a:ext cx="5522976" cy="2155952"/>
          </a:xfrm>
          <a:prstGeom prst="roundRect">
            <a:avLst>
              <a:gd name="adj" fmla="val 4241"/>
            </a:avLst>
          </a:prstGeom>
          <a:solidFill>
            <a:srgbClr val="FFFFFF"/>
          </a:solidFill>
          <a:ln w="12700">
            <a:solidFill>
              <a:srgbClr val="C5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770632"/>
            <a:ext cx="5193792" cy="384048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공식 (MSE, n = 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227832"/>
            <a:ext cx="5193792" cy="1442720"/>
          </a:xfrm>
          <a:prstGeom prst="rect">
            <a:avLst/>
          </a:prstGeom>
          <a:noFill/>
        </p:spPr>
        <p:txBody>
          <a:bodyPr wrap="square" lIns="18288" rIns="18288" tIns="36576" bIns="36576" anchor="t">
            <a:spAutoFit/>
          </a:bodyPr>
          <a:lstStyle/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6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∂L/∂w = (2/n) · Σ (ŷ − y) · x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6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∂L/∂b = (2/n) · Σ (ŷ − y)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6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오차가 클수록, x가 클수록 w의 책임이 크다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2642615"/>
            <a:ext cx="5522976" cy="2155952"/>
          </a:xfrm>
          <a:prstGeom prst="roundRect">
            <a:avLst>
              <a:gd name="adj" fmla="val 4241"/>
            </a:avLst>
          </a:prstGeom>
          <a:solidFill>
            <a:srgbClr val="FD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2770632"/>
            <a:ext cx="5193791" cy="384048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숫자로 확인 (w = 1, b = 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3227832"/>
            <a:ext cx="5193792" cy="1442720"/>
          </a:xfrm>
          <a:prstGeom prst="rect">
            <a:avLst/>
          </a:prstGeom>
          <a:noFill/>
        </p:spPr>
        <p:txBody>
          <a:bodyPr wrap="square" lIns="18288" rIns="18288" tIns="36576" bIns="36576" anchor="t">
            <a:spAutoFit/>
          </a:bodyPr>
          <a:lstStyle/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6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오차 = (−2, −3, −4, −5)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6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∂L/∂w = ½ · (−2−6−12−20) = </a:t>
            </a:r>
            <a:r>
              <a:rPr sz="16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−20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6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∂L/∂b = ½ · (−14) = </a:t>
            </a:r>
            <a:r>
              <a:rPr sz="16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−7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6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둘 다 음수 → w, b 모두 </a:t>
            </a:r>
            <a:r>
              <a:rPr sz="16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키운다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072887"/>
            <a:ext cx="11274552" cy="596265"/>
          </a:xfrm>
          <a:prstGeom prst="roundRect">
            <a:avLst>
              <a:gd name="adj" fmla="val 15335"/>
            </a:avLst>
          </a:prstGeom>
          <a:solidFill>
            <a:srgbClr val="EDF5F9"/>
          </a:solidFill>
          <a:ln w="12700">
            <a:solidFill>
              <a:srgbClr val="72AB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공식을 외울 필요는 없다 — 이 계산을 자동으로 해 주는 것이 다음 주의 </a:t>
            </a:r>
            <a:r>
              <a:rPr sz="15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역전파</a:t>
            </a: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와 PyTorch </a:t>
            </a:r>
            <a:r>
              <a:rPr sz="15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autograd</a:t>
            </a: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다.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경사하강법 한 걸음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2026-10-05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58252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 Zero 2 Transformer</a:t>
            </a:r>
            <a:r>
              <a:rPr lang="en-US" altLang="ko-KR" dirty="0"/>
              <a:t> |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9857232" cy="50292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θ ← θ − η · ∇L : 기울기 반대 방향으로 학습률만큼 이동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3032" y="914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계산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852160"/>
            <a:ext cx="11274552" cy="530352"/>
          </a:xfrm>
          <a:prstGeom prst="roundRect">
            <a:avLst>
              <a:gd name="adj" fmla="val 17241"/>
            </a:avLst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320"/>
              </a:spcAft>
              <a:buNone/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한 걸음 만에 손실 13.5 → 0.42 — 이 반복이 ‘학습’의 전부다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08176"/>
            <a:ext cx="11274552" cy="914400"/>
          </a:xfrm>
          <a:prstGeom prst="roundRect">
            <a:avLst>
              <a:gd name="adj" fmla="val 10000"/>
            </a:avLst>
          </a:prstGeom>
          <a:solidFill>
            <a:srgbClr val="F4F7F9"/>
          </a:solidFill>
          <a:ln w="12700">
            <a:solidFill>
              <a:srgbClr val="C5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408176"/>
            <a:ext cx="11000232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2800" b="1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θ ← θ − η · ∇L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42615"/>
            <a:ext cx="1097280" cy="475488"/>
          </a:xfrm>
          <a:prstGeom prst="roundRect">
            <a:avLst>
              <a:gd name="adj" fmla="val 19230"/>
            </a:avLst>
          </a:prstGeom>
          <a:solidFill>
            <a:srgbClr val="D8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500" b="1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7" y="2596896"/>
            <a:ext cx="3374684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파라미터 (w, b)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209544"/>
            <a:ext cx="1097280" cy="475488"/>
          </a:xfrm>
          <a:prstGeom prst="roundRect">
            <a:avLst>
              <a:gd name="adj" fmla="val 19230"/>
            </a:avLst>
          </a:prstGeom>
          <a:solidFill>
            <a:srgbClr val="D8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500" b="1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7" y="3163824"/>
            <a:ext cx="3374684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학습률: 보폭 (여기선 0.05)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776472"/>
            <a:ext cx="1097280" cy="475488"/>
          </a:xfrm>
          <a:prstGeom prst="roundRect">
            <a:avLst>
              <a:gd name="adj" fmla="val 19230"/>
            </a:avLst>
          </a:prstGeom>
          <a:solidFill>
            <a:srgbClr val="D8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500" b="1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∇L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4207" y="3730752"/>
            <a:ext cx="3374684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기울기: 오르막 방향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43399"/>
            <a:ext cx="1097280" cy="475488"/>
          </a:xfrm>
          <a:prstGeom prst="roundRect">
            <a:avLst>
              <a:gd name="adj" fmla="val 19230"/>
            </a:avLst>
          </a:prstGeom>
          <a:solidFill>
            <a:srgbClr val="D8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500" b="1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7" y="4297679"/>
            <a:ext cx="3374684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그래서 반대로 = 내리막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404652" y="2596896"/>
          <a:ext cx="6327096" cy="1728215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581774"/>
                <a:gridCol w="1581774"/>
                <a:gridCol w="1581774"/>
                <a:gridCol w="1581774"/>
              </a:tblGrid>
              <a:tr h="374904"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01688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01688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01688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손실 L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01688F"/>
                    </a:solidFill>
                  </a:tcPr>
                </a:tc>
              </a:tr>
              <a:tr h="374904"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이동 전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1.00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0.00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13.50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기울기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−20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−7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</a:tr>
              <a:tr h="603503"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이동 후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 + 0.05·20 = </a:t>
                      </a: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2.00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 + 0.05·7 = </a:t>
                      </a: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0.35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0.42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DF1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학습률: 보폭이 결과를 바꾼다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654296"/>
            <a:ext cx="11274552" cy="1728216"/>
          </a:xfrm>
        </p:spPr>
        <p:txBody>
          <a:bodyPr wrap="square" lIns="73152" rIns="73152" tIns="36576" bIns="36576" anchor="t">
            <a:normAutofit/>
          </a:bodyPr>
          <a:lstStyle/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600" b="0">
                <a:solidFill>
                  <a:srgbClr val="1B2A36"/>
                </a:solidFill>
              </a:rPr>
              <a:t>예제 L(w) = (w − 3)², 시작 w = −2 · 0 &lt; η &lt; 1 수렴 · η = 1 진동 · η &gt; 1 발산 (이 함수에서만의 수치)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600" b="0">
                <a:solidFill>
                  <a:srgbClr val="1B2A36"/>
                </a:solidFill>
              </a:rPr>
              <a:t>실제 모델의 학습률은 </a:t>
            </a:r>
            <a:r>
              <a:rPr sz="1600" b="1">
                <a:solidFill>
                  <a:srgbClr val="1B2A36"/>
                </a:solidFill>
              </a:rPr>
              <a:t>실험으로</a:t>
            </a:r>
            <a:r>
              <a:rPr sz="1600" b="0">
                <a:solidFill>
                  <a:srgbClr val="1B2A36"/>
                </a:solidFill>
              </a:rPr>
              <a:t> 고른다 — 손실 곡선을 보고 판단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2026-10-05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58252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 Zero 2 Transformer</a:t>
            </a:r>
            <a:r>
              <a:rPr lang="en-US" altLang="ko-KR" dirty="0"/>
              <a:t> |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9857232" cy="50292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너무 작으면 느리고, 너무 크면 골짜기를 넘어 발산한다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3032" y="914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2E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</p:txBody>
      </p:sp>
      <p:pic>
        <p:nvPicPr>
          <p:cNvPr id="9" name="Picture 8" descr="gd_path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740" y="1408176"/>
            <a:ext cx="10197471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학습 루프: 네 단계의 반복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2026-10-05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58252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 Zero 2 Transformer</a:t>
            </a:r>
            <a:r>
              <a:rPr lang="en-US" altLang="ko-KR" dirty="0"/>
              <a:t> |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9857232" cy="50292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어떤 모델이든 학습은 이 루프 — 구성 요소를 섞어 부르지 않는다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3032" y="914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852160"/>
            <a:ext cx="11274552" cy="530352"/>
          </a:xfrm>
          <a:prstGeom prst="roundRect">
            <a:avLst>
              <a:gd name="adj" fmla="val 17241"/>
            </a:avLst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320"/>
              </a:spcAft>
              <a:buNone/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역전파는 기울기를 ‘계산’하고, optimizer가 파라미터를 ‘바꾼다’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08176"/>
            <a:ext cx="2530602" cy="1645920"/>
          </a:xfrm>
          <a:prstGeom prst="roundRect">
            <a:avLst>
              <a:gd name="adj" fmla="val 5555"/>
            </a:avLst>
          </a:prstGeom>
          <a:solidFill>
            <a:srgbClr val="ED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499616"/>
            <a:ext cx="2347722" cy="36576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① Forward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11095"/>
            <a:ext cx="2347722" cy="1051560"/>
          </a:xfrm>
          <a:prstGeom prst="rect">
            <a:avLst/>
          </a:prstGeom>
          <a:noFill/>
        </p:spPr>
        <p:txBody>
          <a:bodyPr wrap="square" lIns="18288" rIns="18288" tIns="36576" bIns="36576" anchor="t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375"/>
              </a:spcAft>
              <a:buNone/>
            </a:pP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현재 θ로 예측 ŷ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33522" y="2231136"/>
            <a:ext cx="292608" cy="0"/>
          </a:xfrm>
          <a:prstGeom prst="line">
            <a:avLst/>
          </a:prstGeom>
          <a:ln w="25400">
            <a:solidFill>
              <a:srgbClr val="72AB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371850" y="1408176"/>
            <a:ext cx="2530602" cy="1645920"/>
          </a:xfrm>
          <a:prstGeom prst="roundRect">
            <a:avLst>
              <a:gd name="adj" fmla="val 5555"/>
            </a:avLst>
          </a:prstGeom>
          <a:solidFill>
            <a:srgbClr val="ED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63290" y="1499616"/>
            <a:ext cx="2347722" cy="36576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② Loss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3290" y="1911095"/>
            <a:ext cx="2347722" cy="1051560"/>
          </a:xfrm>
          <a:prstGeom prst="rect">
            <a:avLst/>
          </a:prstGeom>
          <a:noFill/>
        </p:spPr>
        <p:txBody>
          <a:bodyPr wrap="square" lIns="18288" rIns="18288" tIns="36576" bIns="36576" anchor="t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375"/>
              </a:spcAft>
              <a:buNone/>
            </a:pP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L(ŷ, y) 계산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48172" y="2231136"/>
            <a:ext cx="292608" cy="0"/>
          </a:xfrm>
          <a:prstGeom prst="line">
            <a:avLst/>
          </a:prstGeom>
          <a:ln w="25400">
            <a:solidFill>
              <a:srgbClr val="72AB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86500" y="1408176"/>
            <a:ext cx="2530602" cy="1645920"/>
          </a:xfrm>
          <a:prstGeom prst="roundRect">
            <a:avLst>
              <a:gd name="adj" fmla="val 5555"/>
            </a:avLst>
          </a:prstGeom>
          <a:solidFill>
            <a:srgbClr val="ED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7940" y="1499616"/>
            <a:ext cx="2347722" cy="36576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③ Backward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7940" y="1911095"/>
            <a:ext cx="2347722" cy="1051560"/>
          </a:xfrm>
          <a:prstGeom prst="rect">
            <a:avLst/>
          </a:prstGeom>
          <a:noFill/>
        </p:spPr>
        <p:txBody>
          <a:bodyPr wrap="square" lIns="18288" rIns="18288" tIns="36576" bIns="36576" anchor="t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375"/>
              </a:spcAft>
              <a:buNone/>
            </a:pP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∇L 계산 (2주차: 역전파)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862822" y="2231136"/>
            <a:ext cx="292608" cy="0"/>
          </a:xfrm>
          <a:prstGeom prst="line">
            <a:avLst/>
          </a:prstGeom>
          <a:ln w="25400">
            <a:solidFill>
              <a:srgbClr val="72AB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201150" y="1408176"/>
            <a:ext cx="2530602" cy="1645920"/>
          </a:xfrm>
          <a:prstGeom prst="roundRect">
            <a:avLst>
              <a:gd name="adj" fmla="val 5555"/>
            </a:avLst>
          </a:prstGeom>
          <a:solidFill>
            <a:srgbClr val="FDF1E9"/>
          </a:solidFill>
          <a:ln w="1270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2590" y="1499616"/>
            <a:ext cx="2347722" cy="36576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④ Update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2590" y="1911095"/>
            <a:ext cx="2347722" cy="1051560"/>
          </a:xfrm>
          <a:prstGeom prst="rect">
            <a:avLst/>
          </a:prstGeom>
          <a:noFill/>
        </p:spPr>
        <p:txBody>
          <a:bodyPr wrap="square" lIns="18288" rIns="18288" tIns="36576" bIns="36576" anchor="t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375"/>
              </a:spcAft>
              <a:buNone/>
            </a:pP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optimizer가 θ 갱신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457200" y="3328415"/>
          <a:ext cx="11274550" cy="195072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2147533"/>
                <a:gridCol w="4295067"/>
                <a:gridCol w="4831950"/>
              </a:tblGrid>
              <a:tr h="390144"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구성 요소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01688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하는 일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01688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혼동하지 않을 것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01688F"/>
                    </a:solidFill>
                  </a:tcPr>
                </a:tc>
              </a:tr>
              <a:tr h="390144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Forward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현재 파라미터로 예측 계산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추론(사용) 때도 실행되는 계산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Loss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목표와 예측의 차이를 수치화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사람이 원하는 가치 전체와 같지 않다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</a:tr>
              <a:tr h="390144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Backward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각 파라미터의 기울기 계산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파라미터를 바꾸는 것은 아니다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0144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Optimizer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기울기로 파라미터 갱신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SGD, Adam 등 규칙이 여럿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PyTorch 학습 루프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2026-10-05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58252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 Zero 2 Transformer</a:t>
            </a:r>
            <a:r>
              <a:rPr lang="en-US" altLang="ko-KR" dirty="0"/>
              <a:t> |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9857232" cy="50292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오늘 손으로 한 계산을 PyTorch가 자동으로 반복한다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3032" y="914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1B2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코드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08176"/>
            <a:ext cx="6572707" cy="3387090"/>
          </a:xfrm>
          <a:prstGeom prst="roundRect">
            <a:avLst>
              <a:gd name="adj" fmla="val 1619"/>
            </a:avLst>
          </a:prstGeom>
          <a:solidFill>
            <a:srgbClr val="F4F7F9"/>
          </a:solidFill>
          <a:ln w="12700">
            <a:solidFill>
              <a:srgbClr val="C5D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517904"/>
            <a:ext cx="6353251" cy="3204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import torch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x = torch.tensor([1., 2., 3., 4.])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y = torch.tensor([3., 5., 7., 9.])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w = torch.zeros(1, requires_grad=True)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b = torch.zeros(1, requires_grad=True)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opt = torch.optim.SGD([w, b], lr=0.05)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300">
                <a:latin typeface="Courier New"/>
                <a:ea typeface="맑은 고딕"/>
                <a:cs typeface="Courier New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for step in range(501):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    y_hat = w * x + b                 </a:t>
            </a:r>
            <a:r>
              <a:rPr sz="1300">
                <a:solidFill>
                  <a:srgbClr val="3F8A6E"/>
                </a:solidFill>
                <a:latin typeface="Courier New"/>
                <a:ea typeface="맑은 고딕"/>
                <a:cs typeface="Courier New"/>
              </a:rPr>
              <a:t># ① forward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    loss = ((y_hat - y)**2).mean()    </a:t>
            </a:r>
            <a:r>
              <a:rPr sz="1300">
                <a:solidFill>
                  <a:srgbClr val="3F8A6E"/>
                </a:solidFill>
                <a:latin typeface="Courier New"/>
                <a:ea typeface="맑은 고딕"/>
                <a:cs typeface="Courier New"/>
              </a:rPr>
              <a:t># ② loss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    opt.zero_grad()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    loss.backward()                   </a:t>
            </a:r>
            <a:r>
              <a:rPr sz="1300">
                <a:solidFill>
                  <a:srgbClr val="3F8A6E"/>
                </a:solidFill>
                <a:latin typeface="Courier New"/>
                <a:ea typeface="맑은 고딕"/>
                <a:cs typeface="Courier New"/>
              </a:rPr>
              <a:t># ③ gradient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    opt.step()                        </a:t>
            </a:r>
            <a:r>
              <a:rPr sz="1300">
                <a:solidFill>
                  <a:srgbClr val="3F8A6E"/>
                </a:solidFill>
                <a:latin typeface="Courier New"/>
                <a:ea typeface="맑은 고딕"/>
                <a:cs typeface="Courier New"/>
              </a:rPr>
              <a:t># ④ update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300">
                <a:latin typeface="Courier New"/>
                <a:ea typeface="맑은 고딕"/>
                <a:cs typeface="Courier New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300">
                <a:solidFill>
                  <a:srgbClr val="1B2A36"/>
                </a:solidFill>
                <a:latin typeface="Courier New"/>
                <a:ea typeface="맑은 고딕"/>
                <a:cs typeface="Courier New"/>
              </a:rPr>
              <a:t>print(w.item(), b.item())  </a:t>
            </a:r>
            <a:r>
              <a:rPr sz="1300">
                <a:solidFill>
                  <a:srgbClr val="3F8A6E"/>
                </a:solidFill>
                <a:latin typeface="Courier New"/>
                <a:ea typeface="맑은 고딕"/>
                <a:cs typeface="Courier New"/>
              </a:rPr>
              <a:t># 2.000 1.000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49947" y="1408176"/>
          <a:ext cx="4381804" cy="1652016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095451"/>
                <a:gridCol w="1095451"/>
                <a:gridCol w="1095451"/>
                <a:gridCol w="1095451"/>
              </a:tblGrid>
              <a:tr h="359664"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step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01688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손실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01688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01688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01688F"/>
                    </a:solidFill>
                  </a:tcPr>
                </a:tc>
              </a:tr>
              <a:tr h="573024"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41.0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 → 1.75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 → 0.60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9664"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0.0007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2.021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0.938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</a:tr>
              <a:tr h="359664"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500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≈ 0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2.000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1.000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349947" y="3419856"/>
            <a:ext cx="4381804" cy="868680"/>
          </a:xfrm>
          <a:prstGeom prst="roundRect">
            <a:avLst>
              <a:gd name="adj" fmla="val 10526"/>
            </a:avLst>
          </a:prstGeom>
          <a:solidFill>
            <a:srgbClr val="EDF5F9"/>
          </a:solidFill>
          <a:ln w="12700">
            <a:solidFill>
              <a:srgbClr val="72AB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320"/>
              </a:spcAft>
              <a:buNone/>
            </a:pPr>
            <a:r>
              <a:rPr sz="16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규칙 y = 2x + 1을 한 번도 알려주지 않았는데, 데이터만으로 찾아냈다.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학습 과정을 눈으로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2026-10-05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58252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 Zero 2 Transformer</a:t>
            </a:r>
            <a:r>
              <a:rPr lang="en-US" altLang="ko-KR" dirty="0"/>
              <a:t> |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9857232" cy="50292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직선은 데이터 쪽으로, 손실은 0 쪽으로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3032" y="914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2E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</p:txBody>
      </p:sp>
      <p:pic>
        <p:nvPicPr>
          <p:cNvPr id="9" name="Picture 8" descr="fit_progr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86094"/>
            <a:ext cx="11274552" cy="4018498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73152" rIns="73152" tIns="36576" bIns="36576" anchor="b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None/>
            </a:pPr>
            <a:r>
              <a:rPr sz="22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Part 5</a:t>
            </a:r>
          </a:p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None/>
            </a:pPr>
            <a:r>
              <a:rPr sz="36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일반화: 처음 보는 데이터에서도?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 lIns="73152" rIns="73152" tIns="36576" bIns="36576" anchor="t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000" b="0">
                <a:solidFill>
                  <a:srgbClr val="5E6B75"/>
                </a:solidFill>
                <a:latin typeface="맑은 고딕"/>
                <a:ea typeface="맑은 고딕"/>
                <a:cs typeface="맑은 고딕"/>
              </a:rPr>
              <a:t>학습 데이터에서 손실이 0이면, 좋은 모델이라고 할 수 있을까?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학습 데이터 밖에서도 통하는가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2221" y="1408176"/>
            <a:ext cx="4929530" cy="4974336"/>
          </a:xfrm>
        </p:spPr>
        <p:txBody>
          <a:bodyPr wrap="square" lIns="73152" rIns="73152" tIns="36576" bIns="36576" anchor="t">
            <a:normAutofit/>
          </a:bodyPr>
          <a:lstStyle/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1">
                <a:solidFill>
                  <a:srgbClr val="1B2A36"/>
                </a:solidFill>
              </a:rPr>
              <a:t>train</a:t>
            </a:r>
            <a:r>
              <a:rPr sz="1800" b="0">
                <a:solidFill>
                  <a:srgbClr val="1B2A36"/>
                </a:solidFill>
              </a:rPr>
              <a:t>: 파라미터 학습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1">
                <a:solidFill>
                  <a:srgbClr val="1B2A36"/>
                </a:solidFill>
              </a:rPr>
              <a:t>validation</a:t>
            </a:r>
            <a:r>
              <a:rPr sz="1800" b="0">
                <a:solidFill>
                  <a:srgbClr val="1B2A36"/>
                </a:solidFill>
              </a:rPr>
              <a:t>: 설정 고르기 (학습률, 크기…)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1">
                <a:solidFill>
                  <a:srgbClr val="1B2A36"/>
                </a:solidFill>
              </a:rPr>
              <a:t>test</a:t>
            </a:r>
            <a:r>
              <a:rPr sz="1800" b="0">
                <a:solidFill>
                  <a:srgbClr val="1B2A36"/>
                </a:solidFill>
              </a:rPr>
              <a:t>: 마지막에 한 번만 평가</a:t>
            </a:r>
          </a:p>
          <a:p>
            <a:pPr algn="l" marL="566928" indent="-237744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lr>
                <a:srgbClr val="01688F"/>
              </a:buClr>
              <a:buFont typeface="Arial"/>
              <a:buChar char="-"/>
            </a:pPr>
            <a:r>
              <a:rPr sz="1550" b="0">
                <a:solidFill>
                  <a:srgbClr val="1B2A36"/>
                </a:solidFill>
              </a:rPr>
              <a:t>계속 보면서 고치면 test가 아니게 된다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1">
                <a:solidFill>
                  <a:srgbClr val="1B2A36"/>
                </a:solidFill>
              </a:rPr>
              <a:t>과적합</a:t>
            </a:r>
            <a:r>
              <a:rPr sz="1800" b="0">
                <a:solidFill>
                  <a:srgbClr val="1B2A36"/>
                </a:solidFill>
              </a:rPr>
              <a:t>: 훈련 손실↓ 검증 손실↑</a:t>
            </a:r>
          </a:p>
          <a:p>
            <a:pPr algn="l" marL="566928" indent="-237744">
              <a:lnSpc>
                <a:spcPct val="110000"/>
              </a:lnSpc>
              <a:spcBef>
                <a:spcPts val="0"/>
              </a:spcBef>
              <a:spcAft>
                <a:spcPts val="620"/>
              </a:spcAft>
              <a:buClr>
                <a:srgbClr val="01688F"/>
              </a:buClr>
              <a:buFont typeface="Arial"/>
              <a:buChar char="-"/>
            </a:pPr>
            <a:r>
              <a:rPr sz="1550" b="0">
                <a:solidFill>
                  <a:srgbClr val="1B2A36"/>
                </a:solidFill>
              </a:rPr>
              <a:t>기출문제만 외운 상태</a:t>
            </a:r>
          </a:p>
          <a:p>
            <a:pPr algn="l" marL="256032" indent="-237744">
              <a:lnSpc>
                <a:spcPct val="110000"/>
              </a:lnSpc>
              <a:spcBef>
                <a:spcPts val="0"/>
              </a:spcBef>
              <a:spcAft>
                <a:spcPts val="720"/>
              </a:spcAft>
              <a:buClr>
                <a:srgbClr val="01688F"/>
              </a:buClr>
              <a:buFont typeface="Wingdings" pitchFamily="2" charset="2"/>
              <a:buChar char="§"/>
            </a:pPr>
            <a:r>
              <a:rPr sz="1800" b="0">
                <a:solidFill>
                  <a:srgbClr val="1B2A36"/>
                </a:solidFill>
              </a:rPr>
              <a:t>데이터 중복 · 미래 정보 유입도 주의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2026-10-05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58252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 Zero 2 Transformer</a:t>
            </a:r>
            <a:r>
              <a:rPr lang="en-US" altLang="ko-KR" dirty="0"/>
              <a:t> |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9857232" cy="50292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훈련 손실이 낮다는 것만으로는 일반화를 증명할 수 없다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3032" y="914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2E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</p:txBody>
      </p:sp>
      <p:pic>
        <p:nvPicPr>
          <p:cNvPr id="9" name="Picture 8" descr="generaliz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49399"/>
            <a:ext cx="6024981" cy="3091889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학습 방식과 구조는 다른 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2026-10-05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58252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 Zero 2 Transformer</a:t>
            </a:r>
            <a:r>
              <a:rPr lang="en-US" altLang="ko-KR" dirty="0"/>
              <a:t> |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9857232" cy="50292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“무엇으로 배우나”(학습 신호)와 “어떤 모양인가”(아키텍처)를 구분한다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3032" y="914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정리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408176"/>
          <a:ext cx="11274550" cy="187452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2113978"/>
                <a:gridCol w="4227956"/>
                <a:gridCol w="4932616"/>
              </a:tblGrid>
              <a:tr h="374904"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신호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01688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정답은 어디서?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01688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01688F"/>
                    </a:solidFill>
                  </a:tcPr>
                </a:tc>
              </a:tr>
              <a:tr h="374904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지도학습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사람이 입력마다 정답을 붙인다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스팸 분류, 번역 쌍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자기지도학습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자체에서 정답을 만든다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다음 토큰 예측, 가려진 단어 맞히기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</a:tr>
              <a:tr h="374904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비지도학습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명시적 정답 없이 구조를 찾는다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군집화, 밀도 추정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강화학습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행동의 결과로 받는 보상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게임, 로봇 제어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457200" y="4242816"/>
            <a:ext cx="11274552" cy="868680"/>
          </a:xfrm>
          <a:prstGeom prst="roundRect">
            <a:avLst>
              <a:gd name="adj" fmla="val 10526"/>
            </a:avLst>
          </a:prstGeom>
          <a:solidFill>
            <a:srgbClr val="EDF5F9"/>
          </a:solidFill>
          <a:ln w="12700">
            <a:solidFill>
              <a:srgbClr val="72AB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320"/>
              </a:spcAft>
              <a:buNone/>
            </a:pPr>
            <a:r>
              <a:rPr sz="16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아키텍처 (MLP · CNN · RNN · Transformer)는 이 네 방식 어디에나 쓰일 수 있다 — 6주 동안 따라갈 것은 이 </a:t>
            </a:r>
            <a:r>
              <a:rPr sz="16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구조의 계보</a:t>
            </a:r>
            <a:r>
              <a:rPr sz="16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이고, 학습 루프는 오늘 배운 것 그대로다.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한 장 요약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2026-10-05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58252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 Zero 2 Transformer</a:t>
            </a:r>
            <a:r>
              <a:rPr lang="en-US" altLang="ko-KR" dirty="0"/>
              <a:t> |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9857232" cy="50292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오늘 배운 것을 한 줄씩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3032" y="914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정리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1540764"/>
            <a:ext cx="457200" cy="457200"/>
          </a:xfrm>
          <a:prstGeom prst="ellipse">
            <a:avLst/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26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408176"/>
            <a:ext cx="10543032" cy="72237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컴퓨터는 숫자만 계산한다 → 모든 데이터는 </a:t>
            </a:r>
            <a:r>
              <a:rPr sz="18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텐서</a:t>
            </a:r>
            <a:r>
              <a:rPr sz="18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, 먼저 </a:t>
            </a:r>
            <a:r>
              <a:rPr sz="18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shape</a:t>
            </a:r>
            <a:r>
              <a:rPr sz="18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와 축의 의미를 읽는다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391156"/>
            <a:ext cx="457200" cy="457200"/>
          </a:xfrm>
          <a:prstGeom prst="ellipse">
            <a:avLst/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26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258568"/>
            <a:ext cx="10543032" cy="72237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내적</a:t>
            </a:r>
            <a:r>
              <a:rPr sz="18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은 가중합이자 비교 점수, </a:t>
            </a:r>
            <a:r>
              <a:rPr sz="18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행렬곱</a:t>
            </a:r>
            <a:r>
              <a:rPr sz="18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은 내적을 한 번에 — (m,k)@(k,n)→(m,n)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241548"/>
            <a:ext cx="457200" cy="457200"/>
          </a:xfrm>
          <a:prstGeom prst="ellipse">
            <a:avLst/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26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108960"/>
            <a:ext cx="10543032" cy="72237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모델</a:t>
            </a:r>
            <a:r>
              <a:rPr sz="18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 ŷ = f_θ(x): 학습 = 데이터로 파라미터 θ를 정하기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4091939"/>
            <a:ext cx="457200" cy="457200"/>
          </a:xfrm>
          <a:prstGeom prst="ellipse">
            <a:avLst/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26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959352"/>
            <a:ext cx="10543032" cy="72237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손실</a:t>
            </a:r>
            <a:r>
              <a:rPr sz="18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(MSE)은 틀린 정도를 숫자 하나로, </a:t>
            </a:r>
            <a:r>
              <a:rPr sz="18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기울기</a:t>
            </a:r>
            <a:r>
              <a:rPr sz="18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는 줄이는 방향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4942331"/>
            <a:ext cx="457200" cy="457200"/>
          </a:xfrm>
          <a:prstGeom prst="ellipse">
            <a:avLst/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26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809744"/>
            <a:ext cx="10543032" cy="72237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경사하강법</a:t>
            </a:r>
            <a:r>
              <a:rPr sz="18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 θ ← θ − η∇L 의 반복 — 학습률이 보폭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5792724"/>
            <a:ext cx="457200" cy="457200"/>
          </a:xfrm>
          <a:prstGeom prst="ellipse">
            <a:avLst/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26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660136"/>
            <a:ext cx="10543032" cy="72237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훈련 손실이 아니라 </a:t>
            </a:r>
            <a:r>
              <a:rPr sz="18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처음 보는 데이터</a:t>
            </a:r>
            <a:r>
              <a:rPr sz="18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에서 확인해야 한다 (일반화)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셀프 체크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2026-10-05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58252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 Zero 2 Transformer</a:t>
            </a:r>
            <a:r>
              <a:rPr lang="en-US" altLang="ko-KR" dirty="0"/>
              <a:t> |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9857232" cy="50292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답을 자기 말로 설명할 수 있는가?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3032" y="914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2E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08176"/>
            <a:ext cx="11274552" cy="877824"/>
          </a:xfrm>
          <a:prstGeom prst="roundRect">
            <a:avLst>
              <a:gd name="adj" fmla="val 10416"/>
            </a:avLst>
          </a:prstGeom>
          <a:solidFill>
            <a:srgbClr val="ED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94360" y="1618488"/>
            <a:ext cx="457200" cy="457200"/>
          </a:xfrm>
          <a:prstGeom prst="ellipse">
            <a:avLst/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220"/>
              </a:spcAft>
              <a:buNone/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408176"/>
            <a:ext cx="10405872" cy="87782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학생 32명 × 특징 10개 데이터에 가중치 (10, 1)을 곱하면 결과 shape은?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32304"/>
            <a:ext cx="11274552" cy="877824"/>
          </a:xfrm>
          <a:prstGeom prst="roundRect">
            <a:avLst>
              <a:gd name="adj" fmla="val 10416"/>
            </a:avLst>
          </a:prstGeom>
          <a:solidFill>
            <a:srgbClr val="ED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4360" y="2642616"/>
            <a:ext cx="457200" cy="457200"/>
          </a:xfrm>
          <a:prstGeom prst="ellipse">
            <a:avLst/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220"/>
              </a:spcAft>
              <a:buNone/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432304"/>
            <a:ext cx="10405872" cy="87782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w=1, b=0일 때 MSE가 13.5였다. 이 숫자가 뜻하는 것은?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456432"/>
            <a:ext cx="11274552" cy="877824"/>
          </a:xfrm>
          <a:prstGeom prst="roundRect">
            <a:avLst>
              <a:gd name="adj" fmla="val 10416"/>
            </a:avLst>
          </a:prstGeom>
          <a:solidFill>
            <a:srgbClr val="ED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94360" y="3666744"/>
            <a:ext cx="457200" cy="457200"/>
          </a:xfrm>
          <a:prstGeom prst="ellipse">
            <a:avLst/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220"/>
              </a:spcAft>
              <a:buNone/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456432"/>
            <a:ext cx="10405872" cy="87782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기울기 ∂L/∂w = −20이면 w를 늘려야 하나 줄여야 하나?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480560"/>
            <a:ext cx="11274552" cy="877824"/>
          </a:xfrm>
          <a:prstGeom prst="roundRect">
            <a:avLst>
              <a:gd name="adj" fmla="val 10416"/>
            </a:avLst>
          </a:prstGeom>
          <a:solidFill>
            <a:srgbClr val="ED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4360" y="4690872"/>
            <a:ext cx="457200" cy="457200"/>
          </a:xfrm>
          <a:prstGeom prst="ellipse">
            <a:avLst/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220"/>
              </a:spcAft>
              <a:buNone/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480560"/>
            <a:ext cx="10405872" cy="87782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학습률을 10배 키웠더니 손실이 폭발했다. 무슨 일이 일어났나?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504688"/>
            <a:ext cx="11274552" cy="877824"/>
          </a:xfrm>
          <a:prstGeom prst="roundRect">
            <a:avLst>
              <a:gd name="adj" fmla="val 10416"/>
            </a:avLst>
          </a:prstGeom>
          <a:solidFill>
            <a:srgbClr val="ED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94360" y="5715000"/>
            <a:ext cx="457200" cy="457200"/>
          </a:xfrm>
          <a:prstGeom prst="ellipse">
            <a:avLst/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220"/>
              </a:spcAft>
              <a:buNone/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504688"/>
            <a:ext cx="10405872" cy="87782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훈련 손실은 0인데 테스트 성능이 나쁘다. 무엇을 의심하나?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흔한 오해 바로잡기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2026-10-05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58252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 Zero 2 Transformer</a:t>
            </a:r>
            <a:r>
              <a:rPr lang="en-US" altLang="ko-KR" dirty="0"/>
              <a:t> |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9857232" cy="50292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틀린 문장을 계산의 언어로 고쳐 쓴다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3032" y="914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2E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408176"/>
          <a:ext cx="11274551" cy="3310125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4216499"/>
                <a:gridCol w="7058052"/>
              </a:tblGrid>
              <a:tr h="374904"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자주 듣는 말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01688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더 정확한 설명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01688F"/>
                    </a:solidFill>
                  </a:tcPr>
                </a:tc>
              </a:tr>
              <a:tr h="374904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“역전파가 가중치를 업데이트한다”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역전파는 </a:t>
                      </a: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기울기를 계산</a:t>
                      </a: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하고, 업데이트는 </a:t>
                      </a: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optimizer</a:t>
                      </a: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 한다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“훈련 손실이 낮으면 일반화된다”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학습에 쓰지 않은 </a:t>
                      </a: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검증·테스트</a:t>
                      </a: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조건에서 따로 확인해야 한다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</a:tr>
              <a:tr h="374904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“내적 점수 = cosine 유사도”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내적은 </a:t>
                      </a: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크기</a:t>
                      </a: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에도 영향을 받는다. cosine은 크기로 나눈 값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3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“8차원 벡터와 3차원 텐서의 ‘차원’은 같은 뜻”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앞은 </a:t>
                      </a: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원소 개수</a:t>
                      </a: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(한 축의 길이), 뒤는 </a:t>
                      </a: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축의 개수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</a:tr>
              <a:tr h="603503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“AI = 신경망”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기호 처리·탐색·확률 추론 등도 AI. 이 과정은 Transformer를 위한 </a:t>
                      </a: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선별된 계보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3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“학습하면 사람은 아무것도 설계하지 않는다”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데이터·목표(손실)·구조·평가 기준은 사람이 </a:t>
                      </a:r>
                      <a:r>
                        <a:rPr sz="15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</a:t>
                      </a:r>
                      <a:r>
                        <a:rPr sz="15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한다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이번 주 과제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2026-10-05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58252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 Zero 2 Transformer</a:t>
            </a:r>
            <a:r>
              <a:rPr lang="en-US" altLang="ko-KR" dirty="0"/>
              <a:t> |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9857232" cy="50292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제출물이 분명한 과제 — 결과를 보기 전에 먼저 예측해 적는다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3032" y="914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1B2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08176"/>
            <a:ext cx="11274552" cy="1191387"/>
          </a:xfrm>
          <a:prstGeom prst="roundRect">
            <a:avLst>
              <a:gd name="adj" fmla="val 7675"/>
            </a:avLst>
          </a:prstGeom>
          <a:solidFill>
            <a:srgbClr val="ED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21792" y="1554480"/>
            <a:ext cx="384048" cy="384048"/>
          </a:xfrm>
          <a:prstGeom prst="ellipse">
            <a:avLst/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240"/>
              </a:spcAft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1536192"/>
            <a:ext cx="10442448" cy="384048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손으로 경사하강 3걸음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1993392"/>
            <a:ext cx="10945368" cy="478155"/>
          </a:xfrm>
          <a:prstGeom prst="rect">
            <a:avLst/>
          </a:prstGeom>
          <a:noFill/>
        </p:spPr>
        <p:txBody>
          <a:bodyPr wrap="square" lIns="18288" rIns="18288" tIns="36576" bIns="36576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25"/>
              </a:spcAft>
              <a:buNone/>
            </a:pP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데이터 (1,3),(2,5),(3,7),(4,9), 시작 w=0,b=0, η=0.05. 3걸음 동안 w, b, 손실을 표로 적는다 (첫 걸음: w=1.75, b=0.6).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828163"/>
            <a:ext cx="11274552" cy="1419986"/>
          </a:xfrm>
          <a:prstGeom prst="roundRect">
            <a:avLst>
              <a:gd name="adj" fmla="val 6439"/>
            </a:avLst>
          </a:prstGeom>
          <a:solidFill>
            <a:srgbClr val="ED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21792" y="2974467"/>
            <a:ext cx="384048" cy="384048"/>
          </a:xfrm>
          <a:prstGeom prst="ellipse">
            <a:avLst/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240"/>
              </a:spcAft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" y="2956179"/>
            <a:ext cx="10442448" cy="384048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shape 일기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3413379"/>
            <a:ext cx="10945368" cy="706755"/>
          </a:xfrm>
          <a:prstGeom prst="rect">
            <a:avLst/>
          </a:prstGeom>
          <a:noFill/>
        </p:spPr>
        <p:txBody>
          <a:bodyPr wrap="square" lIns="18288" rIns="18288" tIns="36576" bIns="36576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25"/>
              </a:spcAft>
              <a:buNone/>
            </a:pP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PyTorch로 (2,5,8) 텐서를 만들고 @, +, transpose, reshape를 각각 적용 — 실행 전에 결과 shape을 먼저 적고 맞춰 본다.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476750"/>
            <a:ext cx="11274552" cy="1191387"/>
          </a:xfrm>
          <a:prstGeom prst="roundRect">
            <a:avLst>
              <a:gd name="adj" fmla="val 7675"/>
            </a:avLst>
          </a:prstGeom>
          <a:solidFill>
            <a:srgbClr val="ED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1792" y="4623053"/>
            <a:ext cx="384048" cy="384048"/>
          </a:xfrm>
          <a:prstGeom prst="ellipse">
            <a:avLst/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240"/>
              </a:spcAft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" y="4604765"/>
            <a:ext cx="10442448" cy="384048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학습률 실험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061965"/>
            <a:ext cx="10945368" cy="478155"/>
          </a:xfrm>
          <a:prstGeom prst="rect">
            <a:avLst/>
          </a:prstGeom>
          <a:noFill/>
        </p:spPr>
        <p:txBody>
          <a:bodyPr wrap="square" lIns="18288" rIns="18288" tIns="36576" bIns="36576" anchor="t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525"/>
              </a:spcAft>
              <a:buNone/>
            </a:pPr>
            <a:r>
              <a:rPr sz="15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PyTorch 루프에서 lr을 0.001, 0.05, 0.2로 바꿔 손실 곡선을 비교하고, 발산하는 lr을 찾는다.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참고 자료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2026-10-05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58252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 Zero 2 Transformer</a:t>
            </a:r>
            <a:r>
              <a:rPr lang="en-US" altLang="ko-KR" dirty="0"/>
              <a:t> |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9857232" cy="50292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원문은 필요한 절만 골라 읽는다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3032" y="914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정리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408176"/>
          <a:ext cx="11274551" cy="2798064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6691400"/>
                <a:gridCol w="4583151"/>
              </a:tblGrid>
              <a:tr h="359664"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자료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01688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이번 주에 읽을 부분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01688F"/>
                    </a:solidFill>
                  </a:tcPr>
                </a:tc>
              </a:tr>
              <a:tr h="573024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[01] McCulloch &amp; Pitts (1943). A Logical Calculus of the Ideas Immanent in Nervous Activity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뉴런 = 논리 계산이라는 추상화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9664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[02] Turing (1950). Computing Machinery and Intelligence. Mind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1절: 질문을 어떻게 바꾸는가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</a:tr>
              <a:tr h="573024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[03] McCarthy et al. (1955). A Proposal for the Dartmouth Summer Research Project on AI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제안서 첫 문단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3024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[42] Goodfellow, Bengio &amp; Courville (2016). Deep Learning. MIT Press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Ch.2 선형대수 · Ch.4 수치 계산 · Ch.5 머신러닝 기초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EDF5F9"/>
                    </a:solidFill>
                  </a:tcPr>
                </a:tc>
              </a:tr>
              <a:tr h="359664"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PyTorch 공식 튜토리얼: Tensors · Autograd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 marL="0" inden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0">
                          <a:solidFill>
                            <a:srgbClr val="1B2A3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텐서 생성·연산, requires_grad</a:t>
                      </a:r>
                    </a:p>
                  </a:txBody>
                  <a:tcPr marL="73152" marR="73152" marT="27432" marB="27432" anchor="ctr">
                    <a:lnL w="6350">
                      <a:solidFill>
                        <a:srgbClr val="C5D9E4"/>
                      </a:solidFill>
                    </a:lnL>
                    <a:lnR w="6350">
                      <a:solidFill>
                        <a:srgbClr val="C5D9E4"/>
                      </a:solidFill>
                    </a:lnR>
                    <a:lnT w="6350">
                      <a:solidFill>
                        <a:srgbClr val="C5D9E4"/>
                      </a:solidFill>
                    </a:lnT>
                    <a:lnB w="6350">
                      <a:solidFill>
                        <a:srgbClr val="C5D9E4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남은 문제와 다음 질문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65DF9-7290-292C-47D6-99A94DA3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2026-10-05</a:t>
            </a:r>
            <a:endParaRPr 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F04619-B9BD-BF5C-A103-F2D79AAEE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604000"/>
            <a:ext cx="762000" cy="215900"/>
          </a:xfrm>
        </p:spPr>
        <p:txBody>
          <a:bodyPr/>
          <a:lstStyle/>
          <a:p>
            <a:pPr algn="r"/>
            <a:fld id="{EB7ADC79-C875-44C7-B2EB-DB4716D8F1D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8D7F2223-6A43-C1B6-963A-0E9A2946A58C}"/>
              </a:ext>
            </a:extLst>
          </p:cNvPr>
          <p:cNvSpPr txBox="1">
            <a:spLocks/>
          </p:cNvSpPr>
          <p:nvPr/>
        </p:nvSpPr>
        <p:spPr>
          <a:xfrm>
            <a:off x="8582520" y="6598733"/>
            <a:ext cx="3110345" cy="2137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Yun-Hong Min|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AI Zero 2 Transformer</a:t>
            </a:r>
            <a:r>
              <a:rPr lang="en-US" altLang="ko-KR" dirty="0"/>
              <a:t> |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841248"/>
            <a:ext cx="9857232" cy="50292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답은 새 문제를 남긴다 — 다음 주는 여기서 출발한다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43032" y="914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91056"/>
            <a:ext cx="3422904" cy="3840480"/>
          </a:xfrm>
          <a:prstGeom prst="roundRect">
            <a:avLst>
              <a:gd name="adj" fmla="val 2671"/>
            </a:avLst>
          </a:prstGeom>
          <a:solidFill>
            <a:srgbClr val="ED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82496"/>
            <a:ext cx="3240024" cy="39624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01688F"/>
                </a:solidFill>
                <a:latin typeface="맑은 고딕"/>
                <a:ea typeface="맑은 고딕"/>
                <a:cs typeface="맑은 고딕"/>
              </a:rPr>
              <a:t>이번 주에 해결한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24456"/>
            <a:ext cx="3240024" cy="321564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None/>
            </a:pPr>
            <a:r>
              <a:rPr sz="18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데이터를 텐서로 표현하고,</a:t>
            </a:r>
          </a:p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None/>
            </a:pPr>
            <a:r>
              <a:rPr sz="18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손실을 줄이는 방향으로 파라미터를 고치면</a:t>
            </a:r>
          </a:p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None/>
            </a:pPr>
            <a:r>
              <a:rPr sz="18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규칙을 적지 않아도 </a:t>
            </a:r>
            <a:r>
              <a:rPr sz="18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배울 수 있다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25824" y="3511296"/>
            <a:ext cx="411480" cy="0"/>
          </a:xfrm>
          <a:prstGeom prst="line">
            <a:avLst/>
          </a:prstGeom>
          <a:ln w="25400">
            <a:solidFill>
              <a:srgbClr val="72AB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383024" y="1591056"/>
            <a:ext cx="3422904" cy="3840480"/>
          </a:xfrm>
          <a:prstGeom prst="roundRect">
            <a:avLst>
              <a:gd name="adj" fmla="val 2671"/>
            </a:avLst>
          </a:prstGeom>
          <a:solidFill>
            <a:srgbClr val="FDF1E9"/>
          </a:solidFill>
          <a:ln w="1270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4464" y="1682496"/>
            <a:ext cx="3240024" cy="39624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E97132"/>
                </a:solidFill>
                <a:latin typeface="맑은 고딕"/>
                <a:ea typeface="맑은 고딕"/>
                <a:cs typeface="맑은 고딕"/>
              </a:rPr>
              <a:t>아직 남은 문제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4464" y="2124456"/>
            <a:ext cx="3240024" cy="321564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None/>
            </a:pPr>
            <a:r>
              <a:rPr sz="18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출력이 </a:t>
            </a:r>
            <a:r>
              <a:rPr sz="18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예/아니오</a:t>
            </a:r>
            <a:r>
              <a:rPr sz="18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(분류)라면?</a:t>
            </a:r>
          </a:p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None/>
            </a:pPr>
            <a:r>
              <a:rPr sz="18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가중합 + 임계값 뉴런 하나(직선 하나)로 </a:t>
            </a:r>
            <a:r>
              <a:rPr sz="1800" b="1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모든 규칙</a:t>
            </a:r>
            <a:r>
              <a:rPr sz="1800" b="0">
                <a:solidFill>
                  <a:srgbClr val="1B2A36"/>
                </a:solidFill>
                <a:latin typeface="맑은 고딕"/>
                <a:ea typeface="맑은 고딕"/>
                <a:cs typeface="맑은 고딕"/>
              </a:rPr>
              <a:t>을 배울 수 있을까?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851648" y="3511296"/>
            <a:ext cx="411480" cy="0"/>
          </a:xfrm>
          <a:prstGeom prst="line">
            <a:avLst/>
          </a:prstGeom>
          <a:ln w="25400">
            <a:solidFill>
              <a:srgbClr val="72AB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308848" y="1591056"/>
            <a:ext cx="3422904" cy="3840480"/>
          </a:xfrm>
          <a:prstGeom prst="roundRect">
            <a:avLst>
              <a:gd name="adj" fmla="val 2671"/>
            </a:avLst>
          </a:prstGeom>
          <a:solidFill>
            <a:srgbClr val="01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00288" y="1682496"/>
            <a:ext cx="3240024" cy="39624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Week 2의 질문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0288" y="2124456"/>
            <a:ext cx="3240024" cy="3215640"/>
          </a:xfrm>
          <a:prstGeom prst="rect">
            <a:avLst/>
          </a:prstGeom>
          <a:noFill/>
        </p:spPr>
        <p:txBody>
          <a:bodyPr wrap="square" lIns="18288" rIns="18288" tIns="36576" bIns="36576" anchor="ctr">
            <a:spAutoFit/>
          </a:bodyPr>
          <a:lstStyle/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None/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직선으로 안 되는 문제는?</a:t>
            </a:r>
          </a:p>
          <a:p>
            <a:pPr algn="ctr" marL="0" indent="0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None/>
            </a:pPr>
            <a:r>
              <a:rPr sz="18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1958 Perceptron → 1969 XOR → 1986 역전파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6991B60C-0B87-4813-A3C9-C04D3D506FA3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36273689-c3e2-4185-b47f-e280f0f57d29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9D06B6F-593C-4965-A8E3-9778E5C31F9B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b6f5a1e2-33ed-4cdb-b763-f3262e0a716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31557</TotalTime>
  <Words>68</Words>
  <Application>Microsoft Office PowerPoint</Application>
  <PresentationFormat>와이드스크린</PresentationFormat>
  <Paragraphs>24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</vt:i4>
      </vt:variant>
    </vt:vector>
  </HeadingPairs>
  <TitlesOfParts>
    <vt:vector size="10" baseType="lpstr">
      <vt:lpstr>맑은 고딕</vt:lpstr>
      <vt:lpstr>시스템 서체 일반체</vt:lpstr>
      <vt:lpstr>Arial</vt:lpstr>
      <vt:lpstr>Trebuchet MS</vt:lpstr>
      <vt:lpstr>Wingdings</vt:lpstr>
      <vt:lpstr>Office 테마</vt:lpstr>
      <vt:lpstr>2_Office 테마</vt:lpstr>
      <vt:lpstr>subject</vt:lpstr>
      <vt:lpstr>Name</vt:lpstr>
      <vt:lpstr>Question 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문상준</dc:creator>
  <cp:lastModifiedBy>민윤홍</cp:lastModifiedBy>
  <cp:revision>1287</cp:revision>
  <cp:lastPrinted>2026-04-30T03:45:43Z</cp:lastPrinted>
  <dcterms:created xsi:type="dcterms:W3CDTF">2026-03-17T00:52:02Z</dcterms:created>
  <dcterms:modified xsi:type="dcterms:W3CDTF">2026-09-03T15:32:22Z</dcterms:modified>
</cp:coreProperties>
</file>