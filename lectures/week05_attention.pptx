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6"/>
  </p:notesMasterIdLst>
  <p:sldIdLst>
    <p:sldId id="770" r:id="rId3"/>
    <p:sldId id="1002" r:id="rId11"/>
    <p:sldId id="1003" r:id="rId12"/>
    <p:sldId id="1004" r:id="rId13"/>
    <p:sldId id="1005" r:id="rId14"/>
    <p:sldId id="1006" r:id="rId15"/>
    <p:sldId id="1007" r:id="rId16"/>
    <p:sldId id="1008" r:id="rId17"/>
    <p:sldId id="1009" r:id="rId18"/>
    <p:sldId id="1010" r:id="rId19"/>
    <p:sldId id="1011" r:id="rId20"/>
    <p:sldId id="1012" r:id="rId21"/>
    <p:sldId id="1013" r:id="rId22"/>
    <p:sldId id="1014" r:id="rId23"/>
    <p:sldId id="1015" r:id="rId24"/>
    <p:sldId id="1016" r:id="rId25"/>
    <p:sldId id="1017" r:id="rId26"/>
    <p:sldId id="1018" r:id="rId27"/>
    <p:sldId id="1019" r:id="rId28"/>
    <p:sldId id="1020" r:id="rId29"/>
    <p:sldId id="1021" r:id="rId30"/>
    <p:sldId id="1022" r:id="rId31"/>
    <p:sldId id="1023" r:id="rId32"/>
    <p:sldId id="1024" r:id="rId33"/>
    <p:sldId id="1025" r:id="rId34"/>
    <p:sldId id="1026" r:id="rId35"/>
    <p:sldId id="1027" r:id="rId36"/>
    <p:sldId id="1028" r:id="rId37"/>
    <p:sldId id="1029" r:id="rId38"/>
    <p:sldId id="1030" r:id="rId39"/>
    <p:sldId id="1031" r:id="rId40"/>
    <p:sldId id="1032" r:id="rId41"/>
    <p:sldId id="1033" r:id="rId42"/>
    <p:sldId id="1034" r:id="rId43"/>
    <p:sldId id="1035" r:id="rId44"/>
    <p:sldId id="1036" r:id="rId45"/>
    <p:sldId id="1037" r:id="rId46"/>
    <p:sldId id="1038" r:id="rId47"/>
    <p:sldId id="1039" r:id="rId48"/>
    <p:sldId id="1040" r:id="rId49"/>
    <p:sldId id="1041" r:id="rId50"/>
    <p:sldId id="1042" r:id="rId51"/>
    <p:sldId id="1043" r:id="rId52"/>
    <p:sldId id="1044" r:id="rId53"/>
    <p:sldId id="772" r:id="rId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1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5" autoAdjust="0"/>
    <p:restoredTop sz="73176" autoAdjust="0"/>
  </p:normalViewPr>
  <p:slideViewPr>
    <p:cSldViewPr snapToGrid="0" showGuides="1">
      <p:cViewPr varScale="1">
        <p:scale>
          <a:sx n="85" d="100"/>
          <a:sy n="85" d="100"/>
        </p:scale>
        <p:origin x="1476" y="90"/>
      </p:cViewPr>
      <p:guideLst>
        <p:guide orient="horz" pos="2160"/>
        <p:guide pos="3840"/>
      </p:guideLst>
    </p:cSldViewPr>
  </p:slideViewPr>
  <p:notesTextViewPr>
    <p:cViewPr>
      <p:scale>
        <a:sx n="125" d="100"/>
        <a:sy n="125" d="100"/>
      </p:scale>
      <p:origin x="0" y="0"/>
    </p:cViewPr>
  </p:notesTextViewPr>
  <p:notesViewPr>
    <p:cSldViewPr snapToGrid="0" showGuides="1">
      <p:cViewPr varScale="1">
        <p:scale>
          <a:sx n="118" d="100"/>
          <a:sy n="118" d="100"/>
        </p:scale>
        <p:origin x="3954"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70FBF-EBC7-48BC-9FF4-60E98111FAF8}" type="datetimeFigureOut">
              <a:rPr lang="ko-KR" altLang="en-US" smtClean="0"/>
              <a:t>2026-09-04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A6E62-6464-48E3-A950-8B46B2C8108B}" type="slidenum">
              <a:rPr lang="ko-KR" altLang="en-US" smtClean="0"/>
              <a:t>‹#›</a:t>
            </a:fld>
            <a:endParaRPr lang="ko-KR" altLang="en-US"/>
          </a:p>
        </p:txBody>
      </p:sp>
    </p:spTree>
    <p:extLst>
      <p:ext uri="{BB962C8B-B14F-4D97-AF65-F5344CB8AC3E}">
        <p14:creationId xmlns:p14="http://schemas.microsoft.com/office/powerpoint/2010/main" val="29131367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txBody>
          <a:bodyPr/>
          <a:lstStyle/>
          <a:p>
            <a:endParaRPr lang="ko-KR" altLang="en-US"/>
          </a:p>
        </p:txBody>
      </p:sp>
      <p:sp>
        <p:nvSpPr>
          <p:cNvPr id="3" name="슬라이드 노트 개체 틀 2"/>
          <p:cNvSpPr>
            <a:spLocks noGrp="1"/>
          </p:cNvSpPr>
          <p:nvPr>
            <p:ph type="body" idx="1"/>
          </p:nvPr>
        </p:nvSpPr>
        <p:spPr/>
        <p:txBody>
          <a:bodyPr/>
          <a:lstStyle/>
          <a:p>
            <a:pPr lvl="0"/>
            <a:r>
              <a:rPr lang="en-US" altLang="ko-KR" dirty="0"/>
              <a:t> </a:t>
            </a:r>
            <a:r>
              <a:rPr lang="ko-KR" altLang="ko-KR" sz="1200" b="0" u="none" strike="noStrike" kern="1200" dirty="0">
                <a:solidFill>
                  <a:schemeClr val="tx1"/>
                </a:solidFill>
                <a:effectLst/>
                <a:latin typeface="+mn-lt"/>
                <a:ea typeface="+mn-ea"/>
                <a:cs typeface="+mn-cs"/>
              </a:rPr>
              <a:t>오른쪽: →</a:t>
            </a:r>
          </a:p>
          <a:p>
            <a:pPr lvl="0"/>
            <a:r>
              <a:rPr lang="ko-KR" altLang="ko-KR" sz="1200" b="0" u="none" strike="noStrike" kern="1200" dirty="0">
                <a:solidFill>
                  <a:schemeClr val="tx1"/>
                </a:solidFill>
                <a:effectLst/>
                <a:latin typeface="+mn-lt"/>
                <a:ea typeface="+mn-ea"/>
                <a:cs typeface="+mn-cs"/>
              </a:rPr>
              <a:t>왼쪽: ←</a:t>
            </a:r>
          </a:p>
          <a:p>
            <a:pPr lvl="0"/>
            <a:r>
              <a:rPr lang="ko-KR" altLang="ko-KR" sz="1200" b="0" u="none" strike="noStrike" kern="1200" dirty="0">
                <a:solidFill>
                  <a:schemeClr val="tx1"/>
                </a:solidFill>
                <a:effectLst/>
                <a:latin typeface="+mn-lt"/>
                <a:ea typeface="+mn-ea"/>
                <a:cs typeface="+mn-cs"/>
              </a:rPr>
              <a:t>위쪽: ↑</a:t>
            </a:r>
          </a:p>
          <a:p>
            <a:pPr lvl="0"/>
            <a:r>
              <a:rPr lang="ko-KR" altLang="ko-KR" sz="1200" b="0" u="none" strike="noStrike" kern="1200" dirty="0">
                <a:solidFill>
                  <a:schemeClr val="tx1"/>
                </a:solidFill>
                <a:effectLst/>
                <a:latin typeface="+mn-lt"/>
                <a:ea typeface="+mn-ea"/>
                <a:cs typeface="+mn-cs"/>
              </a:rPr>
              <a:t>아래쪽: ↓</a:t>
            </a:r>
          </a:p>
          <a:p>
            <a:pPr lvl="0"/>
            <a:r>
              <a:rPr lang="ko-KR" altLang="ko-KR" sz="1200" b="0" u="none" strike="noStrike" kern="1200" dirty="0">
                <a:solidFill>
                  <a:schemeClr val="tx1"/>
                </a:solidFill>
                <a:effectLst/>
                <a:latin typeface="+mn-lt"/>
                <a:ea typeface="+mn-ea"/>
                <a:cs typeface="+mn-cs"/>
              </a:rPr>
              <a:t>좌우 양방향: ↔ ⇔</a:t>
            </a:r>
          </a:p>
          <a:p>
            <a:pPr lvl="0"/>
            <a:r>
              <a:rPr lang="ko-KR" altLang="ko-KR" sz="1200" b="0" u="none" strike="noStrike" kern="1200" dirty="0">
                <a:solidFill>
                  <a:schemeClr val="tx1"/>
                </a:solidFill>
                <a:effectLst/>
                <a:latin typeface="+mn-lt"/>
                <a:ea typeface="+mn-ea"/>
                <a:cs typeface="+mn-cs"/>
              </a:rPr>
              <a:t>상하 양방향: ↕</a:t>
            </a:r>
          </a:p>
          <a:p>
            <a:pPr lvl="0"/>
            <a:r>
              <a:rPr lang="ko-KR" altLang="ko-KR" sz="1200" b="0" u="none" strike="noStrike" kern="1200" dirty="0">
                <a:solidFill>
                  <a:schemeClr val="tx1"/>
                </a:solidFill>
                <a:effectLst/>
                <a:latin typeface="+mn-lt"/>
                <a:ea typeface="+mn-ea"/>
                <a:cs typeface="+mn-cs"/>
              </a:rPr>
              <a:t>대각선: ↗ ↘ ↖ ↙</a:t>
            </a:r>
          </a:p>
          <a:p>
            <a:endParaRPr lang="ko-KR" altLang="en-US"/>
          </a:p>
          <a:p>
            <a:endParaRPr lang="en-US" altLang="ko-KR"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9F891E5-1CD2-4B05-8178-8C49B58924F9}"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357702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 </a:t>
            </a:r>
            <a:endParaRPr lang="ko-KR" altLang="en-US" dirty="0"/>
          </a:p>
        </p:txBody>
      </p:sp>
      <p:sp>
        <p:nvSpPr>
          <p:cNvPr id="4" name="슬라이드 번호 개체 틀 3"/>
          <p:cNvSpPr>
            <a:spLocks noGrp="1"/>
          </p:cNvSpPr>
          <p:nvPr>
            <p:ph type="sldNum" sz="quarter" idx="5"/>
          </p:nvPr>
        </p:nvSpPr>
        <p:spPr/>
        <p:txBody>
          <a:bodyPr/>
          <a:lstStyle/>
          <a:p>
            <a:fld id="{EE5A6E62-6464-48E3-A950-8B46B2C8108B}" type="slidenum">
              <a:rPr lang="ko-KR" altLang="en-US" smtClean="0"/>
              <a:t>3</a:t>
            </a:fld>
            <a:endParaRPr lang="ko-KR" altLang="en-US"/>
          </a:p>
        </p:txBody>
      </p:sp>
    </p:spTree>
    <p:extLst>
      <p:ext uri="{BB962C8B-B14F-4D97-AF65-F5344CB8AC3E}">
        <p14:creationId xmlns:p14="http://schemas.microsoft.com/office/powerpoint/2010/main" val="1613747473"/>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Transformer 파트의 시작. 지난주 Seq2Seq는 입력 전체를 벡터 하나로 압축해야 했다. 오늘은 그 압축을 풀어 버린다: 입력의 위치별 표현을 모두 남겨 두고, 필요할 때마다 다른 비중으로 다시 참조한다. 이 한 가지 아이디어가 Self-attention, Q/K/V, Multi-head로 자라나 Transformer의 중심이 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주 복습 — 문장을 토큰·임베딩으로 / RNN · LSTM으로 순서와 기억 / Seq2Seq: Encoder → c → Decoder. 하지만 남은 문제가 있다: 모든 입력을 고정 벡터 c 하나로 압축 — 병목 / h_t는 h_(t−1)이 필요 — 순차 계산. 이번 주는 이 질문에서 출발한다: 필요할 때 원문을 다시 찾아보면? / 그리고 그것을 모델의 본체로 쓰면?. 학생에게 지난 주 내용을 한 문장씩 먼저 말해 보게 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 지도에서 오늘은 5번째 질문이다. 오늘의 순서: Attention (2014): 출력마다 다른 요약 / Self-attention과 Q · K · V / Scaled dot-product를 숫자로 / Multi-head와 tensor shape / 순서 정보: 위치 인코딩 / 모아 보기: 2017 Transformer의 윤곽. 끝나면 할 수 있어야 하는 것: Attention의 점수 → softmax → 가중합을 손으로 계산한다 / Q · K · V의 역할과 투영 행렬(파라미터) vs A(활성값)를 구분한다 / softmax(QKᵀ/√d_h)V의 shape을 단계마다 말한다 / Multi-head에서 (B, N, d) → (B, H, N, d_h) 변환을 설명한다 / Self-attention에 위치 정보가 필요한 이유를 설명한다. 수업 마지막에 이 목표를 셀프 체크로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처음 나오는 용어들. 외울 필요는 없고, 설명 중 막히면 이 표로 돌아온다. Attention 가중치 α: 각 위치를 얼마나 참고할지 (합 1) / 정렬 (alignment): 출력 위치와 입력 위치의 대응 / Self-attention: 한 시퀀스가 자기 자신의 모든 위치를 참조 / Query (Q): 비교의 기준이 되는 벡터 / Key (K): 비교 대상이 되는 벡터 / Value (V): 가중합으로 실제 전달되는 벡터 / Head: 독립된 Q·K·V 투영 한 벌 / 위치 인코딩 (PE): 토큰 벡터에 더하는 위치 정보</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왼쪽(Seq2Seq): 책을 읽고 요약문 하나만 남긴 뒤 그 요약문으로 모든 질문에 답한다. 오른쪽(Attention): 답할 때마다 남겨 둔 원문의 여러 위치를 다른 비중으로 참고한다. 원자료 주의: 이것은 계산 경로를 이해하기 위한 비유일 뿐, 모델이 사람처럼 책을 이해한다는 증거가 아니다. 실제로 실행되는 것은 정렬 점수 → softmax → 벡터 가중합. 결국 바뀐 것은 '상태의 개수'(c 하나 → h_1…h_S 전부)와 '접근 규칙'(항상 같은 c → 매번 다른 가중합)이다.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Decoder의 현재 상태 s_(t−1)과 Encoder의 각 위치 h_j를 비교해 점수 e를 매긴다(점수 함수 a). softmax로 합이 1인 비중 α를 만들고(2주차), h_j들을 α로 가중합해 이번 시점만의 문맥 벡터 c_t를 만든다. 예: α = (0.1, 0.2, 0.7), 값 v1=(1,0), v2=(0,1), v3=(2,2) → 0.1·(1,0) + 0.2·(0,1) + 0.7·(2,2) = (1.5, 1.6). 가장 큰 가중치의 토큰 하나를 골라 복사하는 것과 다르다 — soft attention은 대부분 여러 위치를 섞는다.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행은 Decoder 출력 위치, 열은 Encoder 입력 위치, 칸의 값은 α. 어순이 달라도 '고양이가'는 'cat'에, '매트'는 'mat'에 큰 비중을 둔다(설명용 가상 정렬). Bahdanau et al.의 논문 그림이 이런 정렬을 보여 주었다. 원자료 주의: heatmap에는 '이 그림이 보여주는 것'과 '증명하지 않는 것'을 함께 적는다. 큰 α는 '그 위치에 큰 참조 비중이 관찰되었다'는 뜻이지, 그 단어가 예측의 유일한 원인이라는 뜻이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Bahdanau, Cho, Bengio(2014) 'Neural Machine Translation by Jointly Learning to Align and Translate': 작은 신경망(additive)으로 점수를 계산. Luong, Pham, Manning(2015): 내적(dot), 학습된 행렬을 사이에 둔 bilinear(general) 등 여러 점수 함수 비교. 내적은 행렬곱 한 번으로 모든 쌍의 점수를 동시에 계산할 수 있어 빠르다(1주차: 행렬곱 = 내적 여러 개). Transformer는 여기에 스케일(√d_h)을 더한다.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표: RNN의 중심 질문은 '정보를 어떻게 보존·갱신할까', RNN+Attention은 '현재 필요한 정보를 어느 입력 위치에서 가져올까', Transformer는 '참조 연산으로 시퀀스의 표현 자체를 만들 수 있을까'. 4주차 표의 ③(순차 계산)까지 해결하려면 순환을 없애야 한다. 원자료 주의: self-attention은 2017년 전에도 있었다. Transformer는 이 계산을 FFN·잔차·정규화·위치 정보와 조합한 비순환 Encoder–Decoder다. 제목 'Attention Is All You Need'를 문자 그대로 'Attention 외에는 아무 계산이 없다'로 이해하면 안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 '그 동물은 너무 피곤해서 길을 건너지 않았다. 그것은 …'에서 '그것은'의 표현을 만들 때 '동물'을 많이 참고하면 좋다. self-attention에서는 각 위치가 Query가 되어 같은 문장의 모든 위치(Key)와 비교하고, 비중대로 Value를 섞는다. RNN에서는 먼 두 토큰이 만나려면 N단계를 거쳐야 했지만, self-attention은 한 층에서 직접 만난다(경로 길이 1). 그리고 모든 위치를 동시에 계산할 수 있다(순차 의존 없음).</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도서관 비유: Query는 찾고 싶은 것, Key는 책의 색인, Value는 책의 내용. 색인과 잘 맞는 책일수록 그 내용을 많이 가져온다. 원자료가 강조하는 비유의 한계: Query는 사용자가 입력한 자연어 질문이 아니다(이미지 Encoder에도 Q가 있다). Key는 문자열이나 데이터베이스 키가 아니다. Value는 원래 임베딩을 그대로 복사한 것이 아니다. 모두 학습된 투영으로 만든 벡터이며, 'Query가 중요한 토큰을 찾는다'고만 말하면 목적 함수와 중요도를 혼동한다.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head에서 X가 (N, d), W_Q와 W_K가 (d, d_h)라면 Q, K는 (N, d_h). V의 차원 d_v는 d_h와 달라도 되지만 원형과 이 과정에서는 같게 둔다. 편향은 생략. 학습되는 파라미터는 W_Q, W_K, W_V(그리고 뒤의 W_O)뿐이다. Q, K, V 자체는 입력마다 새로 계산되는 활성값이다. 2주차의 선형층과 같다 — 차이는 이 결과를 '비교'와 '전달'에 쓴다는 것.</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W_Q, W_K, W_V가 다르므로 같은 X에서 나온 Q, K, V는 일반적으로 다르다. 그래서 점수 행렬 QKᵀ도 대칭이 아니다: 'A가 B를 보는 점수' q_A·k_B와 'B가 A를 보는 점수' q_B·k_A는 다르다. 설령 Q=K여서 점수가 대칭이어도, 행마다 정규화하는 softmax 이후에는 일반적으로 대칭이 아니다. 왜 점수용(Q, K)과 내용용(V)을 나눌까? 어떤 특징으로 다른 토큰을 찾을지와, 그 토큰에서 어떤 정보를 전달할지를 따로 학습하는 자유를 준다. 이것은 설계 선택이지, 각 축이 미리 '주어', '동사' 같은 의미를 갖는다는 뜻이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W_Q, W_K, W_V, W_O는 학습 후 고정되는 파라미터로 모든 입력에 공유된다. Q, K, V와 attention 가중치 A = softmax(QKᵀ/√d_h)는 입력마다 새로 계산되는 활성값이다. 추론할 때 가중치가 고정되어 있어도 A는 문장마다 다르다. A는 gradient 경로에 포함되지만 '학습된 attention 표'가 따로 저장되어 있는 것이 아니다. 1주차 오개념 'Attention 가중치는 파라미터다'가 틀린 이유.</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① 점수: QKᵀ — 모든 Query와 모든 Key의 내적 (N, N). ② 스케일: √d_h로 나눈다. ③ mask M: 보면 안 되는 칸에 −∞를 더한다(6주차 자세히, 오늘은 선택 사항). ④ softmax: 행마다(=Query마다) Key 축으로 정규화 → 각 행의 합 1. ⑤ 가중합: A V — 각 Query의 출력은 Value들의 가중합 (N, d_h). 원자료: 행은 Query, 열은 Key. 유효한 Key가 있고 dropout 전이면 각 행의 합은 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시뮬레이터의 예제. Q, K, V는 이미 투영이 끝난 값이라고 하자. d_h = 2이므로 스케일은 √2. A·B·C·D는 실제 의미가 없는 예시 토큰. K와 V를 고정하고 Query 하나씩 계산해 본다. 다음 장에서 Query A의 행을 손으로 계산한다.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q_A = (1, 0). 점수: k_A와 1, k_B와 0, k_C와 1, k_D와 −1. ÷√2: 0.707, 0, 0.707, −0.707. exp: 2.028, 1.000, 2.028, 0.493, 합 5.549. softmax: 0.365, 0.180, 0.365, 0.089 (합 1). 출력 = 0.365·(1,0) + 0.180·(0,1) + 0.365·(2,2) + 0.089·(−1,1) = (1.008, 1.000). A와 C에 같은 비중(둘 다 q_A와의 내적 1), D는 반대 방향이라 가장 작은 비중.</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점수 QKᵀ/√2 (4×4). 가운데: 행별 softmax A — 각 행의 합 1. 오른쪽: O = AV (4×2). 첫 행이 방금 손으로 계산한 Query A. Query D는 자기 자신 D와 B에 큰 비중(0.524, 0.259). Think before: Q와 K를 고정하고 V만 바꾸면 A는? 그대로(Q, K, mask만으로 결정). O는? 바뀐다. 단, 전체 self-attention에서 X를 바꾸면 Q, K, V가 함께 바뀐다.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단순화한 가정: q, k의 성분이 서로 독립이고 평균 0, 분산 1. 그러면 q·k = Σ q_r k_r의 분산은 d_h, 표준편차는 √d_h. d_h = 4면 2, 64면 8, 256이면 16 — 점수 차이가 커져 softmax가 거의 한 칸에 몰린다(2주차 temperature가 아주 작은 경우와 비슷). 그러면 기울기도 작아진다. √d_h로 나누면 표준편차가 다시 1 근처. 원자료 주의: 실제 학습된 Q, K가 이 가정을 항상 만족한다는 주장은 아니다. 또 이 스케일은 생성 때의 temperature와 위치·목적이 다르다.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α_j가 크면 V_j의 기여 비중이 커지지만, V의 크기와 방향이 다르고 뒤에는 W_O, residual, FFN, 다음 층이 있다. 가중치 숫자 하나로 최종 출력 변화를 다 알 수 없다. 경계 조건: 어떤 행의 모든 Key가 mask로 가려지면 softmax의 확률 분포가 정의되지 않아 구현에 따라 NaN이나 0이 된다 → 유효한 Query에는 허용된 Key가 적어도 하나 있도록 설계. attention dropout 뒤에는 개별 행의 합이 1이 아닐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하나의 attention은 행마다 하나의 분포(한 가지 비교 방식)만 만든다. Multi-head는 서로 다른 투영 H벌로 H개의 attention을 병렬로 수행한다. head_i = Attention(X W_Q^i, X W_K^i, X W_V^i), 출력 = Concat(head_1 … head_H) W_O. 원자료 주의: 각 head는 모든 토큰 위치를 처리한다. head 1에 앞쪽 토큰, head 2에 뒤쪽 토큰을 나누는 것이 아니다. 나누는 것은 '특징 차원'이다. 그림: 같은 X, 다른 투영 → 서로 다른 참조 패턴(무작위 가중치 예시 — 역할 지정 아님).</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구현에서는 H개의 투영을 하나의 큰 (d, d) 행렬로 묶어 한 번에 계산하고, 결과를 head 축으로 쪼갠다(view) 뒤 축을 바꾼다(transpose). B=2, N=5, d=8, H=2, d_h=4: X (2,5,8) → Q (2,5,8) → view (2,5,2,4) → transpose (2,2,5,4). 점수 QKᵀ: (2,2,5,4)@(2,2,4,5) → (2,2,5,5). A V → (2,2,5,4) → transpose + reshape → (2,5,8) → W_O → (2,5,8). 입력과 출력 shape이 같아서 층을 쌓을 수 있다. 개념 확인 05: Q (B,H,T,d_h), K (B,H,S,d_h)이면 QKᵀ는 (B,H,T,S) — d_h는 내적하며 사라진다.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구현한 multi-head self-attention. view(B, N, H, d_h).transpose(1, 2)가 핵심 shape 조작이다. softmax의 dim=-1은 Key 축. nn.MultiheadAttention(8, 2)의 파라미터는 4 × (8×8 + 8) = 288. 출력 (2, 5, 8), head별 가중치 (2, 2, 5, 5). 실습: 직접 구현한 결과와 F.scaled_dot_product_attention의 결과가 같은지 확인해 보기.</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W_Q, W_K, W_V, W_O의 주요 파라미터는 약 4d²로 H와 무관(d=512면 약 105만). attention 곱셈량 H·N²·d_h = N²d도 그대로. 반면 명시적으로 저장하는 attention 표의 원소 수는 H·N²라 head 수에 비례해 늘 수 있다. head당 차원은 512/8 = 64로 줄어든다. 원자료 주의: 어떤 head에서 특정 패턴이 관찰될 수는 있지만 '1번은 문법, 2번은 의미' 같은 역할이 구조에 지정되어 있지 않다. 관찰 · 해석 · 인과 검증을 구분해 보고한다. 개념 확인 10: 같은 d에서 H를 늘리면 주요 투영 파라미터는 유지되고 head당 차원은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위치 정보나 위치 의존 mask가 없는 self-attention에 입력 순열 P를 적용하면 Q′=PQ, K′=PK, V′=PV이고, 행 단위 softmax는 행·열이 같이 움직이므로 SA(PX) = P·SA(X). 입력을 섞으면 출력도 같은 방식으로 섞인다(등변성). 출력이 변하지 않는다는 불변성과 다르다(3주차 CNN의 등변성/불변성 구분과 같은 논리). 즉 각 토큰의 출력은 '어떤 토큰들이 있는가'만 보고 '어떤 순서인가'는 모른다 — 순서를 따로 알려 줘야 한다. 원자료 주의: causal mask가 있으면 방향 정보가 생기므로 이 증명을 그대로 적용할 수 없다. 개념 확인 13.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원형 Transformer는 임베딩에 √d를 곱하고 같은 차원(d)의 위치 벡터를 더한다. Encoder와 Decoder 모두. 입력 ID (B, S) → 임베딩 (B, S, d) → + PE (S, d) → (B, S, d) (broadcasting, 1주차). 원자료 주의: 더한다고 해서 토큰 내용과 위치가 완벽히 분리되어 저장된다는 뜻은 아니다. 같은 차원에 결합될 뿐이다.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PE(pos, 2i) = sin(pos / 10000^(2i/d)), PE(pos, 2i+1) = cos(pos / 10000^(2i/d)). i가 커질수록 주파수가 낮아져 천천히 변한다 — 시계의 초침·분침·시침처럼 여러 속도의 바늘로 위치를 표현. d = 8, pos = 1: (sin 1, cos 1, sin 0.1, cos 0.1, …) = (0.841, 0.540, 0.100, 0.995, …). pos = 2: (0.909, −0.416, …). 왼쪽 heatmap: 위치(세로) × 차원(가로), 오른쪽: 몇 개 차원의 곡선.</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원논문도 학습형 위치 임베딩과 비교했고 비슷한 결과를 보고했다. 이후 상대 위치 방식, RoPE(회전 위치 임베딩, 2021), ALiBi(2021) 등 다양한 방식이 쓰인다(후속 변형). 원자료 주의: 고정 함수가 더 긴 길이의 값을 계산할 수 있다고 해서, 학습보다 긴 길이에 잘 일반화한다는 보장은 없다. 공정한 실험: 먼저 dropout을 끈 순수 self-attention 모듈에 순열을 적용해 등변성을 확인하고, 전체 모델에서는 source와 target 위치 정보를 따로 제거한 조건을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Vaswani et al.(2017). 원형은 Encoder 6층 + Decoder 6층. 각 층은 같은 설계를 반복하지만 파라미터는 층마다 별개('같은 층'이 가중치 공유를 뜻하지 않는다). 오늘 배운 것: 토큰 임베딩 + 위치 인코딩, (multi-head) self-attention, cross-attention의 개념. 다음 주: FFN, residual + LayerNorm, masked self-attention, 출력 head, 학습과 생성. base 설정: d = 512, H = 8, d_h = 64, d_ff = 2048.</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표. Encoder self-attention: Q, K, V 모두 Encoder 입력 표현에서, 유효한 입력 토큰 전체를 본다. Decoder masked self-attention: Decoder 입력에서, 현재 위치와 이전 위치만(다음 주 mask). Cross-attention: Q는 Decoder, K·V는 Encoder 최종 출력에서, 유효한 source 전체. Self/Cross는 Q와 K·V의 '출처' 차이, Causal/Bidirectional은 '참조 허용 범위' 차이 — 서로 다른 분류 축이다. Cross-attention 점수 표는 T×S, 출력 길이는 Query 수 T (개념 확인 09: Q 길이 3, K/V 길이 5 → 출력 길이 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요약. 각 줄을 학생이 자기 말로 다시 설명하게 한다: Attention = 점수 → softmax → 가중합: 출력마다 다른 요약 c_t (2014) / Self-attention: 모든 위치가 직접 만난다 — 경로 1, 순차 의존 없음 / Q · K · V는 같은 X의 다른 투영, 학습되는 것은 W_Q · W_K · W_V · W_O (A는 활성값) / softmax(QKᵀ/√d_h)V: (N, d_h)·(d_h, N) → (N, N) → (N, d_h), softmax는 Key 축 / Multi-head: (B, N, d) → (B, H, N, d_h) → 다시 (B, N, d), 역할은 미리 정해지지 않는다 / Self-attention은 순서를 모른다(등변) → 위치 인코딩을 더한다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a:t>
            </a:r>
          </a:p>
          <a:p>
            <a:r>
              <a:t>Q1. Self-attention의 Q, K, V는 항상 같은 숫자인가? (개념 확인 04)</a:t>
            </a:r>
          </a:p>
          <a:p>
            <a:r>
              <a:t>  → 아니다. 같은 X에서 서로 다른 투영 W_Q, W_K, W_V로 만들어 일반적으로 다르다</a:t>
            </a:r>
          </a:p>
          <a:p>
            <a:r>
              <a:t>Q2. Q: (B, H, T, d_h), K: (B, H, S, d_h)일 때 QKᵀ의 shape은? (05)</a:t>
            </a:r>
          </a:p>
          <a:p>
            <a:r>
              <a:t>  → (B, H, T, S) — d_h는 내적하며 사라진다</a:t>
            </a:r>
          </a:p>
          <a:p>
            <a:r>
              <a:t>Q3. Attention의 softmax는 보통 어느 축인가? (06)</a:t>
            </a:r>
          </a:p>
          <a:p>
            <a:r>
              <a:t>  → 각 Query에 대한 Key 축 — Query마다 Key들에 비중을 나눈다</a:t>
            </a:r>
          </a:p>
          <a:p>
            <a:r>
              <a:t>Q4. Q 길이 3, K/V 길이 5인 cross-attention의 출력 길이는? (09)</a:t>
            </a:r>
          </a:p>
          <a:p>
            <a:r>
              <a:t>  → 3 — 출력은 Query 하나당 한 벡터</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a:t>
            </a:r>
          </a:p>
          <a:p>
            <a:r>
              <a:t>Q1. 같은 d에서 head 수 H를 늘리면? (10)</a:t>
            </a:r>
          </a:p>
          <a:p>
            <a:r>
              <a:t>  → 주요 투영 파라미터는 유지, head당 차원 d_h = d/H는 줄고 점수 표 수는 늘 수 있다</a:t>
            </a:r>
          </a:p>
          <a:p>
            <a:r>
              <a:t>Q2. 위치 정보와 위치 의존 mask가 없는 self-attention의 순열 성질은? (13)</a:t>
            </a:r>
          </a:p>
          <a:p>
            <a:r>
              <a:t>  → 순열 등변성: SA(PX) = P·SA(X) — 출력도 같은 순열로 섞인다</a:t>
            </a:r>
          </a:p>
          <a:p>
            <a:r>
              <a:t>Q3. 어떤 head에서 큰 attention 가중치를 관찰했다. 무엇이라고 말할 수 있나? (18)</a:t>
            </a:r>
          </a:p>
          <a:p>
            <a:r>
              <a:t>  → 그 위치에 큰 참조 비중이 관찰되었다고 말하고, 인과 해석은 추가 검증한다</a:t>
            </a:r>
          </a:p>
          <a:p>
            <a:r>
              <a:t>Q4. q_A = (1, 0)이고 모든 Key가 k = (0, 1)이면 attention 가중치는?</a:t>
            </a:r>
          </a:p>
          <a:p>
            <a:r>
              <a:t>  → 모든 점수가 0 → softmax가 균등 → 모든 Key에 같은 비중 (1/N)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문장이 왜 틀렸는지 계산으로 설명하게 한다. “Attention 가중치는 학습되는 파라미터다” → 파라미터는 W_Q · W_K · W_V · W_O. A는 입력마다 계산되는 활성값 / “Self-attention이면 Q = K = V” → 같은 X에서 다른 투영. 점수 행렬도 일반적으로 비대칭 / “Multi-head는 토큰을 head별로 나눠 본다” → 모든 head가 모든 토큰을 본다. 나누는 것은 특징 차원 / “Head 1은 문법, head 2는 의미 담당” → 역할은 미리 정해지지 않는다 — 관찰·해석·인과 검증을 구분 / “Transformer가 attention을 발명했다” → Attention은 2014, self-attention도 그 전에 있었다. 2017년은 조합 / “위치 인코딩은 sin/cos여야 한다” → 학습형 · 상대 위치 · RoPE 등 여러 방식. 필요한 것은 위치 단서</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운영안 6·7회차 산출물: 정렬 점수·softmax·가중합 손계산, 위치·Q/K/V·Multi-head 실험. 과제는 ‘논문 읽고 정리’ 대신 제출 결과가 분명한 질문으로 준다(원자료 운영안). 손계산 (원자료 운영안 6회차): 4토큰 예제에서 Query B, C의 행을 손으로 계산해 전체 행렬 그림과 맞춰 본다. √2 스케일을 빼면 어떻게 바뀌는지도. / shape 추적: d = 12, H = 3, B = 2, N = 7일 때 multi-head의 모든 단계 shape을 표로 쓰고, 코드로 확인한다. / 순열 실험: dropout을 끈 nn.MultiheadAttention에 토큰 순서를 섞은 입력을 넣고 SA(PX) = P·SA(X)를 확인한다. 위치 인코딩을 더하면?</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원자료 참고문헌 번호. 처음부터 모든 실험을 읽기보다 표에 적은 절과 그림만 먼저 읽는다. [17] Bahdanau, Cho &amp; Bengio (2014). Neural Machine Translation by Jointly Learning to Align and Translate / [18] Luong, Pham &amp; Manning (2015). Effective Approaches to Attention-based NMT / [22] Vaswani et al. (2017). Attention Is All You Need / [27] The Annotated Transformer · [28] PyTorch nn.MultiheadAttention 문서 / [39][40] Attention 해석 관련 연구 (원자료 참고문헌)</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주: 오늘의 attention 블록에 FFN, residual, LayerNorm을 붙여 층을 완성하고, mask와 teacher forcing으로 Decoder를 학습시키고, 토큰을 하나씩 생성한다. 이번 주에 해결한 것: 출력마다 원문을 다시 참조하는 Attention / 모든 위치가 직접 만나는 Self-attention / Q·K·V · Multi-head · 위치 인코딩. 남은 문제: attention만으로는 토큰별 비선형 변환이 없다 / 깊게 쌓으면? 정답을 훔쳐보지 않고 학습하려면? 생성은?. 다음: 참조만으로 시퀀스 모델을 만들면? / FFN · Residual · LayerNorm · Mask · 학습 · 생성.</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252A1B-C763-C9A6-AADD-43FBC3B7C805}"/>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F423261-3F68-B8A6-DA8C-C1B31F16FB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2A705C5-459B-96C8-2CA2-5E12914FA3C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86D39F56-7BCA-57D8-9039-ED968753E2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6646A04-24C2-3C45-EE21-FB23BA2FAB74}"/>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670187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DC6883-1C8A-9E20-19B7-877053834C3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7B08F0A-0E00-18F3-9E65-0314486465C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0560133-C35C-8C4F-328E-8E9B79F4019C}"/>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E29A8A1F-82FA-EC9E-A4C5-677BD6CE24C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6DF691-3C61-A125-27FF-5EF0B518102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969754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95DA7-E147-5F92-926F-DEBDF033276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E113DEB-D6E9-DC7D-3B33-DF60095FA2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77413F7-6293-669A-C49C-CBD4B87F49B7}"/>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659463A-8506-F832-BF63-0AB5383242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2153CB-E77A-DDE1-B666-3A7483A0575B}"/>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23283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CAB2C3-915D-1F0F-FD8B-8851B2DCE0C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543B65-182A-1AF8-1ADF-73493AE2568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01FC3C4-0188-7117-4A57-48CDCD1BFD7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5573293-D299-1ACC-B5F6-5249201C598A}"/>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92E0B931-ECD0-9014-3A6C-96A43323538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05D45AC-93A5-F441-B0D9-C72C7D96150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0617928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8F5203-0A0C-E761-43DC-1E4FCF63286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4B12E34-F53B-1A87-9EF2-C6C9AD4AF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B2005B8-C78F-3258-A421-5AEC2A338E4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36FCEAEE-2647-1263-6BFA-6783FEEA7D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A19C9D7-D5A0-149F-D2A7-61824E4EF9E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FEE39A88-1C17-B89B-34ED-6E5C1BFC2E6C}"/>
              </a:ext>
            </a:extLst>
          </p:cNvPr>
          <p:cNvSpPr>
            <a:spLocks noGrp="1"/>
          </p:cNvSpPr>
          <p:nvPr>
            <p:ph type="dt" sz="half" idx="10"/>
          </p:nvPr>
        </p:nvSpPr>
        <p:spPr/>
        <p:txBody>
          <a:bodyPr/>
          <a:lstStyle/>
          <a:p>
            <a:r>
              <a:rPr lang="en-US" altLang="ko-KR"/>
              <a:t>2026-07-31</a:t>
            </a:r>
            <a:endParaRPr lang="ko-KR" altLang="en-US"/>
          </a:p>
        </p:txBody>
      </p:sp>
      <p:sp>
        <p:nvSpPr>
          <p:cNvPr id="8" name="바닥글 개체 틀 7">
            <a:extLst>
              <a:ext uri="{FF2B5EF4-FFF2-40B4-BE49-F238E27FC236}">
                <a16:creationId xmlns:a16="http://schemas.microsoft.com/office/drawing/2014/main" id="{939754EA-D4D9-36B7-2239-6BD62CA32B0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DA14D8B-D0E2-0987-5C43-F597C8B9EA1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970987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1830CA-B77F-223E-2F40-8194C04C978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D32D80-AD85-E48F-7B4C-3514085491DC}"/>
              </a:ext>
            </a:extLst>
          </p:cNvPr>
          <p:cNvSpPr>
            <a:spLocks noGrp="1"/>
          </p:cNvSpPr>
          <p:nvPr>
            <p:ph type="dt" sz="half" idx="10"/>
          </p:nvPr>
        </p:nvSpPr>
        <p:spPr/>
        <p:txBody>
          <a:bodyPr/>
          <a:lstStyle/>
          <a:p>
            <a:r>
              <a:rPr lang="en-US" altLang="ko-KR"/>
              <a:t>2026-07-31</a:t>
            </a:r>
            <a:endParaRPr lang="ko-KR" altLang="en-US"/>
          </a:p>
        </p:txBody>
      </p:sp>
      <p:sp>
        <p:nvSpPr>
          <p:cNvPr id="4" name="바닥글 개체 틀 3">
            <a:extLst>
              <a:ext uri="{FF2B5EF4-FFF2-40B4-BE49-F238E27FC236}">
                <a16:creationId xmlns:a16="http://schemas.microsoft.com/office/drawing/2014/main" id="{09BC26F6-F455-63DE-95C5-F4225A6E755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3011D057-29DE-8E21-B820-9373E1D5021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146580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EE82FB6-0C07-5848-5C12-3916F5909A16}"/>
              </a:ext>
            </a:extLst>
          </p:cNvPr>
          <p:cNvSpPr>
            <a:spLocks noGrp="1"/>
          </p:cNvSpPr>
          <p:nvPr>
            <p:ph type="dt" sz="half" idx="10"/>
          </p:nvPr>
        </p:nvSpPr>
        <p:spPr/>
        <p:txBody>
          <a:bodyPr/>
          <a:lstStyle/>
          <a:p>
            <a:r>
              <a:rPr lang="en-US" altLang="ko-KR"/>
              <a:t>2026-07-31</a:t>
            </a:r>
            <a:endParaRPr lang="ko-KR" altLang="en-US"/>
          </a:p>
        </p:txBody>
      </p:sp>
      <p:sp>
        <p:nvSpPr>
          <p:cNvPr id="3" name="바닥글 개체 틀 2">
            <a:extLst>
              <a:ext uri="{FF2B5EF4-FFF2-40B4-BE49-F238E27FC236}">
                <a16:creationId xmlns:a16="http://schemas.microsoft.com/office/drawing/2014/main" id="{8479ED77-F80B-BC2E-F13C-AB7A6DF0B6D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264ADE3-6C32-5057-058C-6C8D737E194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60625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03ECFF-667E-1220-0A59-5BE19AED98A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194255F-D651-1764-0366-FBA95DFD9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834124B-2B82-BDE2-890E-BFD9AA2DE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2860289-4016-BA2D-B545-D07153FC5F29}"/>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4CF585F0-BA8F-2A7C-DBB7-F2289CD192C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44C75D0-17A4-045E-30A7-0DCE3A8774C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52914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4F30D40-10EB-DE9D-C961-CAA1D931B49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D68E722-038F-3A9D-65EF-E5304FA2E3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F9E95962-4F65-7241-5E2C-05F96638F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22B0918-E7F3-D78C-44EF-462950321D01}"/>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2D36987F-BD53-DD08-6650-29BA313C1CD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921EE29-1D4F-8E30-549E-5034953BA9A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7881758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828FF4-3094-9A4A-896C-406EBC406D66}"/>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622EFE7-558D-D0D6-ABB0-E152FCD2D92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0959EF9-421B-0B42-076F-3EAADFF2E3A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5A93E55E-A7CF-31DF-B702-56441B2DDE6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63FED1B-F32D-7F6B-C465-88AC6049622F}"/>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125045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380E2CC-C4B8-964B-F70D-8574A5993A8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F1FADE95-344E-A9E2-C2C0-7DA9EBB50DB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B0CF5E-5337-96DA-CF9F-4B18025AFB39}"/>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FC46605-06E8-BD79-FC4E-DE74549757F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34CE113-CD48-4415-1206-5002C02997CE}"/>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70596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3125989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2546625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2A8795-CAE2-41A2-9830-252F1DB8D40B}"/>
              </a:ext>
            </a:extLst>
          </p:cNvPr>
          <p:cNvSpPr>
            <a:spLocks noGrp="1"/>
          </p:cNvSpPr>
          <p:nvPr>
            <p:ph type="ctrTitle"/>
          </p:nvPr>
        </p:nvSpPr>
        <p:spPr>
          <a:xfrm>
            <a:off x="1524001"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95D3D744-13EB-4EFF-AE30-0C7AE227FE8A}"/>
              </a:ext>
            </a:extLst>
          </p:cNvPr>
          <p:cNvSpPr>
            <a:spLocks noGrp="1"/>
          </p:cNvSpPr>
          <p:nvPr>
            <p:ph type="subTitle" idx="1"/>
          </p:nvPr>
        </p:nvSpPr>
        <p:spPr>
          <a:xfrm>
            <a:off x="1524001" y="3602038"/>
            <a:ext cx="9144000" cy="1655762"/>
          </a:xfrm>
        </p:spPr>
        <p:txBody>
          <a:bodyPr/>
          <a:lstStyle>
            <a:lvl1pPr marL="0" indent="0" algn="ctr">
              <a:buNone/>
              <a:defRPr sz="2400"/>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ko-KR" altLang="en-US"/>
              <a:t>클릭하여 마스터 부제목 스타일 편집</a:t>
            </a:r>
          </a:p>
        </p:txBody>
      </p:sp>
      <p:sp>
        <p:nvSpPr>
          <p:cNvPr id="4" name="부제목 2">
            <a:extLst>
              <a:ext uri="{FF2B5EF4-FFF2-40B4-BE49-F238E27FC236}">
                <a16:creationId xmlns:a16="http://schemas.microsoft.com/office/drawing/2014/main" id="{A9E79BC4-6998-EDEE-667D-B7C17B3A08C0}"/>
              </a:ext>
            </a:extLst>
          </p:cNvPr>
          <p:cNvSpPr txBox="1">
            <a:spLocks/>
          </p:cNvSpPr>
          <p:nvPr userDrawn="1"/>
        </p:nvSpPr>
        <p:spPr>
          <a:xfrm>
            <a:off x="3787205" y="5907650"/>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565CA89F-D0E9-8CE5-22B9-51E7DE7904E7}"/>
              </a:ext>
            </a:extLst>
          </p:cNvPr>
          <p:cNvGrpSpPr/>
          <p:nvPr userDrawn="1"/>
        </p:nvGrpSpPr>
        <p:grpSpPr>
          <a:xfrm>
            <a:off x="5196905" y="5156355"/>
            <a:ext cx="1798190" cy="646162"/>
            <a:chOff x="5976117" y="116467"/>
            <a:chExt cx="4341047" cy="1559914"/>
          </a:xfrm>
        </p:grpSpPr>
        <p:sp>
          <p:nvSpPr>
            <p:cNvPr id="6" name="사각형: 둥근 모서리 5">
              <a:extLst>
                <a:ext uri="{FF2B5EF4-FFF2-40B4-BE49-F238E27FC236}">
                  <a16:creationId xmlns:a16="http://schemas.microsoft.com/office/drawing/2014/main" id="{633F487C-A200-17BE-5341-37611BF8FBFD}"/>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2F47E4AB-6462-333C-8B2F-30524FE22205}"/>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34">
              <a:extLst>
                <a:ext uri="{FF2B5EF4-FFF2-40B4-BE49-F238E27FC236}">
                  <a16:creationId xmlns:a16="http://schemas.microsoft.com/office/drawing/2014/main" id="{0A103168-CD94-921E-63B0-D7B6F62E3E6E}"/>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7589D919-CBEB-F8FB-07F2-12CA9E166B19}"/>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7C46F0AE-DB11-EB8B-FE86-FF73BA879CF9}"/>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4" name="사각형: 둥근 모서리 13">
              <a:extLst>
                <a:ext uri="{FF2B5EF4-FFF2-40B4-BE49-F238E27FC236}">
                  <a16:creationId xmlns:a16="http://schemas.microsoft.com/office/drawing/2014/main" id="{2F1B7618-3197-6105-6B9F-CD50533BC4C8}"/>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34">
              <a:extLst>
                <a:ext uri="{FF2B5EF4-FFF2-40B4-BE49-F238E27FC236}">
                  <a16:creationId xmlns:a16="http://schemas.microsoft.com/office/drawing/2014/main" id="{DAEE3283-E646-D165-09D4-A4EBC9383BD5}"/>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FA0B60E4-48DD-E363-AC71-B8FE6390DD39}"/>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2DBD4F83-0783-F1C4-F273-6EE7BA9AA761}"/>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A22CD0BC-B38F-EAB9-1662-E8974A393956}"/>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4A5B8AFF-1462-C09E-526A-01C1EF6A27BF}"/>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1E327536-D68A-677A-9C59-B2F87215F482}"/>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4437FD44-BC56-6D38-BDF7-4B95F0F58D4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01FAF00-B3B6-32CC-742D-42EABD4FD45C}"/>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8FC12012-F3C1-1E96-C679-68B7DA64D4C2}"/>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E85CAABF-CB4B-2B7D-A895-75F478F9E0A3}"/>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977AD124-2D48-82D1-BF1E-379401F23CBF}"/>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935C0909-CA27-0C56-8530-67186FB3D7CC}"/>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E9BDEEAD-DED1-28AC-8118-7CB4F7F9A7B3}"/>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A120A2F1-9E2F-DE3C-9C0D-767223CCDCC3}"/>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9C708ECA-1A72-51DA-2BCE-82E60DF885CF}"/>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02233A34-DD1A-0CFF-EE55-E7D78EE182A5}"/>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14AC34DC-FFAD-AE9B-6155-5A249659B17A}"/>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7276A3FC-BAB7-29FF-28AD-B77DB9D0D8E8}"/>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307824EB-7201-2EC4-BDA2-3CA8ECC4C4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D724357C-B669-4A76-895B-80CA83451CEE}"/>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Tree>
    <p:extLst>
      <p:ext uri="{BB962C8B-B14F-4D97-AF65-F5344CB8AC3E}">
        <p14:creationId xmlns:p14="http://schemas.microsoft.com/office/powerpoint/2010/main" val="1152379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1861062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AEBF52-76E9-B938-4862-6D13627AFD4C}"/>
              </a:ext>
            </a:extLst>
          </p:cNvPr>
          <p:cNvSpPr/>
          <p:nvPr userDrawn="1"/>
        </p:nvSpPr>
        <p:spPr>
          <a:xfrm>
            <a:off x="2" y="-1"/>
            <a:ext cx="12191999" cy="681037"/>
          </a:xfrm>
          <a:prstGeom prst="rect">
            <a:avLst/>
          </a:prstGeom>
          <a:gradFill flip="none" rotWithShape="1">
            <a:gsLst>
              <a:gs pos="0">
                <a:srgbClr val="01688F"/>
              </a:gs>
              <a:gs pos="100000">
                <a:schemeClr val="bg1">
                  <a:alpha val="0"/>
                </a:schemeClr>
              </a:gs>
              <a:gs pos="70000">
                <a:srgbClr val="72ABC8"/>
              </a:gs>
              <a:gs pos="85000">
                <a:schemeClr val="accent1">
                  <a:lumMod val="40000"/>
                  <a:lumOff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Trebuchet MS" panose="020B0703020202090204" pitchFamily="34" charset="0"/>
            </a:endParaRPr>
          </a:p>
        </p:txBody>
      </p:sp>
      <p:pic>
        <p:nvPicPr>
          <p:cNvPr id="8" name="그림 7" descr="옥외설치물이(가) 표시된 사진&#10;&#10;자동 생성된 설명">
            <a:extLst>
              <a:ext uri="{FF2B5EF4-FFF2-40B4-BE49-F238E27FC236}">
                <a16:creationId xmlns:a16="http://schemas.microsoft.com/office/drawing/2014/main" id="{F966DF82-ED07-FCE8-124A-FFE8ACAFE184}"/>
              </a:ext>
            </a:extLst>
          </p:cNvPr>
          <p:cNvPicPr>
            <a:picLocks noChangeAspect="1"/>
          </p:cNvPicPr>
          <p:nvPr userDrawn="1"/>
        </p:nvPicPr>
        <p:blipFill rotWithShape="1">
          <a:blip r:embed="rId2" cstate="print">
            <a:alphaModFix amt="70000"/>
            <a:duotone>
              <a:schemeClr val="accent5">
                <a:shade val="45000"/>
                <a:satMod val="135000"/>
              </a:schemeClr>
              <a:prstClr val="white"/>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p:blipFill>
        <p:spPr>
          <a:xfrm>
            <a:off x="9593627" y="-1"/>
            <a:ext cx="2598373" cy="681037"/>
          </a:xfrm>
          <a:prstGeom prst="rect">
            <a:avLst/>
          </a:prstGeom>
        </p:spPr>
      </p:pic>
      <p:sp>
        <p:nvSpPr>
          <p:cNvPr id="2" name="Title 1"/>
          <p:cNvSpPr>
            <a:spLocks noGrp="1"/>
          </p:cNvSpPr>
          <p:nvPr>
            <p:ph type="title"/>
          </p:nvPr>
        </p:nvSpPr>
        <p:spPr>
          <a:xfrm>
            <a:off x="367749" y="150607"/>
            <a:ext cx="11456504" cy="530430"/>
          </a:xfrm>
          <a:prstGeom prst="rect">
            <a:avLst/>
          </a:prstGeom>
        </p:spPr>
        <p:txBody>
          <a:bodyPr anchor="ctr"/>
          <a:lstStyle>
            <a:lvl1pPr>
              <a:defRPr sz="3200" b="1">
                <a:solidFill>
                  <a:schemeClr val="bg1"/>
                </a:solidFill>
                <a:latin typeface="Trebuchet MS" panose="020B0703020202090204"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367749" y="1172818"/>
            <a:ext cx="11456504" cy="5004146"/>
          </a:xfrm>
        </p:spPr>
        <p:txBody>
          <a:bodyPr>
            <a:normAutofit/>
          </a:bodyPr>
          <a:lstStyle>
            <a:lvl1pPr marL="228601" indent="-228601">
              <a:lnSpc>
                <a:spcPct val="150000"/>
              </a:lnSpc>
              <a:buFont typeface="Wingdings" pitchFamily="2" charset="2"/>
              <a:buChar char="§"/>
              <a:defRPr sz="2000" b="1">
                <a:latin typeface="Trebuchet MS" panose="020B0703020202090204" pitchFamily="34" charset="0"/>
              </a:defRPr>
            </a:lvl1pPr>
            <a:lvl2pPr marL="685803" indent="-228601">
              <a:lnSpc>
                <a:spcPct val="150000"/>
              </a:lnSpc>
              <a:buFont typeface="시스템 서체 일반체"/>
              <a:buChar char="-"/>
              <a:defRPr sz="1600">
                <a:latin typeface="Trebuchet MS" panose="020B0703020202090204" pitchFamily="34" charset="0"/>
              </a:defRPr>
            </a:lvl2pPr>
            <a:lvl3pPr>
              <a:lnSpc>
                <a:spcPct val="150000"/>
              </a:lnSpc>
              <a:defRPr sz="1400">
                <a:latin typeface="Trebuchet MS" panose="020B0703020202090204" pitchFamily="34" charset="0"/>
              </a:defRPr>
            </a:lvl3pPr>
            <a:lvl4pPr marL="1600206" indent="-228601">
              <a:lnSpc>
                <a:spcPct val="150000"/>
              </a:lnSpc>
              <a:buFont typeface="Trebuchet MS" panose="020B0603020202020204" pitchFamily="34" charset="0"/>
              <a:buChar char=":"/>
              <a:defRPr sz="1050">
                <a:latin typeface="Trebuchet MS" panose="020B0703020202090204" pitchFamily="34" charset="0"/>
              </a:defRPr>
            </a:lvl4pPr>
            <a:lvl5pPr marL="2057408" indent="-228601">
              <a:lnSpc>
                <a:spcPct val="150000"/>
              </a:lnSpc>
              <a:buFont typeface="Wingdings" panose="05000000000000000000" pitchFamily="2" charset="2"/>
              <a:buChar char="ü"/>
              <a:defRPr sz="1000">
                <a:latin typeface="Trebuchet MS" panose="020B070302020209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B74EEE4B-5648-1141-8DE7-F35CCED6ABC8}"/>
              </a:ext>
            </a:extLst>
          </p:cNvPr>
          <p:cNvSpPr>
            <a:spLocks noGrp="1"/>
          </p:cNvSpPr>
          <p:nvPr>
            <p:ph type="dt" sz="half" idx="10"/>
          </p:nvPr>
        </p:nvSpPr>
        <p:spPr>
          <a:xfrm>
            <a:off x="1016996" y="6598733"/>
            <a:ext cx="2564404" cy="213734"/>
          </a:xfrm>
          <a:prstGeom prst="rect">
            <a:avLst/>
          </a:prstGeom>
        </p:spPr>
        <p:txBody>
          <a:bodyPr/>
          <a:lstStyle>
            <a:lvl1pPr>
              <a:defRPr>
                <a:latin typeface="Trebuchet MS" panose="020B0703020202090204" pitchFamily="34" charset="0"/>
              </a:defRPr>
            </a:lvl1pPr>
          </a:lstStyle>
          <a:p>
            <a:r>
              <a:rPr lang="en-US" altLang="ko-KR"/>
              <a:t>2026-07-31</a:t>
            </a:r>
            <a:endParaRPr lang="en-US" dirty="0"/>
          </a:p>
        </p:txBody>
      </p:sp>
      <p:sp>
        <p:nvSpPr>
          <p:cNvPr id="14" name="Footer Placeholder 4">
            <a:extLst>
              <a:ext uri="{FF2B5EF4-FFF2-40B4-BE49-F238E27FC236}">
                <a16:creationId xmlns:a16="http://schemas.microsoft.com/office/drawing/2014/main" id="{B95CB966-C0B0-BF40-9B2D-EFD92EBA5955}"/>
              </a:ext>
            </a:extLst>
          </p:cNvPr>
          <p:cNvSpPr>
            <a:spLocks noGrp="1"/>
          </p:cNvSpPr>
          <p:nvPr>
            <p:ph type="ftr" sz="quarter" idx="11"/>
          </p:nvPr>
        </p:nvSpPr>
        <p:spPr>
          <a:xfrm>
            <a:off x="4038601" y="6598733"/>
            <a:ext cx="4114800" cy="213734"/>
          </a:xfrm>
          <a:prstGeom prst="rect">
            <a:avLst/>
          </a:prstGeom>
        </p:spPr>
        <p:txBody>
          <a:bodyPr/>
          <a:lstStyle>
            <a:lvl1pPr>
              <a:defRPr>
                <a:latin typeface="Trebuchet MS" panose="020B0703020202090204" pitchFamily="34" charset="0"/>
              </a:defRPr>
            </a:lvl1pPr>
          </a:lstStyle>
          <a:p>
            <a:endParaRPr lang="en-US" dirty="0"/>
          </a:p>
        </p:txBody>
      </p:sp>
      <p:sp>
        <p:nvSpPr>
          <p:cNvPr id="15" name="Slide Number Placeholder 5">
            <a:extLst>
              <a:ext uri="{FF2B5EF4-FFF2-40B4-BE49-F238E27FC236}">
                <a16:creationId xmlns:a16="http://schemas.microsoft.com/office/drawing/2014/main" id="{812EEE38-D0A6-0A45-82F8-581A904D7C8A}"/>
              </a:ext>
            </a:extLst>
          </p:cNvPr>
          <p:cNvSpPr>
            <a:spLocks noGrp="1"/>
          </p:cNvSpPr>
          <p:nvPr>
            <p:ph type="sldNum" sz="quarter" idx="12"/>
          </p:nvPr>
        </p:nvSpPr>
        <p:spPr>
          <a:xfrm>
            <a:off x="9006309" y="6598733"/>
            <a:ext cx="3110345" cy="213734"/>
          </a:xfrm>
          <a:prstGeom prst="rect">
            <a:avLst/>
          </a:prstGeom>
        </p:spPr>
        <p:txBody>
          <a:bodyPr/>
          <a:lstStyle>
            <a:lvl1pPr>
              <a:defRPr>
                <a:latin typeface="Trebuchet MS" panose="020B0703020202090204" pitchFamily="34" charset="0"/>
              </a:defRPr>
            </a:lvl1pPr>
          </a:lstStyle>
          <a:p>
            <a:r>
              <a:rPr lang="en-US" altLang="ko-KR" dirty="0"/>
              <a:t>Sang-Jun Moon | </a:t>
            </a:r>
            <a:r>
              <a:rPr lang="en-US" altLang="ko-KR" dirty="0">
                <a:solidFill>
                  <a:prstClr val="black">
                    <a:tint val="75000"/>
                  </a:prstClr>
                </a:solidFill>
              </a:rPr>
              <a:t>AICA Lab Meeting</a:t>
            </a:r>
            <a:r>
              <a:rPr lang="en-US" altLang="ko-KR" dirty="0"/>
              <a:t> | </a:t>
            </a:r>
            <a:fld id="{48F63A3B-78C7-47BE-AE5E-E10140E04643}" type="slidenum">
              <a:rPr lang="en-US" smtClean="0"/>
              <a:pPr/>
              <a:t>‹#›</a:t>
            </a:fld>
            <a:endParaRPr lang="en-US" dirty="0"/>
          </a:p>
        </p:txBody>
      </p:sp>
      <p:grpSp>
        <p:nvGrpSpPr>
          <p:cNvPr id="4" name="그룹 3">
            <a:extLst>
              <a:ext uri="{FF2B5EF4-FFF2-40B4-BE49-F238E27FC236}">
                <a16:creationId xmlns:a16="http://schemas.microsoft.com/office/drawing/2014/main" id="{AF465BD3-D334-A698-AE1D-AAE802C779D9}"/>
              </a:ext>
            </a:extLst>
          </p:cNvPr>
          <p:cNvGrpSpPr/>
          <p:nvPr userDrawn="1"/>
        </p:nvGrpSpPr>
        <p:grpSpPr>
          <a:xfrm>
            <a:off x="135856" y="6450684"/>
            <a:ext cx="899987" cy="323081"/>
            <a:chOff x="5976117" y="116467"/>
            <a:chExt cx="4341047" cy="1559914"/>
          </a:xfrm>
        </p:grpSpPr>
        <p:sp>
          <p:nvSpPr>
            <p:cNvPr id="5" name="사각형: 둥근 모서리 4">
              <a:extLst>
                <a:ext uri="{FF2B5EF4-FFF2-40B4-BE49-F238E27FC236}">
                  <a16:creationId xmlns:a16="http://schemas.microsoft.com/office/drawing/2014/main" id="{09E45834-AE31-A9B9-9BE3-8876DD4BFA7F}"/>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 name="사각형: 둥근 모서리 5">
              <a:extLst>
                <a:ext uri="{FF2B5EF4-FFF2-40B4-BE49-F238E27FC236}">
                  <a16:creationId xmlns:a16="http://schemas.microsoft.com/office/drawing/2014/main" id="{09BE6CC6-B0C2-D1F8-C568-1636306F8597}"/>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34">
              <a:extLst>
                <a:ext uri="{FF2B5EF4-FFF2-40B4-BE49-F238E27FC236}">
                  <a16:creationId xmlns:a16="http://schemas.microsoft.com/office/drawing/2014/main" id="{372FB6C3-D418-1840-6AE7-B37D603006F2}"/>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19B36722-692B-8A85-ABBD-C0C3519B7975}"/>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27978080-5DA3-C7AF-D53C-7B04AA55674D}"/>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D2E2207A-833C-96F1-DDEA-EAD252C6E34C}"/>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34">
              <a:extLst>
                <a:ext uri="{FF2B5EF4-FFF2-40B4-BE49-F238E27FC236}">
                  <a16:creationId xmlns:a16="http://schemas.microsoft.com/office/drawing/2014/main" id="{B9063DDA-A961-FAC9-63D8-26984466EFA9}"/>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9449855F-497C-8550-D86C-A828CBDE267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1476E7BE-7201-2BAA-2109-35756C4E0B96}"/>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B59F5F96-C357-E1E5-2993-D5FD41332B5F}"/>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DB242B9F-572D-693F-C111-AAC93D5DB279}"/>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160EE91-D1F0-219D-E7ED-4A5F2BBB074B}"/>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055F6797-B96E-6564-AB39-222EF22DE18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22">
              <a:extLst>
                <a:ext uri="{FF2B5EF4-FFF2-40B4-BE49-F238E27FC236}">
                  <a16:creationId xmlns:a16="http://schemas.microsoft.com/office/drawing/2014/main" id="{5C206942-3972-3DDD-C25C-F55CC59874CB}"/>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48">
              <a:extLst>
                <a:ext uri="{FF2B5EF4-FFF2-40B4-BE49-F238E27FC236}">
                  <a16:creationId xmlns:a16="http://schemas.microsoft.com/office/drawing/2014/main" id="{45C36541-3C29-52C7-87AA-2CE2ECC800FB}"/>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D08F501E-0785-E0FC-C8AB-E929D4BE4665}"/>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6670ADF1-C53B-D670-DE1C-F0C3990DDD82}"/>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728DC771-DBFE-4F81-F2CA-992EBFCE0D41}"/>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3D8C4B1D-A6E0-AEF3-4AED-22807E641D72}"/>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28">
              <a:extLst>
                <a:ext uri="{FF2B5EF4-FFF2-40B4-BE49-F238E27FC236}">
                  <a16:creationId xmlns:a16="http://schemas.microsoft.com/office/drawing/2014/main" id="{74FAB4B6-B9C7-9AEC-57FF-C2E4371644E2}"/>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48">
              <a:extLst>
                <a:ext uri="{FF2B5EF4-FFF2-40B4-BE49-F238E27FC236}">
                  <a16:creationId xmlns:a16="http://schemas.microsoft.com/office/drawing/2014/main" id="{E70AF9CE-687E-9C42-5294-C1A0274A53D2}"/>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552996F6-B24D-378B-A68E-04BDE56A165D}"/>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2" name="사각형: 둥근 모서리 31">
              <a:extLst>
                <a:ext uri="{FF2B5EF4-FFF2-40B4-BE49-F238E27FC236}">
                  <a16:creationId xmlns:a16="http://schemas.microsoft.com/office/drawing/2014/main" id="{C7522EE9-1A44-8DCD-2F6A-7CD0BF51F0FD}"/>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6997598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128682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736D39C-E17C-A364-3719-16AC7911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EE6840F-8B5F-3FBD-6419-8AFE6AC60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70AEC86-6903-7FA5-5907-91F1DC80D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620C5AA7-AF4B-27BC-291C-EB359758B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0BDF7195-719B-0ADE-61C3-943AD6227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79803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5E567E6-AE26-4E8E-B312-C95BB81BBEF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30C5C33-B2C4-4686-B825-1347A5F7C4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6300B2AC-F741-4F9D-88DA-C2BBCD28AA5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82A871F7-7716-4B35-B16F-5215D47AEF08}"/>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16B17825-BD73-4B44-AE33-E311A76C2B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D3D6F-2C60-4B7A-8BF3-E953E669A38A}" type="slidenum">
              <a:rPr lang="ko-KR" altLang="en-US" smtClean="0"/>
              <a:t>‹#›</a:t>
            </a:fld>
            <a:endParaRPr lang="ko-KR" altLang="en-US"/>
          </a:p>
        </p:txBody>
      </p:sp>
    </p:spTree>
    <p:extLst>
      <p:ext uri="{BB962C8B-B14F-4D97-AF65-F5344CB8AC3E}">
        <p14:creationId xmlns:p14="http://schemas.microsoft.com/office/powerpoint/2010/main" val="152977140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hdr="0" ftr="0"/>
  <p:txStyles>
    <p:titleStyle>
      <a:lvl1pPr algn="l" defTabSz="914404"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1" indent="-228601" algn="l" defTabSz="914404"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3" indent="-228601" algn="l" defTabSz="914404"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5" indent="-228601" algn="l" defTabSz="914404"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8"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10"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12"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14"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1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4" rtl="0" eaLnBrk="1" latinLnBrk="1" hangingPunct="1">
        <a:defRPr sz="1800" kern="1200">
          <a:solidFill>
            <a:schemeClr val="tx1"/>
          </a:solidFill>
          <a:latin typeface="+mn-lt"/>
          <a:ea typeface="+mn-ea"/>
          <a:cs typeface="+mn-cs"/>
        </a:defRPr>
      </a:lvl1pPr>
      <a:lvl2pPr marL="457202" algn="l" defTabSz="914404" rtl="0" eaLnBrk="1" latinLnBrk="1" hangingPunct="1">
        <a:defRPr sz="1800" kern="1200">
          <a:solidFill>
            <a:schemeClr val="tx1"/>
          </a:solidFill>
          <a:latin typeface="+mn-lt"/>
          <a:ea typeface="+mn-ea"/>
          <a:cs typeface="+mn-cs"/>
        </a:defRPr>
      </a:lvl2pPr>
      <a:lvl3pPr marL="914404" algn="l" defTabSz="914404" rtl="0" eaLnBrk="1" latinLnBrk="1" hangingPunct="1">
        <a:defRPr sz="1800" kern="1200">
          <a:solidFill>
            <a:schemeClr val="tx1"/>
          </a:solidFill>
          <a:latin typeface="+mn-lt"/>
          <a:ea typeface="+mn-ea"/>
          <a:cs typeface="+mn-cs"/>
        </a:defRPr>
      </a:lvl3pPr>
      <a:lvl4pPr marL="1371605" algn="l" defTabSz="914404" rtl="0" eaLnBrk="1" latinLnBrk="1" hangingPunct="1">
        <a:defRPr sz="1800" kern="1200">
          <a:solidFill>
            <a:schemeClr val="tx1"/>
          </a:solidFill>
          <a:latin typeface="+mn-lt"/>
          <a:ea typeface="+mn-ea"/>
          <a:cs typeface="+mn-cs"/>
        </a:defRPr>
      </a:lvl4pPr>
      <a:lvl5pPr marL="1828807" algn="l" defTabSz="914404" rtl="0" eaLnBrk="1" latinLnBrk="1" hangingPunct="1">
        <a:defRPr sz="1800" kern="1200">
          <a:solidFill>
            <a:schemeClr val="tx1"/>
          </a:solidFill>
          <a:latin typeface="+mn-lt"/>
          <a:ea typeface="+mn-ea"/>
          <a:cs typeface="+mn-cs"/>
        </a:defRPr>
      </a:lvl5pPr>
      <a:lvl6pPr marL="2286009" algn="l" defTabSz="914404" rtl="0" eaLnBrk="1" latinLnBrk="1" hangingPunct="1">
        <a:defRPr sz="1800" kern="1200">
          <a:solidFill>
            <a:schemeClr val="tx1"/>
          </a:solidFill>
          <a:latin typeface="+mn-lt"/>
          <a:ea typeface="+mn-ea"/>
          <a:cs typeface="+mn-cs"/>
        </a:defRPr>
      </a:lvl6pPr>
      <a:lvl7pPr marL="2743211" algn="l" defTabSz="914404" rtl="0" eaLnBrk="1" latinLnBrk="1" hangingPunct="1">
        <a:defRPr sz="1800" kern="1200">
          <a:solidFill>
            <a:schemeClr val="tx1"/>
          </a:solidFill>
          <a:latin typeface="+mn-lt"/>
          <a:ea typeface="+mn-ea"/>
          <a:cs typeface="+mn-cs"/>
        </a:defRPr>
      </a:lvl7pPr>
      <a:lvl8pPr marL="3200413" algn="l" defTabSz="914404" rtl="0" eaLnBrk="1" latinLnBrk="1" hangingPunct="1">
        <a:defRPr sz="1800" kern="1200">
          <a:solidFill>
            <a:schemeClr val="tx1"/>
          </a:solidFill>
          <a:latin typeface="+mn-lt"/>
          <a:ea typeface="+mn-ea"/>
          <a:cs typeface="+mn-cs"/>
        </a:defRPr>
      </a:lvl8pPr>
      <a:lvl9pPr marL="3657615" algn="l" defTabSz="914404"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E8A260-966E-CEEB-B2DB-29375CB554B9}"/>
              </a:ext>
            </a:extLst>
          </p:cNvPr>
          <p:cNvSpPr>
            <a:spLocks noGrp="1"/>
          </p:cNvSpPr>
          <p:nvPr>
            <p:ph type="ctrTitle"/>
          </p:nvPr>
        </p:nvSpPr>
        <p:spPr>
          <a:xfrm>
            <a:off x="1524000" y="2506243"/>
            <a:ext cx="9144000" cy="855184"/>
          </a:xfrm>
        </p:spPr>
        <p:txBody>
          <a:bodyPr>
            <a:noAutofit/>
          </a:bodyPr>
          <a:lstStyle/>
          <a:p>
            <a:r>
              <a:rPr lang="en-US" altLang="ko-KR" sz="3200" dirty="0"/>
              <a:t>Week 5. Attention: 원문을 다시 찾아보기</a:t>
            </a:r>
            <a:endParaRPr lang="ko-KR" altLang="en-US" sz="3200" dirty="0"/>
          </a:p>
        </p:txBody>
      </p:sp>
      <p:sp>
        <p:nvSpPr>
          <p:cNvPr id="3" name="부제목 2">
            <a:extLst>
              <a:ext uri="{FF2B5EF4-FFF2-40B4-BE49-F238E27FC236}">
                <a16:creationId xmlns:a16="http://schemas.microsoft.com/office/drawing/2014/main" id="{3D781DF1-B9BC-46C6-B822-1CB5D8F2272D}"/>
              </a:ext>
            </a:extLst>
          </p:cNvPr>
          <p:cNvSpPr>
            <a:spLocks noGrp="1"/>
          </p:cNvSpPr>
          <p:nvPr>
            <p:ph type="subTitle" idx="1"/>
          </p:nvPr>
        </p:nvSpPr>
        <p:spPr>
          <a:xfrm>
            <a:off x="1537062" y="3602039"/>
            <a:ext cx="9144000" cy="1655762"/>
          </a:xfrm>
        </p:spPr>
        <p:txBody>
          <a:bodyPr/>
          <a:lstStyle/>
          <a:p>
            <a:pPr>
              <a:lnSpc>
                <a:spcPct val="100000"/>
              </a:lnSpc>
              <a:spcBef>
                <a:spcPts val="0"/>
              </a:spcBef>
              <a:defRPr/>
            </a:pPr>
            <a:r>
              <a:rPr lang="en-US" altLang="ko-KR" dirty="0">
                <a:ea typeface="맑은 고딕" panose="020B0503020000020004" pitchFamily="50" charset="-127"/>
                <a:cs typeface="Calibri" panose="020F0502020204030204" pitchFamily="34" charset="0"/>
              </a:rPr>
              <a:t>Yun-Hong Min</a:t>
            </a:r>
          </a:p>
          <a:p>
            <a:pPr>
              <a:lnSpc>
                <a:spcPct val="100000"/>
              </a:lnSpc>
              <a:spcBef>
                <a:spcPts val="0"/>
              </a:spcBef>
              <a:defRPr/>
            </a:pPr>
            <a:r>
              <a:rPr lang="en-US" altLang="ko-KR" dirty="0">
                <a:ea typeface="맑은 고딕" panose="020B0503020000020004" pitchFamily="50" charset="-127"/>
                <a:cs typeface="Calibri" panose="020F0502020204030204" pitchFamily="34" charset="0"/>
              </a:rPr>
              <a:t>(picomin1027@gmail.com)</a:t>
            </a:r>
            <a:endParaRPr lang="ko-KR" altLang="en-US" dirty="0"/>
          </a:p>
        </p:txBody>
      </p:sp>
      <p:sp>
        <p:nvSpPr>
          <p:cNvPr id="4" name="내용 개체 틀 3">
            <a:extLst>
              <a:ext uri="{FF2B5EF4-FFF2-40B4-BE49-F238E27FC236}">
                <a16:creationId xmlns:a16="http://schemas.microsoft.com/office/drawing/2014/main" id="{A71A4431-2231-1E65-66CF-DEB583250F5E}"/>
              </a:ext>
            </a:extLst>
          </p:cNvPr>
          <p:cNvSpPr>
            <a:spLocks noGrp="1"/>
          </p:cNvSpPr>
          <p:nvPr>
            <p:ph sz="quarter" idx="10"/>
          </p:nvPr>
        </p:nvSpPr>
        <p:spPr/>
        <p:txBody>
          <a:bodyPr/>
          <a:lstStyle/>
          <a:p>
            <a:r>
              <a:rPr lang="en-US" altLang="ko-KR" dirty="0"/>
              <a:t>AI Zero 2 Transformer</a:t>
            </a:r>
            <a:endParaRPr lang="ko-KR" altLang="en-US" dirty="0"/>
          </a:p>
        </p:txBody>
      </p:sp>
    </p:spTree>
    <p:extLst>
      <p:ext uri="{BB962C8B-B14F-4D97-AF65-F5344CB8AC3E}">
        <p14:creationId xmlns:p14="http://schemas.microsoft.com/office/powerpoint/2010/main" val="414700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116ECB-EA11-2EAA-88FA-7B43A1F5A66F}"/>
              </a:ext>
            </a:extLst>
          </p:cNvPr>
          <p:cNvSpPr>
            <a:spLocks noGrp="1"/>
          </p:cNvSpPr>
          <p:nvPr>
            <p:ph type="ctrTitle"/>
          </p:nvPr>
        </p:nvSpPr>
        <p:spPr/>
        <p:txBody>
          <a:bodyPr/>
          <a:lstStyle/>
          <a:p>
            <a:r>
              <a:rPr lang="en-US" altLang="ko-KR"/>
              <a:t>Question ?</a:t>
            </a:r>
            <a:endParaRPr lang="ko-KR" altLang="en-US"/>
          </a:p>
        </p:txBody>
      </p:sp>
      <p:sp>
        <p:nvSpPr>
          <p:cNvPr id="3" name="텍스트 개체 틀 2">
            <a:extLst>
              <a:ext uri="{FF2B5EF4-FFF2-40B4-BE49-F238E27FC236}">
                <a16:creationId xmlns:a16="http://schemas.microsoft.com/office/drawing/2014/main" id="{A8D9C941-A705-0CAA-855B-4FB547507C02}"/>
              </a:ext>
            </a:extLst>
          </p:cNvPr>
          <p:cNvSpPr>
            <a:spLocks noGrp="1"/>
          </p:cNvSpPr>
          <p:nvPr>
            <p:ph type="body" sz="quarter" idx="10"/>
          </p:nvPr>
        </p:nvSpPr>
        <p:spPr>
          <a:xfrm>
            <a:off x="1197391" y="6261267"/>
            <a:ext cx="3896261" cy="385267"/>
          </a:xfrm>
        </p:spPr>
        <p:txBody>
          <a:bodyPr vert="horz" lIns="91440" tIns="45720" rIns="91440" bIns="45720" rtlCol="0" anchor="t">
            <a:noAutofit/>
          </a:bodyPr>
          <a:lstStyle/>
          <a:p>
            <a:r>
              <a:rPr lang="en-US" altLang="ko-KR" dirty="0">
                <a:latin typeface="Trebuchet MS"/>
                <a:ea typeface="맑은 고딕"/>
              </a:rPr>
              <a:t>E-mail: picomin1027@gmail.com</a:t>
            </a:r>
            <a:endParaRPr lang="ko-KR" altLang="en-US" dirty="0">
              <a:latin typeface="Trebuchet MS"/>
              <a:ea typeface="맑은 고딕"/>
            </a:endParaRPr>
          </a:p>
        </p:txBody>
      </p:sp>
    </p:spTree>
    <p:extLst>
      <p:ext uri="{BB962C8B-B14F-4D97-AF65-F5344CB8AC3E}">
        <p14:creationId xmlns:p14="http://schemas.microsoft.com/office/powerpoint/2010/main" val="395950946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Week 5 · 이번 주의 질문</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필요할 때 원문을</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다시 찾아보면?</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2014–2017 · Attention · Self-attention · Q/K/V · Multi-head · 위치 정보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지난 주에서 이번 주로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매 주는 지난 주가 남긴 문제에서 출발한다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sp>
        <p:nvSpPr>
          <p:cNvPr id="9" name="Rounded Rectangle 8"/>
          <p:cNvSpPr/>
          <p:nvPr/>
        </p:nvSpPr>
        <p:spPr>
          <a:xfrm>
            <a:off x="457200" y="1591056"/>
            <a:ext cx="3422904" cy="3840480"/>
          </a:xfrm>
          <a:prstGeom prst="roundRect">
            <a:avLst>
              <a:gd name="adj" fmla="val 2671"/>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82496"/>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지난 주에 배운 것</a:t>
            </a:r>
          </a:p>
        </p:txBody>
      </p:sp>
      <p:sp>
        <p:nvSpPr>
          <p:cNvPr id="11" name="TextBox 10"/>
          <p:cNvSpPr txBox="1"/>
          <p:nvPr/>
        </p:nvSpPr>
        <p:spPr>
          <a:xfrm>
            <a:off x="548640" y="2124456"/>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문장을 토큰·임베딩으로</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RNN · LSTM으로 순서와 기억</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Seq2Seq: Encoder → </a:t>
            </a:r>
            <a:r>
              <a:rPr sz="1800" b="1">
                <a:solidFill>
                  <a:srgbClr val="1B2A36"/>
                </a:solidFill>
                <a:latin typeface="맑은 고딕"/>
                <a:ea typeface="맑은 고딕"/>
                <a:cs typeface="맑은 고딕"/>
              </a:rPr>
              <a:t>c</a:t>
            </a:r>
            <a:r>
              <a:rPr sz="1800" b="0">
                <a:solidFill>
                  <a:srgbClr val="1B2A36"/>
                </a:solidFill>
                <a:latin typeface="맑은 고딕"/>
                <a:ea typeface="맑은 고딕"/>
                <a:cs typeface="맑은 고딕"/>
              </a:rPr>
              <a:t> → Decoder</a:t>
            </a:r>
          </a:p>
        </p:txBody>
      </p:sp>
      <p:cxnSp>
        <p:nvCxnSpPr>
          <p:cNvPr id="12" name="Connector 11"/>
          <p:cNvCxnSpPr/>
          <p:nvPr/>
        </p:nvCxnSpPr>
        <p:spPr>
          <a:xfrm>
            <a:off x="3925824" y="3511296"/>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3024" y="1591056"/>
            <a:ext cx="3422904" cy="3840480"/>
          </a:xfrm>
          <a:prstGeom prst="roundRect">
            <a:avLst>
              <a:gd name="adj" fmla="val 2671"/>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4464" y="1682496"/>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E97132"/>
                </a:solidFill>
                <a:latin typeface="맑은 고딕"/>
                <a:ea typeface="맑은 고딕"/>
                <a:cs typeface="맑은 고딕"/>
              </a:rPr>
              <a:t>아직 풀리지 않은 문제</a:t>
            </a:r>
          </a:p>
        </p:txBody>
      </p:sp>
      <p:sp>
        <p:nvSpPr>
          <p:cNvPr id="15" name="TextBox 14"/>
          <p:cNvSpPr txBox="1"/>
          <p:nvPr/>
        </p:nvSpPr>
        <p:spPr>
          <a:xfrm>
            <a:off x="4474464" y="2124456"/>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모든 입력을 </a:t>
            </a:r>
            <a:r>
              <a:rPr sz="1800" b="1">
                <a:solidFill>
                  <a:srgbClr val="1B2A36"/>
                </a:solidFill>
                <a:latin typeface="맑은 고딕"/>
                <a:ea typeface="맑은 고딕"/>
                <a:cs typeface="맑은 고딕"/>
              </a:rPr>
              <a:t>고정 벡터 c 하나</a:t>
            </a:r>
            <a:r>
              <a:rPr sz="1800" b="0">
                <a:solidFill>
                  <a:srgbClr val="1B2A36"/>
                </a:solidFill>
                <a:latin typeface="맑은 고딕"/>
                <a:ea typeface="맑은 고딕"/>
                <a:cs typeface="맑은 고딕"/>
              </a:rPr>
              <a:t>로 압축 — 병목</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h_t는 h_(t−1)이 필요 — </a:t>
            </a:r>
            <a:r>
              <a:rPr sz="1800" b="1">
                <a:solidFill>
                  <a:srgbClr val="1B2A36"/>
                </a:solidFill>
                <a:latin typeface="맑은 고딕"/>
                <a:ea typeface="맑은 고딕"/>
                <a:cs typeface="맑은 고딕"/>
              </a:rPr>
              <a:t>순차 계산</a:t>
            </a:r>
          </a:p>
        </p:txBody>
      </p:sp>
      <p:cxnSp>
        <p:nvCxnSpPr>
          <p:cNvPr id="16" name="Connector 15"/>
          <p:cNvCxnSpPr/>
          <p:nvPr/>
        </p:nvCxnSpPr>
        <p:spPr>
          <a:xfrm>
            <a:off x="7851648" y="3511296"/>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08848" y="1591056"/>
            <a:ext cx="3422904" cy="3840480"/>
          </a:xfrm>
          <a:prstGeom prst="roundRect">
            <a:avLst>
              <a:gd name="adj" fmla="val 2671"/>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00288" y="1682496"/>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이번 주의 질문</a:t>
            </a:r>
          </a:p>
        </p:txBody>
      </p:sp>
      <p:sp>
        <p:nvSpPr>
          <p:cNvPr id="19" name="TextBox 18"/>
          <p:cNvSpPr txBox="1"/>
          <p:nvPr/>
        </p:nvSpPr>
        <p:spPr>
          <a:xfrm>
            <a:off x="8400288" y="2124456"/>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1">
                <a:solidFill>
                  <a:srgbClr val="FFFFFF"/>
                </a:solidFill>
                <a:latin typeface="맑은 고딕"/>
                <a:ea typeface="맑은 고딕"/>
                <a:cs typeface="맑은 고딕"/>
              </a:rPr>
              <a:t>필요할 때 원문을 다시 찾아보면?</a:t>
            </a:r>
          </a:p>
          <a:p>
            <a:pPr algn="ctr" marL="0" indent="0">
              <a:lnSpc>
                <a:spcPct val="110000"/>
              </a:lnSpc>
              <a:spcBef>
                <a:spcPts val="0"/>
              </a:spcBef>
              <a:spcAft>
                <a:spcPts val="450"/>
              </a:spcAft>
              <a:buNone/>
            </a:pPr>
            <a:r>
              <a:rPr sz="1800" b="0">
                <a:solidFill>
                  <a:srgbClr val="FFFFFF"/>
                </a:solidFill>
                <a:latin typeface="맑은 고딕"/>
                <a:ea typeface="맑은 고딕"/>
                <a:cs typeface="맑은 고딕"/>
              </a:rPr>
              <a:t>그리고 그것을 모델의 </a:t>
            </a:r>
            <a:r>
              <a:rPr sz="1800" b="1">
                <a:solidFill>
                  <a:srgbClr val="FFFFFF"/>
                </a:solidFill>
                <a:latin typeface="맑은 고딕"/>
                <a:ea typeface="맑은 고딕"/>
                <a:cs typeface="맑은 고딕"/>
              </a:rPr>
              <a:t>본체</a:t>
            </a:r>
            <a:r>
              <a:rPr sz="1800" b="0">
                <a:solidFill>
                  <a:srgbClr val="FFFFFF"/>
                </a:solidFill>
                <a:latin typeface="맑은 고딕"/>
                <a:ea typeface="맑은 고딕"/>
                <a:cs typeface="맑은 고딕"/>
              </a:rPr>
              <a:t>로 쓰면?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지도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여섯 질문 중 5번째 — 오늘의 순서와 목표</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sp>
        <p:nvSpPr>
          <p:cNvPr id="9" name="Rounded Rectangle 8"/>
          <p:cNvSpPr/>
          <p:nvPr/>
        </p:nvSpPr>
        <p:spPr>
          <a:xfrm>
            <a:off x="45720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1</a:t>
            </a:r>
          </a:p>
        </p:txBody>
      </p:sp>
      <p:sp>
        <p:nvSpPr>
          <p:cNvPr id="11" name="TextBox 10"/>
          <p:cNvSpPr txBox="1"/>
          <p:nvPr/>
        </p:nvSpPr>
        <p:spPr>
          <a:xfrm>
            <a:off x="53035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배울 수 있을까?</a:t>
            </a:r>
          </a:p>
        </p:txBody>
      </p:sp>
      <p:sp>
        <p:nvSpPr>
          <p:cNvPr id="12" name="TextBox 11"/>
          <p:cNvSpPr txBox="1"/>
          <p:nvPr/>
        </p:nvSpPr>
        <p:spPr>
          <a:xfrm>
            <a:off x="53035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01688F"/>
                </a:solidFill>
                <a:latin typeface="맑은 고딕"/>
                <a:ea typeface="맑은 고딕"/>
                <a:cs typeface="맑은 고딕"/>
              </a:rPr>
              <a:t>Tensor · 학습</a:t>
            </a:r>
          </a:p>
        </p:txBody>
      </p:sp>
      <p:sp>
        <p:nvSpPr>
          <p:cNvPr id="13" name="TextBox 12"/>
          <p:cNvSpPr txBox="1"/>
          <p:nvPr/>
        </p:nvSpPr>
        <p:spPr>
          <a:xfrm>
            <a:off x="53035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1943–1958</a:t>
            </a:r>
          </a:p>
        </p:txBody>
      </p:sp>
      <p:cxnSp>
        <p:nvCxnSpPr>
          <p:cNvPr id="14" name="Connector 13"/>
          <p:cNvCxnSpPr/>
          <p:nvPr/>
        </p:nvCxnSpPr>
        <p:spPr>
          <a:xfrm>
            <a:off x="218694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36982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4297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2</a:t>
            </a:r>
          </a:p>
        </p:txBody>
      </p:sp>
      <p:sp>
        <p:nvSpPr>
          <p:cNvPr id="17" name="TextBox 16"/>
          <p:cNvSpPr txBox="1"/>
          <p:nvPr/>
        </p:nvSpPr>
        <p:spPr>
          <a:xfrm>
            <a:off x="244297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직선으로 안 되면?</a:t>
            </a:r>
          </a:p>
        </p:txBody>
      </p:sp>
      <p:sp>
        <p:nvSpPr>
          <p:cNvPr id="18" name="TextBox 17"/>
          <p:cNvSpPr txBox="1"/>
          <p:nvPr/>
        </p:nvSpPr>
        <p:spPr>
          <a:xfrm>
            <a:off x="244297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01688F"/>
                </a:solidFill>
                <a:latin typeface="맑은 고딕"/>
                <a:ea typeface="맑은 고딕"/>
                <a:cs typeface="맑은 고딕"/>
              </a:rPr>
              <a:t>Perceptron · MLP</a:t>
            </a:r>
          </a:p>
        </p:txBody>
      </p:sp>
      <p:sp>
        <p:nvSpPr>
          <p:cNvPr id="19" name="TextBox 18"/>
          <p:cNvSpPr txBox="1"/>
          <p:nvPr/>
        </p:nvSpPr>
        <p:spPr>
          <a:xfrm>
            <a:off x="244297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1958–1986</a:t>
            </a:r>
          </a:p>
        </p:txBody>
      </p:sp>
      <p:cxnSp>
        <p:nvCxnSpPr>
          <p:cNvPr id="20" name="Connector 19"/>
          <p:cNvCxnSpPr/>
          <p:nvPr/>
        </p:nvCxnSpPr>
        <p:spPr>
          <a:xfrm>
            <a:off x="409956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28244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5559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3</a:t>
            </a:r>
          </a:p>
        </p:txBody>
      </p:sp>
      <p:sp>
        <p:nvSpPr>
          <p:cNvPr id="23" name="TextBox 22"/>
          <p:cNvSpPr txBox="1"/>
          <p:nvPr/>
        </p:nvSpPr>
        <p:spPr>
          <a:xfrm>
            <a:off x="435559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공간 · 깊이는?</a:t>
            </a:r>
          </a:p>
        </p:txBody>
      </p:sp>
      <p:sp>
        <p:nvSpPr>
          <p:cNvPr id="24" name="TextBox 23"/>
          <p:cNvSpPr txBox="1"/>
          <p:nvPr/>
        </p:nvSpPr>
        <p:spPr>
          <a:xfrm>
            <a:off x="435559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01688F"/>
                </a:solidFill>
                <a:latin typeface="맑은 고딕"/>
                <a:ea typeface="맑은 고딕"/>
                <a:cs typeface="맑은 고딕"/>
              </a:rPr>
              <a:t>CNN · ResNet</a:t>
            </a:r>
          </a:p>
        </p:txBody>
      </p:sp>
      <p:sp>
        <p:nvSpPr>
          <p:cNvPr id="25" name="TextBox 24"/>
          <p:cNvSpPr txBox="1"/>
          <p:nvPr/>
        </p:nvSpPr>
        <p:spPr>
          <a:xfrm>
            <a:off x="435559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1989–2016</a:t>
            </a:r>
          </a:p>
        </p:txBody>
      </p:sp>
      <p:cxnSp>
        <p:nvCxnSpPr>
          <p:cNvPr id="26" name="Connector 25"/>
          <p:cNvCxnSpPr/>
          <p:nvPr/>
        </p:nvCxnSpPr>
        <p:spPr>
          <a:xfrm>
            <a:off x="601218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19506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821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4</a:t>
            </a:r>
          </a:p>
        </p:txBody>
      </p:sp>
      <p:sp>
        <p:nvSpPr>
          <p:cNvPr id="29" name="TextBox 28"/>
          <p:cNvSpPr txBox="1"/>
          <p:nvPr/>
        </p:nvSpPr>
        <p:spPr>
          <a:xfrm>
            <a:off x="626821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먼 정보를 기억하려면?</a:t>
            </a:r>
          </a:p>
        </p:txBody>
      </p:sp>
      <p:sp>
        <p:nvSpPr>
          <p:cNvPr id="30" name="TextBox 29"/>
          <p:cNvSpPr txBox="1"/>
          <p:nvPr/>
        </p:nvSpPr>
        <p:spPr>
          <a:xfrm>
            <a:off x="626821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900" b="0">
                <a:solidFill>
                  <a:srgbClr val="01688F"/>
                </a:solidFill>
                <a:latin typeface="맑은 고딕"/>
                <a:ea typeface="맑은 고딕"/>
                <a:cs typeface="맑은 고딕"/>
              </a:rPr>
              <a:t>RNN · LSTM · Seq2Seq</a:t>
            </a:r>
          </a:p>
        </p:txBody>
      </p:sp>
      <p:sp>
        <p:nvSpPr>
          <p:cNvPr id="31" name="TextBox 30"/>
          <p:cNvSpPr txBox="1"/>
          <p:nvPr/>
        </p:nvSpPr>
        <p:spPr>
          <a:xfrm>
            <a:off x="626821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1986–2014</a:t>
            </a:r>
          </a:p>
        </p:txBody>
      </p:sp>
      <p:cxnSp>
        <p:nvCxnSpPr>
          <p:cNvPr id="32" name="Connector 31"/>
          <p:cNvCxnSpPr/>
          <p:nvPr/>
        </p:nvCxnSpPr>
        <p:spPr>
          <a:xfrm>
            <a:off x="7924799" y="2345436"/>
            <a:ext cx="164593"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107680" y="1408176"/>
            <a:ext cx="1711452" cy="1874519"/>
          </a:xfrm>
          <a:prstGeom prst="roundRect">
            <a:avLst>
              <a:gd name="adj" fmla="val 5342"/>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083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Week 5</a:t>
            </a:r>
          </a:p>
        </p:txBody>
      </p:sp>
      <p:sp>
        <p:nvSpPr>
          <p:cNvPr id="35" name="TextBox 34"/>
          <p:cNvSpPr txBox="1"/>
          <p:nvPr/>
        </p:nvSpPr>
        <p:spPr>
          <a:xfrm>
            <a:off x="818083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원문을 다시 보면?</a:t>
            </a:r>
          </a:p>
        </p:txBody>
      </p:sp>
      <p:sp>
        <p:nvSpPr>
          <p:cNvPr id="36" name="TextBox 35"/>
          <p:cNvSpPr txBox="1"/>
          <p:nvPr/>
        </p:nvSpPr>
        <p:spPr>
          <a:xfrm>
            <a:off x="818083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FFFFFF"/>
                </a:solidFill>
                <a:latin typeface="맑은 고딕"/>
                <a:ea typeface="맑은 고딕"/>
                <a:cs typeface="맑은 고딕"/>
              </a:rPr>
              <a:t>Attention</a:t>
            </a:r>
          </a:p>
        </p:txBody>
      </p:sp>
      <p:sp>
        <p:nvSpPr>
          <p:cNvPr id="37" name="TextBox 36"/>
          <p:cNvSpPr txBox="1"/>
          <p:nvPr/>
        </p:nvSpPr>
        <p:spPr>
          <a:xfrm>
            <a:off x="818083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FFFFFF"/>
                </a:solidFill>
                <a:latin typeface="맑은 고딕"/>
                <a:ea typeface="맑은 고딕"/>
                <a:cs typeface="맑은 고딕"/>
              </a:rPr>
              <a:t>2014–2017</a:t>
            </a:r>
          </a:p>
        </p:txBody>
      </p:sp>
      <p:cxnSp>
        <p:nvCxnSpPr>
          <p:cNvPr id="38" name="Connector 37"/>
          <p:cNvCxnSpPr/>
          <p:nvPr/>
        </p:nvCxnSpPr>
        <p:spPr>
          <a:xfrm>
            <a:off x="983742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0020300" y="1408176"/>
            <a:ext cx="1711452" cy="1874519"/>
          </a:xfrm>
          <a:prstGeom prst="roundRect">
            <a:avLst>
              <a:gd name="adj" fmla="val 5342"/>
            </a:avLst>
          </a:prstGeom>
          <a:solidFill>
            <a:srgbClr val="EDF5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9345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6</a:t>
            </a:r>
          </a:p>
        </p:txBody>
      </p:sp>
      <p:sp>
        <p:nvSpPr>
          <p:cNvPr id="41" name="TextBox 40"/>
          <p:cNvSpPr txBox="1"/>
          <p:nvPr/>
        </p:nvSpPr>
        <p:spPr>
          <a:xfrm>
            <a:off x="1009345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5E6B75"/>
                </a:solidFill>
                <a:latin typeface="맑은 고딕"/>
                <a:ea typeface="맑은 고딕"/>
                <a:cs typeface="맑은 고딕"/>
              </a:rPr>
              <a:t>참조만으로 만들면?</a:t>
            </a:r>
          </a:p>
        </p:txBody>
      </p:sp>
      <p:sp>
        <p:nvSpPr>
          <p:cNvPr id="42" name="TextBox 41"/>
          <p:cNvSpPr txBox="1"/>
          <p:nvPr/>
        </p:nvSpPr>
        <p:spPr>
          <a:xfrm>
            <a:off x="1009345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5E6B75"/>
                </a:solidFill>
                <a:latin typeface="맑은 고딕"/>
                <a:ea typeface="맑은 고딕"/>
                <a:cs typeface="맑은 고딕"/>
              </a:rPr>
              <a:t>Transformer</a:t>
            </a:r>
          </a:p>
        </p:txBody>
      </p:sp>
      <p:sp>
        <p:nvSpPr>
          <p:cNvPr id="43" name="TextBox 42"/>
          <p:cNvSpPr txBox="1"/>
          <p:nvPr/>
        </p:nvSpPr>
        <p:spPr>
          <a:xfrm>
            <a:off x="1009345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2017–</a:t>
            </a:r>
          </a:p>
        </p:txBody>
      </p:sp>
      <p:sp>
        <p:nvSpPr>
          <p:cNvPr id="44" name="Rounded Rectangle 43"/>
          <p:cNvSpPr/>
          <p:nvPr/>
        </p:nvSpPr>
        <p:spPr>
          <a:xfrm>
            <a:off x="457200" y="3557015"/>
            <a:ext cx="5454396" cy="2825496"/>
          </a:xfrm>
          <a:prstGeom prst="roundRect">
            <a:avLst>
              <a:gd name="adj" fmla="val 3236"/>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3648456"/>
            <a:ext cx="5088636" cy="36576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오늘의 순서</a:t>
            </a:r>
          </a:p>
        </p:txBody>
      </p:sp>
      <p:sp>
        <p:nvSpPr>
          <p:cNvPr id="46" name="TextBox 45"/>
          <p:cNvSpPr txBox="1"/>
          <p:nvPr/>
        </p:nvSpPr>
        <p:spPr>
          <a:xfrm>
            <a:off x="640080" y="4059935"/>
            <a:ext cx="5088636" cy="2231136"/>
          </a:xfrm>
          <a:prstGeom prst="rect">
            <a:avLst/>
          </a:prstGeom>
          <a:noFill/>
        </p:spPr>
        <p:txBody>
          <a:bodyPr wrap="square" lIns="73152" rIns="73152" tIns="36576" bIns="36576" anchor="t">
            <a:spAutoFit/>
          </a:bodyPr>
          <a:lstStyle/>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1</a:t>
            </a:r>
            <a:r>
              <a:rPr sz="1500" b="0">
                <a:solidFill>
                  <a:srgbClr val="1B2A36"/>
                </a:solidFill>
                <a:latin typeface="맑은 고딕"/>
                <a:ea typeface="맑은 고딕"/>
                <a:cs typeface="맑은 고딕"/>
              </a:rPr>
              <a:t> Attention (2014): 출력마다 다른 요약</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2</a:t>
            </a:r>
            <a:r>
              <a:rPr sz="1500" b="0">
                <a:solidFill>
                  <a:srgbClr val="1B2A36"/>
                </a:solidFill>
                <a:latin typeface="맑은 고딕"/>
                <a:ea typeface="맑은 고딕"/>
                <a:cs typeface="맑은 고딕"/>
              </a:rPr>
              <a:t> Self-attention과 Q · K · V</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3</a:t>
            </a:r>
            <a:r>
              <a:rPr sz="1500" b="0">
                <a:solidFill>
                  <a:srgbClr val="1B2A36"/>
                </a:solidFill>
                <a:latin typeface="맑은 고딕"/>
                <a:ea typeface="맑은 고딕"/>
                <a:cs typeface="맑은 고딕"/>
              </a:rPr>
              <a:t> Scaled dot-product를 숫자로</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4</a:t>
            </a:r>
            <a:r>
              <a:rPr sz="1500" b="0">
                <a:solidFill>
                  <a:srgbClr val="1B2A36"/>
                </a:solidFill>
                <a:latin typeface="맑은 고딕"/>
                <a:ea typeface="맑은 고딕"/>
                <a:cs typeface="맑은 고딕"/>
              </a:rPr>
              <a:t> Multi-head와 tensor shape</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5</a:t>
            </a:r>
            <a:r>
              <a:rPr sz="1500" b="0">
                <a:solidFill>
                  <a:srgbClr val="1B2A36"/>
                </a:solidFill>
                <a:latin typeface="맑은 고딕"/>
                <a:ea typeface="맑은 고딕"/>
                <a:cs typeface="맑은 고딕"/>
              </a:rPr>
              <a:t> 순서 정보: 위치 인코딩</a:t>
            </a:r>
          </a:p>
          <a:p>
            <a:pPr algn="l" marL="0" indent="0">
              <a:lnSpc>
                <a:spcPct val="110000"/>
              </a:lnSpc>
              <a:spcBef>
                <a:spcPts val="0"/>
              </a:spcBef>
              <a:spcAft>
                <a:spcPts val="450"/>
              </a:spcAft>
              <a:buNone/>
            </a:pPr>
            <a:r>
              <a:rPr sz="1500" b="1">
                <a:solidFill>
                  <a:srgbClr val="1B2A36"/>
                </a:solidFill>
                <a:latin typeface="맑은 고딕"/>
                <a:ea typeface="맑은 고딕"/>
                <a:cs typeface="맑은 고딕"/>
              </a:rPr>
              <a:t>Part 6</a:t>
            </a:r>
            <a:r>
              <a:rPr sz="1500" b="0">
                <a:solidFill>
                  <a:srgbClr val="1B2A36"/>
                </a:solidFill>
                <a:latin typeface="맑은 고딕"/>
                <a:ea typeface="맑은 고딕"/>
                <a:cs typeface="맑은 고딕"/>
              </a:rPr>
              <a:t> 모아 보기: 2017 Transformer의 윤곽</a:t>
            </a:r>
          </a:p>
        </p:txBody>
      </p:sp>
      <p:sp>
        <p:nvSpPr>
          <p:cNvPr id="47" name="Rounded Rectangle 46"/>
          <p:cNvSpPr/>
          <p:nvPr/>
        </p:nvSpPr>
        <p:spPr>
          <a:xfrm>
            <a:off x="6277356" y="3557015"/>
            <a:ext cx="5454396" cy="2825496"/>
          </a:xfrm>
          <a:prstGeom prst="roundRect">
            <a:avLst>
              <a:gd name="adj" fmla="val 3236"/>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60236" y="3648456"/>
            <a:ext cx="5088636" cy="36576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끝나면 할 수 있는 것</a:t>
            </a:r>
          </a:p>
        </p:txBody>
      </p:sp>
      <p:sp>
        <p:nvSpPr>
          <p:cNvPr id="49" name="TextBox 48"/>
          <p:cNvSpPr txBox="1"/>
          <p:nvPr/>
        </p:nvSpPr>
        <p:spPr>
          <a:xfrm>
            <a:off x="6460236" y="4059935"/>
            <a:ext cx="5088636" cy="2231136"/>
          </a:xfrm>
          <a:prstGeom prst="rect">
            <a:avLst/>
          </a:prstGeom>
          <a:noFill/>
        </p:spPr>
        <p:txBody>
          <a:bodyPr wrap="square" lIns="73152" rIns="73152" tIns="36576" bIns="36576" anchor="t">
            <a:spAutoFit/>
          </a:bodyPr>
          <a:lstStyle/>
          <a:p>
            <a:pPr algn="l" marL="256032" indent="-237744">
              <a:lnSpc>
                <a:spcPct val="110000"/>
              </a:lnSpc>
              <a:spcBef>
                <a:spcPts val="0"/>
              </a:spcBef>
              <a:spcAft>
                <a:spcPts val="405"/>
              </a:spcAft>
              <a:buClr>
                <a:srgbClr val="01688F"/>
              </a:buClr>
              <a:buFont typeface="Wingdings" pitchFamily="2" charset="2"/>
              <a:buChar char="§"/>
            </a:pPr>
            <a:r>
              <a:rPr sz="1350" b="0">
                <a:solidFill>
                  <a:srgbClr val="1B2A36"/>
                </a:solidFill>
                <a:latin typeface="맑은 고딕"/>
                <a:ea typeface="맑은 고딕"/>
                <a:cs typeface="맑은 고딕"/>
              </a:rPr>
              <a:t>Attention의 </a:t>
            </a:r>
            <a:r>
              <a:rPr sz="1350" b="1">
                <a:solidFill>
                  <a:srgbClr val="1B2A36"/>
                </a:solidFill>
                <a:latin typeface="맑은 고딕"/>
                <a:ea typeface="맑은 고딕"/>
                <a:cs typeface="맑은 고딕"/>
              </a:rPr>
              <a:t>점수 → softmax → 가중합</a:t>
            </a:r>
            <a:r>
              <a:rPr sz="1350" b="0">
                <a:solidFill>
                  <a:srgbClr val="1B2A36"/>
                </a:solidFill>
                <a:latin typeface="맑은 고딕"/>
                <a:ea typeface="맑은 고딕"/>
                <a:cs typeface="맑은 고딕"/>
              </a:rPr>
              <a:t>을 손으로 계산한다</a:t>
            </a:r>
          </a:p>
          <a:p>
            <a:pPr algn="l" marL="256032" indent="-237744">
              <a:lnSpc>
                <a:spcPct val="110000"/>
              </a:lnSpc>
              <a:spcBef>
                <a:spcPts val="0"/>
              </a:spcBef>
              <a:spcAft>
                <a:spcPts val="405"/>
              </a:spcAft>
              <a:buClr>
                <a:srgbClr val="01688F"/>
              </a:buClr>
              <a:buFont typeface="Wingdings" pitchFamily="2" charset="2"/>
              <a:buChar char="§"/>
            </a:pPr>
            <a:r>
              <a:rPr sz="1350" b="0">
                <a:solidFill>
                  <a:srgbClr val="1B2A36"/>
                </a:solidFill>
                <a:latin typeface="맑은 고딕"/>
                <a:ea typeface="맑은 고딕"/>
                <a:cs typeface="맑은 고딕"/>
              </a:rPr>
              <a:t>Q · K · V의 역할과 </a:t>
            </a:r>
            <a:r>
              <a:rPr sz="1350" b="1">
                <a:solidFill>
                  <a:srgbClr val="1B2A36"/>
                </a:solidFill>
                <a:latin typeface="맑은 고딕"/>
                <a:ea typeface="맑은 고딕"/>
                <a:cs typeface="맑은 고딕"/>
              </a:rPr>
              <a:t>투영 행렬</a:t>
            </a:r>
            <a:r>
              <a:rPr sz="1350" b="0">
                <a:solidFill>
                  <a:srgbClr val="1B2A36"/>
                </a:solidFill>
                <a:latin typeface="맑은 고딕"/>
                <a:ea typeface="맑은 고딕"/>
                <a:cs typeface="맑은 고딕"/>
              </a:rPr>
              <a:t>(파라미터) vs </a:t>
            </a:r>
            <a:r>
              <a:rPr sz="1350" b="1">
                <a:solidFill>
                  <a:srgbClr val="1B2A36"/>
                </a:solidFill>
                <a:latin typeface="맑은 고딕"/>
                <a:ea typeface="맑은 고딕"/>
                <a:cs typeface="맑은 고딕"/>
              </a:rPr>
              <a:t>A</a:t>
            </a:r>
            <a:r>
              <a:rPr sz="1350" b="0">
                <a:solidFill>
                  <a:srgbClr val="1B2A36"/>
                </a:solidFill>
                <a:latin typeface="맑은 고딕"/>
                <a:ea typeface="맑은 고딕"/>
                <a:cs typeface="맑은 고딕"/>
              </a:rPr>
              <a:t>(활성값)를 구분한다</a:t>
            </a:r>
          </a:p>
          <a:p>
            <a:pPr algn="l" marL="256032" indent="-237744">
              <a:lnSpc>
                <a:spcPct val="110000"/>
              </a:lnSpc>
              <a:spcBef>
                <a:spcPts val="0"/>
              </a:spcBef>
              <a:spcAft>
                <a:spcPts val="405"/>
              </a:spcAft>
              <a:buClr>
                <a:srgbClr val="01688F"/>
              </a:buClr>
              <a:buFont typeface="Wingdings" pitchFamily="2" charset="2"/>
              <a:buChar char="§"/>
            </a:pPr>
            <a:r>
              <a:rPr sz="1350" b="0">
                <a:solidFill>
                  <a:srgbClr val="1B2A36"/>
                </a:solidFill>
                <a:latin typeface="맑은 고딕"/>
                <a:ea typeface="맑은 고딕"/>
                <a:cs typeface="맑은 고딕"/>
              </a:rPr>
              <a:t>softmax(QKᵀ/√d_h)V의 </a:t>
            </a:r>
            <a:r>
              <a:rPr sz="1350" b="1">
                <a:solidFill>
                  <a:srgbClr val="1B2A36"/>
                </a:solidFill>
                <a:latin typeface="맑은 고딕"/>
                <a:ea typeface="맑은 고딕"/>
                <a:cs typeface="맑은 고딕"/>
              </a:rPr>
              <a:t>shape</a:t>
            </a:r>
            <a:r>
              <a:rPr sz="1350" b="0">
                <a:solidFill>
                  <a:srgbClr val="1B2A36"/>
                </a:solidFill>
                <a:latin typeface="맑은 고딕"/>
                <a:ea typeface="맑은 고딕"/>
                <a:cs typeface="맑은 고딕"/>
              </a:rPr>
              <a:t>을 단계마다 말한다</a:t>
            </a:r>
          </a:p>
          <a:p>
            <a:pPr algn="l" marL="256032" indent="-237744">
              <a:lnSpc>
                <a:spcPct val="110000"/>
              </a:lnSpc>
              <a:spcBef>
                <a:spcPts val="0"/>
              </a:spcBef>
              <a:spcAft>
                <a:spcPts val="405"/>
              </a:spcAft>
              <a:buClr>
                <a:srgbClr val="01688F"/>
              </a:buClr>
              <a:buFont typeface="Wingdings" pitchFamily="2" charset="2"/>
              <a:buChar char="§"/>
            </a:pPr>
            <a:r>
              <a:rPr sz="1350" b="0">
                <a:solidFill>
                  <a:srgbClr val="1B2A36"/>
                </a:solidFill>
                <a:latin typeface="맑은 고딕"/>
                <a:ea typeface="맑은 고딕"/>
                <a:cs typeface="맑은 고딕"/>
              </a:rPr>
              <a:t>Multi-head에서 </a:t>
            </a:r>
            <a:r>
              <a:rPr sz="1350" b="1">
                <a:solidFill>
                  <a:srgbClr val="1B2A36"/>
                </a:solidFill>
                <a:latin typeface="맑은 고딕"/>
                <a:ea typeface="맑은 고딕"/>
                <a:cs typeface="맑은 고딕"/>
              </a:rPr>
              <a:t>(B, N, d) → (B, H, N, d_h)</a:t>
            </a:r>
            <a:r>
              <a:rPr sz="1350" b="0">
                <a:solidFill>
                  <a:srgbClr val="1B2A36"/>
                </a:solidFill>
                <a:latin typeface="맑은 고딕"/>
                <a:ea typeface="맑은 고딕"/>
                <a:cs typeface="맑은 고딕"/>
              </a:rPr>
              <a:t> 변환을 설명한다</a:t>
            </a:r>
          </a:p>
          <a:p>
            <a:pPr algn="l" marL="256032" indent="-237744">
              <a:lnSpc>
                <a:spcPct val="110000"/>
              </a:lnSpc>
              <a:spcBef>
                <a:spcPts val="0"/>
              </a:spcBef>
              <a:spcAft>
                <a:spcPts val="405"/>
              </a:spcAft>
              <a:buClr>
                <a:srgbClr val="01688F"/>
              </a:buClr>
              <a:buFont typeface="Wingdings" pitchFamily="2" charset="2"/>
              <a:buChar char="§"/>
            </a:pPr>
            <a:r>
              <a:rPr sz="1350" b="0">
                <a:solidFill>
                  <a:srgbClr val="1B2A36"/>
                </a:solidFill>
                <a:latin typeface="맑은 고딕"/>
                <a:ea typeface="맑은 고딕"/>
                <a:cs typeface="맑은 고딕"/>
              </a:rPr>
              <a:t>Self-attention에 </a:t>
            </a:r>
            <a:r>
              <a:rPr sz="1350" b="1">
                <a:solidFill>
                  <a:srgbClr val="1B2A36"/>
                </a:solidFill>
                <a:latin typeface="맑은 고딕"/>
                <a:ea typeface="맑은 고딕"/>
                <a:cs typeface="맑은 고딕"/>
              </a:rPr>
              <a:t>위치 정보</a:t>
            </a:r>
            <a:r>
              <a:rPr sz="1350" b="0">
                <a:solidFill>
                  <a:srgbClr val="1B2A36"/>
                </a:solidFill>
                <a:latin typeface="맑은 고딕"/>
                <a:ea typeface="맑은 고딕"/>
                <a:cs typeface="맑은 고딕"/>
              </a:rPr>
              <a:t>가 필요한 이유를 설명한다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새 용어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낯선 단어를 먼저 한 번 보고 시작한다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graphicFrame>
        <p:nvGraphicFramePr>
          <p:cNvPr id="9" name="Table 8"/>
          <p:cNvGraphicFramePr>
            <a:graphicFrameLocks noGrp="1"/>
          </p:cNvGraphicFramePr>
          <p:nvPr/>
        </p:nvGraphicFramePr>
        <p:xfrm>
          <a:off x="457200" y="1408176"/>
          <a:ext cx="11274551" cy="3602735"/>
        </p:xfrm>
        <a:graphic>
          <a:graphicData uri="http://schemas.openxmlformats.org/drawingml/2006/table">
            <a:tbl>
              <a:tblPr firstRow="1" bandRow="0">
                <a:tableStyleId>{5940675A-B579-460E-94D1-54222C63F5DA}</a:tableStyleId>
              </a:tblPr>
              <a:tblGrid>
                <a:gridCol w="2016586"/>
                <a:gridCol w="4766477"/>
                <a:gridCol w="4491488"/>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용어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한 줄 뜻</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비유 · 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Attention 가중치 α</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각 위치를 얼마나 참고할지 (합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여러 자료에 나눠 준 신뢰 비중</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정렬 (alignment)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출력 위치와 입력 위치의 대응</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번역할 때 짚어 보는 원문 단어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Self-attention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한 시퀀스가 자기 자신의 모든 위치를 참조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문장이 스스로 앞뒤를 살핌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Query (Q)</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비교의 기준이 되는 벡터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찾고 싶은 것</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Key (K)</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비교 대상이 되는 벡터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책의 색인</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Value (V)</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가중합으로 실제 전달되는 벡터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책의 내용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Head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독립된 Q·K·V 투영 한 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서로 다른 관점의 독자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위치 인코딩 (PE)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토큰 벡터에 더하는 위치 정보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좌석 번호표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1</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Attention: 출력마다 다른 요약</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2014 — 요약본 하나 대신, 원문 전체를 남겨 두고 매번 다시 보면?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요약본 하나 vs 원문 다시 보기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Encoder의 위치별 표현 h_1 … h_S를 버리지 않고, 출력 시점마다 다른 가중합 c_t를 만든다</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pic>
        <p:nvPicPr>
          <p:cNvPr id="9" name="Picture 8" descr="bottleneck.png"/>
          <p:cNvPicPr>
            <a:picLocks noChangeAspect="1"/>
          </p:cNvPicPr>
          <p:nvPr/>
        </p:nvPicPr>
        <p:blipFill>
          <a:blip r:embed="rId3"/>
          <a:stretch>
            <a:fillRect/>
          </a:stretch>
        </p:blipFill>
        <p:spPr>
          <a:xfrm>
            <a:off x="2509490" y="1408176"/>
            <a:ext cx="7169971" cy="2834640"/>
          </a:xfrm>
          <a:prstGeom prst="rect">
            <a:avLst/>
          </a:prstGeom>
        </p:spPr>
      </p:pic>
      <p:sp>
        <p:nvSpPr>
          <p:cNvPr id="10" name="Rounded Rectangle 9"/>
          <p:cNvSpPr/>
          <p:nvPr/>
        </p:nvSpPr>
        <p:spPr>
          <a:xfrm>
            <a:off x="457200" y="4471416"/>
            <a:ext cx="5454396" cy="834390"/>
          </a:xfrm>
          <a:prstGeom prst="roundRect">
            <a:avLst>
              <a:gd name="adj" fmla="val 10958"/>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1">
                <a:solidFill>
                  <a:srgbClr val="1B2A36"/>
                </a:solidFill>
                <a:latin typeface="맑은 고딕"/>
                <a:ea typeface="맑은 고딕"/>
                <a:cs typeface="맑은 고딕"/>
              </a:rPr>
              <a:t>고정 문맥 벡터</a:t>
            </a:r>
            <a:r>
              <a:rPr sz="1500" b="0">
                <a:solidFill>
                  <a:srgbClr val="1B2A36"/>
                </a:solidFill>
                <a:latin typeface="맑은 고딕"/>
                <a:ea typeface="맑은 고딕"/>
                <a:cs typeface="맑은 고딕"/>
              </a:rPr>
              <a:t>: 책을 읽고 요약문 하나만 남긴 뒤, 그 요약문으로 모든 질문에 답한다</a:t>
            </a:r>
          </a:p>
        </p:txBody>
      </p:sp>
      <p:sp>
        <p:nvSpPr>
          <p:cNvPr id="11" name="Rounded Rectangle 10"/>
          <p:cNvSpPr/>
          <p:nvPr/>
        </p:nvSpPr>
        <p:spPr>
          <a:xfrm>
            <a:off x="6277356" y="4471416"/>
            <a:ext cx="5454396" cy="1072515"/>
          </a:xfrm>
          <a:prstGeom prst="roundRect">
            <a:avLst>
              <a:gd name="adj" fmla="val 8525"/>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1">
                <a:solidFill>
                  <a:srgbClr val="1B2A36"/>
                </a:solidFill>
                <a:latin typeface="맑은 고딕"/>
                <a:ea typeface="맑은 고딕"/>
                <a:cs typeface="맑은 고딕"/>
              </a:rPr>
              <a:t>Attention</a:t>
            </a:r>
            <a:r>
              <a:rPr sz="1500" b="0">
                <a:solidFill>
                  <a:srgbClr val="1B2A36"/>
                </a:solidFill>
                <a:latin typeface="맑은 고딕"/>
                <a:ea typeface="맑은 고딕"/>
                <a:cs typeface="맑은 고딕"/>
              </a:rPr>
              <a:t>: 답할 때마다 남겨 둔 원문의 여러 위치를 </a:t>
            </a:r>
            <a:r>
              <a:rPr sz="1500" b="1">
                <a:solidFill>
                  <a:srgbClr val="1B2A36"/>
                </a:solidFill>
                <a:latin typeface="맑은 고딕"/>
                <a:ea typeface="맑은 고딕"/>
                <a:cs typeface="맑은 고딕"/>
              </a:rPr>
              <a:t>다른 비중</a:t>
            </a:r>
            <a:r>
              <a:rPr sz="1500" b="0">
                <a:solidFill>
                  <a:srgbClr val="1B2A36"/>
                </a:solidFill>
                <a:latin typeface="맑은 고딕"/>
                <a:ea typeface="맑은 고딕"/>
                <a:cs typeface="맑은 고딕"/>
              </a:rPr>
              <a:t>으로 다시 본다 (비유일 뿐 — 실제는 점수 → softmax → 가중합)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Attention의 세 단계</a:t>
            </a:r>
          </a:p>
        </p:txBody>
      </p:sp>
      <p:sp>
        <p:nvSpPr>
          <p:cNvPr id="3" name="Content Placeholder 2"/>
          <p:cNvSpPr>
            <a:spLocks noGrp="1"/>
          </p:cNvSpPr>
          <p:nvPr>
            <p:ph idx="1"/>
          </p:nvPr>
        </p:nvSpPr>
        <p:spPr>
          <a:xfrm>
            <a:off x="6495531" y="3099815"/>
            <a:ext cx="5236220" cy="328269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하나의 c가 아니라 출력마다 </a:t>
            </a:r>
            <a:r>
              <a:rPr sz="1800" b="1">
                <a:solidFill>
                  <a:srgbClr val="1B2A36"/>
                </a:solidFill>
              </a:rPr>
              <a:t>다른 c_t</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가장 큰 것 하나를 </a:t>
            </a:r>
            <a:r>
              <a:rPr sz="1800" b="1">
                <a:solidFill>
                  <a:srgbClr val="1B2A36"/>
                </a:solidFill>
              </a:rPr>
              <a:t>복사하는 게 아니다</a:t>
            </a:r>
          </a:p>
          <a:p>
            <a:pPr algn="l" marL="566928" indent="-237744">
              <a:lnSpc>
                <a:spcPct val="110000"/>
              </a:lnSpc>
              <a:spcBef>
                <a:spcPts val="0"/>
              </a:spcBef>
              <a:spcAft>
                <a:spcPts val="775"/>
              </a:spcAft>
              <a:buClr>
                <a:srgbClr val="01688F"/>
              </a:buClr>
              <a:buFont typeface="Arial"/>
              <a:buChar char="-"/>
            </a:pPr>
            <a:r>
              <a:rPr sz="1550" b="0">
                <a:solidFill>
                  <a:srgbClr val="1B2A36"/>
                </a:solidFill>
              </a:rPr>
              <a:t>여러 위치를 비중대로 </a:t>
            </a:r>
            <a:r>
              <a:rPr sz="1550" b="1">
                <a:solidFill>
                  <a:srgbClr val="1B2A36"/>
                </a:solidFill>
              </a:rPr>
              <a:t>섞는다</a:t>
            </a:r>
            <a:r>
              <a:rPr sz="1550" b="0">
                <a:solidFill>
                  <a:srgbClr val="1B2A36"/>
                </a:solidFill>
              </a:rPr>
              <a:t> (soft)</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점수 함수 a: 작은 신경망, 내적 등 (다음 장)</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① 정렬 점수 → ② softmax로 비중 → ③ 값의 가중합</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1417320"/>
          </a:xfrm>
          <a:prstGeom prst="roundRect">
            <a:avLst>
              <a:gd name="adj" fmla="val 6451"/>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1417320"/>
          </a:xfrm>
          <a:prstGeom prst="rect">
            <a:avLst/>
          </a:prstGeom>
          <a:noFill/>
        </p:spPr>
        <p:txBody>
          <a:bodyPr wrap="square" anchor="ctr">
            <a:spAutoFit/>
          </a:bodyPr>
          <a:lstStyle/>
          <a:p>
            <a:pPr algn="ctr" marL="0" indent="0">
              <a:buNone/>
            </a:pPr>
            <a:r>
              <a:rPr sz="2100" b="1">
                <a:solidFill>
                  <a:srgbClr val="1B2A36"/>
                </a:solidFill>
                <a:latin typeface="Courier New"/>
                <a:ea typeface="맑은 고딕"/>
                <a:cs typeface="Courier New"/>
              </a:rPr>
              <a:t>e[t, j] = a( s[t−1], h[j] )     α[t, j] = softmax_j( e[t, j] )</a:t>
            </a:r>
          </a:p>
          <a:p>
            <a:pPr algn="ctr" marL="0" indent="0">
              <a:buNone/>
            </a:pPr>
            <a:r>
              <a:rPr sz="2100" b="1">
                <a:solidFill>
                  <a:srgbClr val="1B2A36"/>
                </a:solidFill>
                <a:latin typeface="Courier New"/>
                <a:ea typeface="맑은 고딕"/>
                <a:cs typeface="Courier New"/>
              </a:rPr>
              <a:t>c[t] = Σ_j  α[t, j] · h[j]</a:t>
            </a:r>
          </a:p>
        </p:txBody>
      </p:sp>
      <p:graphicFrame>
        <p:nvGraphicFramePr>
          <p:cNvPr id="11" name="Table 10"/>
          <p:cNvGraphicFramePr>
            <a:graphicFrameLocks noGrp="1"/>
          </p:cNvGraphicFramePr>
          <p:nvPr/>
        </p:nvGraphicFramePr>
        <p:xfrm>
          <a:off x="457200" y="3099815"/>
          <a:ext cx="5672568" cy="1874520"/>
        </p:xfrm>
        <a:graphic>
          <a:graphicData uri="http://schemas.openxmlformats.org/drawingml/2006/table">
            <a:tbl>
              <a:tblPr firstRow="1" bandRow="0">
                <a:tableStyleId>{5940675A-B579-460E-94D1-54222C63F5DA}</a:tableStyleId>
              </a:tblPr>
              <a:tblGrid>
                <a:gridCol w="1418142"/>
                <a:gridCol w="1418142"/>
                <a:gridCol w="1418142"/>
                <a:gridCol w="1418142"/>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위치 j</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α</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값 v_j</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α · v_j</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(0.1, 0)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(0, 0.2)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0.7</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(1.4, 1.4)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(1.5, 1.6)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정렬(alignment)을 눈으로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각 출력 단어가 어느 입력 단어에 비중을 두었는지 — 관찰 도구이지 증명은 아니다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pic>
        <p:nvPicPr>
          <p:cNvPr id="9" name="Picture 8" descr="alignment.png"/>
          <p:cNvPicPr>
            <a:picLocks noChangeAspect="1"/>
          </p:cNvPicPr>
          <p:nvPr/>
        </p:nvPicPr>
        <p:blipFill>
          <a:blip r:embed="rId3"/>
          <a:stretch>
            <a:fillRect/>
          </a:stretch>
        </p:blipFill>
        <p:spPr>
          <a:xfrm>
            <a:off x="457199" y="1515544"/>
            <a:ext cx="6353616" cy="4759599"/>
          </a:xfrm>
          <a:prstGeom prst="rect">
            <a:avLst/>
          </a:prstGeom>
        </p:spPr>
      </p:pic>
      <p:sp>
        <p:nvSpPr>
          <p:cNvPr id="10" name="Rounded Rectangle 9"/>
          <p:cNvSpPr/>
          <p:nvPr/>
        </p:nvSpPr>
        <p:spPr>
          <a:xfrm>
            <a:off x="7130856" y="1408176"/>
            <a:ext cx="4600895" cy="1715262"/>
          </a:xfrm>
          <a:prstGeom prst="roundRect">
            <a:avLst>
              <a:gd name="adj" fmla="val 5330"/>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95448" y="1536192"/>
            <a:ext cx="427171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보여주는 것</a:t>
            </a:r>
          </a:p>
        </p:txBody>
      </p:sp>
      <p:sp>
        <p:nvSpPr>
          <p:cNvPr id="12" name="TextBox 11"/>
          <p:cNvSpPr txBox="1"/>
          <p:nvPr/>
        </p:nvSpPr>
        <p:spPr>
          <a:xfrm>
            <a:off x="7295448" y="1993392"/>
            <a:ext cx="4271711" cy="100202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출력 위치마다 </a:t>
            </a:r>
            <a:r>
              <a:rPr sz="1500" b="1">
                <a:solidFill>
                  <a:srgbClr val="1B2A36"/>
                </a:solidFill>
                <a:latin typeface="맑은 고딕"/>
                <a:ea typeface="맑은 고딕"/>
                <a:cs typeface="맑은 고딕"/>
              </a:rPr>
              <a:t>어느 입력에</a:t>
            </a:r>
            <a:r>
              <a:rPr sz="1500" b="0">
                <a:solidFill>
                  <a:srgbClr val="1B2A36"/>
                </a:solidFill>
                <a:latin typeface="맑은 고딕"/>
                <a:ea typeface="맑은 고딕"/>
                <a:cs typeface="맑은 고딕"/>
              </a:rPr>
              <a:t> 큰 비중을 두었나</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어순이 달라도 대응을 찾는다</a:t>
            </a:r>
          </a:p>
        </p:txBody>
      </p:sp>
      <p:sp>
        <p:nvSpPr>
          <p:cNvPr id="13" name="Rounded Rectangle 12"/>
          <p:cNvSpPr/>
          <p:nvPr/>
        </p:nvSpPr>
        <p:spPr>
          <a:xfrm>
            <a:off x="7130856" y="3352038"/>
            <a:ext cx="4600895" cy="2010537"/>
          </a:xfrm>
          <a:prstGeom prst="roundRect">
            <a:avLst>
              <a:gd name="adj" fmla="val 4548"/>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95448" y="3480054"/>
            <a:ext cx="427171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증명하지 않는 것</a:t>
            </a:r>
          </a:p>
        </p:txBody>
      </p:sp>
      <p:sp>
        <p:nvSpPr>
          <p:cNvPr id="15" name="TextBox 14"/>
          <p:cNvSpPr txBox="1"/>
          <p:nvPr/>
        </p:nvSpPr>
        <p:spPr>
          <a:xfrm>
            <a:off x="7295448" y="3937254"/>
            <a:ext cx="4271711" cy="1297304"/>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그 단어가 예측의 </a:t>
            </a:r>
            <a:r>
              <a:rPr sz="1500" b="1">
                <a:solidFill>
                  <a:srgbClr val="1B2A36"/>
                </a:solidFill>
                <a:latin typeface="맑은 고딕"/>
                <a:ea typeface="맑은 고딕"/>
                <a:cs typeface="맑은 고딕"/>
              </a:rPr>
              <a:t>유일한 원인</a:t>
            </a:r>
            <a:r>
              <a:rPr sz="1500" b="0">
                <a:solidFill>
                  <a:srgbClr val="1B2A36"/>
                </a:solidFill>
                <a:latin typeface="맑은 고딕"/>
                <a:ea typeface="맑은 고딕"/>
                <a:cs typeface="맑은 고딕"/>
              </a:rPr>
              <a:t>이라는 것</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모델이 사람처럼 </a:t>
            </a:r>
            <a:r>
              <a:rPr sz="1500" b="1">
                <a:solidFill>
                  <a:srgbClr val="1B2A36"/>
                </a:solidFill>
                <a:latin typeface="맑은 고딕"/>
                <a:ea typeface="맑은 고딕"/>
                <a:cs typeface="맑은 고딕"/>
              </a:rPr>
              <a:t>이해</a:t>
            </a:r>
            <a:r>
              <a:rPr sz="1500" b="0">
                <a:solidFill>
                  <a:srgbClr val="1B2A36"/>
                </a:solidFill>
                <a:latin typeface="맑은 고딕"/>
                <a:ea typeface="맑은 고딕"/>
                <a:cs typeface="맑은 고딕"/>
              </a:rPr>
              <a:t>했다는 것</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 관찰과 인과 검증을 구분 (원자료 개념 확인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점수 함수: 어떻게 비교할까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Bahdanau(2014)는 작은 신경망으로, Luong(2015)은 내적으로 — Transformer는 내적을 택한다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역사</a:t>
            </a:r>
          </a:p>
        </p:txBody>
      </p:sp>
      <p:graphicFrame>
        <p:nvGraphicFramePr>
          <p:cNvPr id="9" name="Table 8"/>
          <p:cNvGraphicFramePr>
            <a:graphicFrameLocks noGrp="1"/>
          </p:cNvGraphicFramePr>
          <p:nvPr/>
        </p:nvGraphicFramePr>
        <p:xfrm>
          <a:off x="457200" y="1408176"/>
          <a:ext cx="11274551" cy="2194560"/>
        </p:xfrm>
        <a:graphic>
          <a:graphicData uri="http://schemas.openxmlformats.org/drawingml/2006/table">
            <a:tbl>
              <a:tblPr firstRow="1" bandRow="0">
                <a:tableStyleId>{5940675A-B579-460E-94D1-54222C63F5DA}</a:tableStyleId>
              </a:tblPr>
              <a:tblGrid>
                <a:gridCol w="2505456"/>
                <a:gridCol w="2505456"/>
                <a:gridCol w="3758183"/>
                <a:gridCol w="2505456"/>
              </a:tblGrid>
              <a:tr h="390144">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점수 함수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특징</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제안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63398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Additive (작은 신경망)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vᵀ tanh(W s + U 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유연하지만 쌍마다 계산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Bahdanau et al. 2014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Dot (내적)</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sᵀ 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행렬곱 한 번으로 </a:t>
                      </a:r>
                      <a:r>
                        <a:rPr sz="1600" b="1">
                          <a:solidFill>
                            <a:srgbClr val="1B2A36"/>
                          </a:solidFill>
                          <a:latin typeface="맑은 고딕"/>
                          <a:ea typeface="맑은 고딕"/>
                          <a:cs typeface="맑은 고딕"/>
                        </a:rPr>
                        <a:t>모든 쌍</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Luong et al. 2015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General (bilinear)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sᵀ W 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학습된 W로 비교 공간을 바꿈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Luong et al. 2015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Scaled dot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qᵀ k / √d_h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내적 + 크기 보정</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Transformer 2017</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bl>
          </a:graphicData>
        </a:graphic>
      </p:graphicFrame>
      <p:sp>
        <p:nvSpPr>
          <p:cNvPr id="10" name="Rounded Rectangle 9"/>
          <p:cNvSpPr/>
          <p:nvPr/>
        </p:nvSpPr>
        <p:spPr>
          <a:xfrm>
            <a:off x="457200" y="4425696"/>
            <a:ext cx="11274552" cy="614680"/>
          </a:xfrm>
          <a:prstGeom prst="roundRect">
            <a:avLst>
              <a:gd name="adj" fmla="val 14876"/>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1주차 복습: 행렬곱 = 내적 여러 개를 </a:t>
            </a:r>
            <a:r>
              <a:rPr sz="1600" b="1">
                <a:solidFill>
                  <a:srgbClr val="1B2A36"/>
                </a:solidFill>
                <a:latin typeface="맑은 고딕"/>
                <a:ea typeface="맑은 고딕"/>
                <a:cs typeface="맑은 고딕"/>
              </a:rPr>
              <a:t>한 번에</a:t>
            </a:r>
            <a:r>
              <a:rPr sz="1600" b="0">
                <a:solidFill>
                  <a:srgbClr val="1B2A36"/>
                </a:solidFill>
                <a:latin typeface="맑은 고딕"/>
                <a:ea typeface="맑은 고딕"/>
                <a:cs typeface="맑은 고딕"/>
              </a:rPr>
              <a:t> → 모든 (출력, 입력) 쌍의 점수를 행렬곱 하나로.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Attention을 본체로 쓰면?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보조 장치였던 ‘참조 연산’으로 시퀀스의 표현 자체를 만들 수 있을까?</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graphicFrame>
        <p:nvGraphicFramePr>
          <p:cNvPr id="9" name="Table 8"/>
          <p:cNvGraphicFramePr>
            <a:graphicFrameLocks noGrp="1"/>
          </p:cNvGraphicFramePr>
          <p:nvPr/>
        </p:nvGraphicFramePr>
        <p:xfrm>
          <a:off x="457200" y="1408176"/>
          <a:ext cx="11274551" cy="1804416"/>
        </p:xfrm>
        <a:graphic>
          <a:graphicData uri="http://schemas.openxmlformats.org/drawingml/2006/table">
            <a:tbl>
              <a:tblPr firstRow="1" bandRow="0">
                <a:tableStyleId>{5940675A-B579-460E-94D1-54222C63F5DA}</a:tableStyleId>
              </a:tblPr>
              <a:tblGrid>
                <a:gridCol w="2571389"/>
                <a:gridCol w="5538376"/>
                <a:gridCol w="3164786"/>
              </a:tblGrid>
              <a:tr h="390144">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구조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중심 질문</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남는 문제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RNN / LSTM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정보를 어떻게 </a:t>
                      </a:r>
                      <a:r>
                        <a:rPr sz="1600" b="1">
                          <a:solidFill>
                            <a:srgbClr val="1B2A36"/>
                          </a:solidFill>
                          <a:latin typeface="맑은 고딕"/>
                          <a:ea typeface="맑은 고딕"/>
                          <a:cs typeface="맑은 고딕"/>
                        </a:rPr>
                        <a:t>보존·갱신</a:t>
                      </a:r>
                      <a:r>
                        <a:rPr sz="1600" b="0">
                          <a:solidFill>
                            <a:srgbClr val="1B2A36"/>
                          </a:solidFill>
                          <a:latin typeface="맑은 고딕"/>
                          <a:ea typeface="맑은 고딕"/>
                          <a:cs typeface="맑은 고딕"/>
                        </a:rPr>
                        <a:t>할까?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고정 크기 상태 · 순차 계산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3398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RNN + Attention (2014)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현재 필요한 정보를 </a:t>
                      </a:r>
                      <a:r>
                        <a:rPr sz="1600" b="1">
                          <a:solidFill>
                            <a:srgbClr val="1B2A36"/>
                          </a:solidFill>
                          <a:latin typeface="맑은 고딕"/>
                          <a:ea typeface="맑은 고딕"/>
                          <a:cs typeface="맑은 고딕"/>
                        </a:rPr>
                        <a:t>어느 입력 위치</a:t>
                      </a:r>
                      <a:r>
                        <a:rPr sz="1600" b="0">
                          <a:solidFill>
                            <a:srgbClr val="1B2A36"/>
                          </a:solidFill>
                          <a:latin typeface="맑은 고딕"/>
                          <a:ea typeface="맑은 고딕"/>
                          <a:cs typeface="맑은 고딕"/>
                        </a:rPr>
                        <a:t>에서 가져올까?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순환은 여전히 순차적</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Transformer (2017)</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참조 연산만으로</a:t>
                      </a:r>
                      <a:r>
                        <a:rPr sz="1600" b="0">
                          <a:solidFill>
                            <a:srgbClr val="1B2A36"/>
                          </a:solidFill>
                          <a:latin typeface="맑은 고딕"/>
                          <a:ea typeface="맑은 고딕"/>
                          <a:cs typeface="맑은 고딕"/>
                        </a:rPr>
                        <a:t> 시퀀스의 표현 자체를 만들 수 있을까?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 오늘 · 다음 주</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bl>
          </a:graphicData>
        </a:graphic>
      </p:graphicFrame>
      <p:sp>
        <p:nvSpPr>
          <p:cNvPr id="10" name="Rounded Rectangle 9"/>
          <p:cNvSpPr/>
          <p:nvPr/>
        </p:nvSpPr>
        <p:spPr>
          <a:xfrm>
            <a:off x="457200" y="4059935"/>
            <a:ext cx="11274552" cy="868680"/>
          </a:xfrm>
          <a:prstGeom prst="roundRect">
            <a:avLst>
              <a:gd name="adj" fmla="val 10526"/>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1">
                <a:solidFill>
                  <a:srgbClr val="E97132"/>
                </a:solidFill>
                <a:latin typeface="맑은 고딕"/>
                <a:ea typeface="맑은 고딕"/>
                <a:cs typeface="맑은 고딕"/>
              </a:rPr>
              <a:t>주의</a:t>
            </a:r>
            <a:r>
              <a:rPr sz="1600" b="0">
                <a:solidFill>
                  <a:srgbClr val="1B2A36"/>
                </a:solidFill>
                <a:latin typeface="맑은 고딕"/>
                <a:ea typeface="맑은 고딕"/>
                <a:cs typeface="맑은 고딕"/>
              </a:rPr>
              <a:t> self-attention은 2017년 전에도 있었다. Transformer = Attention + FFN + 잔차 + 정규화 + 위치 정보의 </a:t>
            </a:r>
            <a:r>
              <a:rPr sz="1600" b="1">
                <a:solidFill>
                  <a:srgbClr val="1B2A36"/>
                </a:solidFill>
                <a:latin typeface="맑은 고딕"/>
                <a:ea typeface="맑은 고딕"/>
                <a:cs typeface="맑은 고딕"/>
              </a:rPr>
              <a:t>조합</a:t>
            </a:r>
            <a:r>
              <a:rPr sz="1600" b="0">
                <a:solidFill>
                  <a:srgbClr val="1B2A36"/>
                </a:solidFill>
                <a:latin typeface="맑은 고딕"/>
                <a:ea typeface="맑은 고딕"/>
                <a:cs typeface="맑은 고딕"/>
              </a:rPr>
              <a:t>. ‘All You Need’는 ‘다른 계산이 없다’는 뜻이 아니다.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2</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Self-attention과 Q · K · V</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문장이 자기 자신의 모든 위치를 참조한다면?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Self-attention: 문장이 스스로를 참조한다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모든 토큰이 같은 문장의 모든 토큰을 보고, 필요한 정보를 섞어 새 표현을 만든다</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1408176"/>
            <a:ext cx="3605784" cy="2013712"/>
          </a:xfrm>
          <a:prstGeom prst="roundRect">
            <a:avLst>
              <a:gd name="adj" fmla="val 4540"/>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53619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예시</a:t>
            </a:r>
          </a:p>
        </p:txBody>
      </p:sp>
      <p:sp>
        <p:nvSpPr>
          <p:cNvPr id="11" name="TextBox 10"/>
          <p:cNvSpPr txBox="1"/>
          <p:nvPr/>
        </p:nvSpPr>
        <p:spPr>
          <a:xfrm>
            <a:off x="621792" y="1993392"/>
            <a:ext cx="3276600"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“그 </a:t>
            </a:r>
            <a:r>
              <a:rPr sz="1600" b="1">
                <a:solidFill>
                  <a:srgbClr val="1B2A36"/>
                </a:solidFill>
                <a:latin typeface="맑은 고딕"/>
                <a:ea typeface="맑은 고딕"/>
                <a:cs typeface="맑은 고딕"/>
              </a:rPr>
              <a:t>동물</a:t>
            </a:r>
            <a:r>
              <a:rPr sz="1600" b="0">
                <a:solidFill>
                  <a:srgbClr val="1B2A36"/>
                </a:solidFill>
                <a:latin typeface="맑은 고딕"/>
                <a:ea typeface="맑은 고딕"/>
                <a:cs typeface="맑은 고딕"/>
              </a:rPr>
              <a:t>은 너무 피곤해서 길을 건너지 않았다. </a:t>
            </a:r>
            <a:r>
              <a:rPr sz="1600" b="1">
                <a:solidFill>
                  <a:srgbClr val="1B2A36"/>
                </a:solidFill>
                <a:latin typeface="맑은 고딕"/>
                <a:ea typeface="맑은 고딕"/>
                <a:cs typeface="맑은 고딕"/>
              </a:rPr>
              <a:t>그것</a:t>
            </a:r>
            <a:r>
              <a:rPr sz="1600" b="0">
                <a:solidFill>
                  <a:srgbClr val="1B2A36"/>
                </a:solidFill>
                <a:latin typeface="맑은 고딕"/>
                <a:ea typeface="맑은 고딕"/>
                <a:cs typeface="맑은 고딕"/>
              </a:rPr>
              <a:t>은 …”</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‘그것’의 표현을 만들 때 ‘동물’을 많이 참고하면 좋다</a:t>
            </a:r>
          </a:p>
        </p:txBody>
      </p:sp>
      <p:sp>
        <p:nvSpPr>
          <p:cNvPr id="12" name="Rounded Rectangle 11"/>
          <p:cNvSpPr/>
          <p:nvPr/>
        </p:nvSpPr>
        <p:spPr>
          <a:xfrm>
            <a:off x="4291584" y="1408176"/>
            <a:ext cx="3605784" cy="2013712"/>
          </a:xfrm>
          <a:prstGeom prst="roundRect">
            <a:avLst>
              <a:gd name="adj" fmla="val 4540"/>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6176" y="153619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RNN</a:t>
            </a:r>
          </a:p>
        </p:txBody>
      </p:sp>
      <p:sp>
        <p:nvSpPr>
          <p:cNvPr id="14" name="TextBox 13"/>
          <p:cNvSpPr txBox="1"/>
          <p:nvPr/>
        </p:nvSpPr>
        <p:spPr>
          <a:xfrm>
            <a:off x="4456176" y="1993392"/>
            <a:ext cx="3276600"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먼 두 토큰이 만나려면 </a:t>
            </a:r>
            <a:r>
              <a:rPr sz="1600" b="1">
                <a:solidFill>
                  <a:srgbClr val="1B2A36"/>
                </a:solidFill>
                <a:latin typeface="맑은 고딕"/>
                <a:ea typeface="맑은 고딕"/>
                <a:cs typeface="맑은 고딕"/>
              </a:rPr>
              <a:t>N단계</a:t>
            </a:r>
            <a:r>
              <a:rPr sz="1600" b="0">
                <a:solidFill>
                  <a:srgbClr val="1B2A36"/>
                </a:solidFill>
                <a:latin typeface="맑은 고딕"/>
                <a:ea typeface="맑은 고딕"/>
                <a:cs typeface="맑은 고딕"/>
              </a:rPr>
              <a:t>를 거친다</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h_t는 h_(t−1)이 필요 → </a:t>
            </a:r>
            <a:r>
              <a:rPr sz="1600" b="1">
                <a:solidFill>
                  <a:srgbClr val="1B2A36"/>
                </a:solidFill>
                <a:latin typeface="맑은 고딕"/>
                <a:ea typeface="맑은 고딕"/>
                <a:cs typeface="맑은 고딕"/>
              </a:rPr>
              <a:t>순차</a:t>
            </a:r>
          </a:p>
        </p:txBody>
      </p:sp>
      <p:sp>
        <p:nvSpPr>
          <p:cNvPr id="15" name="Rounded Rectangle 14"/>
          <p:cNvSpPr/>
          <p:nvPr/>
        </p:nvSpPr>
        <p:spPr>
          <a:xfrm>
            <a:off x="8125968" y="1408176"/>
            <a:ext cx="3605784" cy="2013712"/>
          </a:xfrm>
          <a:prstGeom prst="roundRect">
            <a:avLst>
              <a:gd name="adj" fmla="val 4540"/>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560" y="153619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Self-attention</a:t>
            </a:r>
          </a:p>
        </p:txBody>
      </p:sp>
      <p:sp>
        <p:nvSpPr>
          <p:cNvPr id="17" name="TextBox 16"/>
          <p:cNvSpPr txBox="1"/>
          <p:nvPr/>
        </p:nvSpPr>
        <p:spPr>
          <a:xfrm>
            <a:off x="8290560" y="1993392"/>
            <a:ext cx="3276600"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한 층에서 </a:t>
            </a:r>
            <a:r>
              <a:rPr sz="1600" b="1">
                <a:solidFill>
                  <a:srgbClr val="1B2A36"/>
                </a:solidFill>
                <a:latin typeface="맑은 고딕"/>
                <a:ea typeface="맑은 고딕"/>
                <a:cs typeface="맑은 고딕"/>
              </a:rPr>
              <a:t>직접</a:t>
            </a:r>
            <a:r>
              <a:rPr sz="1600" b="0">
                <a:solidFill>
                  <a:srgbClr val="1B2A36"/>
                </a:solidFill>
                <a:latin typeface="맑은 고딕"/>
                <a:ea typeface="맑은 고딕"/>
                <a:cs typeface="맑은 고딕"/>
              </a:rPr>
              <a:t> 만난다 (경로 1)</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모든 위치를 </a:t>
            </a:r>
            <a:r>
              <a:rPr sz="1600" b="1">
                <a:solidFill>
                  <a:srgbClr val="1B2A36"/>
                </a:solidFill>
                <a:latin typeface="맑은 고딕"/>
                <a:ea typeface="맑은 고딕"/>
                <a:cs typeface="맑은 고딕"/>
              </a:rPr>
              <a:t>동시에</a:t>
            </a:r>
            <a:r>
              <a:rPr sz="1600" b="0">
                <a:solidFill>
                  <a:srgbClr val="1B2A36"/>
                </a:solidFill>
                <a:latin typeface="맑은 고딕"/>
                <a:ea typeface="맑은 고딕"/>
                <a:cs typeface="맑은 고딕"/>
              </a:rPr>
              <a:t> 계산</a:t>
            </a:r>
          </a:p>
        </p:txBody>
      </p:sp>
      <p:sp>
        <p:nvSpPr>
          <p:cNvPr id="18" name="Rounded Rectangle 17"/>
          <p:cNvSpPr/>
          <p:nvPr/>
        </p:nvSpPr>
        <p:spPr>
          <a:xfrm>
            <a:off x="457200" y="3787648"/>
            <a:ext cx="11274552" cy="633095"/>
          </a:xfrm>
          <a:prstGeom prst="roundRect">
            <a:avLst>
              <a:gd name="adj" fmla="val 14443"/>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40"/>
              </a:spcAft>
              <a:buNone/>
            </a:pPr>
            <a:r>
              <a:rPr sz="1700" b="1">
                <a:solidFill>
                  <a:srgbClr val="FFFFFF"/>
                </a:solidFill>
                <a:latin typeface="맑은 고딕"/>
                <a:ea typeface="맑은 고딕"/>
                <a:cs typeface="맑은 고딕"/>
              </a:rPr>
              <a:t>질문: 같은 입력 X에서 ‘비교할 기준’과 ‘가져올 내용’을 어떻게 만들까? → </a:t>
            </a:r>
            <a:r>
              <a:rPr sz="1700" b="1">
                <a:solidFill>
                  <a:srgbClr val="FFFFFF"/>
                </a:solidFill>
                <a:latin typeface="맑은 고딕"/>
                <a:ea typeface="맑은 고딕"/>
                <a:cs typeface="맑은 고딕"/>
              </a:rPr>
              <a:t>Q · K · 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 · K · V의 역할과 비유의 한계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Query는 비교의 기준, Key는 비교 대상, Value는 실제로 전달될 내용</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graphicFrame>
        <p:nvGraphicFramePr>
          <p:cNvPr id="9" name="Table 8"/>
          <p:cNvGraphicFramePr>
            <a:graphicFrameLocks noGrp="1"/>
          </p:cNvGraphicFramePr>
          <p:nvPr/>
        </p:nvGraphicFramePr>
        <p:xfrm>
          <a:off x="457200" y="1408176"/>
          <a:ext cx="11274549" cy="1804416"/>
        </p:xfrm>
        <a:graphic>
          <a:graphicData uri="http://schemas.openxmlformats.org/drawingml/2006/table">
            <a:tbl>
              <a:tblPr firstRow="1" bandRow="0">
                <a:tableStyleId>{5940675A-B579-460E-94D1-54222C63F5DA}</a:tableStyleId>
              </a:tblPr>
              <a:tblGrid>
                <a:gridCol w="1434942"/>
                <a:gridCol w="3279869"/>
                <a:gridCol w="1844926"/>
                <a:gridCol w="4714812"/>
              </a:tblGrid>
              <a:tr h="390144">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계산에서의 역할</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도서관 비유</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비유의 한계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63398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Query (Q)</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현재 위치가 Key들과 비교할 벡터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찾고 싶은 것</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사용자가 입력한 </a:t>
                      </a:r>
                      <a:r>
                        <a:rPr sz="1600" b="1">
                          <a:solidFill>
                            <a:srgbClr val="1B2A36"/>
                          </a:solidFill>
                          <a:latin typeface="맑은 고딕"/>
                          <a:ea typeface="맑은 고딕"/>
                          <a:cs typeface="맑은 고딕"/>
                        </a:rPr>
                        <a:t>질문이 아니다</a:t>
                      </a:r>
                      <a:r>
                        <a:rPr sz="1600" b="0">
                          <a:solidFill>
                            <a:srgbClr val="1B2A36"/>
                          </a:solidFill>
                          <a:latin typeface="맑은 고딕"/>
                          <a:ea typeface="맑은 고딕"/>
                          <a:cs typeface="맑은 고딕"/>
                        </a:rPr>
                        <a:t> — 이미지 모델에도 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Key (K)</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각 위치를 비교하기 위한 벡터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책의 색인</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단어 문자열이나 DB key가 </a:t>
                      </a:r>
                      <a:r>
                        <a:rPr sz="1600" b="1">
                          <a:solidFill>
                            <a:srgbClr val="1B2A36"/>
                          </a:solidFill>
                          <a:latin typeface="맑은 고딕"/>
                          <a:ea typeface="맑은 고딕"/>
                          <a:cs typeface="맑은 고딕"/>
                        </a:rPr>
                        <a:t>아니다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Value (V)</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가중합으로 실제 결합될 벡터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책의 내용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원래 임베딩을 그대로 </a:t>
                      </a:r>
                      <a:r>
                        <a:rPr sz="1600" b="1">
                          <a:solidFill>
                            <a:srgbClr val="1B2A36"/>
                          </a:solidFill>
                          <a:latin typeface="맑은 고딕"/>
                          <a:ea typeface="맑은 고딕"/>
                          <a:cs typeface="맑은 고딕"/>
                        </a:rPr>
                        <a:t>복사하지 않는다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0" name="Rounded Rectangle 9"/>
          <p:cNvSpPr/>
          <p:nvPr/>
        </p:nvSpPr>
        <p:spPr>
          <a:xfrm>
            <a:off x="457200" y="4334256"/>
            <a:ext cx="11274552" cy="868680"/>
          </a:xfrm>
          <a:prstGeom prst="roundRect">
            <a:avLst>
              <a:gd name="adj" fmla="val 10526"/>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모두 </a:t>
            </a:r>
            <a:r>
              <a:rPr sz="1600" b="1">
                <a:solidFill>
                  <a:srgbClr val="1B2A36"/>
                </a:solidFill>
                <a:latin typeface="맑은 고딕"/>
                <a:ea typeface="맑은 고딕"/>
                <a:cs typeface="맑은 고딕"/>
              </a:rPr>
              <a:t>학습된 투영</a:t>
            </a:r>
            <a:r>
              <a:rPr sz="1600" b="0">
                <a:solidFill>
                  <a:srgbClr val="1B2A36"/>
                </a:solidFill>
                <a:latin typeface="맑은 고딕"/>
                <a:ea typeface="맑은 고딕"/>
                <a:cs typeface="맑은 고딕"/>
              </a:rPr>
              <a:t>으로 만든 벡터다. ‘중요도’라는 말은 어떤 기준의 중요도인지 정한 뒤에 쓴다 — 실제로는 loss를 줄이도록 학습된 내적 점수일 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학습되는 것은 투영 행렬</a:t>
            </a:r>
          </a:p>
        </p:txBody>
      </p:sp>
      <p:sp>
        <p:nvSpPr>
          <p:cNvPr id="3" name="Content Placeholder 2"/>
          <p:cNvSpPr>
            <a:spLocks noGrp="1"/>
          </p:cNvSpPr>
          <p:nvPr>
            <p:ph idx="1"/>
          </p:nvPr>
        </p:nvSpPr>
        <p:spPr>
          <a:xfrm>
            <a:off x="6802221" y="3191256"/>
            <a:ext cx="4929530" cy="319125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X: (N, d) · W: (d, d_h) → (N, d_h)</a:t>
            </a:r>
          </a:p>
          <a:p>
            <a:pPr algn="l" marL="256032" indent="-237744">
              <a:lnSpc>
                <a:spcPct val="110000"/>
              </a:lnSpc>
              <a:spcBef>
                <a:spcPts val="0"/>
              </a:spcBef>
              <a:spcAft>
                <a:spcPts val="800"/>
              </a:spcAft>
              <a:buClr>
                <a:srgbClr val="01688F"/>
              </a:buClr>
              <a:buFont typeface="Wingdings" pitchFamily="2" charset="2"/>
              <a:buChar char="§"/>
            </a:pPr>
            <a:r>
              <a:rPr sz="1600" b="1">
                <a:solidFill>
                  <a:srgbClr val="1B2A36"/>
                </a:solidFill>
              </a:rPr>
              <a:t>W_Q, W_K, W_V</a:t>
            </a:r>
            <a:r>
              <a:rPr sz="1600" b="0">
                <a:solidFill>
                  <a:srgbClr val="1B2A36"/>
                </a:solidFill>
              </a:rPr>
              <a:t>: 학습되는 파라미터</a:t>
            </a:r>
          </a:p>
          <a:p>
            <a:pPr algn="l" marL="256032" indent="-237744">
              <a:lnSpc>
                <a:spcPct val="110000"/>
              </a:lnSpc>
              <a:spcBef>
                <a:spcPts val="0"/>
              </a:spcBef>
              <a:spcAft>
                <a:spcPts val="800"/>
              </a:spcAft>
              <a:buClr>
                <a:srgbClr val="01688F"/>
              </a:buClr>
              <a:buFont typeface="Wingdings" pitchFamily="2" charset="2"/>
              <a:buChar char="§"/>
            </a:pPr>
            <a:r>
              <a:rPr sz="1600" b="1">
                <a:solidFill>
                  <a:srgbClr val="1B2A36"/>
                </a:solidFill>
              </a:rPr>
              <a:t>Q, K, V</a:t>
            </a:r>
            <a:r>
              <a:rPr sz="1600" b="0">
                <a:solidFill>
                  <a:srgbClr val="1B2A36"/>
                </a:solidFill>
              </a:rPr>
              <a:t>: 입력마다 계산되는 활성값</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2주차 선형층과 같은 계산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Q = X W_Q,  K = X W_K,  V = X W_V — 같은 X에서 세 가지 다른 벡터</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pic>
        <p:nvPicPr>
          <p:cNvPr id="9" name="Picture 8" descr="qkv_proj.png"/>
          <p:cNvPicPr>
            <a:picLocks noChangeAspect="1"/>
          </p:cNvPicPr>
          <p:nvPr/>
        </p:nvPicPr>
        <p:blipFill>
          <a:blip r:embed="rId3"/>
          <a:stretch>
            <a:fillRect/>
          </a:stretch>
        </p:blipFill>
        <p:spPr>
          <a:xfrm>
            <a:off x="457200" y="2390993"/>
            <a:ext cx="6024981" cy="3008701"/>
          </a:xfrm>
          <a:prstGeom prst="rect">
            <a:avLst/>
          </a:prstGeom>
        </p:spPr>
      </p:pic>
      <p:sp>
        <p:nvSpPr>
          <p:cNvPr id="10" name="Rounded Rectangle 9"/>
          <p:cNvSpPr/>
          <p:nvPr/>
        </p:nvSpPr>
        <p:spPr>
          <a:xfrm>
            <a:off x="6802221" y="1408176"/>
            <a:ext cx="4929530" cy="1554480"/>
          </a:xfrm>
          <a:prstGeom prst="roundRect">
            <a:avLst>
              <a:gd name="adj" fmla="val 5882"/>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39381" y="1408176"/>
            <a:ext cx="4655210" cy="1554480"/>
          </a:xfrm>
          <a:prstGeom prst="rect">
            <a:avLst/>
          </a:prstGeom>
          <a:noFill/>
        </p:spPr>
        <p:txBody>
          <a:bodyPr wrap="square" anchor="ctr">
            <a:spAutoFit/>
          </a:bodyPr>
          <a:lstStyle/>
          <a:p>
            <a:pPr algn="ctr" marL="0" indent="0">
              <a:buNone/>
            </a:pPr>
            <a:r>
              <a:rPr sz="2200" b="1">
                <a:solidFill>
                  <a:srgbClr val="1B2A36"/>
                </a:solidFill>
                <a:latin typeface="Courier New"/>
                <a:ea typeface="맑은 고딕"/>
                <a:cs typeface="Courier New"/>
              </a:rPr>
              <a:t>Q = X · W_Q</a:t>
            </a:r>
          </a:p>
          <a:p>
            <a:pPr algn="ctr" marL="0" indent="0">
              <a:buNone/>
            </a:pPr>
            <a:r>
              <a:rPr sz="2200" b="1">
                <a:solidFill>
                  <a:srgbClr val="1B2A36"/>
                </a:solidFill>
                <a:latin typeface="Courier New"/>
                <a:ea typeface="맑은 고딕"/>
                <a:cs typeface="Courier New"/>
              </a:rPr>
              <a:t>K = X · W_K</a:t>
            </a:r>
          </a:p>
          <a:p>
            <a:pPr algn="ctr" marL="0" indent="0">
              <a:buNone/>
            </a:pPr>
            <a:r>
              <a:rPr sz="2200" b="1">
                <a:solidFill>
                  <a:srgbClr val="1B2A36"/>
                </a:solidFill>
                <a:latin typeface="Courier New"/>
                <a:ea typeface="맑은 고딕"/>
                <a:cs typeface="Courier New"/>
              </a:rPr>
              <a:t>V = X · W_V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Self-attention이라고 Q = K = V는 아니다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50" b="1">
                <a:solidFill>
                  <a:srgbClr val="01688F"/>
                </a:solidFill>
                <a:latin typeface="맑은 고딕"/>
                <a:ea typeface="맑은 고딕"/>
                <a:cs typeface="맑은 고딕"/>
              </a:rPr>
              <a:t>원본 X가 같아도 투영이 다르면 값이 다르다 — ‘A가 B를 보는 비중’ ≠ ‘B가 A를 보는 비중’</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sp>
        <p:nvSpPr>
          <p:cNvPr id="9" name="Rounded Rectangle 8"/>
          <p:cNvSpPr/>
          <p:nvPr/>
        </p:nvSpPr>
        <p:spPr>
          <a:xfrm>
            <a:off x="457200" y="1408176"/>
            <a:ext cx="3605784" cy="2084832"/>
          </a:xfrm>
          <a:prstGeom prst="roundRect">
            <a:avLst>
              <a:gd name="adj" fmla="val 438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53619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Q ≠ K ≠ V</a:t>
            </a:r>
          </a:p>
        </p:txBody>
      </p:sp>
      <p:sp>
        <p:nvSpPr>
          <p:cNvPr id="11" name="TextBox 10"/>
          <p:cNvSpPr txBox="1"/>
          <p:nvPr/>
        </p:nvSpPr>
        <p:spPr>
          <a:xfrm>
            <a:off x="621792" y="1993392"/>
            <a:ext cx="3276600" cy="137160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같은 X, 다른 W_Q · W_K · W_V</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 값이 일반적으로 </a:t>
            </a:r>
            <a:r>
              <a:rPr sz="1600" b="1">
                <a:solidFill>
                  <a:srgbClr val="1B2A36"/>
                </a:solidFill>
                <a:latin typeface="맑은 고딕"/>
                <a:ea typeface="맑은 고딕"/>
                <a:cs typeface="맑은 고딕"/>
              </a:rPr>
              <a:t>다르다</a:t>
            </a:r>
          </a:p>
        </p:txBody>
      </p:sp>
      <p:sp>
        <p:nvSpPr>
          <p:cNvPr id="12" name="Rounded Rectangle 11"/>
          <p:cNvSpPr/>
          <p:nvPr/>
        </p:nvSpPr>
        <p:spPr>
          <a:xfrm>
            <a:off x="4291584" y="1408176"/>
            <a:ext cx="3605784" cy="2084832"/>
          </a:xfrm>
          <a:prstGeom prst="roundRect">
            <a:avLst>
              <a:gd name="adj" fmla="val 438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6176" y="153619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점수는 비대칭</a:t>
            </a:r>
          </a:p>
        </p:txBody>
      </p:sp>
      <p:sp>
        <p:nvSpPr>
          <p:cNvPr id="14" name="TextBox 13"/>
          <p:cNvSpPr txBox="1"/>
          <p:nvPr/>
        </p:nvSpPr>
        <p:spPr>
          <a:xfrm>
            <a:off x="4456176" y="1993392"/>
            <a:ext cx="3276600" cy="137160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q_A · k_B ≠ q_B · k_A</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‘A가 B를 봄’ ≠ ‘B가 A를 봄’</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softmax 후에도 비대칭</a:t>
            </a:r>
          </a:p>
        </p:txBody>
      </p:sp>
      <p:sp>
        <p:nvSpPr>
          <p:cNvPr id="15" name="Rounded Rectangle 14"/>
          <p:cNvSpPr/>
          <p:nvPr/>
        </p:nvSpPr>
        <p:spPr>
          <a:xfrm>
            <a:off x="8125968" y="1408176"/>
            <a:ext cx="3605784" cy="2084832"/>
          </a:xfrm>
          <a:prstGeom prst="roundRect">
            <a:avLst>
              <a:gd name="adj" fmla="val 4385"/>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560" y="153619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왜 나누나?</a:t>
            </a:r>
          </a:p>
        </p:txBody>
      </p:sp>
      <p:sp>
        <p:nvSpPr>
          <p:cNvPr id="17" name="TextBox 16"/>
          <p:cNvSpPr txBox="1"/>
          <p:nvPr/>
        </p:nvSpPr>
        <p:spPr>
          <a:xfrm>
            <a:off x="8290560" y="1993392"/>
            <a:ext cx="3276600" cy="137160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1">
                <a:solidFill>
                  <a:srgbClr val="1B2A36"/>
                </a:solidFill>
                <a:latin typeface="맑은 고딕"/>
                <a:ea typeface="맑은 고딕"/>
                <a:cs typeface="맑은 고딕"/>
              </a:rPr>
              <a:t>찾는 기준</a:t>
            </a:r>
            <a:r>
              <a:rPr sz="1600" b="0">
                <a:solidFill>
                  <a:srgbClr val="1B2A36"/>
                </a:solidFill>
                <a:latin typeface="맑은 고딕"/>
                <a:ea typeface="맑은 고딕"/>
                <a:cs typeface="맑은 고딕"/>
              </a:rPr>
              <a:t>(Q·K)과 </a:t>
            </a:r>
            <a:r>
              <a:rPr sz="1600" b="1">
                <a:solidFill>
                  <a:srgbClr val="1B2A36"/>
                </a:solidFill>
                <a:latin typeface="맑은 고딕"/>
                <a:ea typeface="맑은 고딕"/>
                <a:cs typeface="맑은 고딕"/>
              </a:rPr>
              <a:t>가져올 내용</a:t>
            </a:r>
            <a:r>
              <a:rPr sz="1600" b="0">
                <a:solidFill>
                  <a:srgbClr val="1B2A36"/>
                </a:solidFill>
                <a:latin typeface="맑은 고딕"/>
                <a:ea typeface="맑은 고딕"/>
                <a:cs typeface="맑은 고딕"/>
              </a:rPr>
              <a:t>(V)을 따로 학습</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축마다 미리 정해진 의미는 </a:t>
            </a:r>
            <a:r>
              <a:rPr sz="1600" b="1">
                <a:solidFill>
                  <a:srgbClr val="1B2A36"/>
                </a:solidFill>
                <a:latin typeface="맑은 고딕"/>
                <a:ea typeface="맑은 고딕"/>
                <a:cs typeface="맑은 고딕"/>
              </a:rPr>
              <a:t>없다</a:t>
            </a:r>
          </a:p>
        </p:txBody>
      </p:sp>
      <p:sp>
        <p:nvSpPr>
          <p:cNvPr id="18" name="Rounded Rectangle 17"/>
          <p:cNvSpPr/>
          <p:nvPr/>
        </p:nvSpPr>
        <p:spPr>
          <a:xfrm>
            <a:off x="457200" y="3858768"/>
            <a:ext cx="11274552" cy="614680"/>
          </a:xfrm>
          <a:prstGeom prst="roundRect">
            <a:avLst>
              <a:gd name="adj" fmla="val 14876"/>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원자료 개념 확인 04: Self-attention의 Q, K, V는 같은 원본에서 </a:t>
            </a:r>
            <a:r>
              <a:rPr sz="1600" b="1">
                <a:solidFill>
                  <a:srgbClr val="1B2A36"/>
                </a:solidFill>
                <a:latin typeface="맑은 고딕"/>
                <a:ea typeface="맑은 고딕"/>
                <a:cs typeface="맑은 고딕"/>
              </a:rPr>
              <a:t>서로 다른 투영</a:t>
            </a:r>
            <a:r>
              <a:rPr sz="1600" b="0">
                <a:solidFill>
                  <a:srgbClr val="1B2A36"/>
                </a:solidFill>
                <a:latin typeface="맑은 고딕"/>
                <a:ea typeface="맑은 고딕"/>
                <a:cs typeface="맑은 고딕"/>
              </a:rPr>
              <a:t>으로 만들 수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파라미터 vs 활성값</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정적인 파라미터로 동적인 정보 결합을 계산한다 — Attention 가중치 A는 학습 표가 아니다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graphicFrame>
        <p:nvGraphicFramePr>
          <p:cNvPr id="9" name="Table 8"/>
          <p:cNvGraphicFramePr>
            <a:graphicFrameLocks noGrp="1"/>
          </p:cNvGraphicFramePr>
          <p:nvPr/>
        </p:nvGraphicFramePr>
        <p:xfrm>
          <a:off x="457200" y="1408176"/>
          <a:ext cx="11274550" cy="1804416"/>
        </p:xfrm>
        <a:graphic>
          <a:graphicData uri="http://schemas.openxmlformats.org/drawingml/2006/table">
            <a:tbl>
              <a:tblPr firstRow="1" bandRow="0">
                <a:tableStyleId>{5940675A-B579-460E-94D1-54222C63F5DA}</a:tableStyleId>
              </a:tblPr>
              <a:tblGrid>
                <a:gridCol w="1977991"/>
                <a:gridCol w="2966987"/>
                <a:gridCol w="3362585"/>
                <a:gridCol w="2966987"/>
              </a:tblGrid>
              <a:tr h="390144">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입력마다 바뀌나?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optimizer가 갱신하나?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파라미터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W_Q, W_K, W_V, W_O</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아니오 — 모든 입력에 </a:t>
                      </a:r>
                      <a:r>
                        <a:rPr sz="1600" b="1">
                          <a:solidFill>
                            <a:srgbClr val="1B2A36"/>
                          </a:solidFill>
                          <a:latin typeface="맑은 고딕"/>
                          <a:ea typeface="맑은 고딕"/>
                          <a:cs typeface="맑은 고딕"/>
                        </a:rPr>
                        <a:t>공유</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활성값</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Q, K, V</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예</a:t>
                      </a:r>
                      <a:r>
                        <a:rPr sz="1600" b="0">
                          <a:solidFill>
                            <a:srgbClr val="1B2A36"/>
                          </a:solidFill>
                          <a:latin typeface="맑은 고딕"/>
                          <a:ea typeface="맑은 고딕"/>
                          <a:cs typeface="맑은 고딕"/>
                        </a:rPr>
                        <a:t> — 입력·이전 층에 따라 계산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아니오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3398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Attention 가중치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A = softmax(QKᵀ / √d_h)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예</a:t>
                      </a:r>
                      <a:r>
                        <a:rPr sz="1600" b="0">
                          <a:solidFill>
                            <a:srgbClr val="1B2A36"/>
                          </a:solidFill>
                          <a:latin typeface="맑은 고딕"/>
                          <a:ea typeface="맑은 고딕"/>
                          <a:cs typeface="맑은 고딕"/>
                        </a:rPr>
                        <a:t> — 문장마다 다르다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600" b="0">
                          <a:solidFill>
                            <a:srgbClr val="1B2A36"/>
                          </a:solidFill>
                          <a:latin typeface="맑은 고딕"/>
                          <a:ea typeface="맑은 고딕"/>
                          <a:cs typeface="맑은 고딕"/>
                        </a:rPr>
                        <a:t>아니오 (gradient 경로에는 포함)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0" name="Rounded Rectangle 9"/>
          <p:cNvSpPr/>
          <p:nvPr/>
        </p:nvSpPr>
        <p:spPr>
          <a:xfrm>
            <a:off x="457200" y="3968496"/>
            <a:ext cx="11274552" cy="633095"/>
          </a:xfrm>
          <a:prstGeom prst="roundRect">
            <a:avLst>
              <a:gd name="adj" fmla="val 14443"/>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40"/>
              </a:spcAft>
              <a:buNone/>
            </a:pPr>
            <a:r>
              <a:rPr sz="1700" b="1">
                <a:solidFill>
                  <a:srgbClr val="FFFFFF"/>
                </a:solidFill>
                <a:latin typeface="맑은 고딕"/>
                <a:ea typeface="맑은 고딕"/>
                <a:cs typeface="맑은 고딕"/>
              </a:rPr>
              <a:t>추론 때 모델 가중치는 고정되어 있어도 </a:t>
            </a:r>
            <a:r>
              <a:rPr sz="1700" b="1">
                <a:solidFill>
                  <a:srgbClr val="FFFFFF"/>
                </a:solidFill>
                <a:latin typeface="맑은 고딕"/>
                <a:ea typeface="맑은 고딕"/>
                <a:cs typeface="맑은 고딕"/>
              </a:rPr>
              <a:t>A는 입력마다 다르다</a:t>
            </a:r>
            <a:r>
              <a:rPr sz="1700" b="1">
                <a:solidFill>
                  <a:srgbClr val="FFFFFF"/>
                </a:solidFill>
                <a:latin typeface="맑은 고딕"/>
                <a:ea typeface="맑은 고딕"/>
                <a:cs typeface="맑은 고딕"/>
              </a:rPr>
              <a:t> → ‘정적인 파라미터로 동적인 결합’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3</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Scaled dot-product를 숫자로</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공식은 한 줄 — 점수, 스케일, mask, 확률, 가중합의 다섯 단계로 나눠 읽는다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공식을 다섯 단계로</a:t>
            </a:r>
          </a:p>
        </p:txBody>
      </p:sp>
      <p:sp>
        <p:nvSpPr>
          <p:cNvPr id="3" name="Content Placeholder 2"/>
          <p:cNvSpPr>
            <a:spLocks noGrp="1"/>
          </p:cNvSpPr>
          <p:nvPr>
            <p:ph idx="1"/>
          </p:nvPr>
        </p:nvSpPr>
        <p:spPr>
          <a:xfrm>
            <a:off x="457200" y="4608576"/>
            <a:ext cx="11274552" cy="1773936"/>
          </a:xfrm>
        </p:spPr>
        <p:txBody>
          <a:bodyPr wrap="square" lIns="73152" rIns="73152" tIns="36576" bIns="36576" anchor="t">
            <a:normAutofit/>
          </a:bodyPr>
          <a:lstStyle/>
          <a:p>
            <a:pPr algn="l" marL="256032" indent="-237744">
              <a:lnSpc>
                <a:spcPct val="110000"/>
              </a:lnSpc>
              <a:spcBef>
                <a:spcPts val="0"/>
              </a:spcBef>
              <a:spcAft>
                <a:spcPts val="850"/>
              </a:spcAft>
              <a:buClr>
                <a:srgbClr val="01688F"/>
              </a:buClr>
              <a:buFont typeface="Wingdings" pitchFamily="2" charset="2"/>
              <a:buChar char="§"/>
            </a:pPr>
            <a:r>
              <a:rPr sz="1700" b="1">
                <a:solidFill>
                  <a:srgbClr val="1B2A36"/>
                </a:solidFill>
              </a:rPr>
              <a:t>행 = Query</a:t>
            </a:r>
            <a:r>
              <a:rPr sz="1700" b="0">
                <a:solidFill>
                  <a:srgbClr val="1B2A36"/>
                </a:solidFill>
              </a:rPr>
              <a:t>, </a:t>
            </a:r>
            <a:r>
              <a:rPr sz="1700" b="1">
                <a:solidFill>
                  <a:srgbClr val="1B2A36"/>
                </a:solidFill>
              </a:rPr>
              <a:t>열 = Key</a:t>
            </a:r>
            <a:r>
              <a:rPr sz="1700" b="0">
                <a:solidFill>
                  <a:srgbClr val="1B2A36"/>
                </a:solidFill>
              </a:rPr>
              <a:t> — softmax는 </a:t>
            </a:r>
            <a:r>
              <a:rPr sz="1700" b="1">
                <a:solidFill>
                  <a:srgbClr val="1B2A36"/>
                </a:solidFill>
              </a:rPr>
              <a:t>Key 축</a:t>
            </a:r>
            <a:r>
              <a:rPr sz="1700" b="0">
                <a:solidFill>
                  <a:srgbClr val="1B2A36"/>
                </a:solidFill>
              </a:rPr>
              <a:t>(원자료 개념 확인 06)</a:t>
            </a:r>
          </a:p>
          <a:p>
            <a:pPr algn="l" marL="256032" indent="-237744">
              <a:lnSpc>
                <a:spcPct val="110000"/>
              </a:lnSpc>
              <a:spcBef>
                <a:spcPts val="0"/>
              </a:spcBef>
              <a:spcAft>
                <a:spcPts val="850"/>
              </a:spcAft>
              <a:buClr>
                <a:srgbClr val="01688F"/>
              </a:buClr>
              <a:buFont typeface="Wingdings" pitchFamily="2" charset="2"/>
              <a:buChar char="§"/>
            </a:pPr>
            <a:r>
              <a:rPr sz="1700" b="0">
                <a:solidFill>
                  <a:srgbClr val="1B2A36"/>
                </a:solidFill>
              </a:rPr>
              <a:t>shape: Q (N, d_h) · Kᵀ (d_h, N) → </a:t>
            </a:r>
            <a:r>
              <a:rPr sz="1700" b="1">
                <a:solidFill>
                  <a:srgbClr val="1B2A36"/>
                </a:solidFill>
              </a:rPr>
              <a:t>(N, N)</a:t>
            </a:r>
            <a:r>
              <a:rPr sz="1700" b="0">
                <a:solidFill>
                  <a:srgbClr val="1B2A36"/>
                </a:solidFill>
              </a:rPr>
              <a:t> → A V → </a:t>
            </a:r>
            <a:r>
              <a:rPr sz="1700" b="1">
                <a:solidFill>
                  <a:srgbClr val="1B2A36"/>
                </a:solidFill>
              </a:rPr>
              <a:t>(N, d_h)</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Attention(Q, K, V) = softmax(QKᵀ / √d_h + M) V</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400" b="1">
                <a:solidFill>
                  <a:srgbClr val="1B2A36"/>
                </a:solidFill>
                <a:latin typeface="Courier New"/>
                <a:ea typeface="맑은 고딕"/>
                <a:cs typeface="Courier New"/>
              </a:rPr>
              <a:t>Attention(Q, K, V) = softmax( Q Kᵀ / √d_h + M ) · V</a:t>
            </a:r>
          </a:p>
        </p:txBody>
      </p:sp>
      <p:sp>
        <p:nvSpPr>
          <p:cNvPr id="11" name="Rounded Rectangle 10"/>
          <p:cNvSpPr/>
          <p:nvPr/>
        </p:nvSpPr>
        <p:spPr>
          <a:xfrm>
            <a:off x="457200" y="2596896"/>
            <a:ext cx="1998878"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68833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① 점수</a:t>
            </a:r>
          </a:p>
        </p:txBody>
      </p:sp>
      <p:sp>
        <p:nvSpPr>
          <p:cNvPr id="13" name="TextBox 12"/>
          <p:cNvSpPr txBox="1"/>
          <p:nvPr/>
        </p:nvSpPr>
        <p:spPr>
          <a:xfrm>
            <a:off x="548640" y="309981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Q Kᵀ</a:t>
            </a:r>
          </a:p>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(N, N)</a:t>
            </a:r>
          </a:p>
        </p:txBody>
      </p:sp>
      <p:cxnSp>
        <p:nvCxnSpPr>
          <p:cNvPr id="14" name="Connector 13"/>
          <p:cNvCxnSpPr/>
          <p:nvPr/>
        </p:nvCxnSpPr>
        <p:spPr>
          <a:xfrm>
            <a:off x="2501798" y="346557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76118" y="2596896"/>
            <a:ext cx="1998878"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67558" y="268833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② 스케일</a:t>
            </a:r>
          </a:p>
        </p:txBody>
      </p:sp>
      <p:sp>
        <p:nvSpPr>
          <p:cNvPr id="17" name="TextBox 16"/>
          <p:cNvSpPr txBox="1"/>
          <p:nvPr/>
        </p:nvSpPr>
        <p:spPr>
          <a:xfrm>
            <a:off x="2867558" y="309981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 √d_h</a:t>
            </a:r>
          </a:p>
        </p:txBody>
      </p:sp>
      <p:cxnSp>
        <p:nvCxnSpPr>
          <p:cNvPr id="18" name="Connector 17"/>
          <p:cNvCxnSpPr/>
          <p:nvPr/>
        </p:nvCxnSpPr>
        <p:spPr>
          <a:xfrm>
            <a:off x="4820716" y="346557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2596896"/>
            <a:ext cx="1998878"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6476" y="268833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③ mask</a:t>
            </a:r>
          </a:p>
        </p:txBody>
      </p:sp>
      <p:sp>
        <p:nvSpPr>
          <p:cNvPr id="21" name="TextBox 20"/>
          <p:cNvSpPr txBox="1"/>
          <p:nvPr/>
        </p:nvSpPr>
        <p:spPr>
          <a:xfrm>
            <a:off x="5186476" y="309981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 M (−∞)</a:t>
            </a:r>
          </a:p>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6주차</a:t>
            </a:r>
          </a:p>
        </p:txBody>
      </p:sp>
      <p:cxnSp>
        <p:nvCxnSpPr>
          <p:cNvPr id="22" name="Connector 21"/>
          <p:cNvCxnSpPr/>
          <p:nvPr/>
        </p:nvCxnSpPr>
        <p:spPr>
          <a:xfrm>
            <a:off x="7139635" y="346557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13955" y="2596896"/>
            <a:ext cx="1998878" cy="1737360"/>
          </a:xfrm>
          <a:prstGeom prst="roundRect">
            <a:avLst>
              <a:gd name="adj" fmla="val 5263"/>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05395" y="268833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E97132"/>
                </a:solidFill>
                <a:latin typeface="맑은 고딕"/>
                <a:ea typeface="맑은 고딕"/>
                <a:cs typeface="맑은 고딕"/>
              </a:rPr>
              <a:t>④ softmax</a:t>
            </a:r>
          </a:p>
        </p:txBody>
      </p:sp>
      <p:sp>
        <p:nvSpPr>
          <p:cNvPr id="25" name="TextBox 24"/>
          <p:cNvSpPr txBox="1"/>
          <p:nvPr/>
        </p:nvSpPr>
        <p:spPr>
          <a:xfrm>
            <a:off x="7505395" y="309981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행마다 Key 축</a:t>
            </a:r>
          </a:p>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합 = 1</a:t>
            </a:r>
          </a:p>
        </p:txBody>
      </p:sp>
      <p:cxnSp>
        <p:nvCxnSpPr>
          <p:cNvPr id="26" name="Connector 25"/>
          <p:cNvCxnSpPr/>
          <p:nvPr/>
        </p:nvCxnSpPr>
        <p:spPr>
          <a:xfrm>
            <a:off x="9458553" y="346557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732873" y="2596896"/>
            <a:ext cx="1998878" cy="1737360"/>
          </a:xfrm>
          <a:prstGeom prst="roundRect">
            <a:avLst>
              <a:gd name="adj" fmla="val 5263"/>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313" y="268833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⑤ 가중합</a:t>
            </a:r>
          </a:p>
        </p:txBody>
      </p:sp>
      <p:sp>
        <p:nvSpPr>
          <p:cNvPr id="29" name="TextBox 28"/>
          <p:cNvSpPr txBox="1"/>
          <p:nvPr/>
        </p:nvSpPr>
        <p:spPr>
          <a:xfrm>
            <a:off x="9824313" y="309981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FFFFFF"/>
                </a:solidFill>
                <a:latin typeface="맑은 고딕"/>
                <a:ea typeface="맑은 고딕"/>
                <a:cs typeface="맑은 고딕"/>
              </a:rPr>
              <a:t>A V</a:t>
            </a:r>
          </a:p>
          <a:p>
            <a:pPr algn="ctr" marL="0" indent="0">
              <a:lnSpc>
                <a:spcPct val="110000"/>
              </a:lnSpc>
              <a:spcBef>
                <a:spcPts val="0"/>
              </a:spcBef>
              <a:spcAft>
                <a:spcPts val="350"/>
              </a:spcAft>
              <a:buNone/>
            </a:pPr>
            <a:r>
              <a:rPr sz="1400" b="0">
                <a:solidFill>
                  <a:srgbClr val="FFFFFF"/>
                </a:solidFill>
                <a:latin typeface="맑은 고딕"/>
                <a:ea typeface="맑은 고딕"/>
                <a:cs typeface="맑은 고딕"/>
              </a:rPr>
              <a:t>(N, d_h)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4토큰 예제: 설정</a:t>
            </a:r>
          </a:p>
        </p:txBody>
      </p:sp>
      <p:sp>
        <p:nvSpPr>
          <p:cNvPr id="3" name="Content Placeholder 2"/>
          <p:cNvSpPr>
            <a:spLocks noGrp="1"/>
          </p:cNvSpPr>
          <p:nvPr>
            <p:ph idx="1"/>
          </p:nvPr>
        </p:nvSpPr>
        <p:spPr>
          <a:xfrm>
            <a:off x="7569037" y="3831335"/>
            <a:ext cx="4162714" cy="255117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d_h = 2 → 스케일 </a:t>
            </a:r>
            <a:r>
              <a:rPr sz="1600" b="1">
                <a:solidFill>
                  <a:srgbClr val="1B2A36"/>
                </a:solidFill>
              </a:rPr>
              <a:t>√2</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먼저 </a:t>
            </a:r>
            <a:r>
              <a:rPr sz="1600" b="1">
                <a:solidFill>
                  <a:srgbClr val="1B2A36"/>
                </a:solidFill>
              </a:rPr>
              <a:t>Query A</a:t>
            </a:r>
            <a:r>
              <a:rPr sz="1600" b="0">
                <a:solidFill>
                  <a:srgbClr val="1B2A36"/>
                </a:solidFill>
              </a:rPr>
              <a:t>의 행 하나를 손으로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토큰 A · B · C · D, 특징 2개 — 숫자는 설명용이며 학습 결과가 아니다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pic>
        <p:nvPicPr>
          <p:cNvPr id="9" name="Picture 8" descr="attn_setup.png"/>
          <p:cNvPicPr>
            <a:picLocks noChangeAspect="1"/>
          </p:cNvPicPr>
          <p:nvPr/>
        </p:nvPicPr>
        <p:blipFill>
          <a:blip r:embed="rId3"/>
          <a:stretch>
            <a:fillRect/>
          </a:stretch>
        </p:blipFill>
        <p:spPr>
          <a:xfrm>
            <a:off x="457200" y="1432185"/>
            <a:ext cx="6791797" cy="4926317"/>
          </a:xfrm>
          <a:prstGeom prst="rect">
            <a:avLst/>
          </a:prstGeom>
        </p:spPr>
      </p:pic>
      <p:graphicFrame>
        <p:nvGraphicFramePr>
          <p:cNvPr id="10" name="Table 9"/>
          <p:cNvGraphicFramePr>
            <a:graphicFrameLocks noGrp="1"/>
          </p:cNvGraphicFramePr>
          <p:nvPr/>
        </p:nvGraphicFramePr>
        <p:xfrm>
          <a:off x="7569037" y="1408176"/>
          <a:ext cx="4162712" cy="2103119"/>
        </p:xfrm>
        <a:graphic>
          <a:graphicData uri="http://schemas.openxmlformats.org/drawingml/2006/table">
            <a:tbl>
              <a:tblPr firstRow="1" bandRow="0">
                <a:tableStyleId>{5940675A-B579-460E-94D1-54222C63F5DA}</a:tableStyleId>
              </a:tblPr>
              <a:tblGrid>
                <a:gridCol w="1040678"/>
                <a:gridCol w="1040678"/>
                <a:gridCol w="1040678"/>
                <a:gridCol w="1040678"/>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토큰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q</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k</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v</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A</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B</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(0, 1)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C</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 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Query A를 손으로 계산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점수 → ÷√2 → exp → 합으로 나누기 → Value 가중합</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5852160"/>
            <a:ext cx="11274552" cy="530352"/>
          </a:xfrm>
          <a:prstGeom prst="roundRect">
            <a:avLst>
              <a:gd name="adj" fmla="val 17241"/>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20"/>
              </a:spcAft>
              <a:buNone/>
            </a:pPr>
            <a:r>
              <a:rPr sz="1600" b="1">
                <a:solidFill>
                  <a:srgbClr val="FFFFFF"/>
                </a:solidFill>
                <a:latin typeface="맑은 고딕"/>
                <a:ea typeface="맑은 고딕"/>
                <a:cs typeface="맑은 고딕"/>
              </a:rPr>
              <a:t>o_A = 0.365·v_A + 0.180·v_B + 0.365·v_C + 0.089·v_D = (1.008, 1.000)</a:t>
            </a:r>
          </a:p>
        </p:txBody>
      </p:sp>
      <p:graphicFrame>
        <p:nvGraphicFramePr>
          <p:cNvPr id="10" name="Table 9"/>
          <p:cNvGraphicFramePr>
            <a:graphicFrameLocks noGrp="1"/>
          </p:cNvGraphicFramePr>
          <p:nvPr/>
        </p:nvGraphicFramePr>
        <p:xfrm>
          <a:off x="457200" y="1408176"/>
          <a:ext cx="11274549" cy="2340864"/>
        </p:xfrm>
        <a:graphic>
          <a:graphicData uri="http://schemas.openxmlformats.org/drawingml/2006/table">
            <a:tbl>
              <a:tblPr firstRow="1" bandRow="0">
                <a:tableStyleId>{5940675A-B579-460E-94D1-54222C63F5DA}</a:tableStyleId>
              </a:tblPr>
              <a:tblGrid>
                <a:gridCol w="1982338"/>
                <a:gridCol w="1610650"/>
                <a:gridCol w="1486754"/>
                <a:gridCol w="1486754"/>
                <a:gridCol w="1982338"/>
                <a:gridCol w="2725715"/>
              </a:tblGrid>
              <a:tr h="390144">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Key</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q_A · k</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 √2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exp</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softmax α</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α · v</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90144">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A (1,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0.707</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2.028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0.365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(0.365, 0)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B (0,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1.000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0.180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(0, 0.180)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90144">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C (1,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0.707</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2.028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0.365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(0.731, 0.731)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D (−1,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−0.707</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0.493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0.089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(−0.089, 0.089)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90144">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5.549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1.000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(1.008, 1.000)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전체 행렬로: 점수 → A → O</a:t>
            </a:r>
          </a:p>
        </p:txBody>
      </p:sp>
      <p:sp>
        <p:nvSpPr>
          <p:cNvPr id="3" name="Content Placeholder 2"/>
          <p:cNvSpPr>
            <a:spLocks noGrp="1"/>
          </p:cNvSpPr>
          <p:nvPr>
            <p:ph idx="1"/>
          </p:nvPr>
        </p:nvSpPr>
        <p:spPr>
          <a:xfrm>
            <a:off x="457200" y="4745736"/>
            <a:ext cx="11274552" cy="163677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각 행의 합 = 1 (softmax는 행마다), 첫 행 = 방금 손으로 계산한 Query A</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생각해 보기: Q·K를 고정하고 </a:t>
            </a:r>
            <a:r>
              <a:rPr sz="1600" b="1">
                <a:solidFill>
                  <a:srgbClr val="1B2A36"/>
                </a:solidFill>
              </a:rPr>
              <a:t>V만</a:t>
            </a:r>
            <a:r>
              <a:rPr sz="1600" b="0">
                <a:solidFill>
                  <a:srgbClr val="1B2A36"/>
                </a:solidFill>
              </a:rPr>
              <a:t> 바꾸면 A는? O는? (답: A 그대로, O는 바뀐다)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나머지 Query도 같은 규칙 — 네 행을 행렬곱 한 번에</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pic>
        <p:nvPicPr>
          <p:cNvPr id="9" name="Picture 8" descr="attn_pipeline.png"/>
          <p:cNvPicPr>
            <a:picLocks noChangeAspect="1"/>
          </p:cNvPicPr>
          <p:nvPr/>
        </p:nvPicPr>
        <p:blipFill>
          <a:blip r:embed="rId3"/>
          <a:stretch>
            <a:fillRect/>
          </a:stretch>
        </p:blipFill>
        <p:spPr>
          <a:xfrm>
            <a:off x="1492288" y="1408176"/>
            <a:ext cx="9204375" cy="310896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왜 √d_h로 나눌까</a:t>
            </a:r>
          </a:p>
        </p:txBody>
      </p:sp>
      <p:sp>
        <p:nvSpPr>
          <p:cNvPr id="3" name="Content Placeholder 2"/>
          <p:cNvSpPr>
            <a:spLocks noGrp="1"/>
          </p:cNvSpPr>
          <p:nvPr>
            <p:ph idx="1"/>
          </p:nvPr>
        </p:nvSpPr>
        <p:spPr>
          <a:xfrm>
            <a:off x="7349947" y="3648456"/>
            <a:ext cx="4381804" cy="2734056"/>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스케일 없으면 softmax가 </a:t>
            </a:r>
            <a:r>
              <a:rPr sz="1500" b="1">
                <a:solidFill>
                  <a:srgbClr val="1B2A36"/>
                </a:solidFill>
              </a:rPr>
              <a:t>한 칸에 몰림</a:t>
            </a:r>
          </a:p>
          <a:p>
            <a:pPr algn="l" marL="566928" indent="-237744">
              <a:lnSpc>
                <a:spcPct val="110000"/>
              </a:lnSpc>
              <a:spcBef>
                <a:spcPts val="0"/>
              </a:spcBef>
              <a:spcAft>
                <a:spcPts val="650"/>
              </a:spcAft>
              <a:buClr>
                <a:srgbClr val="01688F"/>
              </a:buClr>
              <a:buFont typeface="Arial"/>
              <a:buChar char="-"/>
            </a:pPr>
            <a:r>
              <a:rPr sz="1300" b="0">
                <a:solidFill>
                  <a:srgbClr val="1B2A36"/>
                </a:solidFill>
              </a:rPr>
              <a:t>→ 기울기도 작아진다</a:t>
            </a:r>
          </a:p>
          <a:p>
            <a:pPr algn="l" marL="256032" indent="-237744">
              <a:lnSpc>
                <a:spcPct val="110000"/>
              </a:lnSpc>
              <a:spcBef>
                <a:spcPts val="0"/>
              </a:spcBef>
              <a:spcAft>
                <a:spcPts val="750"/>
              </a:spcAft>
              <a:buClr>
                <a:srgbClr val="01688F"/>
              </a:buClr>
              <a:buFont typeface="Wingdings" pitchFamily="2" charset="2"/>
              <a:buChar char="§"/>
            </a:pPr>
            <a:r>
              <a:rPr sz="1500" b="1">
                <a:solidFill>
                  <a:srgbClr val="E97132"/>
                </a:solidFill>
              </a:rPr>
              <a:t>주의</a:t>
            </a:r>
            <a:r>
              <a:rPr sz="1500" b="0">
                <a:solidFill>
                  <a:srgbClr val="1B2A36"/>
                </a:solidFill>
              </a:rPr>
              <a:t> 단순화한 가정 — 항상 성립하진 않는다</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생성 때 </a:t>
            </a:r>
            <a:r>
              <a:rPr sz="1500" b="1">
                <a:solidFill>
                  <a:srgbClr val="1B2A36"/>
                </a:solidFill>
              </a:rPr>
              <a:t>temperature</a:t>
            </a:r>
            <a:r>
              <a:rPr sz="1500" b="0">
                <a:solidFill>
                  <a:srgbClr val="1B2A36"/>
                </a:solidFill>
              </a:rPr>
              <a:t>와는 목적이 다르다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성분이 독립이고 분산 1이면 내적의 분산은 d_h — 차원이 크면 점수가 커져 softmax가 뾰족해진다</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pic>
        <p:nvPicPr>
          <p:cNvPr id="9" name="Picture 8" descr="sqrt_scale.png"/>
          <p:cNvPicPr>
            <a:picLocks noChangeAspect="1"/>
          </p:cNvPicPr>
          <p:nvPr/>
        </p:nvPicPr>
        <p:blipFill>
          <a:blip r:embed="rId3"/>
          <a:stretch>
            <a:fillRect/>
          </a:stretch>
        </p:blipFill>
        <p:spPr>
          <a:xfrm>
            <a:off x="457200" y="2698917"/>
            <a:ext cx="6572707" cy="2392852"/>
          </a:xfrm>
          <a:prstGeom prst="rect">
            <a:avLst/>
          </a:prstGeom>
        </p:spPr>
      </p:pic>
      <p:graphicFrame>
        <p:nvGraphicFramePr>
          <p:cNvPr id="10" name="Table 9"/>
          <p:cNvGraphicFramePr>
            <a:graphicFrameLocks noGrp="1"/>
          </p:cNvGraphicFramePr>
          <p:nvPr/>
        </p:nvGraphicFramePr>
        <p:xfrm>
          <a:off x="7349947" y="1408176"/>
          <a:ext cx="4381803" cy="2011680"/>
        </p:xfrm>
        <a:graphic>
          <a:graphicData uri="http://schemas.openxmlformats.org/drawingml/2006/table">
            <a:tbl>
              <a:tblPr firstRow="1" bandRow="0">
                <a:tableStyleId>{5940675A-B579-460E-94D1-54222C63F5DA}</a:tableStyleId>
              </a:tblPr>
              <a:tblGrid>
                <a:gridCol w="1460601"/>
                <a:gridCol w="1460601"/>
                <a:gridCol w="1460601"/>
              </a:tblGrid>
              <a:tr h="57302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d_h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q·k 표준편차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 √d_h 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9664">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 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16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 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64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 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ctr" marL="0" indent="0">
                        <a:lnSpc>
                          <a:spcPct val="110000"/>
                        </a:lnSpc>
                        <a:spcBef>
                          <a:spcPts val="0"/>
                        </a:spcBef>
                        <a:spcAft>
                          <a:spcPts val="0"/>
                        </a:spcAft>
                        <a:buNone/>
                      </a:pPr>
                      <a:r>
                        <a:rPr sz="1400" b="1">
                          <a:solidFill>
                            <a:srgbClr val="1B2A36"/>
                          </a:solidFill>
                          <a:latin typeface="맑은 고딕"/>
                          <a:ea typeface="맑은 고딕"/>
                          <a:cs typeface="맑은 고딕"/>
                        </a:rPr>
                        <a:t>256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 16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가중치를 해석할 때와 경계 조건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큰 α ≠ 큰 영향 · 모든 Key가 막히면 softmax가 정의되지 않는다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sp>
        <p:nvSpPr>
          <p:cNvPr id="9" name="Rounded Rectangle 8"/>
          <p:cNvSpPr/>
          <p:nvPr/>
        </p:nvSpPr>
        <p:spPr>
          <a:xfrm>
            <a:off x="457200" y="1408176"/>
            <a:ext cx="5522976" cy="2418207"/>
          </a:xfrm>
          <a:prstGeom prst="roundRect">
            <a:avLst>
              <a:gd name="adj" fmla="val 3781"/>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536192"/>
            <a:ext cx="5193792"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해석할 때</a:t>
            </a:r>
          </a:p>
        </p:txBody>
      </p:sp>
      <p:sp>
        <p:nvSpPr>
          <p:cNvPr id="11" name="TextBox 10"/>
          <p:cNvSpPr txBox="1"/>
          <p:nvPr/>
        </p:nvSpPr>
        <p:spPr>
          <a:xfrm>
            <a:off x="621792" y="1993392"/>
            <a:ext cx="5193792" cy="1704975"/>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α가 커도 </a:t>
            </a:r>
            <a:r>
              <a:rPr sz="1700" b="1">
                <a:solidFill>
                  <a:srgbClr val="1B2A36"/>
                </a:solidFill>
                <a:latin typeface="맑은 고딕"/>
                <a:ea typeface="맑은 고딕"/>
                <a:cs typeface="맑은 고딕"/>
              </a:rPr>
              <a:t>V의 크기·방향</a:t>
            </a:r>
            <a:r>
              <a:rPr sz="1700" b="0">
                <a:solidFill>
                  <a:srgbClr val="1B2A36"/>
                </a:solidFill>
                <a:latin typeface="맑은 고딕"/>
                <a:ea typeface="맑은 고딕"/>
                <a:cs typeface="맑은 고딕"/>
              </a:rPr>
              <a:t>이 다르다</a:t>
            </a:r>
          </a:p>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뒤에 W_O · residual · FFN · 다음 층이 있다</a:t>
            </a:r>
          </a:p>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heatmap은 </a:t>
            </a:r>
            <a:r>
              <a:rPr sz="1700" b="1">
                <a:solidFill>
                  <a:srgbClr val="1B2A36"/>
                </a:solidFill>
                <a:latin typeface="맑은 고딕"/>
                <a:ea typeface="맑은 고딕"/>
                <a:cs typeface="맑은 고딕"/>
              </a:rPr>
              <a:t>관찰 도구</a:t>
            </a:r>
            <a:r>
              <a:rPr sz="1700" b="0">
                <a:solidFill>
                  <a:srgbClr val="1B2A36"/>
                </a:solidFill>
                <a:latin typeface="맑은 고딕"/>
                <a:ea typeface="맑은 고딕"/>
                <a:cs typeface="맑은 고딕"/>
              </a:rPr>
              <a:t> — 인과는 따로 검증</a:t>
            </a:r>
          </a:p>
        </p:txBody>
      </p:sp>
      <p:sp>
        <p:nvSpPr>
          <p:cNvPr id="12" name="Rounded Rectangle 11"/>
          <p:cNvSpPr/>
          <p:nvPr/>
        </p:nvSpPr>
        <p:spPr>
          <a:xfrm>
            <a:off x="6208776" y="1408176"/>
            <a:ext cx="5522976" cy="2418207"/>
          </a:xfrm>
          <a:prstGeom prst="roundRect">
            <a:avLst>
              <a:gd name="adj" fmla="val 3781"/>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536192"/>
            <a:ext cx="519379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경계 조건</a:t>
            </a:r>
          </a:p>
        </p:txBody>
      </p:sp>
      <p:sp>
        <p:nvSpPr>
          <p:cNvPr id="14" name="TextBox 13"/>
          <p:cNvSpPr txBox="1"/>
          <p:nvPr/>
        </p:nvSpPr>
        <p:spPr>
          <a:xfrm>
            <a:off x="6373368" y="1993392"/>
            <a:ext cx="5193792" cy="1704975"/>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모든 Key가 가려진 행 → softmax </a:t>
            </a:r>
            <a:r>
              <a:rPr sz="1700" b="1">
                <a:solidFill>
                  <a:srgbClr val="1B2A36"/>
                </a:solidFill>
                <a:latin typeface="맑은 고딕"/>
                <a:ea typeface="맑은 고딕"/>
                <a:cs typeface="맑은 고딕"/>
              </a:rPr>
              <a:t>정의 안 됨</a:t>
            </a:r>
            <a:r>
              <a:rPr sz="1700" b="0">
                <a:solidFill>
                  <a:srgbClr val="1B2A36"/>
                </a:solidFill>
                <a:latin typeface="맑은 고딕"/>
                <a:ea typeface="맑은 고딕"/>
                <a:cs typeface="맑은 고딕"/>
              </a:rPr>
              <a:t> (NaN 등)</a:t>
            </a:r>
          </a:p>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 유효한 Query엔 허용된 Key를 </a:t>
            </a:r>
            <a:r>
              <a:rPr sz="1700" b="1">
                <a:solidFill>
                  <a:srgbClr val="1B2A36"/>
                </a:solidFill>
                <a:latin typeface="맑은 고딕"/>
                <a:ea typeface="맑은 고딕"/>
                <a:cs typeface="맑은 고딕"/>
              </a:rPr>
              <a:t>최소 하나</a:t>
            </a:r>
          </a:p>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attention dropout 뒤엔 행 합이 1이 아닐 수 있다</a:t>
            </a:r>
          </a:p>
        </p:txBody>
      </p:sp>
      <p:sp>
        <p:nvSpPr>
          <p:cNvPr id="15" name="Rounded Rectangle 14"/>
          <p:cNvSpPr/>
          <p:nvPr/>
        </p:nvSpPr>
        <p:spPr>
          <a:xfrm>
            <a:off x="457200" y="3694176"/>
            <a:ext cx="11274552" cy="868680"/>
          </a:xfrm>
          <a:prstGeom prst="roundRect">
            <a:avLst>
              <a:gd name="adj" fmla="val 10526"/>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20"/>
              </a:spcAft>
              <a:buNone/>
            </a:pPr>
            <a:r>
              <a:rPr sz="1600" b="1">
                <a:solidFill>
                  <a:srgbClr val="FFFFFF"/>
                </a:solidFill>
                <a:latin typeface="맑은 고딕"/>
                <a:ea typeface="맑은 고딕"/>
                <a:cs typeface="맑은 고딕"/>
              </a:rPr>
              <a:t>원자료 개념 확인 18: 큰 attention 가중치를 봤다면 — ‘그 위치에 큰 참조 비중이 </a:t>
            </a:r>
            <a:r>
              <a:rPr sz="1600" b="1">
                <a:solidFill>
                  <a:srgbClr val="FFFFFF"/>
                </a:solidFill>
                <a:latin typeface="맑은 고딕"/>
                <a:ea typeface="맑은 고딕"/>
                <a:cs typeface="맑은 고딕"/>
              </a:rPr>
              <a:t>관찰</a:t>
            </a:r>
            <a:r>
              <a:rPr sz="1600" b="1">
                <a:solidFill>
                  <a:srgbClr val="FFFFFF"/>
                </a:solidFill>
                <a:latin typeface="맑은 고딕"/>
                <a:ea typeface="맑은 고딕"/>
                <a:cs typeface="맑은 고딕"/>
              </a:rPr>
              <a:t>되었다’고 말하고, 인과 해석은 </a:t>
            </a:r>
            <a:r>
              <a:rPr sz="1600" b="1">
                <a:solidFill>
                  <a:srgbClr val="FFFFFF"/>
                </a:solidFill>
                <a:latin typeface="맑은 고딕"/>
                <a:ea typeface="맑은 고딕"/>
                <a:cs typeface="맑은 고딕"/>
              </a:rPr>
              <a:t>추가 검증</a:t>
            </a:r>
            <a:r>
              <a:rPr sz="1600" b="1">
                <a:solidFill>
                  <a:srgbClr val="FFFFFF"/>
                </a:solidFill>
                <a:latin typeface="맑은 고딕"/>
                <a:ea typeface="맑은 고딕"/>
                <a:cs typeface="맑은 고딕"/>
              </a:rPr>
              <a:t>한다 (예: 그 위치를 가리거나 바꿔 출력 변화를 측정).</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4</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Multi-head와 tensor shape</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한 번의 softmax는 한 가지 비교 방식 — 여러 관점으로 동시에 보려면?</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여러 비교 · 전달 경로 만들기</a:t>
            </a:r>
          </a:p>
        </p:txBody>
      </p:sp>
      <p:sp>
        <p:nvSpPr>
          <p:cNvPr id="3" name="Content Placeholder 2"/>
          <p:cNvSpPr>
            <a:spLocks noGrp="1"/>
          </p:cNvSpPr>
          <p:nvPr>
            <p:ph idx="1"/>
          </p:nvPr>
        </p:nvSpPr>
        <p:spPr>
          <a:xfrm>
            <a:off x="7349947" y="3054096"/>
            <a:ext cx="4381804" cy="332841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각 head는 </a:t>
            </a:r>
            <a:r>
              <a:rPr sz="1600" b="1">
                <a:solidFill>
                  <a:srgbClr val="1B2A36"/>
                </a:solidFill>
              </a:rPr>
              <a:t>모든 토큰</a:t>
            </a:r>
            <a:r>
              <a:rPr sz="1600" b="0">
                <a:solidFill>
                  <a:srgbClr val="1B2A36"/>
                </a:solidFill>
              </a:rPr>
              <a:t>을 본다</a:t>
            </a:r>
          </a:p>
          <a:p>
            <a:pPr algn="l" marL="566928" indent="-237744">
              <a:lnSpc>
                <a:spcPct val="110000"/>
              </a:lnSpc>
              <a:spcBef>
                <a:spcPts val="0"/>
              </a:spcBef>
              <a:spcAft>
                <a:spcPts val="675"/>
              </a:spcAft>
              <a:buClr>
                <a:srgbClr val="01688F"/>
              </a:buClr>
              <a:buFont typeface="Arial"/>
              <a:buChar char="-"/>
            </a:pPr>
            <a:r>
              <a:rPr sz="1350" b="0">
                <a:solidFill>
                  <a:srgbClr val="1B2A36"/>
                </a:solidFill>
              </a:rPr>
              <a:t>토큰을 나누는 게 아니라 </a:t>
            </a:r>
            <a:r>
              <a:rPr sz="1350" b="1">
                <a:solidFill>
                  <a:srgbClr val="1B2A36"/>
                </a:solidFill>
              </a:rPr>
              <a:t>특징 차원</a:t>
            </a:r>
            <a:r>
              <a:rPr sz="1350" b="0">
                <a:solidFill>
                  <a:srgbClr val="1B2A36"/>
                </a:solidFill>
              </a:rPr>
              <a:t>을 나눈다</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d_h = d / H</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W_O: 여러 head의 결과를 </a:t>
            </a:r>
            <a:r>
              <a:rPr sz="1600" b="1">
                <a:solidFill>
                  <a:srgbClr val="1B2A36"/>
                </a:solidFill>
              </a:rPr>
              <a:t>섞는</a:t>
            </a:r>
            <a:r>
              <a:rPr sz="1600" b="0">
                <a:solidFill>
                  <a:srgbClr val="1B2A36"/>
                </a:solidFill>
              </a:rPr>
              <a:t> 투영</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그림은 무작위 가중치 예시 — 역할 지정 아님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650" b="1">
                <a:solidFill>
                  <a:srgbClr val="01688F"/>
                </a:solidFill>
                <a:latin typeface="맑은 고딕"/>
                <a:ea typeface="맑은 고딕"/>
                <a:cs typeface="맑은 고딕"/>
              </a:rPr>
              <a:t>d차원을 H개 부분공간으로 나눠 각 head가 독립적으로 attention — 결과를 이어 붙여 W_O로 섞는다</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1408176"/>
            <a:ext cx="11274552" cy="1371600"/>
          </a:xfrm>
          <a:prstGeom prst="roundRect">
            <a:avLst>
              <a:gd name="adj" fmla="val 6666"/>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1371600"/>
          </a:xfrm>
          <a:prstGeom prst="rect">
            <a:avLst/>
          </a:prstGeom>
          <a:noFill/>
        </p:spPr>
        <p:txBody>
          <a:bodyPr wrap="square" anchor="ctr">
            <a:spAutoFit/>
          </a:bodyPr>
          <a:lstStyle/>
          <a:p>
            <a:pPr algn="ctr" marL="0" indent="0">
              <a:buNone/>
            </a:pPr>
            <a:r>
              <a:rPr sz="2100" b="1">
                <a:solidFill>
                  <a:srgbClr val="1B2A36"/>
                </a:solidFill>
                <a:latin typeface="Courier New"/>
                <a:ea typeface="맑은 고딕"/>
                <a:cs typeface="Courier New"/>
              </a:rPr>
              <a:t>head_i = Attention( X W_Q^i, X W_K^i, X W_V^i )</a:t>
            </a:r>
          </a:p>
          <a:p>
            <a:pPr algn="ctr" marL="0" indent="0">
              <a:buNone/>
            </a:pPr>
            <a:r>
              <a:rPr sz="2100" b="1">
                <a:solidFill>
                  <a:srgbClr val="1B2A36"/>
                </a:solidFill>
                <a:latin typeface="Courier New"/>
                <a:ea typeface="맑은 고딕"/>
                <a:cs typeface="Courier New"/>
              </a:rPr>
              <a:t>MultiHead(X) = Concat( head_1, …, head_H ) · W_O</a:t>
            </a:r>
          </a:p>
        </p:txBody>
      </p:sp>
      <p:pic>
        <p:nvPicPr>
          <p:cNvPr id="11" name="Picture 10" descr="heads.png"/>
          <p:cNvPicPr>
            <a:picLocks noChangeAspect="1"/>
          </p:cNvPicPr>
          <p:nvPr/>
        </p:nvPicPr>
        <p:blipFill>
          <a:blip r:embed="rId3"/>
          <a:stretch>
            <a:fillRect/>
          </a:stretch>
        </p:blipFill>
        <p:spPr>
          <a:xfrm>
            <a:off x="581558" y="3054096"/>
            <a:ext cx="6323990" cy="332841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 = 8, H = 2, N = 5를 따라가기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(B, N, d) → 투영 → (B, N, H, d_h) → 축 교환 → (B, H, N, d_h)</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pic>
        <p:nvPicPr>
          <p:cNvPr id="9" name="Picture 8" descr="mha_shapes.png"/>
          <p:cNvPicPr>
            <a:picLocks noChangeAspect="1"/>
          </p:cNvPicPr>
          <p:nvPr/>
        </p:nvPicPr>
        <p:blipFill>
          <a:blip r:embed="rId3"/>
          <a:stretch>
            <a:fillRect/>
          </a:stretch>
        </p:blipFill>
        <p:spPr>
          <a:xfrm>
            <a:off x="3122675" y="1408176"/>
            <a:ext cx="5943600" cy="2011680"/>
          </a:xfrm>
          <a:prstGeom prst="rect">
            <a:avLst/>
          </a:prstGeom>
        </p:spPr>
      </p:pic>
      <p:graphicFrame>
        <p:nvGraphicFramePr>
          <p:cNvPr id="10" name="Table 9"/>
          <p:cNvGraphicFramePr>
            <a:graphicFrameLocks noGrp="1"/>
          </p:cNvGraphicFramePr>
          <p:nvPr/>
        </p:nvGraphicFramePr>
        <p:xfrm>
          <a:off x="457200" y="3648456"/>
          <a:ext cx="11274549" cy="2410968"/>
        </p:xfrm>
        <a:graphic>
          <a:graphicData uri="http://schemas.openxmlformats.org/drawingml/2006/table">
            <a:tbl>
              <a:tblPr firstRow="1" bandRow="0">
                <a:tableStyleId>{5940675A-B579-460E-94D1-54222C63F5DA}</a:tableStyleId>
              </a:tblPr>
              <a:tblGrid>
                <a:gridCol w="1725696"/>
                <a:gridCol w="2761114"/>
                <a:gridCol w="1955789"/>
                <a:gridCol w="4831950"/>
              </a:tblGrid>
              <a:tr h="344424">
                <a:tc>
                  <a:txBody>
                    <a:bodyPr wrap="square" lIns="36576" rIns="36576" tIns="36576" bIns="36576" anchor="t"/>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단계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연산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shape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의미</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44424">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입력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X</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(2, 5, 8)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문장 2개 · 토큰 5개 · 특징 8개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44424">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투영</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X W_Q (d × 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(2, 5, 8)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모든 head의 Q를 한 번에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44424">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head 분리</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view → transpose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(2, 2, 5, 4)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배치 · head · 토큰 · 특징</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44424">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점수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Q Kᵀ / √4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(2, 2, 5, 5)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head별 위치 관계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44424">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가중합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A V</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(2, 2, 5, 4)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head별 새 표현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44424">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결합 · 투영</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concat → W_O</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(2, 5, 8)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입력과 같은 shape → 쌓을 수 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PyTorch로 직접 구현</a:t>
            </a:r>
          </a:p>
        </p:txBody>
      </p:sp>
      <p:sp>
        <p:nvSpPr>
          <p:cNvPr id="3" name="Content Placeholder 2"/>
          <p:cNvSpPr>
            <a:spLocks noGrp="1"/>
          </p:cNvSpPr>
          <p:nvPr>
            <p:ph idx="1"/>
          </p:nvPr>
        </p:nvSpPr>
        <p:spPr>
          <a:xfrm>
            <a:off x="7569037" y="1408176"/>
            <a:ext cx="4162714"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Courier New"/>
                <a:ea typeface="맑은 고딕"/>
                <a:cs typeface="Courier New"/>
              </a:rPr>
              <a:t>view + transpose</a:t>
            </a:r>
            <a:r>
              <a:rPr sz="1800" b="0">
                <a:solidFill>
                  <a:srgbClr val="1B2A36"/>
                </a:solidFill>
              </a:rPr>
              <a:t>: head 축 만들기</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Courier New"/>
                <a:ea typeface="맑은 고딕"/>
                <a:cs typeface="Courier New"/>
              </a:rPr>
              <a:t>softmax(dim=-1)</a:t>
            </a:r>
            <a:r>
              <a:rPr sz="1800" b="0">
                <a:solidFill>
                  <a:srgbClr val="1B2A36"/>
                </a:solidFill>
              </a:rPr>
              <a:t>: </a:t>
            </a:r>
            <a:r>
              <a:rPr sz="1800" b="1">
                <a:solidFill>
                  <a:srgbClr val="1B2A36"/>
                </a:solidFill>
              </a:rPr>
              <a:t>Key 축</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출력 shape = 입력 shape</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Courier New"/>
                <a:ea typeface="맑은 고딕"/>
                <a:cs typeface="Courier New"/>
              </a:rPr>
              <a:t>nn.MultiheadAttention(8, 2)</a:t>
            </a:r>
          </a:p>
          <a:p>
            <a:pPr algn="l" marL="566928" indent="-237744">
              <a:lnSpc>
                <a:spcPct val="110000"/>
              </a:lnSpc>
              <a:spcBef>
                <a:spcPts val="0"/>
              </a:spcBef>
              <a:spcAft>
                <a:spcPts val="775"/>
              </a:spcAft>
              <a:buClr>
                <a:srgbClr val="01688F"/>
              </a:buClr>
              <a:buFont typeface="Arial"/>
              <a:buChar char="-"/>
            </a:pPr>
            <a:r>
              <a:rPr sz="1550" b="0">
                <a:solidFill>
                  <a:srgbClr val="1B2A36"/>
                </a:solidFill>
              </a:rPr>
              <a:t>파라미터 4 × (8·8 + 8) = </a:t>
            </a:r>
            <a:r>
              <a:rPr sz="1550" b="1">
                <a:solidFill>
                  <a:srgbClr val="1B2A36"/>
                </a:solidFill>
              </a:rPr>
              <a:t>288</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투영 한 번 → head 축 만들기 → scaled dot-product → 합치기</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코드</a:t>
            </a:r>
          </a:p>
        </p:txBody>
      </p:sp>
      <p:sp>
        <p:nvSpPr>
          <p:cNvPr id="9" name="Rounded Rectangle 8"/>
          <p:cNvSpPr/>
          <p:nvPr/>
        </p:nvSpPr>
        <p:spPr>
          <a:xfrm>
            <a:off x="457200" y="1408176"/>
            <a:ext cx="6791797" cy="2689860"/>
          </a:xfrm>
          <a:prstGeom prst="roundRect">
            <a:avLst>
              <a:gd name="adj" fmla="val 2039"/>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517904"/>
            <a:ext cx="6572341" cy="2506979"/>
          </a:xfrm>
          <a:prstGeom prst="rect">
            <a:avLst/>
          </a:prstGeom>
          <a:noFill/>
        </p:spPr>
        <p:txBody>
          <a:bodyPr wrap="square">
            <a:spAutoFit/>
          </a:bodyPr>
          <a:lstStyle/>
          <a:p>
            <a:pPr marL="0" indent="0">
              <a:lnSpc>
                <a:spcPct val="100000"/>
              </a:lnSpc>
              <a:buNone/>
            </a:pPr>
            <a:r>
              <a:rPr sz="1250">
                <a:solidFill>
                  <a:srgbClr val="1B2A36"/>
                </a:solidFill>
                <a:latin typeface="Courier New"/>
                <a:ea typeface="맑은 고딕"/>
                <a:cs typeface="Courier New"/>
              </a:rPr>
              <a:t>import torch, torch.nn as nn</a:t>
            </a:r>
          </a:p>
          <a:p>
            <a:pPr marL="0" indent="0">
              <a:lnSpc>
                <a:spcPct val="100000"/>
              </a:lnSpc>
              <a:buNone/>
            </a:pPr>
            <a:r>
              <a:rPr sz="1250">
                <a:solidFill>
                  <a:srgbClr val="1B2A36"/>
                </a:solidFill>
                <a:latin typeface="Courier New"/>
                <a:ea typeface="맑은 고딕"/>
                <a:cs typeface="Courier New"/>
              </a:rPr>
              <a:t>B, N, d, H = 2, 5, 8, 2;  dh = d // H</a:t>
            </a:r>
          </a:p>
          <a:p>
            <a:pPr marL="0" indent="0">
              <a:lnSpc>
                <a:spcPct val="100000"/>
              </a:lnSpc>
              <a:buNone/>
            </a:pPr>
            <a:r>
              <a:rPr sz="1250">
                <a:solidFill>
                  <a:srgbClr val="1B2A36"/>
                </a:solidFill>
                <a:latin typeface="Courier New"/>
                <a:ea typeface="맑은 고딕"/>
                <a:cs typeface="Courier New"/>
              </a:rPr>
              <a:t>X = torch.randn(B, N, d)</a:t>
            </a:r>
          </a:p>
          <a:p>
            <a:pPr marL="0" indent="0">
              <a:lnSpc>
                <a:spcPct val="100000"/>
              </a:lnSpc>
              <a:buNone/>
            </a:pPr>
            <a:r>
              <a:rPr sz="1250">
                <a:solidFill>
                  <a:srgbClr val="1B2A36"/>
                </a:solidFill>
                <a:latin typeface="Courier New"/>
                <a:ea typeface="맑은 고딕"/>
                <a:cs typeface="Courier New"/>
              </a:rPr>
              <a:t>Wq, Wk, Wv, Wo = (nn.Linear(d, d) for _ in range(4))</a:t>
            </a:r>
          </a:p>
          <a:p>
            <a:pPr marL="0" indent="0">
              <a:lnSpc>
                <a:spcPct val="100000"/>
              </a:lnSpc>
              <a:buNone/>
            </a:pPr>
            <a:r>
              <a:rPr sz="1250">
                <a:latin typeface="Courier New"/>
                <a:ea typeface="맑은 고딕"/>
                <a:cs typeface="Courier New"/>
              </a:rPr>
              <a:t> </a:t>
            </a:r>
          </a:p>
          <a:p>
            <a:pPr marL="0" indent="0">
              <a:lnSpc>
                <a:spcPct val="100000"/>
              </a:lnSpc>
              <a:buNone/>
            </a:pPr>
            <a:r>
              <a:rPr sz="1250">
                <a:solidFill>
                  <a:srgbClr val="1B2A36"/>
                </a:solidFill>
                <a:latin typeface="Courier New"/>
                <a:ea typeface="맑은 고딕"/>
                <a:cs typeface="Courier New"/>
              </a:rPr>
              <a:t>def split(t):  </a:t>
            </a:r>
            <a:r>
              <a:rPr sz="1250">
                <a:solidFill>
                  <a:srgbClr val="3F8A6E"/>
                </a:solidFill>
                <a:latin typeface="Courier New"/>
                <a:ea typeface="맑은 고딕"/>
                <a:cs typeface="Courier New"/>
              </a:rPr>
              <a:t># (B,N,d) -&gt; (B,H,N,dh)</a:t>
            </a:r>
          </a:p>
          <a:p>
            <a:pPr marL="0" indent="0">
              <a:lnSpc>
                <a:spcPct val="100000"/>
              </a:lnSpc>
              <a:buNone/>
            </a:pPr>
            <a:r>
              <a:rPr sz="1250">
                <a:solidFill>
                  <a:srgbClr val="1B2A36"/>
                </a:solidFill>
                <a:latin typeface="Courier New"/>
                <a:ea typeface="맑은 고딕"/>
                <a:cs typeface="Courier New"/>
              </a:rPr>
              <a:t>    return t.view(B, N, H, dh).transpose(1, 2)</a:t>
            </a:r>
          </a:p>
          <a:p>
            <a:pPr marL="0" indent="0">
              <a:lnSpc>
                <a:spcPct val="100000"/>
              </a:lnSpc>
              <a:buNone/>
            </a:pPr>
            <a:r>
              <a:rPr sz="1250">
                <a:solidFill>
                  <a:srgbClr val="1B2A36"/>
                </a:solidFill>
                <a:latin typeface="Courier New"/>
                <a:ea typeface="맑은 고딕"/>
                <a:cs typeface="Courier New"/>
              </a:rPr>
              <a:t>Q, K, V = split(Wq(X)), split(Wk(X)), split(Wv(X))</a:t>
            </a:r>
          </a:p>
          <a:p>
            <a:pPr marL="0" indent="0">
              <a:lnSpc>
                <a:spcPct val="100000"/>
              </a:lnSpc>
              <a:buNone/>
            </a:pPr>
            <a:r>
              <a:rPr sz="1250">
                <a:solidFill>
                  <a:srgbClr val="1B2A36"/>
                </a:solidFill>
                <a:latin typeface="Courier New"/>
                <a:ea typeface="맑은 고딕"/>
                <a:cs typeface="Courier New"/>
              </a:rPr>
              <a:t>S = Q @ K.transpose(-2, -1) / dh ** 0.5   </a:t>
            </a:r>
            <a:r>
              <a:rPr sz="1250">
                <a:solidFill>
                  <a:srgbClr val="3F8A6E"/>
                </a:solidFill>
                <a:latin typeface="Courier New"/>
                <a:ea typeface="맑은 고딕"/>
                <a:cs typeface="Courier New"/>
              </a:rPr>
              <a:t># (2,2,5,5)</a:t>
            </a:r>
          </a:p>
          <a:p>
            <a:pPr marL="0" indent="0">
              <a:lnSpc>
                <a:spcPct val="100000"/>
              </a:lnSpc>
              <a:buNone/>
            </a:pPr>
            <a:r>
              <a:rPr sz="1250">
                <a:solidFill>
                  <a:srgbClr val="1B2A36"/>
                </a:solidFill>
                <a:latin typeface="Courier New"/>
                <a:ea typeface="맑은 고딕"/>
                <a:cs typeface="Courier New"/>
              </a:rPr>
              <a:t>A = S.softmax(dim=-1)                     </a:t>
            </a:r>
            <a:r>
              <a:rPr sz="1250">
                <a:solidFill>
                  <a:srgbClr val="3F8A6E"/>
                </a:solidFill>
                <a:latin typeface="Courier New"/>
                <a:ea typeface="맑은 고딕"/>
                <a:cs typeface="Courier New"/>
              </a:rPr>
              <a:t># Key 축</a:t>
            </a:r>
          </a:p>
          <a:p>
            <a:pPr marL="0" indent="0">
              <a:lnSpc>
                <a:spcPct val="100000"/>
              </a:lnSpc>
              <a:buNone/>
            </a:pPr>
            <a:r>
              <a:rPr sz="1250">
                <a:solidFill>
                  <a:srgbClr val="1B2A36"/>
                </a:solidFill>
                <a:latin typeface="Courier New"/>
                <a:ea typeface="맑은 고딕"/>
                <a:cs typeface="Courier New"/>
              </a:rPr>
              <a:t>O = (A @ V).transpose(1, 2).reshape(B, N, d)</a:t>
            </a:r>
          </a:p>
          <a:p>
            <a:pPr marL="0" indent="0">
              <a:lnSpc>
                <a:spcPct val="100000"/>
              </a:lnSpc>
              <a:buNone/>
            </a:pPr>
            <a:r>
              <a:rPr sz="1250">
                <a:solidFill>
                  <a:srgbClr val="1B2A36"/>
                </a:solidFill>
                <a:latin typeface="Courier New"/>
                <a:ea typeface="맑은 고딕"/>
                <a:cs typeface="Courier New"/>
              </a:rPr>
              <a:t>print(Wo(O).shape)                        </a:t>
            </a:r>
            <a:r>
              <a:rPr sz="1250">
                <a:solidFill>
                  <a:srgbClr val="3F8A6E"/>
                </a:solidFill>
                <a:latin typeface="Courier New"/>
                <a:ea typeface="맑은 고딕"/>
                <a:cs typeface="Courier New"/>
              </a:rPr>
              <a:t># (2, 5, 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Head를 늘리면 무엇이 달라지나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600" b="1">
                <a:solidFill>
                  <a:srgbClr val="01688F"/>
                </a:solidFill>
                <a:latin typeface="맑은 고딕"/>
                <a:ea typeface="맑은 고딕"/>
                <a:cs typeface="맑은 고딕"/>
              </a:rPr>
              <a:t>d를 고정하고 d_h = d/H면 파라미터와 주요 연산량은 그대로 — head당 차원이 줄고 점수 표는 늘어난다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graphicFrame>
        <p:nvGraphicFramePr>
          <p:cNvPr id="9" name="Table 8"/>
          <p:cNvGraphicFramePr>
            <a:graphicFrameLocks noGrp="1"/>
          </p:cNvGraphicFramePr>
          <p:nvPr/>
        </p:nvGraphicFramePr>
        <p:xfrm>
          <a:off x="457200" y="1408176"/>
          <a:ext cx="11274552" cy="1950720"/>
        </p:xfrm>
        <a:graphic>
          <a:graphicData uri="http://schemas.openxmlformats.org/drawingml/2006/table">
            <a:tbl>
              <a:tblPr firstRow="1" bandRow="0">
                <a:tableStyleId>{5940675A-B579-460E-94D1-54222C63F5DA}</a:tableStyleId>
              </a:tblPr>
              <a:tblGrid>
                <a:gridCol w="5637276"/>
                <a:gridCol w="5637276"/>
              </a:tblGrid>
              <a:tr h="390144">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d를 고정하고 H를 늘리면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변화</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투영 파라미터 (≈ 4d²)</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그대로</a:t>
                      </a:r>
                      <a:r>
                        <a:rPr sz="1600" b="0">
                          <a:solidFill>
                            <a:srgbClr val="1B2A36"/>
                          </a:solidFill>
                          <a:latin typeface="맑은 고딕"/>
                          <a:ea typeface="맑은 고딕"/>
                          <a:cs typeface="맑은 고딕"/>
                        </a:rPr>
                        <a:t> (d = 512 → 약 105만)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attention 곱셈량 (H · N² · d_h = N² 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그대로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head당 차원 d_h = d / 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줄어든다</a:t>
                      </a:r>
                      <a:r>
                        <a:rPr sz="1600" b="0">
                          <a:solidFill>
                            <a:srgbClr val="1B2A36"/>
                          </a:solidFill>
                          <a:latin typeface="맑은 고딕"/>
                          <a:ea typeface="맑은 고딕"/>
                          <a:cs typeface="맑은 고딕"/>
                        </a:rPr>
                        <a:t> (512 / 8 = 64)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저장하는 점수 표 (H · N²)</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늘어난다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
        <p:nvSpPr>
          <p:cNvPr id="10" name="Rounded Rectangle 9"/>
          <p:cNvSpPr/>
          <p:nvPr/>
        </p:nvSpPr>
        <p:spPr>
          <a:xfrm>
            <a:off x="457200" y="3877056"/>
            <a:ext cx="11274552" cy="868680"/>
          </a:xfrm>
          <a:prstGeom prst="roundRect">
            <a:avLst>
              <a:gd name="adj" fmla="val 10526"/>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head의 역할은 </a:t>
            </a:r>
            <a:r>
              <a:rPr sz="1600" b="1">
                <a:solidFill>
                  <a:srgbClr val="1B2A36"/>
                </a:solidFill>
                <a:latin typeface="맑은 고딕"/>
                <a:ea typeface="맑은 고딕"/>
                <a:cs typeface="맑은 고딕"/>
              </a:rPr>
              <a:t>미리 정해지지 않는다</a:t>
            </a:r>
            <a:r>
              <a:rPr sz="1600" b="0">
                <a:solidFill>
                  <a:srgbClr val="1B2A36"/>
                </a:solidFill>
                <a:latin typeface="맑은 고딕"/>
                <a:ea typeface="맑은 고딕"/>
                <a:cs typeface="맑은 고딕"/>
              </a:rPr>
              <a:t> — ‘1번은 문법, 2번은 의미’는 구조가 아니라 사후 관찰이다. 관찰 · 해석 · 인과 검증을 구분해서 보고한다.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5</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순서 정보: 위치 인코딩</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Self-attention은 “개가 사람을 물었다”와 “사람이 개를 물었다”를 구분할까?</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Self-attention은 순서를 모른다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입력 순서를 섞으면 출력도 똑같이 섞일 뿐 — 순열 등변성</a:t>
            </a:r>
          </a:p>
        </p:txBody>
      </p:sp>
      <p:sp>
        <p:nvSpPr>
          <p:cNvPr id="8" name="Rounded Rectangle 7"/>
          <p:cNvSpPr/>
          <p:nvPr/>
        </p:nvSpPr>
        <p:spPr>
          <a:xfrm>
            <a:off x="10543032" y="914400"/>
            <a:ext cx="1188720" cy="365760"/>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문제</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400" b="1">
                <a:solidFill>
                  <a:srgbClr val="1B2A36"/>
                </a:solidFill>
                <a:latin typeface="Courier New"/>
                <a:ea typeface="맑은 고딕"/>
                <a:cs typeface="Courier New"/>
              </a:rPr>
              <a:t>SA(P X) = P · SA(X)        (P: 순서를 섞는 순열)</a:t>
            </a:r>
          </a:p>
        </p:txBody>
      </p:sp>
      <p:sp>
        <p:nvSpPr>
          <p:cNvPr id="11" name="Rounded Rectangle 10"/>
          <p:cNvSpPr/>
          <p:nvPr/>
        </p:nvSpPr>
        <p:spPr>
          <a:xfrm>
            <a:off x="457200" y="2596896"/>
            <a:ext cx="5522976" cy="2399792"/>
          </a:xfrm>
          <a:prstGeom prst="roundRect">
            <a:avLst>
              <a:gd name="adj" fmla="val 3810"/>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724912"/>
            <a:ext cx="5193792"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무슨 뜻인가</a:t>
            </a:r>
          </a:p>
        </p:txBody>
      </p:sp>
      <p:sp>
        <p:nvSpPr>
          <p:cNvPr id="13" name="TextBox 12"/>
          <p:cNvSpPr txBox="1"/>
          <p:nvPr/>
        </p:nvSpPr>
        <p:spPr>
          <a:xfrm>
            <a:off x="621792" y="3182112"/>
            <a:ext cx="5193792" cy="168656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순서를 섞으면 출력도 </a:t>
            </a:r>
            <a:r>
              <a:rPr sz="1600" b="1">
                <a:solidFill>
                  <a:srgbClr val="1B2A36"/>
                </a:solidFill>
                <a:latin typeface="맑은 고딕"/>
                <a:ea typeface="맑은 고딕"/>
                <a:cs typeface="맑은 고딕"/>
              </a:rPr>
              <a:t>똑같이 섞일 뿐</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각 토큰의 출력은 ‘어떤 토큰들이 있나’만 반영</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“개가 사람을 물었다” vs “사람이 개를 물었다” → </a:t>
            </a:r>
            <a:r>
              <a:rPr sz="1600" b="1">
                <a:solidFill>
                  <a:srgbClr val="1B2A36"/>
                </a:solidFill>
                <a:latin typeface="맑은 고딕"/>
                <a:ea typeface="맑은 고딕"/>
                <a:cs typeface="맑은 고딕"/>
              </a:rPr>
              <a:t>구분 불가</a:t>
            </a:r>
          </a:p>
        </p:txBody>
      </p:sp>
      <p:sp>
        <p:nvSpPr>
          <p:cNvPr id="14" name="Rounded Rectangle 13"/>
          <p:cNvSpPr/>
          <p:nvPr/>
        </p:nvSpPr>
        <p:spPr>
          <a:xfrm>
            <a:off x="6208776" y="2596896"/>
            <a:ext cx="5522976" cy="2399792"/>
          </a:xfrm>
          <a:prstGeom prst="roundRect">
            <a:avLst>
              <a:gd name="adj" fmla="val 3810"/>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3368" y="2724912"/>
            <a:ext cx="519379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구분할 것</a:t>
            </a:r>
          </a:p>
        </p:txBody>
      </p:sp>
      <p:sp>
        <p:nvSpPr>
          <p:cNvPr id="16" name="TextBox 15"/>
          <p:cNvSpPr txBox="1"/>
          <p:nvPr/>
        </p:nvSpPr>
        <p:spPr>
          <a:xfrm>
            <a:off x="6373368" y="3182112"/>
            <a:ext cx="5193792" cy="168656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1">
                <a:solidFill>
                  <a:srgbClr val="1B2A36"/>
                </a:solidFill>
                <a:latin typeface="맑은 고딕"/>
                <a:ea typeface="맑은 고딕"/>
                <a:cs typeface="맑은 고딕"/>
              </a:rPr>
              <a:t>등변성</a:t>
            </a:r>
            <a:r>
              <a:rPr sz="1600" b="0">
                <a:solidFill>
                  <a:srgbClr val="1B2A36"/>
                </a:solidFill>
                <a:latin typeface="맑은 고딕"/>
                <a:ea typeface="맑은 고딕"/>
                <a:cs typeface="맑은 고딕"/>
              </a:rPr>
              <a:t>: 섞으면 같이 섞임 (이것)</a:t>
            </a:r>
          </a:p>
          <a:p>
            <a:pPr algn="l" marL="256032" indent="-237744">
              <a:lnSpc>
                <a:spcPct val="110000"/>
              </a:lnSpc>
              <a:spcBef>
                <a:spcPts val="0"/>
              </a:spcBef>
              <a:spcAft>
                <a:spcPts val="560"/>
              </a:spcAft>
              <a:buClr>
                <a:srgbClr val="01688F"/>
              </a:buClr>
              <a:buFont typeface="Wingdings" pitchFamily="2" charset="2"/>
              <a:buChar char="§"/>
            </a:pPr>
            <a:r>
              <a:rPr sz="1600" b="1">
                <a:solidFill>
                  <a:srgbClr val="1B2A36"/>
                </a:solidFill>
                <a:latin typeface="맑은 고딕"/>
                <a:ea typeface="맑은 고딕"/>
                <a:cs typeface="맑은 고딕"/>
              </a:rPr>
              <a:t>불변성</a:t>
            </a:r>
            <a:r>
              <a:rPr sz="1600" b="0">
                <a:solidFill>
                  <a:srgbClr val="1B2A36"/>
                </a:solidFill>
                <a:latin typeface="맑은 고딕"/>
                <a:ea typeface="맑은 고딕"/>
                <a:cs typeface="맑은 고딕"/>
              </a:rPr>
              <a:t>: 섞어도 그대로</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3주차 CNN의 이동 등변성과 같은 논리</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causal mask가 있으면 이 증명이 그대로 적용되지 않는다</a:t>
            </a:r>
          </a:p>
        </p:txBody>
      </p:sp>
      <p:sp>
        <p:nvSpPr>
          <p:cNvPr id="17" name="Rounded Rectangle 16"/>
          <p:cNvSpPr/>
          <p:nvPr/>
        </p:nvSpPr>
        <p:spPr>
          <a:xfrm>
            <a:off x="457200" y="5271008"/>
            <a:ext cx="11274552" cy="633095"/>
          </a:xfrm>
          <a:prstGeom prst="roundRect">
            <a:avLst>
              <a:gd name="adj" fmla="val 14443"/>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40"/>
              </a:spcAft>
              <a:buNone/>
            </a:pPr>
            <a:r>
              <a:rPr sz="1700" b="1">
                <a:solidFill>
                  <a:srgbClr val="FFFFFF"/>
                </a:solidFill>
                <a:latin typeface="맑은 고딕"/>
                <a:ea typeface="맑은 고딕"/>
                <a:cs typeface="맑은 고딕"/>
              </a:rPr>
              <a:t>그래서 순서를 </a:t>
            </a:r>
            <a:r>
              <a:rPr sz="1700" b="1">
                <a:solidFill>
                  <a:srgbClr val="FFFFFF"/>
                </a:solidFill>
                <a:latin typeface="맑은 고딕"/>
                <a:ea typeface="맑은 고딕"/>
                <a:cs typeface="맑은 고딕"/>
              </a:rPr>
              <a:t>따로 알려 줘야</a:t>
            </a:r>
            <a:r>
              <a:rPr sz="1700" b="1">
                <a:solidFill>
                  <a:srgbClr val="FFFFFF"/>
                </a:solidFill>
                <a:latin typeface="맑은 고딕"/>
                <a:ea typeface="맑은 고딕"/>
                <a:cs typeface="맑은 고딕"/>
              </a:rPr>
              <a:t> 한다 → 위치 인코딩</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임베딩에 위치를 더한다</a:t>
            </a:r>
          </a:p>
        </p:txBody>
      </p:sp>
      <p:sp>
        <p:nvSpPr>
          <p:cNvPr id="3" name="Content Placeholder 2"/>
          <p:cNvSpPr>
            <a:spLocks noGrp="1"/>
          </p:cNvSpPr>
          <p:nvPr>
            <p:ph idx="1"/>
          </p:nvPr>
        </p:nvSpPr>
        <p:spPr>
          <a:xfrm>
            <a:off x="457200" y="3465576"/>
            <a:ext cx="11274552" cy="29169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Encoder와 Decoder </a:t>
            </a:r>
            <a:r>
              <a:rPr sz="1800" b="1">
                <a:solidFill>
                  <a:srgbClr val="1B2A36"/>
                </a:solidFill>
              </a:rPr>
              <a:t>모두</a:t>
            </a:r>
            <a:r>
              <a:rPr sz="1800" b="0">
                <a:solidFill>
                  <a:srgbClr val="1B2A36"/>
                </a:solidFill>
              </a:rPr>
              <a:t> 이 과정을 거친다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더해도 </a:t>
            </a:r>
            <a:r>
              <a:rPr sz="1800" b="1">
                <a:solidFill>
                  <a:srgbClr val="1B2A36"/>
                </a:solidFill>
              </a:rPr>
              <a:t>shape은 그대로</a:t>
            </a:r>
            <a:r>
              <a:rPr sz="1800" b="0">
                <a:solidFill>
                  <a:srgbClr val="1B2A36"/>
                </a:solidFill>
              </a:rPr>
              <a:t> (1주차 broadcasting)</a:t>
            </a:r>
          </a:p>
          <a:p>
            <a:pPr algn="l" marL="256032" indent="-237744">
              <a:lnSpc>
                <a:spcPct val="110000"/>
              </a:lnSpc>
              <a:spcBef>
                <a:spcPts val="0"/>
              </a:spcBef>
              <a:spcAft>
                <a:spcPts val="900"/>
              </a:spcAft>
              <a:buClr>
                <a:srgbClr val="01688F"/>
              </a:buClr>
              <a:buFont typeface="Wingdings" pitchFamily="2" charset="2"/>
              <a:buChar char="§"/>
            </a:pPr>
            <a:r>
              <a:rPr sz="1800" b="1">
                <a:solidFill>
                  <a:srgbClr val="E97132"/>
                </a:solidFill>
              </a:rPr>
              <a:t>주의</a:t>
            </a:r>
            <a:r>
              <a:rPr sz="1800" b="0">
                <a:solidFill>
                  <a:srgbClr val="1B2A36"/>
                </a:solidFill>
              </a:rPr>
              <a:t> 내용과 위치가 </a:t>
            </a:r>
            <a:r>
              <a:rPr sz="1800" b="1">
                <a:solidFill>
                  <a:srgbClr val="1B2A36"/>
                </a:solidFill>
              </a:rPr>
              <a:t>분리 저장</a:t>
            </a:r>
            <a:r>
              <a:rPr sz="1800" b="0">
                <a:solidFill>
                  <a:srgbClr val="1B2A36"/>
                </a:solidFill>
              </a:rPr>
              <a:t>되는 것은 아니다 — 같은 차원에 섞인다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그럼 PE는 어떤 벡터로? → 다음 장</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x = E[id] · √d + PE[pos] — shape은 그대로, 같은 차원에 위치 단서가 섞인다</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1408176"/>
            <a:ext cx="2530602" cy="1783080"/>
          </a:xfrm>
          <a:prstGeom prst="roundRect">
            <a:avLst>
              <a:gd name="adj" fmla="val 5128"/>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ID</a:t>
            </a:r>
          </a:p>
        </p:txBody>
      </p:sp>
      <p:sp>
        <p:nvSpPr>
          <p:cNvPr id="11" name="TextBox 10"/>
          <p:cNvSpPr txBox="1"/>
          <p:nvPr/>
        </p:nvSpPr>
        <p:spPr>
          <a:xfrm>
            <a:off x="548640" y="1911095"/>
            <a:ext cx="2347722" cy="118872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(B, S)</a:t>
            </a:r>
          </a:p>
        </p:txBody>
      </p:sp>
      <p:cxnSp>
        <p:nvCxnSpPr>
          <p:cNvPr id="12" name="Connector 11"/>
          <p:cNvCxnSpPr/>
          <p:nvPr/>
        </p:nvCxnSpPr>
        <p:spPr>
          <a:xfrm>
            <a:off x="3033522" y="229971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71850" y="1408176"/>
            <a:ext cx="2530602" cy="1783080"/>
          </a:xfrm>
          <a:prstGeom prst="roundRect">
            <a:avLst>
              <a:gd name="adj" fmla="val 5128"/>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6329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임베딩 × √d</a:t>
            </a:r>
          </a:p>
        </p:txBody>
      </p:sp>
      <p:sp>
        <p:nvSpPr>
          <p:cNvPr id="15" name="TextBox 14"/>
          <p:cNvSpPr txBox="1"/>
          <p:nvPr/>
        </p:nvSpPr>
        <p:spPr>
          <a:xfrm>
            <a:off x="3463290" y="1911095"/>
            <a:ext cx="2347722" cy="118872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(B, S, d)</a:t>
            </a:r>
          </a:p>
        </p:txBody>
      </p:sp>
      <p:cxnSp>
        <p:nvCxnSpPr>
          <p:cNvPr id="16" name="Connector 15"/>
          <p:cNvCxnSpPr/>
          <p:nvPr/>
        </p:nvCxnSpPr>
        <p:spPr>
          <a:xfrm>
            <a:off x="5948172" y="229971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86500" y="1408176"/>
            <a:ext cx="2530602" cy="1783080"/>
          </a:xfrm>
          <a:prstGeom prst="roundRect">
            <a:avLst>
              <a:gd name="adj" fmla="val 5128"/>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E97132"/>
                </a:solidFill>
                <a:latin typeface="맑은 고딕"/>
                <a:ea typeface="맑은 고딕"/>
                <a:cs typeface="맑은 고딕"/>
              </a:rPr>
              <a:t>+ 위치 벡터 PE</a:t>
            </a:r>
          </a:p>
        </p:txBody>
      </p:sp>
      <p:sp>
        <p:nvSpPr>
          <p:cNvPr id="19" name="TextBox 18"/>
          <p:cNvSpPr txBox="1"/>
          <p:nvPr/>
        </p:nvSpPr>
        <p:spPr>
          <a:xfrm>
            <a:off x="6377940" y="1911095"/>
            <a:ext cx="2347722" cy="118872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(S, d) → broadcasting</a:t>
            </a:r>
          </a:p>
        </p:txBody>
      </p:sp>
      <p:cxnSp>
        <p:nvCxnSpPr>
          <p:cNvPr id="20" name="Connector 19"/>
          <p:cNvCxnSpPr/>
          <p:nvPr/>
        </p:nvCxnSpPr>
        <p:spPr>
          <a:xfrm>
            <a:off x="8862822" y="229971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01150" y="1408176"/>
            <a:ext cx="2530602" cy="1783080"/>
          </a:xfrm>
          <a:prstGeom prst="roundRect">
            <a:avLst>
              <a:gd name="adj" fmla="val 5128"/>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2590" y="14996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블록 입력</a:t>
            </a:r>
          </a:p>
        </p:txBody>
      </p:sp>
      <p:sp>
        <p:nvSpPr>
          <p:cNvPr id="23" name="TextBox 22"/>
          <p:cNvSpPr txBox="1"/>
          <p:nvPr/>
        </p:nvSpPr>
        <p:spPr>
          <a:xfrm>
            <a:off x="9292590" y="1911095"/>
            <a:ext cx="2347722" cy="118872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FFFFFF"/>
                </a:solidFill>
                <a:latin typeface="맑은 고딕"/>
                <a:ea typeface="맑은 고딕"/>
                <a:cs typeface="맑은 고딕"/>
              </a:rPr>
              <a:t>(B, S, 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Sinusoidal 위치 인코딩</a:t>
            </a:r>
          </a:p>
        </p:txBody>
      </p:sp>
      <p:sp>
        <p:nvSpPr>
          <p:cNvPr id="3" name="Content Placeholder 2"/>
          <p:cNvSpPr>
            <a:spLocks noGrp="1"/>
          </p:cNvSpPr>
          <p:nvPr>
            <p:ph idx="1"/>
          </p:nvPr>
        </p:nvSpPr>
        <p:spPr>
          <a:xfrm>
            <a:off x="7569037" y="4379976"/>
            <a:ext cx="4162714" cy="2002536"/>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i가 클수록 </a:t>
            </a:r>
            <a:r>
              <a:rPr sz="1500" b="1">
                <a:solidFill>
                  <a:srgbClr val="1B2A36"/>
                </a:solidFill>
              </a:rPr>
              <a:t>느리게</a:t>
            </a:r>
            <a:r>
              <a:rPr sz="1500" b="0">
                <a:solidFill>
                  <a:srgbClr val="1B2A36"/>
                </a:solidFill>
              </a:rPr>
              <a:t> 변한다</a:t>
            </a:r>
          </a:p>
          <a:p>
            <a:pPr algn="l" marL="566928" indent="-237744">
              <a:lnSpc>
                <a:spcPct val="110000"/>
              </a:lnSpc>
              <a:spcBef>
                <a:spcPts val="0"/>
              </a:spcBef>
              <a:spcAft>
                <a:spcPts val="650"/>
              </a:spcAft>
              <a:buClr>
                <a:srgbClr val="01688F"/>
              </a:buClr>
              <a:buFont typeface="Arial"/>
              <a:buChar char="-"/>
            </a:pPr>
            <a:r>
              <a:rPr sz="1300" b="0">
                <a:solidFill>
                  <a:srgbClr val="1B2A36"/>
                </a:solidFill>
              </a:rPr>
              <a:t>시계의 초침 · 분침 · 시침</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학습 파라미터 </a:t>
            </a:r>
            <a:r>
              <a:rPr sz="1500" b="1">
                <a:solidFill>
                  <a:srgbClr val="1B2A36"/>
                </a:solidFill>
              </a:rPr>
              <a:t>없음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차원 쌍마다 다른 주파수의 sin/cos — 앞쪽 차원은 빠르게, 뒤쪽은 느리게 변한다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1371600"/>
          </a:xfrm>
          <a:prstGeom prst="roundRect">
            <a:avLst>
              <a:gd name="adj" fmla="val 6666"/>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1371600"/>
          </a:xfrm>
          <a:prstGeom prst="rect">
            <a:avLst/>
          </a:prstGeom>
          <a:noFill/>
        </p:spPr>
        <p:txBody>
          <a:bodyPr wrap="square" anchor="ctr">
            <a:spAutoFit/>
          </a:bodyPr>
          <a:lstStyle/>
          <a:p>
            <a:pPr algn="ctr" marL="0" indent="0">
              <a:buNone/>
            </a:pPr>
            <a:r>
              <a:rPr sz="2100" b="1">
                <a:solidFill>
                  <a:srgbClr val="1B2A36"/>
                </a:solidFill>
                <a:latin typeface="Courier New"/>
                <a:ea typeface="맑은 고딕"/>
                <a:cs typeface="Courier New"/>
              </a:rPr>
              <a:t>PE(pos, 2i)   = sin( pos / 10000^(2i/d) )</a:t>
            </a:r>
          </a:p>
          <a:p>
            <a:pPr algn="ctr" marL="0" indent="0">
              <a:buNone/>
            </a:pPr>
            <a:r>
              <a:rPr sz="2100" b="1">
                <a:solidFill>
                  <a:srgbClr val="1B2A36"/>
                </a:solidFill>
                <a:latin typeface="Courier New"/>
                <a:ea typeface="맑은 고딕"/>
                <a:cs typeface="Courier New"/>
              </a:rPr>
              <a:t>PE(pos, 2i+1) = cos( pos / 10000^(2i/d) )</a:t>
            </a:r>
          </a:p>
        </p:txBody>
      </p:sp>
      <p:pic>
        <p:nvPicPr>
          <p:cNvPr id="11" name="Picture 10" descr="pe.png"/>
          <p:cNvPicPr>
            <a:picLocks noChangeAspect="1"/>
          </p:cNvPicPr>
          <p:nvPr/>
        </p:nvPicPr>
        <p:blipFill>
          <a:blip r:embed="rId3"/>
          <a:stretch>
            <a:fillRect/>
          </a:stretch>
        </p:blipFill>
        <p:spPr>
          <a:xfrm>
            <a:off x="457199" y="3459136"/>
            <a:ext cx="6791797" cy="2472614"/>
          </a:xfrm>
          <a:prstGeom prst="rect">
            <a:avLst/>
          </a:prstGeom>
        </p:spPr>
      </p:pic>
      <p:graphicFrame>
        <p:nvGraphicFramePr>
          <p:cNvPr id="12" name="Table 11"/>
          <p:cNvGraphicFramePr>
            <a:graphicFrameLocks noGrp="1"/>
          </p:cNvGraphicFramePr>
          <p:nvPr/>
        </p:nvGraphicFramePr>
        <p:xfrm>
          <a:off x="7569037" y="3008376"/>
          <a:ext cx="4162710" cy="1109471"/>
        </p:xfrm>
        <a:graphic>
          <a:graphicData uri="http://schemas.openxmlformats.org/drawingml/2006/table">
            <a:tbl>
              <a:tblPr firstRow="1" bandRow="0">
                <a:tableStyleId>{5940675A-B579-460E-94D1-54222C63F5DA}</a:tableStyleId>
              </a:tblPr>
              <a:tblGrid>
                <a:gridCol w="832542"/>
                <a:gridCol w="832542"/>
                <a:gridCol w="832542"/>
                <a:gridCol w="832542"/>
                <a:gridCol w="832542"/>
              </a:tblGrid>
              <a:tr h="313944">
                <a:tc>
                  <a:txBody>
                    <a:bodyPr wrap="square" lIns="36576" rIns="36576" tIns="36576" bIns="36576" anchor="t"/>
                    <a:lstStyle/>
                    <a:p>
                      <a:pPr algn="ctr" marL="0" indent="0">
                        <a:lnSpc>
                          <a:spcPct val="110000"/>
                        </a:lnSpc>
                        <a:spcBef>
                          <a:spcPts val="0"/>
                        </a:spcBef>
                        <a:spcAft>
                          <a:spcPts val="0"/>
                        </a:spcAft>
                        <a:buNone/>
                      </a:pPr>
                      <a:r>
                        <a:rPr sz="1100" b="1">
                          <a:solidFill>
                            <a:srgbClr val="FFFFFF"/>
                          </a:solidFill>
                          <a:latin typeface="맑은 고딕"/>
                          <a:ea typeface="맑은 고딕"/>
                          <a:cs typeface="맑은 고딕"/>
                        </a:rPr>
                        <a:t>d = 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100" b="1">
                          <a:solidFill>
                            <a:srgbClr val="FFFFFF"/>
                          </a:solidFill>
                          <a:latin typeface="맑은 고딕"/>
                          <a:ea typeface="맑은 고딕"/>
                          <a:cs typeface="맑은 고딕"/>
                        </a:rPr>
                        <a:t>차원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100" b="1">
                          <a:solidFill>
                            <a:srgbClr val="FFFFFF"/>
                          </a:solidFill>
                          <a:latin typeface="맑은 고딕"/>
                          <a:ea typeface="맑은 고딕"/>
                          <a:cs typeface="맑은 고딕"/>
                        </a:rPr>
                        <a:t>차원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100" b="1">
                          <a:solidFill>
                            <a:srgbClr val="FFFFFF"/>
                          </a:solidFill>
                          <a:latin typeface="맑은 고딕"/>
                          <a:ea typeface="맑은 고딕"/>
                          <a:cs typeface="맑은 고딕"/>
                        </a:rPr>
                        <a:t>차원 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100" b="1">
                          <a:solidFill>
                            <a:srgbClr val="FFFFFF"/>
                          </a:solidFill>
                          <a:latin typeface="맑은 고딕"/>
                          <a:ea typeface="맑은 고딕"/>
                          <a:cs typeface="맑은 고딕"/>
                        </a:rPr>
                        <a:t>차원 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13944">
                <a:tc>
                  <a:txBody>
                    <a:bodyPr wrap="square" lIns="36576" rIns="36576" tIns="36576" bIns="36576" anchor="t"/>
                    <a:lstStyle/>
                    <a:p>
                      <a:pPr algn="ctr" marL="0" indent="0">
                        <a:lnSpc>
                          <a:spcPct val="110000"/>
                        </a:lnSpc>
                        <a:spcBef>
                          <a:spcPts val="0"/>
                        </a:spcBef>
                        <a:spcAft>
                          <a:spcPts val="0"/>
                        </a:spcAft>
                        <a:buNone/>
                      </a:pPr>
                      <a:r>
                        <a:rPr sz="1100" b="1">
                          <a:solidFill>
                            <a:srgbClr val="1B2A36"/>
                          </a:solidFill>
                          <a:latin typeface="맑은 고딕"/>
                          <a:ea typeface="맑은 고딕"/>
                          <a:cs typeface="맑은 고딕"/>
                        </a:rPr>
                        <a:t>pos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100" b="0">
                          <a:solidFill>
                            <a:srgbClr val="1B2A36"/>
                          </a:solidFill>
                          <a:latin typeface="맑은 고딕"/>
                          <a:ea typeface="맑은 고딕"/>
                          <a:cs typeface="맑은 고딕"/>
                        </a:rPr>
                        <a:t>0.841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100" b="0">
                          <a:solidFill>
                            <a:srgbClr val="1B2A36"/>
                          </a:solidFill>
                          <a:latin typeface="맑은 고딕"/>
                          <a:ea typeface="맑은 고딕"/>
                          <a:cs typeface="맑은 고딕"/>
                        </a:rPr>
                        <a:t>0.540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100" b="0">
                          <a:solidFill>
                            <a:srgbClr val="1B2A36"/>
                          </a:solidFill>
                          <a:latin typeface="맑은 고딕"/>
                          <a:ea typeface="맑은 고딕"/>
                          <a:cs typeface="맑은 고딕"/>
                        </a:rPr>
                        <a:t>0.100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100" b="0">
                          <a:solidFill>
                            <a:srgbClr val="1B2A36"/>
                          </a:solidFill>
                          <a:latin typeface="맑은 고딕"/>
                          <a:ea typeface="맑은 고딕"/>
                          <a:cs typeface="맑은 고딕"/>
                        </a:rPr>
                        <a:t>0.995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481583">
                <a:tc>
                  <a:txBody>
                    <a:bodyPr wrap="square" lIns="36576" rIns="36576" tIns="36576" bIns="36576" anchor="t"/>
                    <a:lstStyle/>
                    <a:p>
                      <a:pPr algn="ctr" marL="0" indent="0">
                        <a:lnSpc>
                          <a:spcPct val="110000"/>
                        </a:lnSpc>
                        <a:spcBef>
                          <a:spcPts val="0"/>
                        </a:spcBef>
                        <a:spcAft>
                          <a:spcPts val="0"/>
                        </a:spcAft>
                        <a:buNone/>
                      </a:pPr>
                      <a:r>
                        <a:rPr sz="1100" b="1">
                          <a:solidFill>
                            <a:srgbClr val="1B2A36"/>
                          </a:solidFill>
                          <a:latin typeface="맑은 고딕"/>
                          <a:ea typeface="맑은 고딕"/>
                          <a:cs typeface="맑은 고딕"/>
                        </a:rPr>
                        <a:t>pos 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100" b="0">
                          <a:solidFill>
                            <a:srgbClr val="1B2A36"/>
                          </a:solidFill>
                          <a:latin typeface="맑은 고딕"/>
                          <a:ea typeface="맑은 고딕"/>
                          <a:cs typeface="맑은 고딕"/>
                        </a:rPr>
                        <a:t>0.909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100" b="0">
                          <a:solidFill>
                            <a:srgbClr val="1B2A36"/>
                          </a:solidFill>
                          <a:latin typeface="맑은 고딕"/>
                          <a:ea typeface="맑은 고딕"/>
                          <a:cs typeface="맑은 고딕"/>
                        </a:rPr>
                        <a:t>−0.416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100" b="0">
                          <a:solidFill>
                            <a:srgbClr val="1B2A36"/>
                          </a:solidFill>
                          <a:latin typeface="맑은 고딕"/>
                          <a:ea typeface="맑은 고딕"/>
                          <a:cs typeface="맑은 고딕"/>
                        </a:rPr>
                        <a:t>0.199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100" b="0">
                          <a:solidFill>
                            <a:srgbClr val="1B2A36"/>
                          </a:solidFill>
                          <a:latin typeface="맑은 고딕"/>
                          <a:ea typeface="맑은 고딕"/>
                          <a:cs typeface="맑은 고딕"/>
                        </a:rPr>
                        <a:t>0.980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“sin/cos가 정답”은 아니다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위치 단서가 필요하다는 것과 특정 함수가 필수라는 것은 다른 주장</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역사</a:t>
            </a:r>
          </a:p>
        </p:txBody>
      </p:sp>
      <p:graphicFrame>
        <p:nvGraphicFramePr>
          <p:cNvPr id="9" name="Table 8"/>
          <p:cNvGraphicFramePr>
            <a:graphicFrameLocks noGrp="1"/>
          </p:cNvGraphicFramePr>
          <p:nvPr/>
        </p:nvGraphicFramePr>
        <p:xfrm>
          <a:off x="457200" y="1408176"/>
          <a:ext cx="11274552" cy="1874520"/>
        </p:xfrm>
        <a:graphic>
          <a:graphicData uri="http://schemas.openxmlformats.org/drawingml/2006/table">
            <a:tbl>
              <a:tblPr firstRow="1" bandRow="0">
                <a:tableStyleId>{5940675A-B579-460E-94D1-54222C63F5DA}</a:tableStyleId>
              </a:tblPr>
              <a:tblGrid>
                <a:gridCol w="2505456"/>
                <a:gridCol w="5010912"/>
                <a:gridCol w="3758184"/>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방식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아이디어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고정 sinusoidal</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주파수가 다른 sin/cos를 더한다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원형 Transformer (2017)</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학습형 절대 위치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위치마다 학습되는 벡터를 더한다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원논문의 비교 실험, BERT · GPT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상대 위치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두 토큰의 </a:t>
                      </a:r>
                      <a:r>
                        <a:rPr sz="1500" b="1">
                          <a:solidFill>
                            <a:srgbClr val="1B2A36"/>
                          </a:solidFill>
                          <a:latin typeface="맑은 고딕"/>
                          <a:ea typeface="맑은 고딕"/>
                          <a:cs typeface="맑은 고딕"/>
                        </a:rPr>
                        <a:t>거리</a:t>
                      </a:r>
                      <a:r>
                        <a:rPr sz="1500" b="0">
                          <a:solidFill>
                            <a:srgbClr val="1B2A36"/>
                          </a:solidFill>
                          <a:latin typeface="맑은 고딕"/>
                          <a:ea typeface="맑은 고딕"/>
                          <a:cs typeface="맑은 고딕"/>
                        </a:rPr>
                        <a:t>를 점수에 반영</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Shaw et al. (2018) 등</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회전 · 편향 방식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Q · K를 위치만큼 회전 / 거리 비례 편향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RoPE (2021), ALiBi (2021)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
        <p:nvSpPr>
          <p:cNvPr id="10" name="Rounded Rectangle 9"/>
          <p:cNvSpPr/>
          <p:nvPr/>
        </p:nvSpPr>
        <p:spPr>
          <a:xfrm>
            <a:off x="457200" y="4151376"/>
            <a:ext cx="11274552" cy="868680"/>
          </a:xfrm>
          <a:prstGeom prst="roundRect">
            <a:avLst>
              <a:gd name="adj" fmla="val 10526"/>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1">
                <a:solidFill>
                  <a:srgbClr val="E97132"/>
                </a:solidFill>
                <a:latin typeface="맑은 고딕"/>
                <a:ea typeface="맑은 고딕"/>
                <a:cs typeface="맑은 고딕"/>
              </a:rPr>
              <a:t>주의</a:t>
            </a:r>
            <a:r>
              <a:rPr sz="1600" b="0">
                <a:solidFill>
                  <a:srgbClr val="1B2A36"/>
                </a:solidFill>
                <a:latin typeface="맑은 고딕"/>
                <a:ea typeface="맑은 고딕"/>
                <a:cs typeface="맑은 고딕"/>
              </a:rPr>
              <a:t> 긴 길이의 값을 </a:t>
            </a:r>
            <a:r>
              <a:rPr sz="1600" b="1">
                <a:solidFill>
                  <a:srgbClr val="1B2A36"/>
                </a:solidFill>
                <a:latin typeface="맑은 고딕"/>
                <a:ea typeface="맑은 고딕"/>
                <a:cs typeface="맑은 고딕"/>
              </a:rPr>
              <a:t>계산할 수 있다</a:t>
            </a:r>
            <a:r>
              <a:rPr sz="1600" b="0">
                <a:solidFill>
                  <a:srgbClr val="1B2A36"/>
                </a:solidFill>
                <a:latin typeface="맑은 고딕"/>
                <a:ea typeface="맑은 고딕"/>
                <a:cs typeface="맑은 고딕"/>
              </a:rPr>
              <a:t> ≠ 긴 길이에 </a:t>
            </a:r>
            <a:r>
              <a:rPr sz="1600" b="1">
                <a:solidFill>
                  <a:srgbClr val="1B2A36"/>
                </a:solidFill>
                <a:latin typeface="맑은 고딕"/>
                <a:ea typeface="맑은 고딕"/>
                <a:cs typeface="맑은 고딕"/>
              </a:rPr>
              <a:t>일반화한다</a:t>
            </a:r>
            <a:r>
              <a:rPr sz="1600" b="0">
                <a:solidFill>
                  <a:srgbClr val="1B2A36"/>
                </a:solidFill>
                <a:latin typeface="맑은 고딕"/>
                <a:ea typeface="맑은 고딕"/>
                <a:cs typeface="맑은 고딕"/>
              </a:rPr>
              <a:t>. 위치 정보 제거 실험은 source · target을 따로 통제한다.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6</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모아 보기: 2017 Transformer의 윤곽</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오늘 배운 부품이 전체 그림의 어디에 있을까?</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2017 Transformer: 오늘 배운 곳</a:t>
            </a:r>
          </a:p>
        </p:txBody>
      </p:sp>
      <p:sp>
        <p:nvSpPr>
          <p:cNvPr id="3" name="Content Placeholder 2"/>
          <p:cNvSpPr>
            <a:spLocks noGrp="1"/>
          </p:cNvSpPr>
          <p:nvPr>
            <p:ph idx="1"/>
          </p:nvPr>
        </p:nvSpPr>
        <p:spPr>
          <a:xfrm>
            <a:off x="6254496" y="5429250"/>
            <a:ext cx="5477256" cy="953261"/>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base: d = 512, H = 8, d_h = 64, d_ff = 2048</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층마다 파라미터는 </a:t>
            </a:r>
            <a:r>
              <a:rPr sz="1500" b="1">
                <a:solidFill>
                  <a:srgbClr val="1B2A36"/>
                </a:solidFill>
              </a:rPr>
              <a:t>별개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Encoder 6층 + Decoder 6층 — 오늘은 입력과 attention, 다음 주는 나머지 전부</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pic>
        <p:nvPicPr>
          <p:cNvPr id="9" name="Picture 8" descr="transformer_arch.png"/>
          <p:cNvPicPr>
            <a:picLocks noChangeAspect="1"/>
          </p:cNvPicPr>
          <p:nvPr/>
        </p:nvPicPr>
        <p:blipFill>
          <a:blip r:embed="rId3"/>
          <a:stretch>
            <a:fillRect/>
          </a:stretch>
        </p:blipFill>
        <p:spPr>
          <a:xfrm>
            <a:off x="457200" y="1851966"/>
            <a:ext cx="5477256" cy="4086754"/>
          </a:xfrm>
          <a:prstGeom prst="rect">
            <a:avLst/>
          </a:prstGeom>
        </p:spPr>
      </p:pic>
      <p:sp>
        <p:nvSpPr>
          <p:cNvPr id="10" name="Rounded Rectangle 9"/>
          <p:cNvSpPr/>
          <p:nvPr/>
        </p:nvSpPr>
        <p:spPr>
          <a:xfrm>
            <a:off x="6254496" y="1408176"/>
            <a:ext cx="5477256" cy="1781937"/>
          </a:xfrm>
          <a:prstGeom prst="roundRect">
            <a:avLst>
              <a:gd name="adj" fmla="val 5131"/>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1536192"/>
            <a:ext cx="514807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오늘 배운 것 ✔</a:t>
            </a:r>
          </a:p>
        </p:txBody>
      </p:sp>
      <p:sp>
        <p:nvSpPr>
          <p:cNvPr id="12" name="TextBox 11"/>
          <p:cNvSpPr txBox="1"/>
          <p:nvPr/>
        </p:nvSpPr>
        <p:spPr>
          <a:xfrm>
            <a:off x="6419088" y="1993392"/>
            <a:ext cx="5148072" cy="1068705"/>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Token Embedding + </a:t>
            </a:r>
            <a:r>
              <a:rPr sz="1500" b="1">
                <a:solidFill>
                  <a:srgbClr val="1B2A36"/>
                </a:solidFill>
                <a:latin typeface="맑은 고딕"/>
                <a:ea typeface="맑은 고딕"/>
                <a:cs typeface="맑은 고딕"/>
              </a:rPr>
              <a:t>위치 인코딩</a:t>
            </a:r>
          </a:p>
          <a:p>
            <a:pPr algn="l" marL="256032" indent="-237744">
              <a:lnSpc>
                <a:spcPct val="110000"/>
              </a:lnSpc>
              <a:spcBef>
                <a:spcPts val="0"/>
              </a:spcBef>
              <a:spcAft>
                <a:spcPts val="525"/>
              </a:spcAft>
              <a:buClr>
                <a:srgbClr val="01688F"/>
              </a:buClr>
              <a:buFont typeface="Wingdings" pitchFamily="2" charset="2"/>
              <a:buChar char="§"/>
            </a:pPr>
            <a:r>
              <a:rPr sz="1500" b="1">
                <a:solidFill>
                  <a:srgbClr val="1B2A36"/>
                </a:solidFill>
                <a:latin typeface="맑은 고딕"/>
                <a:ea typeface="맑은 고딕"/>
                <a:cs typeface="맑은 고딕"/>
              </a:rPr>
              <a:t>Multi-head self-attention</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Cross-attention의 개념 (다음 장)</a:t>
            </a:r>
          </a:p>
        </p:txBody>
      </p:sp>
      <p:sp>
        <p:nvSpPr>
          <p:cNvPr id="13" name="Rounded Rectangle 12"/>
          <p:cNvSpPr/>
          <p:nvPr/>
        </p:nvSpPr>
        <p:spPr>
          <a:xfrm>
            <a:off x="6254496" y="3418713"/>
            <a:ext cx="5477256" cy="1781937"/>
          </a:xfrm>
          <a:prstGeom prst="roundRect">
            <a:avLst>
              <a:gd name="adj" fmla="val 5131"/>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3546729"/>
            <a:ext cx="514807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다음 주</a:t>
            </a:r>
          </a:p>
        </p:txBody>
      </p:sp>
      <p:sp>
        <p:nvSpPr>
          <p:cNvPr id="15" name="TextBox 14"/>
          <p:cNvSpPr txBox="1"/>
          <p:nvPr/>
        </p:nvSpPr>
        <p:spPr>
          <a:xfrm>
            <a:off x="6419088" y="4003929"/>
            <a:ext cx="5148072" cy="1068705"/>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FFN · </a:t>
            </a:r>
            <a:r>
              <a:rPr sz="1500" b="1">
                <a:solidFill>
                  <a:srgbClr val="1B2A36"/>
                </a:solidFill>
                <a:latin typeface="맑은 고딕"/>
                <a:ea typeface="맑은 고딕"/>
                <a:cs typeface="맑은 고딕"/>
              </a:rPr>
              <a:t>Residual + LayerNorm</a:t>
            </a:r>
          </a:p>
          <a:p>
            <a:pPr algn="l" marL="256032" indent="-237744">
              <a:lnSpc>
                <a:spcPct val="110000"/>
              </a:lnSpc>
              <a:spcBef>
                <a:spcPts val="0"/>
              </a:spcBef>
              <a:spcAft>
                <a:spcPts val="525"/>
              </a:spcAft>
              <a:buClr>
                <a:srgbClr val="01688F"/>
              </a:buClr>
              <a:buFont typeface="Wingdings" pitchFamily="2" charset="2"/>
              <a:buChar char="§"/>
            </a:pPr>
            <a:r>
              <a:rPr sz="1500" b="1">
                <a:solidFill>
                  <a:srgbClr val="1B2A36"/>
                </a:solidFill>
                <a:latin typeface="맑은 고딕"/>
                <a:ea typeface="맑은 고딕"/>
                <a:cs typeface="맑은 고딕"/>
              </a:rPr>
              <a:t>Masked</a:t>
            </a:r>
            <a:r>
              <a:rPr sz="1500" b="0">
                <a:solidFill>
                  <a:srgbClr val="1B2A36"/>
                </a:solidFill>
                <a:latin typeface="맑은 고딕"/>
                <a:ea typeface="맑은 고딕"/>
                <a:cs typeface="맑은 고딕"/>
              </a:rPr>
              <a:t> self-attention · teacher forcing</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출력 head · 학습 · 생성 · KV cache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세 종류의 Attention</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Q를 어디서 만들고 K · V를 어디서 가져오는가 — 그리고 어디까지 볼 수 있는가</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graphicFrame>
        <p:nvGraphicFramePr>
          <p:cNvPr id="9" name="Table 8"/>
          <p:cNvGraphicFramePr>
            <a:graphicFrameLocks noGrp="1"/>
          </p:cNvGraphicFramePr>
          <p:nvPr/>
        </p:nvGraphicFramePr>
        <p:xfrm>
          <a:off x="457200" y="1408176"/>
          <a:ext cx="11274548" cy="1728215"/>
        </p:xfrm>
        <a:graphic>
          <a:graphicData uri="http://schemas.openxmlformats.org/drawingml/2006/table">
            <a:tbl>
              <a:tblPr firstRow="1" bandRow="0">
                <a:tableStyleId>{5940675A-B579-460E-94D1-54222C63F5DA}</a:tableStyleId>
              </a:tblPr>
              <a:tblGrid>
                <a:gridCol w="2843147"/>
                <a:gridCol w="2156870"/>
                <a:gridCol w="2156870"/>
                <a:gridCol w="2941187"/>
                <a:gridCol w="1176474"/>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종류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Q의 출처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K · V의 출처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볼 수 있는 범위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점수 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Encoder self-attention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Encoder 입력 표현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같은 표현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유효한 입력 토큰 </a:t>
                      </a:r>
                      <a:r>
                        <a:rPr sz="1500" b="1">
                          <a:solidFill>
                            <a:srgbClr val="1B2A36"/>
                          </a:solidFill>
                          <a:latin typeface="맑은 고딕"/>
                          <a:ea typeface="맑은 고딕"/>
                          <a:cs typeface="맑은 고딕"/>
                        </a:rPr>
                        <a:t>전체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S × S</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Decoder masked self-attention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Decoder 입력 표현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같은 표현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현재 위치와 </a:t>
                      </a:r>
                      <a:r>
                        <a:rPr sz="1500" b="1">
                          <a:solidFill>
                            <a:srgbClr val="1B2A36"/>
                          </a:solidFill>
                          <a:latin typeface="맑은 고딕"/>
                          <a:ea typeface="맑은 고딕"/>
                          <a:cs typeface="맑은 고딕"/>
                        </a:rPr>
                        <a:t>이전</a:t>
                      </a:r>
                      <a:r>
                        <a:rPr sz="1500" b="0">
                          <a:solidFill>
                            <a:srgbClr val="1B2A36"/>
                          </a:solidFill>
                          <a:latin typeface="맑은 고딕"/>
                          <a:ea typeface="맑은 고딕"/>
                          <a:cs typeface="맑은 고딕"/>
                        </a:rPr>
                        <a:t> 위치만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T × 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Cross-attention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Decoder</a:t>
                      </a:r>
                      <a:r>
                        <a:rPr sz="1500" b="0">
                          <a:solidFill>
                            <a:srgbClr val="1B2A36"/>
                          </a:solidFill>
                          <a:latin typeface="맑은 고딕"/>
                          <a:ea typeface="맑은 고딕"/>
                          <a:cs typeface="맑은 고딕"/>
                        </a:rPr>
                        <a:t> 표현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Encoder</a:t>
                      </a:r>
                      <a:r>
                        <a:rPr sz="1500" b="0">
                          <a:solidFill>
                            <a:srgbClr val="1B2A36"/>
                          </a:solidFill>
                          <a:latin typeface="맑은 고딕"/>
                          <a:ea typeface="맑은 고딕"/>
                          <a:cs typeface="맑은 고딕"/>
                        </a:rPr>
                        <a:t> 최종 출력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유효한 source 전체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T × S</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0" name="Rounded Rectangle 9"/>
          <p:cNvSpPr/>
          <p:nvPr/>
        </p:nvSpPr>
        <p:spPr>
          <a:xfrm>
            <a:off x="457200" y="4059935"/>
            <a:ext cx="11274552" cy="868680"/>
          </a:xfrm>
          <a:prstGeom prst="roundRect">
            <a:avLst>
              <a:gd name="adj" fmla="val 10526"/>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20"/>
              </a:spcAft>
              <a:buNone/>
            </a:pPr>
            <a:r>
              <a:rPr sz="1600" b="1">
                <a:solidFill>
                  <a:srgbClr val="FFFFFF"/>
                </a:solidFill>
                <a:latin typeface="맑은 고딕"/>
                <a:ea typeface="맑은 고딕"/>
                <a:cs typeface="맑은 고딕"/>
              </a:rPr>
              <a:t>Self / Cross = </a:t>
            </a:r>
            <a:r>
              <a:rPr sz="1600" b="1">
                <a:solidFill>
                  <a:srgbClr val="FFFFFF"/>
                </a:solidFill>
                <a:latin typeface="맑은 고딕"/>
                <a:ea typeface="맑은 고딕"/>
                <a:cs typeface="맑은 고딕"/>
              </a:rPr>
              <a:t>출처</a:t>
            </a:r>
            <a:r>
              <a:rPr sz="1600" b="1">
                <a:solidFill>
                  <a:srgbClr val="FFFFFF"/>
                </a:solidFill>
                <a:latin typeface="맑은 고딕"/>
                <a:ea typeface="맑은 고딕"/>
                <a:cs typeface="맑은 고딕"/>
              </a:rPr>
              <a:t>의 차이, Causal / 양방향 = </a:t>
            </a:r>
            <a:r>
              <a:rPr sz="1600" b="1">
                <a:solidFill>
                  <a:srgbClr val="FFFFFF"/>
                </a:solidFill>
                <a:latin typeface="맑은 고딕"/>
                <a:ea typeface="맑은 고딕"/>
                <a:cs typeface="맑은 고딕"/>
              </a:rPr>
              <a:t>범위</a:t>
            </a:r>
            <a:r>
              <a:rPr sz="1600" b="1">
                <a:solidFill>
                  <a:srgbClr val="FFFFFF"/>
                </a:solidFill>
                <a:latin typeface="맑은 고딕"/>
                <a:ea typeface="맑은 고딕"/>
                <a:cs typeface="맑은 고딕"/>
              </a:rPr>
              <a:t>의 차이 — 서로 다른 축. Cross-attention의 출력 길이는 </a:t>
            </a:r>
            <a:r>
              <a:rPr sz="1600" b="1">
                <a:solidFill>
                  <a:srgbClr val="FFFFFF"/>
                </a:solidFill>
                <a:latin typeface="맑은 고딕"/>
                <a:ea typeface="맑은 고딕"/>
                <a:cs typeface="맑은 고딕"/>
              </a:rPr>
              <a:t>Query 수 T</a:t>
            </a:r>
            <a:r>
              <a:rPr sz="1600" b="1">
                <a:solidFill>
                  <a:srgbClr val="FFFFFF"/>
                </a:solidFill>
                <a:latin typeface="맑은 고딕"/>
                <a:ea typeface="맑은 고딕"/>
                <a:cs typeface="맑은 고딕"/>
              </a:rPr>
              <a:t> (source 길이 S가 아니다).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한 장 요약</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오늘 배운 것을 한 줄씩</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sp>
        <p:nvSpPr>
          <p:cNvPr id="9" name="Oval 8"/>
          <p:cNvSpPr/>
          <p:nvPr/>
        </p:nvSpPr>
        <p:spPr>
          <a:xfrm>
            <a:off x="457200" y="154076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1</a:t>
            </a:r>
          </a:p>
        </p:txBody>
      </p:sp>
      <p:sp>
        <p:nvSpPr>
          <p:cNvPr id="10" name="TextBox 9"/>
          <p:cNvSpPr txBox="1"/>
          <p:nvPr/>
        </p:nvSpPr>
        <p:spPr>
          <a:xfrm>
            <a:off x="1143000" y="1408176"/>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Attention = </a:t>
            </a:r>
            <a:r>
              <a:rPr sz="1800" b="1">
                <a:solidFill>
                  <a:srgbClr val="1B2A36"/>
                </a:solidFill>
                <a:latin typeface="맑은 고딕"/>
                <a:ea typeface="맑은 고딕"/>
                <a:cs typeface="맑은 고딕"/>
              </a:rPr>
              <a:t>점수 → softmax → 가중합</a:t>
            </a:r>
            <a:r>
              <a:rPr sz="1800" b="0">
                <a:solidFill>
                  <a:srgbClr val="1B2A36"/>
                </a:solidFill>
                <a:latin typeface="맑은 고딕"/>
                <a:ea typeface="맑은 고딕"/>
                <a:cs typeface="맑은 고딕"/>
              </a:rPr>
              <a:t>: 출력마다 다른 요약 c_t (2014)</a:t>
            </a:r>
          </a:p>
        </p:txBody>
      </p:sp>
      <p:sp>
        <p:nvSpPr>
          <p:cNvPr id="11" name="Oval 10"/>
          <p:cNvSpPr/>
          <p:nvPr/>
        </p:nvSpPr>
        <p:spPr>
          <a:xfrm>
            <a:off x="457200" y="2391156"/>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2</a:t>
            </a:r>
          </a:p>
        </p:txBody>
      </p:sp>
      <p:sp>
        <p:nvSpPr>
          <p:cNvPr id="12" name="TextBox 11"/>
          <p:cNvSpPr txBox="1"/>
          <p:nvPr/>
        </p:nvSpPr>
        <p:spPr>
          <a:xfrm>
            <a:off x="1143000" y="2258568"/>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Self-attention: 모든 위치가 직접 만난다 — </a:t>
            </a:r>
            <a:r>
              <a:rPr sz="1800" b="1">
                <a:solidFill>
                  <a:srgbClr val="1B2A36"/>
                </a:solidFill>
                <a:latin typeface="맑은 고딕"/>
                <a:ea typeface="맑은 고딕"/>
                <a:cs typeface="맑은 고딕"/>
              </a:rPr>
              <a:t>경로 1</a:t>
            </a:r>
            <a:r>
              <a:rPr sz="1800" b="0">
                <a:solidFill>
                  <a:srgbClr val="1B2A36"/>
                </a:solidFill>
                <a:latin typeface="맑은 고딕"/>
                <a:ea typeface="맑은 고딕"/>
                <a:cs typeface="맑은 고딕"/>
              </a:rPr>
              <a:t>, 순차 의존 없음</a:t>
            </a:r>
          </a:p>
        </p:txBody>
      </p:sp>
      <p:sp>
        <p:nvSpPr>
          <p:cNvPr id="13" name="Oval 12"/>
          <p:cNvSpPr/>
          <p:nvPr/>
        </p:nvSpPr>
        <p:spPr>
          <a:xfrm>
            <a:off x="457200" y="3241548"/>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3</a:t>
            </a:r>
          </a:p>
        </p:txBody>
      </p:sp>
      <p:sp>
        <p:nvSpPr>
          <p:cNvPr id="14" name="TextBox 13"/>
          <p:cNvSpPr txBox="1"/>
          <p:nvPr/>
        </p:nvSpPr>
        <p:spPr>
          <a:xfrm>
            <a:off x="1143000" y="3108960"/>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Q · K · V는 같은 X의 </a:t>
            </a:r>
            <a:r>
              <a:rPr sz="1800" b="1">
                <a:solidFill>
                  <a:srgbClr val="1B2A36"/>
                </a:solidFill>
                <a:latin typeface="맑은 고딕"/>
                <a:ea typeface="맑은 고딕"/>
                <a:cs typeface="맑은 고딕"/>
              </a:rPr>
              <a:t>다른 투영</a:t>
            </a:r>
            <a:r>
              <a:rPr sz="1800" b="0">
                <a:solidFill>
                  <a:srgbClr val="1B2A36"/>
                </a:solidFill>
                <a:latin typeface="맑은 고딕"/>
                <a:ea typeface="맑은 고딕"/>
                <a:cs typeface="맑은 고딕"/>
              </a:rPr>
              <a:t>, 학습되는 것은 W_Q · W_K · W_V · W_O (A는 활성값)</a:t>
            </a:r>
          </a:p>
        </p:txBody>
      </p:sp>
      <p:sp>
        <p:nvSpPr>
          <p:cNvPr id="15" name="Oval 14"/>
          <p:cNvSpPr/>
          <p:nvPr/>
        </p:nvSpPr>
        <p:spPr>
          <a:xfrm>
            <a:off x="457200" y="4091939"/>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4</a:t>
            </a:r>
          </a:p>
        </p:txBody>
      </p:sp>
      <p:sp>
        <p:nvSpPr>
          <p:cNvPr id="16" name="TextBox 15"/>
          <p:cNvSpPr txBox="1"/>
          <p:nvPr/>
        </p:nvSpPr>
        <p:spPr>
          <a:xfrm>
            <a:off x="1143000" y="3959352"/>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softmax(QKᵀ/√d_h)V: (N, d_h)·(d_h, N) → </a:t>
            </a:r>
            <a:r>
              <a:rPr sz="1800" b="1">
                <a:solidFill>
                  <a:srgbClr val="1B2A36"/>
                </a:solidFill>
                <a:latin typeface="맑은 고딕"/>
                <a:ea typeface="맑은 고딕"/>
                <a:cs typeface="맑은 고딕"/>
              </a:rPr>
              <a:t>(N, N)</a:t>
            </a:r>
            <a:r>
              <a:rPr sz="1800" b="0">
                <a:solidFill>
                  <a:srgbClr val="1B2A36"/>
                </a:solidFill>
                <a:latin typeface="맑은 고딕"/>
                <a:ea typeface="맑은 고딕"/>
                <a:cs typeface="맑은 고딕"/>
              </a:rPr>
              <a:t> → </a:t>
            </a:r>
            <a:r>
              <a:rPr sz="1800" b="1">
                <a:solidFill>
                  <a:srgbClr val="1B2A36"/>
                </a:solidFill>
                <a:latin typeface="맑은 고딕"/>
                <a:ea typeface="맑은 고딕"/>
                <a:cs typeface="맑은 고딕"/>
              </a:rPr>
              <a:t>(N, d_h)</a:t>
            </a:r>
            <a:r>
              <a:rPr sz="1800" b="0">
                <a:solidFill>
                  <a:srgbClr val="1B2A36"/>
                </a:solidFill>
                <a:latin typeface="맑은 고딕"/>
                <a:ea typeface="맑은 고딕"/>
                <a:cs typeface="맑은 고딕"/>
              </a:rPr>
              <a:t>, softmax는 Key 축</a:t>
            </a:r>
          </a:p>
        </p:txBody>
      </p:sp>
      <p:sp>
        <p:nvSpPr>
          <p:cNvPr id="17" name="Oval 16"/>
          <p:cNvSpPr/>
          <p:nvPr/>
        </p:nvSpPr>
        <p:spPr>
          <a:xfrm>
            <a:off x="457200" y="4942331"/>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5</a:t>
            </a:r>
          </a:p>
        </p:txBody>
      </p:sp>
      <p:sp>
        <p:nvSpPr>
          <p:cNvPr id="18" name="TextBox 17"/>
          <p:cNvSpPr txBox="1"/>
          <p:nvPr/>
        </p:nvSpPr>
        <p:spPr>
          <a:xfrm>
            <a:off x="1143000" y="4809744"/>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Multi-head: (B, N, d) → </a:t>
            </a:r>
            <a:r>
              <a:rPr sz="1800" b="1">
                <a:solidFill>
                  <a:srgbClr val="1B2A36"/>
                </a:solidFill>
                <a:latin typeface="맑은 고딕"/>
                <a:ea typeface="맑은 고딕"/>
                <a:cs typeface="맑은 고딕"/>
              </a:rPr>
              <a:t>(B, H, N, d_h)</a:t>
            </a:r>
            <a:r>
              <a:rPr sz="1800" b="0">
                <a:solidFill>
                  <a:srgbClr val="1B2A36"/>
                </a:solidFill>
                <a:latin typeface="맑은 고딕"/>
                <a:ea typeface="맑은 고딕"/>
                <a:cs typeface="맑은 고딕"/>
              </a:rPr>
              <a:t> → 다시 (B, N, d), 역할은 미리 정해지지 않는다</a:t>
            </a:r>
          </a:p>
        </p:txBody>
      </p:sp>
      <p:sp>
        <p:nvSpPr>
          <p:cNvPr id="19" name="Oval 18"/>
          <p:cNvSpPr/>
          <p:nvPr/>
        </p:nvSpPr>
        <p:spPr>
          <a:xfrm>
            <a:off x="457200" y="579272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6</a:t>
            </a:r>
          </a:p>
        </p:txBody>
      </p:sp>
      <p:sp>
        <p:nvSpPr>
          <p:cNvPr id="20" name="TextBox 19"/>
          <p:cNvSpPr txBox="1"/>
          <p:nvPr/>
        </p:nvSpPr>
        <p:spPr>
          <a:xfrm>
            <a:off x="1143000" y="5660136"/>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Self-attention은 순서를 모른다(</a:t>
            </a:r>
            <a:r>
              <a:rPr sz="1800" b="1">
                <a:solidFill>
                  <a:srgbClr val="1B2A36"/>
                </a:solidFill>
                <a:latin typeface="맑은 고딕"/>
                <a:ea typeface="맑은 고딕"/>
                <a:cs typeface="맑은 고딕"/>
              </a:rPr>
              <a:t>등변</a:t>
            </a:r>
            <a:r>
              <a:rPr sz="1800" b="0">
                <a:solidFill>
                  <a:srgbClr val="1B2A36"/>
                </a:solidFill>
                <a:latin typeface="맑은 고딕"/>
                <a:ea typeface="맑은 고딕"/>
                <a:cs typeface="맑은 고딕"/>
              </a:rPr>
              <a:t>) → </a:t>
            </a:r>
            <a:r>
              <a:rPr sz="1800" b="1">
                <a:solidFill>
                  <a:srgbClr val="1B2A36"/>
                </a:solidFill>
                <a:latin typeface="맑은 고딕"/>
                <a:ea typeface="맑은 고딕"/>
                <a:cs typeface="맑은 고딕"/>
              </a:rPr>
              <a:t>위치 인코딩</a:t>
            </a:r>
            <a:r>
              <a:rPr sz="1800" b="0">
                <a:solidFill>
                  <a:srgbClr val="1B2A36"/>
                </a:solidFill>
                <a:latin typeface="맑은 고딕"/>
                <a:ea typeface="맑은 고딕"/>
                <a:cs typeface="맑은 고딕"/>
              </a:rPr>
              <a:t>을 더한다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셀프 체크 ①</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답을 자기 말로 설명할 수 있는가? (정답은 발표자 노트)</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sp>
        <p:nvSpPr>
          <p:cNvPr id="9" name="Rounded Rectangle 8"/>
          <p:cNvSpPr/>
          <p:nvPr/>
        </p:nvSpPr>
        <p:spPr>
          <a:xfrm>
            <a:off x="457200" y="1408176"/>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 y="1659636"/>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Q1</a:t>
            </a:r>
          </a:p>
        </p:txBody>
      </p:sp>
      <p:sp>
        <p:nvSpPr>
          <p:cNvPr id="11" name="TextBox 10"/>
          <p:cNvSpPr txBox="1"/>
          <p:nvPr/>
        </p:nvSpPr>
        <p:spPr>
          <a:xfrm>
            <a:off x="1188720" y="1408176"/>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Self-attention의 Q, K, V는 항상 같은 숫자인가? (개념 확인 04)</a:t>
            </a:r>
          </a:p>
        </p:txBody>
      </p:sp>
      <p:sp>
        <p:nvSpPr>
          <p:cNvPr id="12" name="Rounded Rectangle 11"/>
          <p:cNvSpPr/>
          <p:nvPr/>
        </p:nvSpPr>
        <p:spPr>
          <a:xfrm>
            <a:off x="457200" y="2514600"/>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4360" y="2766060"/>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Q2</a:t>
            </a:r>
          </a:p>
        </p:txBody>
      </p:sp>
      <p:sp>
        <p:nvSpPr>
          <p:cNvPr id="14" name="TextBox 13"/>
          <p:cNvSpPr txBox="1"/>
          <p:nvPr/>
        </p:nvSpPr>
        <p:spPr>
          <a:xfrm>
            <a:off x="1188720" y="2514600"/>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Q: (B, H, T, d_h), K: (B, H, S, d_h)일 때 QKᵀ의 shape은? (05)</a:t>
            </a:r>
          </a:p>
        </p:txBody>
      </p:sp>
      <p:sp>
        <p:nvSpPr>
          <p:cNvPr id="15" name="Rounded Rectangle 14"/>
          <p:cNvSpPr/>
          <p:nvPr/>
        </p:nvSpPr>
        <p:spPr>
          <a:xfrm>
            <a:off x="457200" y="3621024"/>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387248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Q3</a:t>
            </a:r>
          </a:p>
        </p:txBody>
      </p:sp>
      <p:sp>
        <p:nvSpPr>
          <p:cNvPr id="17" name="TextBox 16"/>
          <p:cNvSpPr txBox="1"/>
          <p:nvPr/>
        </p:nvSpPr>
        <p:spPr>
          <a:xfrm>
            <a:off x="1188720" y="3621024"/>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Attention의 softmax는 보통 어느 축인가? (06)</a:t>
            </a:r>
          </a:p>
        </p:txBody>
      </p:sp>
      <p:sp>
        <p:nvSpPr>
          <p:cNvPr id="18" name="Rounded Rectangle 17"/>
          <p:cNvSpPr/>
          <p:nvPr/>
        </p:nvSpPr>
        <p:spPr>
          <a:xfrm>
            <a:off x="457200" y="4727448"/>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4360" y="4978908"/>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Q4</a:t>
            </a:r>
          </a:p>
        </p:txBody>
      </p:sp>
      <p:sp>
        <p:nvSpPr>
          <p:cNvPr id="20" name="TextBox 19"/>
          <p:cNvSpPr txBox="1"/>
          <p:nvPr/>
        </p:nvSpPr>
        <p:spPr>
          <a:xfrm>
            <a:off x="1188720" y="4727448"/>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Q 길이 3, K/V 길이 5인 cross-attention의 출력 길이는? (09)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셀프 체크 ②</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답을 자기 말로 설명할 수 있는가? (정답은 발표자 노트)</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sp>
        <p:nvSpPr>
          <p:cNvPr id="9" name="Rounded Rectangle 8"/>
          <p:cNvSpPr/>
          <p:nvPr/>
        </p:nvSpPr>
        <p:spPr>
          <a:xfrm>
            <a:off x="457200" y="1408176"/>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 y="1659636"/>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Q1</a:t>
            </a:r>
          </a:p>
        </p:txBody>
      </p:sp>
      <p:sp>
        <p:nvSpPr>
          <p:cNvPr id="11" name="TextBox 10"/>
          <p:cNvSpPr txBox="1"/>
          <p:nvPr/>
        </p:nvSpPr>
        <p:spPr>
          <a:xfrm>
            <a:off x="1188720" y="1408176"/>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같은 d에서 head 수 H를 늘리면? (10)</a:t>
            </a:r>
          </a:p>
        </p:txBody>
      </p:sp>
      <p:sp>
        <p:nvSpPr>
          <p:cNvPr id="12" name="Rounded Rectangle 11"/>
          <p:cNvSpPr/>
          <p:nvPr/>
        </p:nvSpPr>
        <p:spPr>
          <a:xfrm>
            <a:off x="457200" y="2514600"/>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4360" y="2766060"/>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Q2</a:t>
            </a:r>
          </a:p>
        </p:txBody>
      </p:sp>
      <p:sp>
        <p:nvSpPr>
          <p:cNvPr id="14" name="TextBox 13"/>
          <p:cNvSpPr txBox="1"/>
          <p:nvPr/>
        </p:nvSpPr>
        <p:spPr>
          <a:xfrm>
            <a:off x="1188720" y="2514600"/>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위치 정보와 위치 의존 mask가 없는 self-attention의 순열 성질은? (13)</a:t>
            </a:r>
          </a:p>
        </p:txBody>
      </p:sp>
      <p:sp>
        <p:nvSpPr>
          <p:cNvPr id="15" name="Rounded Rectangle 14"/>
          <p:cNvSpPr/>
          <p:nvPr/>
        </p:nvSpPr>
        <p:spPr>
          <a:xfrm>
            <a:off x="457200" y="3621024"/>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387248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Q3</a:t>
            </a:r>
          </a:p>
        </p:txBody>
      </p:sp>
      <p:sp>
        <p:nvSpPr>
          <p:cNvPr id="17" name="TextBox 16"/>
          <p:cNvSpPr txBox="1"/>
          <p:nvPr/>
        </p:nvSpPr>
        <p:spPr>
          <a:xfrm>
            <a:off x="1188720" y="3621024"/>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어떤 head에서 큰 attention 가중치를 관찰했다. 무엇이라고 말할 수 있나? (18)</a:t>
            </a:r>
          </a:p>
        </p:txBody>
      </p:sp>
      <p:sp>
        <p:nvSpPr>
          <p:cNvPr id="18" name="Rounded Rectangle 17"/>
          <p:cNvSpPr/>
          <p:nvPr/>
        </p:nvSpPr>
        <p:spPr>
          <a:xfrm>
            <a:off x="457200" y="4727448"/>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4360" y="4978908"/>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Q4</a:t>
            </a:r>
          </a:p>
        </p:txBody>
      </p:sp>
      <p:sp>
        <p:nvSpPr>
          <p:cNvPr id="20" name="TextBox 19"/>
          <p:cNvSpPr txBox="1"/>
          <p:nvPr/>
        </p:nvSpPr>
        <p:spPr>
          <a:xfrm>
            <a:off x="1188720" y="4727448"/>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q_A = (1, 0)이고 모든 Key가 k = (0, 1)이면 attention 가중치는?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흔한 오해 바로잡기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틀린 문장을 계산의 언어로 고쳐 쓴다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graphicFrame>
        <p:nvGraphicFramePr>
          <p:cNvPr id="9" name="Table 8"/>
          <p:cNvGraphicFramePr>
            <a:graphicFrameLocks noGrp="1"/>
          </p:cNvGraphicFramePr>
          <p:nvPr/>
        </p:nvGraphicFramePr>
        <p:xfrm>
          <a:off x="457200" y="1408176"/>
          <a:ext cx="11274551" cy="3081526"/>
        </p:xfrm>
        <a:graphic>
          <a:graphicData uri="http://schemas.openxmlformats.org/drawingml/2006/table">
            <a:tbl>
              <a:tblPr firstRow="1" bandRow="0">
                <a:tableStyleId>{5940675A-B579-460E-94D1-54222C63F5DA}</a:tableStyleId>
              </a:tblPr>
              <a:tblGrid>
                <a:gridCol w="4216499"/>
                <a:gridCol w="7058052"/>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자주 듣는 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더 정확한 설명</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“Attention 가중치는 학습되는 파라미터다”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파라미터는 W_Q · W_K · W_V · W_O. </a:t>
                      </a:r>
                      <a:r>
                        <a:rPr sz="1500" b="1">
                          <a:solidFill>
                            <a:srgbClr val="1B2A36"/>
                          </a:solidFill>
                          <a:latin typeface="맑은 고딕"/>
                          <a:ea typeface="맑은 고딕"/>
                          <a:cs typeface="맑은 고딕"/>
                        </a:rPr>
                        <a:t>A는 입력마다 계산</a:t>
                      </a:r>
                      <a:r>
                        <a:rPr sz="1500" b="0">
                          <a:solidFill>
                            <a:srgbClr val="1B2A36"/>
                          </a:solidFill>
                          <a:latin typeface="맑은 고딕"/>
                          <a:ea typeface="맑은 고딕"/>
                          <a:cs typeface="맑은 고딕"/>
                        </a:rPr>
                        <a:t>되는 활성값</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“Self-attention이면 Q = K = V”</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같은 X에서 </a:t>
                      </a:r>
                      <a:r>
                        <a:rPr sz="1500" b="1">
                          <a:solidFill>
                            <a:srgbClr val="1B2A36"/>
                          </a:solidFill>
                          <a:latin typeface="맑은 고딕"/>
                          <a:ea typeface="맑은 고딕"/>
                          <a:cs typeface="맑은 고딕"/>
                        </a:rPr>
                        <a:t>다른 투영</a:t>
                      </a:r>
                      <a:r>
                        <a:rPr sz="1500" b="0">
                          <a:solidFill>
                            <a:srgbClr val="1B2A36"/>
                          </a:solidFill>
                          <a:latin typeface="맑은 고딕"/>
                          <a:ea typeface="맑은 고딕"/>
                          <a:cs typeface="맑은 고딕"/>
                        </a:rPr>
                        <a:t>. 점수 행렬도 일반적으로 비대칭</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“Multi-head는 토큰을 head별로 나눠 본다”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모든 head가 </a:t>
                      </a:r>
                      <a:r>
                        <a:rPr sz="1500" b="1">
                          <a:solidFill>
                            <a:srgbClr val="1B2A36"/>
                          </a:solidFill>
                          <a:latin typeface="맑은 고딕"/>
                          <a:ea typeface="맑은 고딕"/>
                          <a:cs typeface="맑은 고딕"/>
                        </a:rPr>
                        <a:t>모든 토큰</a:t>
                      </a:r>
                      <a:r>
                        <a:rPr sz="1500" b="0">
                          <a:solidFill>
                            <a:srgbClr val="1B2A36"/>
                          </a:solidFill>
                          <a:latin typeface="맑은 고딕"/>
                          <a:ea typeface="맑은 고딕"/>
                          <a:cs typeface="맑은 고딕"/>
                        </a:rPr>
                        <a:t>을 본다. 나누는 것은 특징 차원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“Head 1은 문법, head 2는 의미 담당”</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역할은 </a:t>
                      </a:r>
                      <a:r>
                        <a:rPr sz="1500" b="1">
                          <a:solidFill>
                            <a:srgbClr val="1B2A36"/>
                          </a:solidFill>
                          <a:latin typeface="맑은 고딕"/>
                          <a:ea typeface="맑은 고딕"/>
                          <a:cs typeface="맑은 고딕"/>
                        </a:rPr>
                        <a:t>미리 정해지지 않는다</a:t>
                      </a:r>
                      <a:r>
                        <a:rPr sz="1500" b="0">
                          <a:solidFill>
                            <a:srgbClr val="1B2A36"/>
                          </a:solidFill>
                          <a:latin typeface="맑은 고딕"/>
                          <a:ea typeface="맑은 고딕"/>
                          <a:cs typeface="맑은 고딕"/>
                        </a:rPr>
                        <a:t> — 관찰·해석·인과 검증을 구분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“Transformer가 attention을 발명했다”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Attention은 2014, self-attention도 그 전에 있었다. 2017년은 </a:t>
                      </a:r>
                      <a:r>
                        <a:rPr sz="1500" b="1">
                          <a:solidFill>
                            <a:srgbClr val="1B2A36"/>
                          </a:solidFill>
                          <a:latin typeface="맑은 고딕"/>
                          <a:ea typeface="맑은 고딕"/>
                          <a:cs typeface="맑은 고딕"/>
                        </a:rPr>
                        <a:t>조합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“위치 인코딩은 sin/cos여야 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학습형 · 상대 위치 · RoPE 등 여러 방식. 필요한 것은 </a:t>
                      </a:r>
                      <a:r>
                        <a:rPr sz="1500" b="1">
                          <a:solidFill>
                            <a:srgbClr val="1B2A36"/>
                          </a:solidFill>
                          <a:latin typeface="맑은 고딕"/>
                          <a:ea typeface="맑은 고딕"/>
                          <a:cs typeface="맑은 고딕"/>
                        </a:rPr>
                        <a:t>위치 단서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이번 주 과제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제출물이 분명한 과제 — 결과를 보기 전에 먼저 예측해 적는다</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실습</a:t>
            </a:r>
          </a:p>
        </p:txBody>
      </p:sp>
      <p:sp>
        <p:nvSpPr>
          <p:cNvPr id="9" name="Rounded Rectangle 8"/>
          <p:cNvSpPr/>
          <p:nvPr/>
        </p:nvSpPr>
        <p:spPr>
          <a:xfrm>
            <a:off x="457200" y="1408176"/>
            <a:ext cx="11274552" cy="1191387"/>
          </a:xfrm>
          <a:prstGeom prst="roundRect">
            <a:avLst>
              <a:gd name="adj" fmla="val 767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1554480"/>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1</a:t>
            </a:r>
          </a:p>
        </p:txBody>
      </p:sp>
      <p:sp>
        <p:nvSpPr>
          <p:cNvPr id="11" name="TextBox 10"/>
          <p:cNvSpPr txBox="1"/>
          <p:nvPr/>
        </p:nvSpPr>
        <p:spPr>
          <a:xfrm>
            <a:off x="1124712" y="1536192"/>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손계산 (원자료 운영안 6회차)</a:t>
            </a:r>
          </a:p>
        </p:txBody>
      </p:sp>
      <p:sp>
        <p:nvSpPr>
          <p:cNvPr id="12" name="TextBox 11"/>
          <p:cNvSpPr txBox="1"/>
          <p:nvPr/>
        </p:nvSpPr>
        <p:spPr>
          <a:xfrm>
            <a:off x="621792" y="1993392"/>
            <a:ext cx="10945368" cy="478155"/>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4토큰 예제에서 Query B, C의 행을 손으로 계산해 전체 행렬 그림과 맞춰 본다. √2 스케일을 빼면 어떻게 바뀌는지도.</a:t>
            </a:r>
          </a:p>
        </p:txBody>
      </p:sp>
      <p:sp>
        <p:nvSpPr>
          <p:cNvPr id="13" name="Rounded Rectangle 12"/>
          <p:cNvSpPr/>
          <p:nvPr/>
        </p:nvSpPr>
        <p:spPr>
          <a:xfrm>
            <a:off x="457200" y="2828163"/>
            <a:ext cx="11274552" cy="1191387"/>
          </a:xfrm>
          <a:prstGeom prst="roundRect">
            <a:avLst>
              <a:gd name="adj" fmla="val 767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2974467"/>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2</a:t>
            </a:r>
          </a:p>
        </p:txBody>
      </p:sp>
      <p:sp>
        <p:nvSpPr>
          <p:cNvPr id="15" name="TextBox 14"/>
          <p:cNvSpPr txBox="1"/>
          <p:nvPr/>
        </p:nvSpPr>
        <p:spPr>
          <a:xfrm>
            <a:off x="1124712" y="2956179"/>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shape 추적</a:t>
            </a:r>
          </a:p>
        </p:txBody>
      </p:sp>
      <p:sp>
        <p:nvSpPr>
          <p:cNvPr id="16" name="TextBox 15"/>
          <p:cNvSpPr txBox="1"/>
          <p:nvPr/>
        </p:nvSpPr>
        <p:spPr>
          <a:xfrm>
            <a:off x="621792" y="3413379"/>
            <a:ext cx="10945368" cy="478155"/>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d = 12, H = 3, B = 2, N = 7일 때 multi-head의 모든 단계 shape을 표로 쓰고, 코드로 확인한다.</a:t>
            </a:r>
          </a:p>
        </p:txBody>
      </p:sp>
      <p:sp>
        <p:nvSpPr>
          <p:cNvPr id="17" name="Rounded Rectangle 16"/>
          <p:cNvSpPr/>
          <p:nvPr/>
        </p:nvSpPr>
        <p:spPr>
          <a:xfrm>
            <a:off x="457200" y="4248150"/>
            <a:ext cx="11274552" cy="1419986"/>
          </a:xfrm>
          <a:prstGeom prst="roundRect">
            <a:avLst>
              <a:gd name="adj" fmla="val 643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4394453"/>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3</a:t>
            </a:r>
          </a:p>
        </p:txBody>
      </p:sp>
      <p:sp>
        <p:nvSpPr>
          <p:cNvPr id="19" name="TextBox 18"/>
          <p:cNvSpPr txBox="1"/>
          <p:nvPr/>
        </p:nvSpPr>
        <p:spPr>
          <a:xfrm>
            <a:off x="1124712" y="4376165"/>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순열 실험</a:t>
            </a:r>
          </a:p>
        </p:txBody>
      </p:sp>
      <p:sp>
        <p:nvSpPr>
          <p:cNvPr id="20" name="TextBox 19"/>
          <p:cNvSpPr txBox="1"/>
          <p:nvPr/>
        </p:nvSpPr>
        <p:spPr>
          <a:xfrm>
            <a:off x="621792" y="4833365"/>
            <a:ext cx="10945368" cy="706754"/>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dropout을 끈 nn.MultiheadAttention에 토큰 순서를 섞은 입력을 넣고 SA(PX) = P·SA(X)를 확인한다. 위치 인코딩을 더하면?</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참고 자료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원문은 필요한 절만 골라 읽는다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graphicFrame>
        <p:nvGraphicFramePr>
          <p:cNvPr id="9" name="Table 8"/>
          <p:cNvGraphicFramePr>
            <a:graphicFrameLocks noGrp="1"/>
          </p:cNvGraphicFramePr>
          <p:nvPr/>
        </p:nvGraphicFramePr>
        <p:xfrm>
          <a:off x="457200" y="1408176"/>
          <a:ext cx="11274551" cy="2798064"/>
        </p:xfrm>
        <a:graphic>
          <a:graphicData uri="http://schemas.openxmlformats.org/drawingml/2006/table">
            <a:tbl>
              <a:tblPr firstRow="1" bandRow="0">
                <a:tableStyleId>{5940675A-B579-460E-94D1-54222C63F5DA}</a:tableStyleId>
              </a:tblPr>
              <a:tblGrid>
                <a:gridCol w="6691400"/>
                <a:gridCol w="4583151"/>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자료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이번 주에 읽을 부분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[17] Bahdanau, Cho &amp; Bengio (2014). Neural Machine Translation by Jointly Learning to Align and Translate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§3 정렬 모델, 정렬 그림</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[18] Luong, Pham &amp; Manning (2015). Effective Approaches to Attention-based NMT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점수 함수 비교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[22] Vaswani et al. (2017). Attention Is All You Need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§3.2 Attention, §3.5 위치 인코딩, Fig.1–2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[27] The Annotated Transformer · [28] PyTorch nn.MultiheadAttention 문서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shape과 구현 대조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[39][40] Attention 해석 관련 연구 (원자료 참고문헌)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heatmap 해석의 한계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남은 문제와 다음 질문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2026-11-02</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85684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답은 새 문제를 남긴다 — 다음 주는 여기서 출발한다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sp>
        <p:nvSpPr>
          <p:cNvPr id="9" name="Rounded Rectangle 8"/>
          <p:cNvSpPr/>
          <p:nvPr/>
        </p:nvSpPr>
        <p:spPr>
          <a:xfrm>
            <a:off x="457200" y="1591056"/>
            <a:ext cx="3422904" cy="3840480"/>
          </a:xfrm>
          <a:prstGeom prst="roundRect">
            <a:avLst>
              <a:gd name="adj" fmla="val 2671"/>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82496"/>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이번 주에 해결한 것</a:t>
            </a:r>
          </a:p>
        </p:txBody>
      </p:sp>
      <p:sp>
        <p:nvSpPr>
          <p:cNvPr id="11" name="TextBox 10"/>
          <p:cNvSpPr txBox="1"/>
          <p:nvPr/>
        </p:nvSpPr>
        <p:spPr>
          <a:xfrm>
            <a:off x="548640" y="2124456"/>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출력마다 원문을 </a:t>
            </a:r>
            <a:r>
              <a:rPr sz="1800" b="1">
                <a:solidFill>
                  <a:srgbClr val="1B2A36"/>
                </a:solidFill>
                <a:latin typeface="맑은 고딕"/>
                <a:ea typeface="맑은 고딕"/>
                <a:cs typeface="맑은 고딕"/>
              </a:rPr>
              <a:t>다시 참조</a:t>
            </a:r>
            <a:r>
              <a:rPr sz="1800" b="0">
                <a:solidFill>
                  <a:srgbClr val="1B2A36"/>
                </a:solidFill>
                <a:latin typeface="맑은 고딕"/>
                <a:ea typeface="맑은 고딕"/>
                <a:cs typeface="맑은 고딕"/>
              </a:rPr>
              <a:t>하는 Attention</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모든 위치가 직접 만나는 </a:t>
            </a:r>
            <a:r>
              <a:rPr sz="1800" b="1">
                <a:solidFill>
                  <a:srgbClr val="1B2A36"/>
                </a:solidFill>
                <a:latin typeface="맑은 고딕"/>
                <a:ea typeface="맑은 고딕"/>
                <a:cs typeface="맑은 고딕"/>
              </a:rPr>
              <a:t>Self-attention</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Q·K·V · Multi-head · 위치 인코딩</a:t>
            </a:r>
          </a:p>
        </p:txBody>
      </p:sp>
      <p:cxnSp>
        <p:nvCxnSpPr>
          <p:cNvPr id="12" name="Connector 11"/>
          <p:cNvCxnSpPr/>
          <p:nvPr/>
        </p:nvCxnSpPr>
        <p:spPr>
          <a:xfrm>
            <a:off x="3925824" y="3511296"/>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3024" y="1591056"/>
            <a:ext cx="3422904" cy="3840480"/>
          </a:xfrm>
          <a:prstGeom prst="roundRect">
            <a:avLst>
              <a:gd name="adj" fmla="val 2671"/>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4464" y="1682496"/>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E97132"/>
                </a:solidFill>
                <a:latin typeface="맑은 고딕"/>
                <a:ea typeface="맑은 고딕"/>
                <a:cs typeface="맑은 고딕"/>
              </a:rPr>
              <a:t>아직 남은 문제</a:t>
            </a:r>
          </a:p>
        </p:txBody>
      </p:sp>
      <p:sp>
        <p:nvSpPr>
          <p:cNvPr id="15" name="TextBox 14"/>
          <p:cNvSpPr txBox="1"/>
          <p:nvPr/>
        </p:nvSpPr>
        <p:spPr>
          <a:xfrm>
            <a:off x="4474464" y="2124456"/>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attention만으로는 </a:t>
            </a:r>
            <a:r>
              <a:rPr sz="1800" b="1">
                <a:solidFill>
                  <a:srgbClr val="1B2A36"/>
                </a:solidFill>
                <a:latin typeface="맑은 고딕"/>
                <a:ea typeface="맑은 고딕"/>
                <a:cs typeface="맑은 고딕"/>
              </a:rPr>
              <a:t>토큰별 비선형 변환</a:t>
            </a:r>
            <a:r>
              <a:rPr sz="1800" b="0">
                <a:solidFill>
                  <a:srgbClr val="1B2A36"/>
                </a:solidFill>
                <a:latin typeface="맑은 고딕"/>
                <a:ea typeface="맑은 고딕"/>
                <a:cs typeface="맑은 고딕"/>
              </a:rPr>
              <a:t>이 없다</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깊게 쌓으면? 정답을 </a:t>
            </a:r>
            <a:r>
              <a:rPr sz="1800" b="1">
                <a:solidFill>
                  <a:srgbClr val="1B2A36"/>
                </a:solidFill>
                <a:latin typeface="맑은 고딕"/>
                <a:ea typeface="맑은 고딕"/>
                <a:cs typeface="맑은 고딕"/>
              </a:rPr>
              <a:t>훔쳐보지 않고</a:t>
            </a:r>
            <a:r>
              <a:rPr sz="1800" b="0">
                <a:solidFill>
                  <a:srgbClr val="1B2A36"/>
                </a:solidFill>
                <a:latin typeface="맑은 고딕"/>
                <a:ea typeface="맑은 고딕"/>
                <a:cs typeface="맑은 고딕"/>
              </a:rPr>
              <a:t> 학습하려면? </a:t>
            </a:r>
            <a:r>
              <a:rPr sz="1800" b="1">
                <a:solidFill>
                  <a:srgbClr val="1B2A36"/>
                </a:solidFill>
                <a:latin typeface="맑은 고딕"/>
                <a:ea typeface="맑은 고딕"/>
                <a:cs typeface="맑은 고딕"/>
              </a:rPr>
              <a:t>생성</a:t>
            </a:r>
            <a:r>
              <a:rPr sz="1800" b="0">
                <a:solidFill>
                  <a:srgbClr val="1B2A36"/>
                </a:solidFill>
                <a:latin typeface="맑은 고딕"/>
                <a:ea typeface="맑은 고딕"/>
                <a:cs typeface="맑은 고딕"/>
              </a:rPr>
              <a:t>은?</a:t>
            </a:r>
          </a:p>
        </p:txBody>
      </p:sp>
      <p:cxnSp>
        <p:nvCxnSpPr>
          <p:cNvPr id="16" name="Connector 15"/>
          <p:cNvCxnSpPr/>
          <p:nvPr/>
        </p:nvCxnSpPr>
        <p:spPr>
          <a:xfrm>
            <a:off x="7851648" y="3511296"/>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08848" y="1591056"/>
            <a:ext cx="3422904" cy="3840480"/>
          </a:xfrm>
          <a:prstGeom prst="roundRect">
            <a:avLst>
              <a:gd name="adj" fmla="val 2671"/>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00288" y="1682496"/>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Week 6의 질문</a:t>
            </a:r>
          </a:p>
        </p:txBody>
      </p:sp>
      <p:sp>
        <p:nvSpPr>
          <p:cNvPr id="19" name="TextBox 18"/>
          <p:cNvSpPr txBox="1"/>
          <p:nvPr/>
        </p:nvSpPr>
        <p:spPr>
          <a:xfrm>
            <a:off x="8400288" y="2124456"/>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1">
                <a:solidFill>
                  <a:srgbClr val="FFFFFF"/>
                </a:solidFill>
                <a:latin typeface="맑은 고딕"/>
                <a:ea typeface="맑은 고딕"/>
                <a:cs typeface="맑은 고딕"/>
              </a:rPr>
              <a:t>참조만으로 시퀀스 모델을 만들면?</a:t>
            </a:r>
          </a:p>
          <a:p>
            <a:pPr algn="ctr" marL="0" indent="0">
              <a:lnSpc>
                <a:spcPct val="110000"/>
              </a:lnSpc>
              <a:spcBef>
                <a:spcPts val="0"/>
              </a:spcBef>
              <a:spcAft>
                <a:spcPts val="450"/>
              </a:spcAft>
              <a:buNone/>
            </a:pPr>
            <a:r>
              <a:rPr sz="1800" b="0">
                <a:solidFill>
                  <a:srgbClr val="FFFFFF"/>
                </a:solidFill>
                <a:latin typeface="맑은 고딕"/>
                <a:ea typeface="맑은 고딕"/>
                <a:cs typeface="맑은 고딕"/>
              </a:rPr>
              <a:t>FFN · Residual · LayerNorm · Mask · 학습 · 생성</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991B60C-0B87-4813-A3C9-C04D3D506FA3}">
  <we:reference id="WA200010001" version="1.0.0.1" store="Omex" storeType="OMEX"/>
  <we:alternateReferences>
    <we:reference id="WA200010001" version="1.0.0.1" store="WA200010001" storeType="OMEX"/>
  </we:alternateReferences>
  <we:properties>
    <we:property name="claude.fileId" value="&quot;36273689-c3e2-4185-b47f-e280f0f57d2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9D06B6F-593C-4965-A8E3-9778E5C31F9B}">
  <we:reference id="WA200010725" version="1.0.0.1" store="Omex" storeType="OMEX"/>
  <we:alternateReferences>
    <we:reference id="WA200010725" version="1.0.0.1" store="WA200010725" storeType="OMEX"/>
  </we:alternateReferences>
  <we:properties>
    <we:property name="claude.fileId" value="&quot;b6f5a1e2-33ed-4cdb-b763-f3262e0a716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31557</TotalTime>
  <Words>68</Words>
  <Application>Microsoft Office PowerPoint</Application>
  <PresentationFormat>와이드스크린</PresentationFormat>
  <Paragraphs>24</Paragraphs>
  <Slides>3</Slides>
  <Notes>3</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3</vt:i4>
      </vt:variant>
    </vt:vector>
  </HeadingPairs>
  <TitlesOfParts>
    <vt:vector size="10" baseType="lpstr">
      <vt:lpstr>맑은 고딕</vt:lpstr>
      <vt:lpstr>시스템 서체 일반체</vt:lpstr>
      <vt:lpstr>Arial</vt:lpstr>
      <vt:lpstr>Trebuchet MS</vt:lpstr>
      <vt:lpstr>Wingdings</vt:lpstr>
      <vt:lpstr>Office 테마</vt:lpstr>
      <vt:lpstr>2_Office 테마</vt:lpstr>
      <vt:lpstr>subject</vt:lpstr>
      <vt:lpstr>Name</vt:lpstr>
      <vt:lpstr>Question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문상준</dc:creator>
  <cp:lastModifiedBy>민윤홍</cp:lastModifiedBy>
  <cp:revision>1287</cp:revision>
  <cp:lastPrinted>2026-04-30T03:45:43Z</cp:lastPrinted>
  <dcterms:created xsi:type="dcterms:W3CDTF">2026-03-17T00:52:02Z</dcterms:created>
  <dcterms:modified xsi:type="dcterms:W3CDTF">2026-09-03T15:32:22Z</dcterms:modified>
</cp:coreProperties>
</file>