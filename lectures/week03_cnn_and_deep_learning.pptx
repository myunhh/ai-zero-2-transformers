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지난주 MLP는 이론적으로 강력하지만 두 가지 벽에 부딪힌다: 입력이 크면 파라미터가 폭발하고, 층이 깊으면 학습이 잘 안 된다. 오늘은 데이터의 구조를 모델에 넣는 방법(CNN)과, 깊은 모델을 실제로 학습시키기 위한 조건(데이터·GPU·ReLU·Residual·Normalization)을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주 복습 — Perceptron의 한계(XOR) / 비선형 은닉층 + 역전파 = MLP / 분류 출력: Softmax + Cross-entropy. 하지만 남은 문제가 있다: 입력이 이미지(수만 픽셀)면 모든 입력을 모든 뉴런에 연결 → 파라미터 폭발 / 층을 깊게 쌓으면 기울기가 곱해지며 사라진다. 이번 주는 이 질문에서 출발한다: 공간 구조를 어떻게 쓰고, / 깊은 모델은 어떻게 학습시키나?. 학생에게 지난 주 내용을 한 문장씩 먼저 말해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 지도에서 오늘은 3번째 질문이다. 오늘의 순서: 이미지를 MLP로 다루면? / 합성곱: 가까운 곳만, 같은 필터로 / 옆길: SVM과 일반화 (1995) / 깊은 모델이 가능해진 조건 (2006–2012) / 더 깊게: Residual과 Normalization (2015–2016). 끝나면 할 수 있어야 하는 것: 합성곱의 출력 크기와 파라미터 수를 계산한다 / CNN의 구조적 가정(지역성·가중치 공유)과 그 대가를 설명한다 / AlexNet이 ‘구조 하나’ 덕분이 아닌 이유를 말한다 / Residual y = x + F(x)가 깊은 학습을 돕는 이유를 설명한다 / BatchNorm과 LayerNorm의 정규화 축을 구분한다. 수업 마지막에 이 목표를 셀프 체크로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처음 나오는 용어들. 외울 필요는 없고, 설명 중 막히면 이 표로 돌아온다. 채널 (channel): 같은 위치의 여러 특징 (RGB 3개, 특징 맵 64개…) / 필터 · 커널: 작은 가중치 격자 (예: 3×3) / stride · padding: 필터가 움직이는 간격 · 가장자리에 덧댄 0 / pooling: 영역을 요약해 크기를 줄임 (max, avg) / 수용 영역: 출력 한 칸이 영향을 받는 입력 범위 / 구조적 가정: 데이터에 대해 모델 구조에 미리 넣은 믿음 / 잔차 연결: 입력을 출력에 그대로 더하는 지름길 / 정규화 (Norm): 값들을 평균 0·분산 1 근처로 맞춤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이미지의 한 칸(픽셀)은 밝기 숫자다(0~255). 흑백 8×8 이미지는 (1, 8, 8) 텐서, 컬러는 빨강·초록·파랑 3개 채널이라 (3, H, W). 여러 장을 묶으면 (B, C, H, W). 1주차의 (B, N, d)처럼 축마다 이름이 있다: 배치, 채널, 세로, 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32×32×3을 같은 크기의 64채널 특징 맵(32×32×64)으로 바꾸는 층을 생각하자. 모든 입력(3,072개)을 모든 출력(65,536개)에 연결하면 3,072 × 65,536 = 201,326,592개의 가중치. 작은 이미지 한 층에 2억 개 — 메모리도, 학습 데이터도 감당할 수 없다. 게다가 펼치는 순간 '어느 픽셀이 이웃인지'라는 공간 정보가 사라진다. 같은 연결을 국소 영역으로 제한하면 177만 개, 거기에 가중치를 공유하면 1,728개(편향 포함 1,792)로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이미지에는 세 가지 성질이 있다. ① 지역성: 가까운 픽셀끼리 함께 의미를 만든다(선, 모서리). ② 위치와 무관한 패턴: 고양이 귀는 사진 어디에 있어도 고양이 귀다. ③ 계층: 선 → 모양 → 부분 → 물체. CNN은 이 세 가지를 구조에 직접 넣는다. 이런 가정을 inductive bias(귀납적 편향)라고 한다. 공짜는 아니다: 가정이 맞지 않는 데이터(예: 멀리 떨어진 위치 사이의 관계가 중요한 경우)에서는 제약이 된다 — 5주차 Attention이 다른 선택을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6×6은 왼쪽이 밝고(10) 오른쪽이 어둡다(0). 필터 [[1,0,−1],[1,0,−1],[1,0,−1]]는 '왼쪽이 밝고 오른쪽이 어두운' 세로 경계에 반응한다. 주황 창 위치: (10·1 + 10·0 + 0·(−1)) × 3줄 = 30. 경계가 없는 곳에서는 0. 결과 4×4 특징 맵에서 경계 위치만 큰 값. 같은 9개 가중치를 모든 위치에 재사용하므로, 경계가 어디에 있든 같은 방식으로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y[i, j] = Σ_u Σ_v W[u, v] · x[i+u, j+v] + b. 필터 크기 K×K 안의 모든 칸을 곱해서 더한다 — 1주차의 내적 그대로. 주의: 딥러닝에서 'convolution'이라 부르는 구현은 대부분 필터를 뒤집지 않는 cross-correlation이다. 필터가 학습되므로 실용적 차이는 없다. 핵심은 두 가지: 국소 영역(작은 창)과 공유된 가중치(같은 W를 모든 위치에).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N: 입력 한 변 길이, K: 필터 크기, P: padding(가장자리에 덧댄 0의 두께), S: stride(필터가 움직이는 간격). 예: 6×6에 3×3, P=0, S=1 → (6−3)/1+1 = 4. 32×32에 5×5 → 28 (LeNet 첫 층). 32×32에 3×3, P=1 → 32 (크기 유지, 'same' padding). 32×32에 3×3, P=1, S=2 → ⌊31/2⌋+1 = 16 (절반으로).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입력(C_in=3)에 3×3 필터를 쓰면 필터 하나의 크기는 3×3×3 = 27. 특징 맵을 64개(C_out=64) 만들려면 필터 64개. 파라미터 = 64 × 27 + 64(편향) = 1,792. 입력 이미지 크기(32×32든 1000×1000이든)와 무관하다는 점이 핵심. 출력 shape는 (B, 64, 32, 32) (P=1). 같은 입출력의 완전 연결층은 2억 개였다.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pooling 2×2, stride 2: 4×4 → 2×2. 각 영역에서 가장 강한 반응만 남긴다. 학습할 파라미터가 없다. 효과: 계산량 감소, 작은 위치 이동에 덜 민감. 대신 정확한 위치 정보 일부를 버린다. 최근 모델은 pooling 대신 stride 2 합성곱을 쓰기도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층의 3×3 필터는 3칸만 보지만, 그 출력을 다시 3×3으로 보면 입력 5칸, 한 번 더 쌓으면 7칸. 층을 쌓을수록 선 → 모양 → 부분 → 물체처럼 넓은 영역을 통합한다. VGG(2014)의 논리: 3×3 세 층은 7×7 한 층과 같은 범위를 보면서 파라미터는 27C² vs 49C²로 적고 비선형성은 3번. 제약: 멀리 떨어진 두 위치가 만나려면 층을 여러 번 거쳐야 한다(경로가 길다).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LeCun 등(1989)은 역전파로 합성곱 신경망을 학습해 손글씨 우편번호를 인식했다. 1998년 LeNet-5 논문은 이 구조를 정리했다. (Fukushima의 1980 Neocognitron도 국소 연결과 계층 구조의 선구적 모델.) shape 흐름: 1×32×32 → C1 6@28×28 (5×5) → S2 6@14×14 → C3 16@10×10 → S4 16@5×5 → C5 120 → F6 84 → 출력 10. 합성곱으로 특징을 뽑고 공간 크기를 줄인 뒤, 마지막에 지난주의 MLP로 분류한다.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필터를 모든 위치에 쓰므로 입력 패턴을 한 칸 옮기면 특징 맵의 반응도 한 칸 옮겨진다 — translation equivariance(이동 등변성). 여기에 전체 max 같은 요약을 붙이면 이 예시에서는 위치와 무관한 값(불변)이 된다. 주의: CNN이 자동으로 완벽한 위치 불변성을 보장하는 것은 아니다. 경계·padding·stride·pooling에 따라 조건이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nn.Conv2d(in_channels, out_channels, kernel_size, padding). 입력 (8, 3, 32, 32) → 출력 (8, 64, 32, 32). 파라미터 1,792개 — 앞의 손 계산과 같다. MaxPool2d(2)는 공간을 절반으로. LeNet 첫 층 Conv2d(1, 6, 5)는 32 → 28, 파라미터 6×25+6 = 156. 실습: 각 줄의 출력 shape을 공식으로 먼저 계산하고 실행해 맞춰 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정리 표(발표자 참고). 네 개념 각각이 무엇을 얻게 해 주고, 대신 어떤 제약을 만드는지. 특히 '한 층에서 멀리 떨어진 위치가 직접 만나지 못한다', '넓은 의존 관계를 만들 때 경로가 길어진다'는 제약을 기억해 두자. 5주차 Attention은 이 제약을 다른 방식으로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Cortes &amp; Vapnik(1995) Support-Vector Networks. 선형 분리가 가능해도 경계는 무수히 많다. SVM은 가장 가까운 점(서포트 벡터)까지의 거리, 즉 마진이 최대인 경계를 고른다. 마진이 넓을수록 새 데이터에 대한 일반화가 좋다는 이론적 근거가 있다. 볼록 최적화라서 해가 유일하고 안정적으로 찾아진다 — 당시 신경망보다 다루기 쉬웠다.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1차원에서 직선(점) 하나로 안 나뉘는 데이터도 x → (x, x²)로 올리면 선형 분리가 된다. 커널 트릭은 이 변환을 명시적으로 계산하지 않고 내적만으로 처리한다. 2주차 은닉층이 '새 좌표'를 학습했다면, SVM 커널은 좋은 좌표를 사람이 고르는 방식이다. 원자료가 이 옆길에서 가져오는 관점: 신경망을 깊게 만드는 것과 별개로, 데이터에 맞는 모델 복잡도는 어느 정도인가, 무엇을 통제하면 일반화가 좋아지는가. 커널 최적화의 전체 유도는 다루지 않는다. 그리고 전통적 머신러닝은 신경망의 '실패한 이전 세대'가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2주차 연쇄법칙: 기울기는 층을 거꾸로 지나며 곱해진다. sigmoid 도함수의 최댓값은 0.25이므로 10층을 지나면 최대 0.25^10 ≈ 9.5×10^−7. 앞쪽 층은 사실상 학습 신호를 받지 못한다(기울기 소실). ReLU는 양수 구간 도함수가 1이라 이 곱셈 감소가 없다. (가중치 크기 효과는 제외한 단순화. 주의: ReLU라고 모든 소실 문제가 사라지는 것은 아니다.)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Hinton, Osindero, Teh(2006) 'A fast learning algorithm for deep belief nets': 층을 하나씩 비지도 방식으로 먼저 학습(greedy layer-wise pretraining)한 뒤 전체를 역전파로 미세 조정. 깊은 모델도 학습될 수 있다는 것을 보여 주며 '딥러닝' 부흥의 계기가 되었다. 원자료 주의: 당시의 '사전학습'과 오늘날 대규모 언어 모델의 '사전학습'은 같은 개념이 아니다. 이후 ReLU, 좋은 초기화, 대규모 데이터, GPU가 갖춰지면서 층별 사전학습 없이도 깊은 모델을 학습하게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Krizhevsky, Sutskever, Hinton(2012). ImageNet(ILSVRC) 약 120만 장, 1000개 클래스. 합성곱 5층 + 완전 연결 3층, 약 6,000만 파라미터. GTX 580 GPU 2대로 약 5~6일 학습. ReLU로 학습 속도 향상, dropout으로 과적합 억제, 데이터 증강(자르기·뒤집기) 사용. top-5 오류 15.3%로 2위 26.2%를 크게 앞서며 컴퓨터 비전이 딥러닝으로 넘어가는 전환점이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원자료: 깊은 모델이 가능해진 것은 구조 하나 덕분이 아니다. 표현력이 충분해도 학습·데이터·자원이 부족하면 그 표현을 얻지 못한다. 여섯 가지 조건(데이터·GPU·ReLU·규제·초기화/최적화·구조)이 동시에 맞아떨어졌다. 이 관점은 Transformer에도 그대로 적용된다 — Transformer의 성공도 구조, 대규모 데이터, 병렬 하드웨어, 학습 기법(warm-up, 정규화)이 함께 만든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ILSVRC 분류 top-5 오류: 2010 28.2%, 2011 25.8% (둘 다 사람이 설계한 특징 + 분류기), 2012 AlexNet 15.3%, 2013 11.7%, 2014 GoogLeNet 6.67% (22층; VGG는 7.3%로 2위, 16~19층), 2015 ResNet 3.57% (152층). 깊이가 성능의 핵심 축이 되었다. 그런데 '그냥 더 깊게' 쌓으면 문제가 생긴다 →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et al.(2015)의 관찰: 단순히 층을 쌓은 plain 망에서 56층이 20층보다 훈련 오류와 테스트 오류가 모두 높았다(CIFAR-10). 과적합이라면 훈련 오류는 낮아야 한다. 이론적으로는 56층이 20층을 흉내 낼 수 있다(남는 36층이 입력을 그대로 통과시키면). 그런데 학습이 그 해를 찾지 못한다 — 2주차의 '표현 가능 vs 학습으로 찾음' 구분 그대로. 그림은 논문의 경향을 단순화한 개념도.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ResNet의 아이디어: 층이 출력 전체를 새로 만드는 대신, 입력 x에 더할 변화량 F(x)만 학습한다. y = x + F(x). '아무것도 안 하기'가 쉬워진다(F = 0이면 y = x). 앞의 문제(남는 층이 입력을 통과시키기)가 저절로 해결된다. 기울기 관점: ∂y/∂x = I + ∂F/∂x — 항등(identity) 경로 덕분에 기울기가 층을 건너 직접 흐른다. 오른쪽 그림(toy 실험)에서 40층을 지나도 기울기가 유지된다. 주의: 이 식은 단순 잔차(Pre-LN 형태)에서 성립. 원형 Transformer의 Post-LN은 뒤에 LN이 있어 전체 미분이 이렇게 단순하지 않다(6주차).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깊은 망에서는 층을 지날수록 값의 크기(스케일)가 들쭉날쭉해져 학습이 불안정해진다. 정규화는 값들을 평균 0, 분산 1 근처로 맞춘다. 예: (1, 2, 3, 4) → 평균 2.5, 분산 1.25(표준편차 1.118) → (−1.34, −0.45, 0.45, 1.34). 그 뒤 학습되는 γ(스케일)와 β(이동)로 필요한 만큼 되돌릴 수 있게 한다. ε는 0으로 나누지 않기 위한 작은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BatchNorm(Ioffe &amp; Szegedy, 2015): 같은 특징을 배치 전체에 걸쳐 정규화 — 배치 크기와 다른 샘플에 의존. CNN에서 큰 효과. LayerNorm(Ba, Kiros, Hinton, 2016): 샘플(토큰) 하나의 d개 특징을 정규화 — 배치와 무관, 길이가 제각각인 시퀀스에 적합. 그래서 Transformer는 LayerNorm을 쓴다(6주차). 입력 (B, N, d)에서 LayerNorm(d)는 마지막 축 d로 평균을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관점: 잔차·정규화를 CNN 층이나 Attention처럼 '무언가를 알아내는 부품'으로 설명하면 오해가 생긴다. 이들은 깊은 계산을 이어 붙이고 안정적으로 학습시키기 위한 조건이다. ResNet(2015)과 LayerNorm(2016)은 Transformer(2017)에 그대로 들어간다. 또 ConvS2S(2017)는 순환 없이 합성곱만으로 시퀀스를 처리해, 병렬화가 Attention만의 시도가 아니었음을 보여준다(원자료 계보).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Bridge Question. CNN에서 어떤 위치를 볼지(K×K 이웃)와 비중(필터 가중치)은 학습 후 고정되고 입력과 무관하다. 만약 입력마다 '어디를 얼마나 볼지'를 계산한다면? 그것이 5주차 Attention의 아이디어다. 그 전에 다음 주는 또 다른 데이터 구조 — 순서가 있고 길이가 제각각인 언어 — 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오늘의 요약. 각 줄을 학생이 자기 말로 다시 설명하게 한다: CNN = 지역성 + 가중치 공유 + 계층 — 파라미터 2억 → 1,792 / 출력 크기 O = ⌊(N − K + 2P)/S⌋ + 1, 파라미터 = C_out·C_in·K² + C_out / 모든 구조적 가정은 이득과 제약을 함께 가져온다 (등변성 ≠ 불변성) / SVM: 마진과 일반화, 모델 복잡도를 통제하는 관점 / 깊은 학습 = 데이터 · GPU · ReLU · 규제 · 초기화/최적화 · 구조가 함께 (AlexNet 2012) / Residual(y = x + F(x))과 LayerNorm은 깊은 계산을 학습 가능하게 하는 조건 → Transformer로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[정답]</a:t>
            </a:r>
          </a:p>
          <a:p>
            <a:r>
              <a:t>Q1. 입력 64×64, 필터 5×5, padding 2, stride 2일 때 출력 크기는?</a:t>
            </a:r>
          </a:p>
          <a:p>
            <a:r>
              <a:t>  → ⌊(64 − 5 + 4)/2⌋ + 1 = ⌊31.5⌋ + 1 = 32</a:t>
            </a:r>
          </a:p>
          <a:p>
            <a:r>
              <a:t>Q2. 입력 채널 16, 출력 채널 32, 3×3 합성곱의 파라미터 수는?</a:t>
            </a:r>
          </a:p>
          <a:p>
            <a:r>
              <a:t>  → 32 × 16 × 9 + 32 = 4,640</a:t>
            </a:r>
          </a:p>
          <a:p>
            <a:r>
              <a:t>Q3. ‘CNN은 입력을 옮겨도 최종 출력이 항상 같다’ — 참인가?</a:t>
            </a:r>
          </a:p>
          <a:p>
            <a:r>
              <a:t>  → 거짓. 등변성은 있지만 완벽한 불변성은 보장되지 않는다 (경계·stride·pooling에 따라 다름)</a:t>
            </a:r>
          </a:p>
          <a:p>
            <a:r>
              <a:t>Q4. 56층이 20층보다 훈련 오류가 높다. 과적합인가?</a:t>
            </a:r>
          </a:p>
          <a:p>
            <a:r>
              <a:t>  → 아니다. 훈련 오류가 높으므로 최적화(학습) 문제 → Residual로 해결</a:t>
            </a:r>
          </a:p>
          <a:p>
            <a:r>
              <a:t>Q5. Transformer의 LayerNorm은 batch 전체의 같은 특징을 정규화한다 — 참인가?</a:t>
            </a:r>
          </a:p>
          <a:p>
            <a:r>
              <a:t>  → 거짓. 토큰 하나의 d개 특징을 정규화한다 (BatchNorm과 다름)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문장이 왜 틀렸는지 계산으로 설명하게 한다. “CNN → RNN → Transformer 순서로 교체되었다” → 서로 다른 데이터 구조에 다른 가정을 넣은 계보가 병행했다 / “CNN은 완벽한 위치 불변성을 보장한다” → 등변성과 불변성은 다르다. 경계·padding·stride·pooling에 따라 달라진다 / “AlexNet은 CNN 구조 덕분에 성공했다” → 데이터 · GPU · ReLU · 규제 · 초기화/최적화가 구조와 함께 작동했다 / “깊을수록 훈련 오류가 낮아지는 게 당연하다” → plain 망은 깊어지면 훈련 오류가 커질 수 있다 (최적화 문제) / “Residual·LayerNorm도 의미를 추출하는 블록이다” → 깊은 계산을 이어 붙이고 학습 가능하게 하는 조건이다 / “2006년 사전학습 = 오늘 LLM의 사전학습” → 목적과 방법이 다른 개념이다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운영안 3회차 산출물: 필터·수용 영역·파라미터 수. 과제는 ‘논문 읽고 정리’ 대신 제출 결과가 분명한 질문으로 준다(원자료 운영안). 필터 동작 관찰: 3×3 필터 하나를 정해 6×6 입력에 적용한다. 입력 패턴을 한 칸 옮겼을 때 출력이 어떻게 바뀌는지 비교 (경계 처리는 같게). / 파라미터 비교: 같은 입출력 크기의 완전 연결층·국소 연결층·합성곱의 파라미터 수를 계산해 표로 정리한다. / 잔차 실험: 20층 MLP를 plain / residual 두 버전으로 만들어 첫 층의 기울기 크기를 비교한다 (PyTorch).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[10] LeCun et al. (1998). Gradient-Based Learning Applied to Document Recognition / [07] Cortes &amp; Vapnik (1995). Support-Vector Networks / [12] Hinton, Osindero &amp; Teh (2006). A Fast Learning Algorithm for Deep Belief Nets / [13] Krizhevsky, Sutskever &amp; Hinton (2012). ImageNet Classification with Deep CNNs / [19] He et al. (2015). Deep Residual Learning for Image Recognition / [20] Ba, Kiros &amp; Hinton (2016). Layer Normalization · Ioffe &amp; Szegedy (2015). Batch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주: 문장을 숫자로 바꾸는 법(토큰, 임베딩)부터, 순서를 따라 상태를 전달하는 RNN과 LSTM, 그리고 번역을 위한 Seq2Seq까지. 이번 주에 해결한 것: 구조적 가정(지역성·공유)으로 큰 입력을 효율적으로 / 데이터 · GPU · ReLU · Residual · Norm으로 깊은 모델을 학습. 남은 문제: 언어는 격자가 아니라 순서, 길이도 제각각 / “그 책은 … (20단어 뒤) … 재미있었다” — 먼 단어를 어떻게 기억할까?. 다음: 순서를 어떻게 표현하고, / 먼 정보를 어떻게 기억할까? / RNN · LSTM · Seq2Seq.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3. CNN과 깊은 학습의 조건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3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 · CNN · SVM · AlexNet · ResNet ·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주에서 이번 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매 주는 지난 주가 남긴 문제에서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지난 주에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Perceptron의 한계(XOR)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비선형 은닉층 +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= MLP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분류 출력: Softmax + Cross-entropy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풀리지 않은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입력이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(수만 픽셀)면 모든 입력을 모든 뉴런에 연결 → 파라미터 폭발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층을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쌓으면 기울기가 곱해지며 사라진다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3번째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배울 수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이미지를 MLP로 다루면?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합성곱: 가까운 곳만, 같은 필터로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옆길: SVM과 일반화 (1995)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깊은 모델이 가능해진 조건 (2006–2012)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더 깊게: Residual과 Normalization (2015–2016)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합성곱의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수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계산한다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가정(지역성·가중치 공유)과 그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AlexNet이 ‘구조 하나’ 덕분이 아닌 이유를 말한다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y = x + F(x)가 깊은 학습을 돕는 이유를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BatchNorm과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의 정규화 축을 구분한다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979677"/>
          <a:ext cx="11274551" cy="383133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(channel)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위치의 여러 특징 (RGB 3개, 특징 맵 64개…)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사진의 색 필터 여러 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· 커널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작은 가중치 격자 (예: 3×3)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돋보기로 한 부분씩 보기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· padding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필터가 움직이는 간격 · 가장자리에 덧댄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보폭 · 여백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영역을 요약해 크기를 줄임 (max, avg)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 축소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영역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한 칸이 영향을 받는 입력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사람의 시야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구조적 가정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 대해 모델 구조에 미리 넣은 믿음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‘가까운 픽셀끼리 관련 있다’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잔차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입력을 출력에 그대로 더하는 지름길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+ 수정본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(Norm)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값들을 평균 0·분산 1 근처로 맞춤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점수를 표준점수로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이미지를 MLP로 다루면?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모든 픽셀을 모든 뉴런에 연결해야 할까?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이미지는 숫자 텐서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픽셀 = </a:t>
            </a:r>
            <a:r>
              <a:rPr sz="1800" b="1">
                <a:solidFill>
                  <a:srgbClr val="1B2A36"/>
                </a:solidFill>
              </a:rPr>
              <a:t>밝기 숫자</a:t>
            </a:r>
            <a:r>
              <a:rPr sz="1800" b="0">
                <a:solidFill>
                  <a:srgbClr val="1B2A36"/>
                </a:solidFill>
              </a:rPr>
              <a:t> (0 ~ 255)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0 = 검정, 255 = 흰색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흑백: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(1, H, W)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컬러: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H, W)</a:t>
            </a:r>
            <a:r>
              <a:rPr sz="1800" b="0">
                <a:solidFill>
                  <a:srgbClr val="1B2A36"/>
                </a:solidFill>
              </a:rPr>
              <a:t> — R, G,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배치: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C, H, W)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 장, C 채널, H×W 픽셀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MLP에 넣으려면 한 줄로 펴야 한다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3×32×32 → 3072개 입력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흑백은 (H, W), 컬러는 (C, H, W), 여러 장이면 (B, C, H,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image_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16647"/>
            <a:ext cx="6572707" cy="35573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MLP로 이미지를 다루면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 32×32×3 → 출력 32×32×64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모든 연결</a:t>
            </a:r>
            <a:r>
              <a:rPr sz="1800" b="0">
                <a:solidFill>
                  <a:srgbClr val="1B2A36"/>
                </a:solidFill>
              </a:rPr>
              <a:t>: 3,072 × 65,536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= </a:t>
            </a:r>
            <a:r>
              <a:rPr sz="1550" b="1">
                <a:solidFill>
                  <a:srgbClr val="E97132"/>
                </a:solidFill>
              </a:rPr>
              <a:t>201,326,592</a:t>
            </a:r>
            <a:r>
              <a:rPr sz="1550" b="0">
                <a:solidFill>
                  <a:srgbClr val="1B2A36"/>
                </a:solidFill>
              </a:rPr>
              <a:t> 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펼치는 순간 </a:t>
            </a:r>
            <a:r>
              <a:rPr sz="1800" b="1">
                <a:solidFill>
                  <a:srgbClr val="1B2A36"/>
                </a:solidFill>
              </a:rPr>
              <a:t>이웃 관계</a:t>
            </a:r>
            <a:r>
              <a:rPr sz="1800" b="0">
                <a:solidFill>
                  <a:srgbClr val="1B2A36"/>
                </a:solidFill>
              </a:rPr>
              <a:t>가 사라진다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연결만: 1,769,472개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각 출력이 3×3×3 = 27개 입력만 봄: 65,536 × 27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+ </a:t>
            </a: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</a:t>
            </a:r>
            <a:r>
              <a:rPr sz="1800" b="1">
                <a:solidFill>
                  <a:srgbClr val="1B2A36"/>
                </a:solidFill>
              </a:rPr>
              <a:t>1,728</a:t>
            </a:r>
            <a:r>
              <a:rPr sz="1800" b="0">
                <a:solidFill>
                  <a:srgbClr val="1B2A36"/>
                </a:solidFill>
              </a:rPr>
              <a:t>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작은 32×32 컬러 이미지에서도 층 하나에 2억 개 파라미터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params_fc_co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7191"/>
            <a:ext cx="6572707" cy="33963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이미지의 성질을 모델에 넣자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데이터에 대한 믿음(구조적 가정)을 넣으면 적은 파라미터로 잘 배운다 — 대신 제약도 생긴다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지역성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가까운 픽셀끼리 의미를 만든다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영역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만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위치와 무관한 패턴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귀는 어디 있어도 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필터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모든 위치에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계층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 → 모양 → 부분 → 물체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층을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쌓아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넓게 본다</a:t>
            </a:r>
          </a:p>
        </p:txBody>
      </p:sp>
      <p:pic>
        <p:nvPicPr>
          <p:cNvPr id="18" name="Picture 17" descr="inductive_b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376" y="3506978"/>
            <a:ext cx="7444198" cy="1874519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5518658"/>
            <a:ext cx="11274552" cy="594360"/>
          </a:xfrm>
          <a:prstGeom prst="roundRect">
            <a:avLst>
              <a:gd name="adj" fmla="val 15384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대가: 가정이 틀린 데이터에서는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합성곱: 가까운 곳만, 같은 필터로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작은 필터 하나를 이미지 전체에 미끄러뜨리면?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필터가 미끄러지며 내적한다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00016"/>
            <a:ext cx="11274552" cy="1682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= ‘왼쪽 밝고 오른쪽 어두운’ </a:t>
            </a:r>
            <a:r>
              <a:rPr sz="1600" b="1">
                <a:solidFill>
                  <a:srgbClr val="1B2A36"/>
                </a:solidFill>
              </a:rPr>
              <a:t>세로 경계 탐지기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주황 창: (10·1 + 10·0 + 0·(−1)) × 3줄 = </a:t>
            </a:r>
            <a:r>
              <a:rPr sz="1600" b="1">
                <a:solidFill>
                  <a:srgbClr val="1B2A36"/>
                </a:solidFill>
              </a:rPr>
              <a:t>30</a:t>
            </a:r>
            <a:r>
              <a:rPr sz="1600" b="0">
                <a:solidFill>
                  <a:srgbClr val="1B2A36"/>
                </a:solidFill>
              </a:rPr>
              <a:t>, 경계가 없는 곳은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값은 사람이 정하지 않고 </a:t>
            </a:r>
            <a:r>
              <a:rPr sz="1600" b="1">
                <a:solidFill>
                  <a:srgbClr val="1B2A36"/>
                </a:solidFill>
              </a:rPr>
              <a:t>역전파로 학습</a:t>
            </a:r>
            <a:r>
              <a:rPr sz="1600" b="0">
                <a:solidFill>
                  <a:srgbClr val="1B2A36"/>
                </a:solidFill>
              </a:rPr>
              <a:t>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 필터를 한 칸씩 옮기며 겹친 부분과 내적 — 같은 9개 가중치를 모든 위치에서 재사용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conv_sli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734" y="1408176"/>
            <a:ext cx="609948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합성곱의 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642615"/>
            <a:ext cx="5454396" cy="37398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결국 </a:t>
            </a:r>
            <a:r>
              <a:rPr sz="1800" b="1">
                <a:solidFill>
                  <a:srgbClr val="1B2A36"/>
                </a:solidFill>
              </a:rPr>
              <a:t>1주차의 내적</a:t>
            </a:r>
            <a:r>
              <a:rPr sz="1800" b="0">
                <a:solidFill>
                  <a:srgbClr val="1B2A36"/>
                </a:solidFill>
              </a:rPr>
              <a:t>을 위치마다 반복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국소 영역</a:t>
            </a:r>
            <a:r>
              <a:rPr sz="1800" b="0">
                <a:solidFill>
                  <a:srgbClr val="1B2A36"/>
                </a:solidFill>
              </a:rPr>
              <a:t>: 작은 창 안만 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모든 위치에 같은 W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주의: 딥러닝의 ‘convolution’은 보통 필터를 뒤집지 않는 cross-correlation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출력 한 칸 = 필터와 입력 조각의 내적 +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 = Σ_u Σ_v  W[u, v] · x[i+u, j+v]  + 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88335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42615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가중치 (K×K) — 학습됨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55263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u,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3209544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안의 위치 0 … K−1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x[i+u, j+v]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776472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(i, j)에서 시작하는 입력 조각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9120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343400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편향 (필터당 1개)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956047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4910327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맵의 한 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출력 크기 공식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411" y="2596896"/>
            <a:ext cx="4145340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N</a:t>
            </a:r>
            <a:r>
              <a:rPr sz="1800" b="0">
                <a:solidFill>
                  <a:srgbClr val="1B2A36"/>
                </a:solidFill>
              </a:rPr>
              <a:t>: 입력 한 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K</a:t>
            </a:r>
            <a:r>
              <a:rPr sz="1800" b="0">
                <a:solidFill>
                  <a:srgbClr val="1B2A36"/>
                </a:solidFill>
              </a:rPr>
              <a:t>: 필터 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P</a:t>
            </a:r>
            <a:r>
              <a:rPr sz="1800" b="0">
                <a:solidFill>
                  <a:srgbClr val="1B2A36"/>
                </a:solidFill>
              </a:rPr>
              <a:t>: 가장자리 0 덧대기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S</a:t>
            </a:r>
            <a:r>
              <a:rPr sz="1800" b="0">
                <a:solidFill>
                  <a:srgbClr val="1B2A36"/>
                </a:solidFill>
              </a:rPr>
              <a:t>: 필터 보폭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‘same’ padding: P = (K − 1) / 2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O = ⌊(N − K + 2P) / S⌋ + 1 — 코드를 짜기 전에 shape을 예측한다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 = ⌊ (N − K + 2P) / S ⌋ + 1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763449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082152"/>
                <a:gridCol w="1082152"/>
                <a:gridCol w="1244474"/>
                <a:gridCol w="1082152"/>
                <a:gridCol w="2272519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K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padding 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O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(LeNet C1)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(크기 유지)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(절반)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채널과 파라미터 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하나는 입력의 모든 채널을 본다: C_out × (C_in × K × K) + C_out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 수가 이미지 크기와 무관하다 — 2억 → 1,792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5454396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5180076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75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params = C_out · C_in · K · K + C_out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414016"/>
          <a:ext cx="5454396" cy="26243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3,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64개 × (3 × 3 × 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 × 27 = 1,728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1,792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(P =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64,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7356" y="1408176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153619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완전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1993392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201,326,592개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이미지가 커지면 더 커진다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3643884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1948" y="3771900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합성곱 (3×3, 64개)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4229100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1,792개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 크기와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Pooling: 요약하며 줄이기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max pooling 2×2, stride 2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4×4 → 2×2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학습 파라미터 </a:t>
            </a:r>
            <a:r>
              <a:rPr sz="1800" b="1">
                <a:solidFill>
                  <a:srgbClr val="1B2A36"/>
                </a:solidFill>
              </a:rPr>
              <a:t>0개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작은 이동에 </a:t>
            </a:r>
            <a:r>
              <a:rPr sz="1800" b="1">
                <a:solidFill>
                  <a:srgbClr val="1B2A36"/>
                </a:solidFill>
              </a:rPr>
              <a:t>덜 민감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대신 정확한 위치 정보 일부를 버린다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대안: stride 2 합성곱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2×2 영역마다 최댓값(또는 평균) — 학습 파라미터 없이 크기를 절반으로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poo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7128"/>
            <a:ext cx="6353616" cy="387643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수용 영역: 층을 쌓으면 넓게 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77056"/>
            <a:ext cx="5454396" cy="25054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3×3 한 번: </a:t>
            </a:r>
            <a:r>
              <a:rPr sz="1700" b="1">
                <a:solidFill>
                  <a:srgbClr val="1B2A36"/>
                </a:solidFill>
              </a:rPr>
              <a:t>3칸</a:t>
            </a:r>
            <a:r>
              <a:rPr sz="1700" b="0">
                <a:solidFill>
                  <a:srgbClr val="1B2A36"/>
                </a:solidFill>
              </a:rPr>
              <a:t>, 두 번: </a:t>
            </a:r>
            <a:r>
              <a:rPr sz="1700" b="1">
                <a:solidFill>
                  <a:srgbClr val="1B2A36"/>
                </a:solidFill>
              </a:rPr>
              <a:t>5칸</a:t>
            </a:r>
            <a:r>
              <a:rPr sz="1700" b="0">
                <a:solidFill>
                  <a:srgbClr val="1B2A36"/>
                </a:solidFill>
              </a:rPr>
              <a:t>, 세 번: </a:t>
            </a:r>
            <a:r>
              <a:rPr sz="1700" b="1">
                <a:solidFill>
                  <a:srgbClr val="1B2A36"/>
                </a:solidFill>
              </a:rPr>
              <a:t>7칸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층을 쌓으며 선 → 모양 → 물체로 </a:t>
            </a:r>
            <a:r>
              <a:rPr sz="1700" b="1">
                <a:solidFill>
                  <a:srgbClr val="1B2A36"/>
                </a:solidFill>
              </a:rPr>
              <a:t>계층적 통합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E97132"/>
                </a:solidFill>
              </a:rPr>
              <a:t>제약</a:t>
            </a:r>
            <a:r>
              <a:rPr sz="1700" b="0">
                <a:solidFill>
                  <a:srgbClr val="1B2A36"/>
                </a:solidFill>
              </a:rPr>
              <a:t> 먼 위치가 만나려면 </a:t>
            </a:r>
            <a:r>
              <a:rPr sz="1700" b="1">
                <a:solidFill>
                  <a:srgbClr val="1B2A36"/>
                </a:solidFill>
              </a:rPr>
              <a:t>경로가 길다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3×3을 세 번 쌓으면 출력 한 칸이 입력 7칸을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ceptiv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83" y="1408176"/>
            <a:ext cx="9576784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356" y="3877056"/>
            <a:ext cx="5454396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VGG (2014): 3×3 세 층 vs 7×7 한 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25"/>
              </a:spcAft>
              <a:buClr>
                <a:srgbClr val="01688F"/>
              </a:buClr>
              <a:buFont typeface="Arial"/>
              <a:buChar char="-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범위(7칸)를 보면서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25"/>
              </a:spcAft>
              <a:buClr>
                <a:srgbClr val="01688F"/>
              </a:buClr>
              <a:buFont typeface="Arial"/>
              <a:buChar char="-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27C² vs 49C², 비선형성 3번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LeNet: 합성곱 신경망의 원형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2795" y="3922776"/>
            <a:ext cx="4908956" cy="24597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1980 Neocognitron (Fukushima): 선구적 계층 모델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1989 LeCun: </a:t>
            </a:r>
            <a:r>
              <a:rPr sz="1600" b="1">
                <a:solidFill>
                  <a:srgbClr val="1B2A36"/>
                </a:solidFill>
              </a:rPr>
              <a:t>역전파로 CNN 학습</a:t>
            </a:r>
            <a:r>
              <a:rPr sz="1600" b="0">
                <a:solidFill>
                  <a:srgbClr val="1B2A36"/>
                </a:solidFill>
              </a:rPr>
              <a:t> (우편번호)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1998 LeNet-5: 구조 정리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특징 추출(합성곱) → 분류(</a:t>
            </a:r>
            <a:r>
              <a:rPr sz="1600" b="1">
                <a:solidFill>
                  <a:srgbClr val="1B2A36"/>
                </a:solidFill>
              </a:rPr>
              <a:t>MLP</a:t>
            </a:r>
            <a:r>
              <a:rPr sz="1600" b="0">
                <a:solidFill>
                  <a:srgbClr val="1B2A36"/>
                </a:solidFill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1989 우편번호 인식 → 1998 LeNet-5: 합성곱 → pooling → … → 완전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le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709" y="1408176"/>
            <a:ext cx="6777532" cy="2286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22776"/>
          <a:ext cx="5999833" cy="237134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733285"/>
                <a:gridCol w="2133274"/>
                <a:gridCol w="2133274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28 × 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2×2 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14 × 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16개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 × 10 × 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 → C5 → F6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 → 완전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16×5×5 → 120 → 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숫자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등변성 ≠ 불변성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</a:rPr>
              <a:t>등변성</a:t>
            </a:r>
            <a:r>
              <a:rPr sz="1700" b="0">
                <a:solidFill>
                  <a:srgbClr val="1B2A36"/>
                </a:solidFill>
              </a:rPr>
              <a:t>: 입력 이동 → 특징도 같이 이동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25"/>
              </a:spcAft>
              <a:buClr>
                <a:srgbClr val="01688F"/>
              </a:buClr>
              <a:buFont typeface="Arial"/>
              <a:buChar char="-"/>
            </a:pPr>
            <a:r>
              <a:rPr sz="1450" b="0">
                <a:solidFill>
                  <a:srgbClr val="1B2A36"/>
                </a:solidFill>
              </a:rPr>
              <a:t>같은 필터를 모든 위치에 쓰기 때문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</a:rPr>
              <a:t>불변성</a:t>
            </a:r>
            <a:r>
              <a:rPr sz="1700" b="0">
                <a:solidFill>
                  <a:srgbClr val="1B2A36"/>
                </a:solidFill>
              </a:rPr>
              <a:t>: 입력이 이동해도 출력이 같음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25"/>
              </a:spcAft>
              <a:buClr>
                <a:srgbClr val="01688F"/>
              </a:buClr>
              <a:buFont typeface="Arial"/>
              <a:buChar char="-"/>
            </a:pPr>
            <a:r>
              <a:rPr sz="1450" b="0">
                <a:solidFill>
                  <a:srgbClr val="1B2A36"/>
                </a:solidFill>
              </a:rPr>
              <a:t>전체 max 같은 요약을 붙이면 (이 예시에서)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E97132"/>
                </a:solidFill>
              </a:rPr>
              <a:t>주의</a:t>
            </a:r>
            <a:r>
              <a:rPr sz="1700" b="0">
                <a:solidFill>
                  <a:srgbClr val="1B2A36"/>
                </a:solidFill>
              </a:rPr>
              <a:t> CNN이 완벽한 불변성을 </a:t>
            </a:r>
            <a:r>
              <a:rPr sz="1700" b="1">
                <a:solidFill>
                  <a:srgbClr val="1B2A36"/>
                </a:solidFill>
              </a:rPr>
              <a:t>보장하지 않는다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25"/>
              </a:spcAft>
              <a:buClr>
                <a:srgbClr val="01688F"/>
              </a:buClr>
              <a:buFont typeface="Arial"/>
              <a:buChar char="-"/>
            </a:pPr>
            <a:r>
              <a:rPr sz="1450" b="0">
                <a:solidFill>
                  <a:srgbClr val="1B2A36"/>
                </a:solidFill>
              </a:rPr>
              <a:t>경계 · padding · stride · pooling에 따라 다름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입력이 옮겨지면 특징도 옮겨진다(등변). 최종 출력이 ‘완전히 같다’(불변)는 별개의 주장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526"/>
            <a:ext cx="6572707" cy="38736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shape 확인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Conv2d(C_in, C_out, K, padding)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출력 shape를 </a:t>
            </a:r>
            <a:r>
              <a:rPr sz="1800" b="1">
                <a:solidFill>
                  <a:srgbClr val="1B2A36"/>
                </a:solidFill>
              </a:rPr>
              <a:t>먼저 손으로</a:t>
            </a:r>
            <a:r>
              <a:rPr sz="1800" b="0">
                <a:solidFill>
                  <a:srgbClr val="1B2A36"/>
                </a:solidFill>
              </a:rPr>
              <a:t> 써 보기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파라미터 1,792 = 손 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MaxPool2d(2)</a:t>
            </a:r>
            <a:r>
              <a:rPr sz="1800" b="0">
                <a:solidFill>
                  <a:srgbClr val="1B2A36"/>
                </a:solidFill>
              </a:rPr>
              <a:t>: 공간 절반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LeNet C1: 32 → </a:t>
            </a:r>
            <a:r>
              <a:rPr sz="1800" b="1">
                <a:solidFill>
                  <a:srgbClr val="1B2A36"/>
                </a:solidFill>
              </a:rPr>
              <a:t>28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6 × 25 + 6 = 156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Conv2d 한 줄에 필터 수·크기·padding이 모두 들어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666619"/>
          </a:xfrm>
          <a:prstGeom prst="roundRect">
            <a:avLst>
              <a:gd name="adj" fmla="val 2057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483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torch, torch.nn as nn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torch.randn(8, 3, 32, 32)          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C, H, W)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 = nn.Conv2d(3, 64, kernel_size=3, padding=1)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conv(x)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print(y.shape)                         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32, 32)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print(sum(p.numel() for p in conv.parameters()))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1792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print(nn.MaxPool2d(2)(y).shape)        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16, 16)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c1 = nn.Conv2d(1, 6, kernel_size=5)    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LeNet C1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5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print(c1(torch.randn(1, 1, 32, 32)).shape)  </a:t>
            </a:r>
            <a:r>
              <a:rPr sz="135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(1, 6, 28, 28)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50992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주석을 가리고 출력 크기 공식으로 먼저 계산한 뒤 실행해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CNN의 네 가지 개념 — 얻는 것과 대가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구조적 가정은 이득과 제약을 함께 가져온다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952244"/>
          <a:ext cx="11274550" cy="24384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9663"/>
                <a:gridCol w="3865560"/>
                <a:gridCol w="4939327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얻는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 생기는 제약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 connection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가까운 공간 구조 활용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층에서 멀리 떨어진 위치가 직접 만나지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Weight sharing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절감, 같은 연산 재사용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위치마다 완전히 독립된 필터를 쓰지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Receptive field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층을 쌓아 넓은 입력 영역 통합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넓은 의존 관계를 만들 때 경로가 길어진다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Translation equivariance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이동에 대응하는 특징 이동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경계·padding·stride·pooling에 따라 조건이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96976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첫째·셋째 제약(먼 위치가 직접 만나지 못하고, 경로가 길다)을 기억해 두자 — 5주차 Attention은 이 제약을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방식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푼다.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옆길: SVM과 일반화 (1995)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신경망이 주춤하던 시기, 다른 길은 무엇을 물었나?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SVM: 가장 넓은 여백을 가진 경계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586" y="1408176"/>
            <a:ext cx="525816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Cortes &amp; Vapnik (1995)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경계 후보는 무수히 많다 → </a:t>
            </a:r>
            <a:r>
              <a:rPr sz="1800" b="1">
                <a:solidFill>
                  <a:srgbClr val="1B2A36"/>
                </a:solidFill>
              </a:rPr>
              <a:t>마진 최대</a:t>
            </a:r>
            <a:r>
              <a:rPr sz="1800" b="0">
                <a:solidFill>
                  <a:srgbClr val="1B2A36"/>
                </a:solidFill>
              </a:rPr>
              <a:t>인 것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서포트 벡터</a:t>
            </a:r>
            <a:r>
              <a:rPr sz="1800" b="0">
                <a:solidFill>
                  <a:srgbClr val="1B2A36"/>
                </a:solidFill>
              </a:rPr>
              <a:t>: 경계를 결정하는 가장 가까운 점들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볼록 최적화: 해가 </a:t>
            </a:r>
            <a:r>
              <a:rPr sz="1800" b="1">
                <a:solidFill>
                  <a:srgbClr val="1B2A36"/>
                </a:solidFill>
              </a:rPr>
              <a:t>유일</a:t>
            </a:r>
            <a:r>
              <a:rPr sz="1800" b="0">
                <a:solidFill>
                  <a:srgbClr val="1B2A36"/>
                </a:solidFill>
              </a:rPr>
              <a:t>, 안정적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1990~2000년대 많은 분야의 강력한 기준 모델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여러 직선 중 두 부류 사이 여백(margin)이 가장 넓은 경계를 고른다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svm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32" y="1408176"/>
            <a:ext cx="5104681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커널, 그리고 SVM이 남긴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특징을 올려 선형 분리 — 그리고 ‘모델의 복잡도를 어떻게 통제할까’라는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kernel_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12610"/>
            <a:ext cx="6024981" cy="41654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02221" y="1408176"/>
            <a:ext cx="4929530" cy="1781937"/>
          </a:xfrm>
          <a:prstGeom prst="roundRect">
            <a:avLst>
              <a:gd name="adj" fmla="val 513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6813" y="1536192"/>
            <a:ext cx="4600346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비교: 좋은 좌표를 누가 만드나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6813" y="1993392"/>
            <a:ext cx="4600346" cy="106870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MLP 은닉층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(2주차):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 커널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사람이 선택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설계의 시대 ↔ 표현 학습의 시대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2221" y="3418713"/>
            <a:ext cx="4929530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가져갈 질문: 이 데이터에 맞는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 복잡도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는? 무엇을 통제하면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좋아지나?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모델이 가능해진 조건 (2006–2012)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층을 깊게 쌓으면 왜 잘 안 됐고, 무엇이 바뀌었나?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기울기가 곱해지며 사라진다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471416"/>
            <a:ext cx="5454396" cy="19110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기울기 ∝ 층마다 곱해지는 </a:t>
            </a:r>
            <a:r>
              <a:rPr sz="1600" b="1">
                <a:solidFill>
                  <a:srgbClr val="1B2A36"/>
                </a:solidFill>
              </a:rPr>
              <a:t>도함수들의 곱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sigmoid′ ≤ 0.25 → 10층: 0.25^10 ≈ </a:t>
            </a:r>
            <a:r>
              <a:rPr sz="1600" b="1">
                <a:solidFill>
                  <a:srgbClr val="E97132"/>
                </a:solidFill>
              </a:rPr>
              <a:t>0.00000095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앞쪽 층은 학습 신호를 거의 못 받는다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역전파는 층마다 도함수를 곱한다 — sigmoid의 도함수는 최대 0.25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relu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900" y="1408176"/>
            <a:ext cx="9475151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356" y="4471416"/>
            <a:ext cx="5454396" cy="19110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ReLU′ = 1 (양수 구간) → 곱해도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줄지 않는다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 크기 효과는 제외한 단순화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ReLU라고 모든 소실 문제가 사라지지는 않는다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2006: 깊은 망을 다시 학습시키려는 시도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62656"/>
            <a:ext cx="11274552" cy="34198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Hinton, Osindero &amp; Teh (2006) — </a:t>
            </a:r>
            <a:r>
              <a:rPr sz="1800" b="1">
                <a:solidFill>
                  <a:srgbClr val="1B2A36"/>
                </a:solidFill>
              </a:rPr>
              <a:t>Deep Belief Network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깊은 모델도 학습될 수 있음을 보여 </a:t>
            </a:r>
            <a:r>
              <a:rPr sz="1800" b="1">
                <a:solidFill>
                  <a:srgbClr val="1B2A36"/>
                </a:solidFill>
              </a:rPr>
              <a:t>딥러닝 부흥</a:t>
            </a:r>
            <a:r>
              <a:rPr sz="1800" b="0">
                <a:solidFill>
                  <a:srgbClr val="1B2A36"/>
                </a:solidFill>
              </a:rPr>
              <a:t>의 계기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당시의 ‘사전학습’ ≠ 오늘 LLM의 ‘사전학습’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이후 ReLU · 초기화 · 데이터 · GPU가 갖춰지며 이 단계 없이도 학습 가능해짐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층을 하나씩 먼저 학습(사전학습)한 뒤 전체를 미세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1층 먼저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비지도: 입력을 잘 표현하도록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2층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1층 출력을 입력으로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… 차례로 쌓기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greedy layer-wise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미세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역전파로 함께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2012: AlexNet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014216"/>
            <a:ext cx="5999835" cy="23682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ReLU</a:t>
            </a:r>
            <a:r>
              <a:rPr sz="1800" b="0">
                <a:solidFill>
                  <a:srgbClr val="1B2A36"/>
                </a:solidFill>
              </a:rPr>
              <a:t>: 학습이 몇 배 빨라짐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Dropout</a:t>
            </a:r>
            <a:r>
              <a:rPr sz="1800" b="0">
                <a:solidFill>
                  <a:srgbClr val="1B2A36"/>
                </a:solidFill>
              </a:rPr>
              <a:t>: 학습 중 뉴런 일부를 끄기 → 과적합 억제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데이터 증강</a:t>
            </a:r>
            <a:r>
              <a:rPr sz="1800" b="0">
                <a:solidFill>
                  <a:srgbClr val="1B2A36"/>
                </a:solidFill>
              </a:rPr>
              <a:t>: 자르기·뒤집기로 데이터 늘리기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GPU</a:t>
            </a:r>
            <a:r>
              <a:rPr sz="1800" b="0">
                <a:solidFill>
                  <a:srgbClr val="1B2A36"/>
                </a:solidFill>
              </a:rPr>
              <a:t>: 대규모 행렬곱을 병렬로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ImageNet 대회에서 top-5 오류 15.3% — 2위(26.2%)와 큰 격차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alex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113" y="1408176"/>
            <a:ext cx="7206725" cy="23774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014216"/>
          <a:ext cx="4908955" cy="2225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02558"/>
                <a:gridCol w="3506397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top-5 오류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15.3%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(2위 26.2%)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ImageNet 약 120만 장, 1000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합성곱 5 + 완전 연결 3, 약 6천만 파라미터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GTX 580 GPU 2대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하나 덕분이 아니다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AlexNet = 데이터 · GPU · ReLU · 규제 · 초기화/최적화 · 구조가 함께 작동한 사례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ImageNet 약 120만 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GPU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대규모 행렬곱을 병렬로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곱해도 기울기가 줄지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Dropout · 데이터 증강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1584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6176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초기화/최적화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6176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SGD + momentum, 적절한 초기화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968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560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68112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표현력(무엇을 만들 수 있나)이 충분해도, 학습·데이터·자원이 없으면 그 표현을 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얻지 못한다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Transformer도 마찬가지.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오류는 줄고, 층은 깊어졌다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2010–2011: 사람이 설계한 특징 + 분류기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2012 AlexNet </a:t>
            </a:r>
            <a:r>
              <a:rPr sz="1800" b="1">
                <a:solidFill>
                  <a:srgbClr val="1B2A36"/>
                </a:solidFill>
              </a:rPr>
              <a:t>8층</a:t>
            </a:r>
            <a:r>
              <a:rPr sz="1800" b="0">
                <a:solidFill>
                  <a:srgbClr val="1B2A36"/>
                </a:solidFill>
              </a:rPr>
              <a:t>: 15.3%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VGG 16–19층: 7.3%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GoogLeNet </a:t>
            </a:r>
            <a:r>
              <a:rPr sz="1800" b="1">
                <a:solidFill>
                  <a:srgbClr val="1B2A36"/>
                </a:solidFill>
              </a:rPr>
              <a:t>22층</a:t>
            </a:r>
            <a:r>
              <a:rPr sz="1800" b="0">
                <a:solidFill>
                  <a:srgbClr val="1B2A36"/>
                </a:solidFill>
              </a:rPr>
              <a:t>: 6.67%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2015 ResNet </a:t>
            </a:r>
            <a:r>
              <a:rPr sz="1800" b="1">
                <a:solidFill>
                  <a:srgbClr val="1B2A36"/>
                </a:solidFill>
              </a:rPr>
              <a:t>152층</a:t>
            </a:r>
            <a:r>
              <a:rPr sz="1800" b="0">
                <a:solidFill>
                  <a:srgbClr val="1B2A36"/>
                </a:solidFill>
              </a:rPr>
              <a:t>: 3.57%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그냥 더 깊게</a:t>
            </a:r>
            <a:r>
              <a:rPr sz="1800" b="0">
                <a:solidFill>
                  <a:srgbClr val="1B2A36"/>
                </a:solidFill>
              </a:rPr>
              <a:t>는 잘 안 됐다 → Part 5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ILSVRC 우승 모델: 8층(2012) → 22층(2014) → 152층(2015)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ilsv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5288"/>
            <a:ext cx="6572707" cy="432011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더 깊게: Residual과 Normalization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2015–2016 · 더 깊게 쌓았더니 오히려 훈련 오류가 커졌다면?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깊게 쌓으면 더 나빠진다?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379976"/>
            <a:ext cx="5454396" cy="20025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He et al. (2015) — CIFAR-10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56층 plain의 </a:t>
            </a:r>
            <a:r>
              <a:rPr sz="1600" b="1">
                <a:solidFill>
                  <a:srgbClr val="1B2A36"/>
                </a:solidFill>
              </a:rPr>
              <a:t>훈련</a:t>
            </a:r>
            <a:r>
              <a:rPr sz="1600" b="0">
                <a:solidFill>
                  <a:srgbClr val="1B2A36"/>
                </a:solidFill>
              </a:rPr>
              <a:t> 오류 &gt; 20층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과적합이면 훈련 오류는 낮아야 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56층 plain 망의 ‘훈련’ 오류가 20층보다 높다 — 과적합이 아니라 최적화 문제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154" y="1408176"/>
            <a:ext cx="7974643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356" y="4379976"/>
            <a:ext cx="5454396" cy="20025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56층은 20층을 흉내 낼 수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있다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(남는 층이 입력을 그대로 통과)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그런데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학습이 그 해를 못 찾는다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2주차: 표현 가능 ≠ 학습으로 찾음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잔차 연결: y = x + F(x)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288536"/>
            <a:ext cx="5999835" cy="209397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F = 0이면 y = x → ‘통과’가 쉬워진다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항등 경로로 </a:t>
            </a:r>
            <a:r>
              <a:rPr sz="1600" b="1">
                <a:solidFill>
                  <a:srgbClr val="1B2A36"/>
                </a:solidFill>
              </a:rPr>
              <a:t>기울기가 직접</a:t>
            </a:r>
            <a:r>
              <a:rPr sz="1600" b="0">
                <a:solidFill>
                  <a:srgbClr val="1B2A36"/>
                </a:solidFill>
              </a:rPr>
              <a:t> 흐른다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오른쪽 그래프는 toy 실험 (논문 결과 아님)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층은 ‘변화량’만 배우고, 입력은 지름길로 그대로 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838" y="1408176"/>
            <a:ext cx="7503275" cy="2651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288536"/>
            <a:ext cx="4908956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88536"/>
            <a:ext cx="4634636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x + F(x)</a:t>
            </a:r>
          </a:p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∂y/∂x = I + ∂F/∂x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정규화: 값의 스케일을 맞춘다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596896"/>
            <a:ext cx="5454396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층마다 값의 </a:t>
            </a:r>
            <a:r>
              <a:rPr sz="1800" b="1">
                <a:solidFill>
                  <a:srgbClr val="1B2A36"/>
                </a:solidFill>
              </a:rPr>
              <a:t>스케일</a:t>
            </a:r>
            <a:r>
              <a:rPr sz="1800" b="0">
                <a:solidFill>
                  <a:srgbClr val="1B2A36"/>
                </a:solidFill>
              </a:rPr>
              <a:t>을 안정시킨다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μ, σ: 입력에서 </a:t>
            </a:r>
            <a:r>
              <a:rPr sz="1800" b="1">
                <a:solidFill>
                  <a:srgbClr val="1B2A36"/>
                </a:solidFill>
              </a:rPr>
              <a:t>계산</a:t>
            </a:r>
            <a:r>
              <a:rPr sz="1800" b="0">
                <a:solidFill>
                  <a:srgbClr val="1B2A36"/>
                </a:solidFill>
              </a:rPr>
              <a:t> (학습 X)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γ, β: </a:t>
            </a:r>
            <a:r>
              <a:rPr sz="1800" b="1">
                <a:solidFill>
                  <a:srgbClr val="1B2A36"/>
                </a:solidFill>
              </a:rPr>
              <a:t>학습되는</a:t>
            </a:r>
            <a:r>
              <a:rPr sz="1800" b="0">
                <a:solidFill>
                  <a:srgbClr val="1B2A36"/>
                </a:solidFill>
              </a:rPr>
              <a:t>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ε: 0으로 나누기 방지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문제: </a:t>
            </a:r>
            <a:r>
              <a:rPr sz="1800" b="1">
                <a:solidFill>
                  <a:srgbClr val="1B2A36"/>
                </a:solidFill>
              </a:rPr>
              <a:t>어느 축</a:t>
            </a:r>
            <a:r>
              <a:rPr sz="1800" b="0">
                <a:solidFill>
                  <a:srgbClr val="1B2A36"/>
                </a:solidFill>
              </a:rPr>
              <a:t>으로 평균을 낼까? → 다음 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평균을 빼고 표준편차로 나눈 뒤, 학습되는 γ·β로 다시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γ · (x − μ) / √(σ² + ε)  +  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5454396" cy="24780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(1, 2, 3, 4)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 σ²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1.25  (표준편차 1.118)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(x − μ) / 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(−1.34, −0.45, 0.45, 1.34)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γ = 1, β = 0이면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위와 같음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BatchNorm vs LayerNorm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BatchNorm은 배치를 가로질러, LayerNorm은 샘플(토큰) 하나 안에서 평균을 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n_vs_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103" y="1408176"/>
            <a:ext cx="7608745" cy="256032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197096"/>
          <a:ext cx="6327097" cy="186537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881029"/>
                <a:gridCol w="2223034"/>
                <a:gridCol w="2223034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BatchNorm (2015)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LayerNorm (2016)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내는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특징,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전체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하나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 모든 특징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크기 영향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CNN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RNN ·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50059" y="4197096"/>
            <a:ext cx="4581692" cy="1072515"/>
          </a:xfrm>
          <a:prstGeom prst="roundRect">
            <a:avLst>
              <a:gd name="adj" fmla="val 852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 입력 (B, N, d)에서 LayerNorm(d)는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토큰마다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d개 값으로 평균·분산을 낸다 (6주차).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Residual과 Normalization을 어떻게 볼까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‘의미를 추출하는 블록’이 아니라 ‘깊은 계산을 학습 가능하게 하는 조건’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85848"/>
            <a:ext cx="3605784" cy="2601722"/>
          </a:xfrm>
          <a:prstGeom prst="roundRect">
            <a:avLst>
              <a:gd name="adj" fmla="val 351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213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Residual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71064"/>
            <a:ext cx="3276600" cy="188849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 쌓아도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정보와 기울기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흐르는 지름길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층(Attention·MLP) 뒤에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2085848"/>
            <a:ext cx="3605784" cy="2601722"/>
          </a:xfrm>
          <a:prstGeom prst="roundRect">
            <a:avLst>
              <a:gd name="adj" fmla="val 351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2213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LayerNorm (2016)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2671064"/>
            <a:ext cx="3276600" cy="188849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망의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표현 스케일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관리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층(Attention·MLP)에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2085848"/>
            <a:ext cx="3605784" cy="2601722"/>
          </a:xfrm>
          <a:prstGeom prst="roundRect">
            <a:avLst>
              <a:gd name="adj" fmla="val 351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2213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2671064"/>
            <a:ext cx="3276600" cy="188849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원형 Transformer는 잔차 합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뒤에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LayerNorm을 둔다 (Post-LN)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그러면 지름길 미분이 I + ∂F/∂x처럼 단순하지 않다 (6주차)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53330"/>
            <a:ext cx="11274552" cy="651510"/>
          </a:xfrm>
          <a:prstGeom prst="roundRect">
            <a:avLst>
              <a:gd name="adj" fmla="val 14035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둘은 ‘무언가를 알아내는 부품’이 아니라, </a:t>
            </a: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계산을 이어 붙이는 조건</a:t>
            </a: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다리 놓기: 고정된 창을 넘어서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CNN은 ‘미리 정한’ 국소 영역을 합친다 — 참조할 위치와 비중을 입력에 따라 ‘계산’하면?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 (오늘)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위치를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미리 정한다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(K×K 이웃)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비중(필터)은 학습 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고정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입력과 무관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위치는 층을 여러 번 거쳐야 만난다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Attention (5주차)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위치와 비중을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입력에 따라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 층에서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위치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직접 만날 수 있다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대신 순서·위치 정보를 따로 넣어야 한다</a:t>
            </a:r>
          </a:p>
        </p:txBody>
      </p:sp>
      <p:pic>
        <p:nvPicPr>
          <p:cNvPr id="15" name="Picture 14" descr="bridge_ske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177" y="3582543"/>
            <a:ext cx="9806597" cy="173735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5502783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전에: 다음 주는 순서가 있고 길이가 제각각인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데이터를 다룬다.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 =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지역성 + 가중치 공유 + 계층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파라미터 2억 → 1,792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 O = ⌊(N − K + 2P)/S⌋ + 1, 파라미터 = C_out·C_in·K² + C_out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구조적 가정은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이득과 제약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함께 가져온다 (등변성 ≠ 불변성)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SVM: 마진과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모델 복잡도를 통제하는 관점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학습 = 데이터 · GPU · ReLU · 규제 · 초기화/최적화 · 구조가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(AlexNet 2012)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(y = x + F(x))과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깊은 계산을 학습 가능하게 하는 조건 → Transformer로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 (정답은 발표자 노트)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64×64, 필터 5×5, padding 2, stride 2일 때 출력 크기는?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95728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58775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395728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채널 16, 출력 채널 32, 3×3 합성곱의 파라미터 수는?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83280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57530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‘CNN은 입력을 옮겨도 최종 출력이 항상 같다’ — 참인가?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70832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5628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70832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56층이 20층보다 훈련 오류가 높다. 과적합인가?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58384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5504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358384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Transformer의 LayerNorm은 batch 전체의 같은 특징을 정규화한다 — 참인가?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897383"/>
          <a:ext cx="11274551" cy="399592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 → RNN → Transformer 순서로 교체되었다”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다른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 다른 가정을 넣은 계보가 병행했다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“CNN은 완벽한 위치 불변성을 보장한다”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등변성과 불변성은 다르다. 경계·padding·stride·pooling에 따라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“AlexNet은 CNN 구조 덕분에 성공했다”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GPU · ReLU · 규제 · 초기화/최적화가 구조와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작동했다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“깊을수록 훈련 오류가 낮아지는 게 당연하다”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plain 망은 깊어지면 훈련 오류가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커질 수 있다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(최적화 문제)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“Residual·LayerNorm도 의미를 추출하는 블록이다”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깊은 계산을 이어 붙이고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가능하게 하는 조건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“2006년 사전학습 = 오늘 LLM의 사전학습”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목적과 방법이 다른 개념이다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5363"/>
            <a:ext cx="11274552" cy="1419986"/>
          </a:xfrm>
          <a:prstGeom prst="roundRect">
            <a:avLst>
              <a:gd name="adj" fmla="val 643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9116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8933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동작 관찰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50579"/>
            <a:ext cx="10945368" cy="7067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3×3 필터 하나를 정해 6×6 입력에 적용한다. 입력 패턴을 한 칸 옮겼을 때 출력이 어떻게 바뀌는지 비교 (경계 처리는 같게).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139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560254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541966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99166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입출력 크기의 완전 연결층·국소 연결층·합성곱의 파라미터 수를 계산해 표로 정리한다.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33937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98024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96195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잔차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41915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20층 MLP를 plain / residual 두 버전으로 만들어 첫 층의 기울기 크기를 비교한다 (PyTorch).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09800"/>
          <a:ext cx="11274551" cy="33710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[10] LeCun et al. (1998). Gradient-Based Learning Applied to Document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LeNet-5 구조 그림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[07] Cortes &amp; Vapnik (1995). Support-Vector Networks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마진의 정의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[12] Hinton, Osindero &amp; Teh (2006). A Fast Learning Algorithm for Deep Belief Nets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[13] Krizhevsky, Sutskever &amp; Hinton (2012). ImageNet Classification with Deep CNNs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3절: ReLU · dropout · 증강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[19] He et al. (2015). Deep Residual Learning for Image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Fig.1 degradation, Fig.2 잔차 블록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[20] Ba, Kiros &amp; Hinton (2016). Layer Normalization · Ioffe &amp; Szegedy (2015). Batch Normalization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축의 차이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구조적 가정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(지역성·공유)으로 큰 입력을 효율적으로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 · GPU · ReLU ·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 · Norm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깊은 모델을 학습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격자가 아니라 순서, 길이도 제각각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“그 책은 … (20단어 뒤) … 재미있었다” —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단어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어떻게 기억할까?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4의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순서를 어떻게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 정보를 어떻게 기억할까?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