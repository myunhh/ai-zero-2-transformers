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1045" r:id="rId54"/>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지난주의 선형 모델에 '예/아니오'를 붙인 Perceptron에서 출발한다. 그런데 직선 하나로는 절대 나눌 수 없는 문제가 있다. 그 벽을 넘는 두 가지 열쇠 — 비선형 은닉층과 역전파 — 가 오늘의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복습 3줄: 텐서, 손실, 경사하강법. 이번 주는 출력을 0/1로 바꾸는 순간 생기는 일에서 출발한다.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2번째 질문이다. 오늘의 순서: Perceptron (1958): 분류를 배우는 뉴런 / XOR의 벽 (1969): 직선의 한계 / MLP: 층을 쌓아 새 좌표 만들기 / 역전파 (1986): 은닉층은 무엇을 기준으로 배우나 / 확률로 답하기: Softmax와 Cross-entropy. 끝나면 할 수 있어야 하는 것: Perceptron의 결정 경계가 직선인 이유를 설명한다 / XOR이 직선 하나로 불가능함을 부등식으로 보인다 / 비선형 활성화가 없으면 층을 쌓아도 소용없는 이유를 말한다 / 작은 MLP에서 역전파를 손으로 계산한다 / Softmax와 Cross-entropy를 숫자로 계산한다.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분류: 입력을 정해진 범주 중 하나로 고르는 문제 / 결정 경계: 예측이 0과 1로 바뀌는 경계선 / 선형 분리: 직선(초평면) 하나로 두 부류를 나눌 수 있음 / 활성화 함수: 층 사이에 넣는 비선형 함수 (ReLU 등) / 은닉층: 입력과 출력 사이의 중간 표현 / 역전파: 연쇄법칙으로 모든 기울기를 한 번에 계산 / Softmax: 점수들을 합이 1인 양수 비중으로 / Cross-entropy: 정답 확률의 −log — 분류용 손실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문제(점수 예측)는 출력이 연속된 숫자인 회귀였다. 스팸 판별, 합격/불합격처럼 출력이 범주인 문제는 분류다. 가장 단순한 방법: 지난주처럼 가중합 z를 계산하고, z가 0 이상이면 1, 아니면 0이라고 판정한다. 이것이 1958년 Rosenblatt의 Perceptron의 핵심 계산이다.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입력마다 가중치를 곱해 더하고 편향 b를 더한 z를 계단 함수에 넣는다. 구조는 1943년 McCulloch–Pitts 뉴런과 거의 같다. 결정적 차이는 가중치를 사람이 정하지 않고 '틀리면 고친다'는 학습 규칙으로 데이터에서 찾는다는 것. 편향 b는 항상 1인 입력에 붙은 가중치로 볼 수 있다(그림의 아래 입력).</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 = 0이 되는 점들의 집합이 결정 경계다. 입력이 2개면 w1x1 + w2x2 + b = 0은 직선의 방정식이다. w 벡터는 경계에 수직이고, w가 가리키는 쪽이 ŷ=1 영역이다. 입력이 3개면 평면, 그 이상이면 초평면. 즉 Perceptron은 입력 공간을 '평평한 칼' 하나로 둘로 자르는 모델이다. 이 사실이 Part 2의 벽이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w ← w + η(y − ŷ)x, b ← b + η(y − ŷ). 맞히면 y − ŷ = 0이라 변화 없음. 1이어야 하는데 0이라고 했으면(y−ŷ=+1) w에 x를 더해 z를 키운다. 0이어야 하는데 1이면 x를 빼서 z를 줄인다. 예: w=(0,0), b=0, 입력 (1,1), 정답 1인데 z=0 → ŷ=1로 맞음. 입력 (0,1) 정답 0인데 ŷ=1 → w=(0,−1), b=−1(η=1). 지난주 경사하강법과 모양이 비슷하지만, 계단 함수는 미분할 수 없어서 기울기 대신 이 규칙을 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데이터 4점에 규칙을 반복 적용하면 몇 번의 갱신 끝에 네 점을 모두 맞히는 직선을 찾는다. Perceptron 수렴 정리: 데이터가 선형 분리 가능하면 유한 번의 갱신 안에 분리하는 경계를 찾는다. 거꾸로 말하면, 선형 분리가 불가능하면 이 규칙은 끝없이 흔들린다. 다음 파트에서 그런 문제를 만난다.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AND와 OR은 직선 하나로 1 영역과 0 영역을 나눌 수 있다. XOR은 (0,1)과 (1,0)이 1, (0,0)과 (1,1)이 0이라 같은 부류가 대각선으로 엇갈려 있다. 어떤 직선을 그어도 네 점 중 적어도 하나는 틀린다. 직접 그어 보자.</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ŷ = 1[w1x1 + w2x2 + b ≥ 0]이 XOR을 맞히려면 네 부등식이 동시에 성립해야 한다. (0,0)→0: b &lt; 0. (0,1)→1: w2 + b ≥ 0. (1,0)→1: w1 + b ≥ 0. (1,1)→0: w1 + w2 + b &lt; 0. 가운데 두 식을 더하면 w1 + w2 + 2b ≥ 0, 즉 w1 + w2 + b ≥ −b &gt; 0 (b&lt;0이므로). 넷째 식과 모순. 따라서 어떤 w, b로도 불가능하다 — 학습을 더 오래 해서 해결되는 문제가 아니라, 모델이 표현할 수 없는 함수다.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w1=w2=1, b=−0.5인 직선(OR 경계)은 (1,1)을 틀려 3/4. 어떤 직선도 4/4는 안 된다. 오른쪽: 뒤에서 만들 비선형 함수 ReLU(s) − 2·ReLU(s−1) (s = x1+x2)는 네 점을 모두 맞힌다. 이 비선형 해가 어디서 왔는지가 Part 3의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1969년 Minsky와 Papert의 책 『Perceptrons』는 단층 Perceptron이 parity(XOR의 일반화)나 연결성 같은 성질을 다루기 어렵다는 것을 수학적으로 분석했다. 이후 신경망 연구가 위축된 시기가 있었지만, 그 원인을 'XOR 하나'로 말하는 것은 과도한 단순화다 — 연산 능력, 과도한 기대, 투자, 평가 방식 등 여러 맥락이 얽혀 있다. 같은 시기 사람이 지식과 규칙을 직접 작성하는 기호·지식 기반 AI(전문가 시스템: MYCIN, R1/XCON 등)도 발전했다. 규칙은 점검하기 쉽지만 예외를 계속 유지·보수하는 비용이 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원래 공간에서는 안 되지만, 좌표를 바꾸면 된다. h1 = ReLU(x1 + x2), h2 = ReLU(x1 + x2 − 1)로 바꾸면 (0,0)→(0,0), (0,1)과 (1,0)→(1,0), (1,1)→(2,1). 새 공간에서는 두 XOR=1 점이 한 곳으로 모이고, 직선 h1 − 2h2 = 0.5로 깔끔하게 나뉜다. 이렇게 입력을 새 좌표(표현)로 바꾸는 것이 은닉층의 역할이다.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은닉층을 두 개 쌓아도 사이에 비선형 함수가 없으면 (xW1 + b1)W2 + b2 = x(W1W2) + (b1W2 + b2)로 하나의 선형 변환이 된다. 즉 층을 몇 개 쌓든 결정 경계는 여전히 직선이다. 원자료: bias를 포함한 affine 변환은 여러 번 합쳐도 하나의 affine 변환. PyTorch로 두 Linear 층의 출력이 하나의 합친 행렬 결과와 완전히 같은지 확인할 수 있다(allclose = True).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sigmoid σ(z)=1/(1+e^−z): 0~1로 눌러 준다. 도함수 최대 0.25. tanh: −1~1, 도함수 최대 1. ReLU(z)=max(0, z): 양수는 그대로, 음수는 0. 기울기는 양수 구간 1, 음수 구간 0. 계산이 가볍다. 오른쪽 그래프(도함수)는 역전파 때 곱해지는 값이다. sigmoid는 최대 0.25라 층이 깊어지면 기울기가 급격히 줄어든다 — 다음 주의 문제. 원자료 주의: 'ReLU면 기울기 소실이 모두 사라진다'고 말하지 않는다. 초기화·학습률·입력 분포에 따라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 = x1 + x2라 두면 f = ReLU(s) − 2·ReLU(s − 1). s가 0, 1, 2일 때 f는 0, 1, 0으로 XOR과 같다. 이는 은닉 유닛 2개(ReLU(s), ReLU(s−1))와 출력 가중치 (1, −2)를 가진 MLP다. 중요한 구분: 이 해는 사람이 직접 만든 것이다. '이런 해가 존재한다(표현 가능)'와 '학습으로 찾을 수 있다'는 다른 문제 → Part 4에서 확인.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ReLU(x W1 + b1), ŷ = h W2 + b2. 입력 2개, 은닉 m개, 출력 1개면 W1: (2, m), b1: (m,), W2: (m, 1), b2: (1,). 파라미터 수 = 2m + m + m + 1 = 4m + 1. 배치 B개 입력 (B, 2) → 은닉 (B, m) → 출력 (B, 1). Transformer의 FFN(6주차)도 정확히 이 구조를 각 토큰에 적용한다: d → d_ff → 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지난주에는 파라미터가 w, b 두 개뿐이라 기울기 공식을 직접 썼다. MLP에서는 W1의 한 칸이 h를 바꾸고, h가 ŷ를 바꾸고, ŷ가 손실을 바꾼다. 가장 단순한 방법은 가중치 하나를 조금 흔들어 보고 손실 변화를 재는 것(수치 미분)인데, 파라미터가 P개면 forward를 P+1번 해야 한다. 파라미터가 수백만 개면 불가능. 역전파는 forward 한 번 + backward 한 번으로 모든 기울기를 구한다.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톱니바퀴 비유: A가 1칸 돌면 B가 2칸, B가 1칸 돌면 C가 3칸 → A가 1칸 돌면 C는 6칸. 신경망에서: w가 h를, h가 ŷ를, ŷ가 L을 바꾼다. 그래서 ∂L/∂w = ∂L/∂ŷ × ∂ŷ/∂h × ∂h/∂w. 지난주 예제로 확인: ŷ = wx, L = ½(ŷ − y)². ∂L/∂ŷ = ŷ − y = 2 − 6 = −4, ∂ŷ/∂w = x = 2 → ∂L/∂w = −8. 지난주와 같은 값이다.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x = [1, 1], W1 = [[1, −1], [0.5, 0.5]], 편향은 0으로 고정, W2 = [[2], [1]], 정답 y = 2. z = xW1 = [1·1 + 1·0.5, 1·(−1) + 1·0.5] = [1.5, −0.5]. h = ReLU(z) = [1.5, 0]. ŷ = hW2 = 1.5·2 + 0·1 = 3. L = ½(3 − 2)² = 0.5. forward 동안 z, h 같은 중간값을 저장해 두는 이유는 backward에서 재사용하기 때문.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∂L/∂ŷ = ŷ − y = 1. ∂L/∂h = ∂L/∂ŷ × W2ᵀ = [2, 1]. ReLU의 국소 미분은 z&gt;0이면 1, 아니면 0 → ∂L/∂z = [2·1, 1·0] = [2, 0]. 파라미터 기울기: ∂L/∂W2 = hᵀ × ∂L/∂ŷ = [[1.5], [0]], ∂L/∂W1 = xᵀ × ∂L/∂z = [[2, 0], [2, 0]]. 두 번째 은닉 유닛은 ReLU에서 0이 되었기 때문에 기울기도 0 — 이번 예시에서는 학습되지 않는다(ReLU의 특징).</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 0.1로 갱신: W2 = [[2 − 0.15], [1 − 0]] = [[1.85], [1]]. W1 = [[1 − 0.2, −1], [0.5 − 0.2, 0.5]] = [[0.8, −1], [0.3, 0.5]]. 다시 forward: z = [0.8 + 0.3, −1 + 0.5] = [1.1, −0.5], h = [1.1, 0], ŷ = 1.1 × 1.85 = 2.035. 손실 0.5 → 0.0006. 한 번에 정답 2에 거의 도착했다. PyTorch로 같은 값을 확인할 수 있다(다음 슬라이드 뒤 코드).</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실험: ReLU 은닉층 MLP, BCE 손실, SGD lr=0.5, 3000 step, 무작위 초기화 20회. 은닉 2개: 20번 중 4번 성공, 4개: 15번, 8개: 19번. 은닉 2개로도 XOR 해가 존재(앞에서 직접 구성)하지만 학습이 그 해를 못 찾는 경우가 많다. 은닉 유닛 일부가 ReLU 음수 구간에 갇혀 기울기가 0이 되는 등 이유가 있다. 여유 있는 모델이 학습하기 쉽다는 경험적 관찰로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질문: XOR에서 성능이 낮으면 모델이 부족한 건가, 학습이 안 된 건가? 표현 가능한 함수 자체가 제한된 경우(단층 Perceptron과 XOR)와, 표현 가능한 함수를 optimizer가 찾지 못한 경우(은닉 2개 MLP의 실패)를 나눈다. 학습형 MLP가 실패하면 구현(shape, 활성화 위치), 초기화, 학습률, 반복 수, 모델 크기를 차례로 점검한다. 이 구분은 Transformer 실험(6주차)에서도 그대로 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역방향 자동 미분의 아이디어는 1970년 Linnainmaa의 석사 논문에서 나타났고, 1974년 Werbos가 박사 논문에서 신경망 학습에 적용할 수 있음을 제시했다. 1986년 Rumelhart, Hinton, Williams의 Nature 논문 'Learning representations by back-propagating errors'는 은닉층이 유용한 내부 표현을 스스로 학습한다는 것을 보여주며 널리 확산시켰다. 원자료 주의: '역전파는 1986년에 처음 발명되었다'고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requires_grad=True인 텐서로 forward를 하면 PyTorch가 계산 그래프를 기록한다. L.backward()를 호출하면 역전파로 모든 기울기를 채운다. 출력: W1.grad = [[2, 0], [2, 0]], W2.grad = [[1.5], [0]] — 손 계산과 같다. 과제: 편향 b1, b2도 넣어서 기울기를 손으로 계산하고 autograd와 비교해 보기.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계단 함수는 미분이 안 돼서 역전파를 쓸 수 없다. sigmoid σ(z) = 1/(1 + e^−z)는 z를 0~1 사이로 부드럽게 바꾼다. z = 0 → 0.5, z = 2 → 0.88, z = −2 → 0.12. 출력을 '1일 확률'처럼 읽을 수 있다. 주의: 합이 1인 양수라고 해서 현실적으로 잘 보정된(calibrated) 확률이라는 보장은 없다.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클래스가 K개면 모델은 점수(logit) K개를 낸다. softmax는 각 점수를 exp로 양수로 바꾸고 전체 합으로 나눠 합이 1인 비중을 만든다. 예: z = [2, 1, 0] → exp = [7.39, 2.72, 1.00], 합 11.11 → p = [0.665, 0.245, 0.090]. 가장 큰 점수가 가장 큰 비중을 갖지만 나머지도 0이 아니다. 구현 팁: exp가 너무 커지지 않도록 최댓값을 빼고 계산해도 결과가 같다(수치 안정화).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 = 1이 기본 softmax. τ = 0.5로 점수를 두 배로 키우면 1등 비중이 0.867로 커지고, τ = 2면 0.506으로 평평해진다. 6주차에서 문장을 생성할 때 다음 토큰을 고르는 무작위성을 조절하는 데 쓴다. 원자료 주의: Attention의 √d 스케일과 생성 때의 temperature는 위치와 목적이 다르다(5주차).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정답이 one-hot일 때 cross-entropy는 −log p(정답). 정답에 0.9를 주면 0.105, 0.5면 0.693, 0.1이면 2.303, 0.01이면 4.61. 앞 예시에서 정답이 고양이면 −log 0.665 = 0.408. Entropy H(p) = −Σ p log p는 분포가 얼마나 퍼져 있는지(불확실성), cross-entropy H(q, p) = −Σ q log p는 정답 분포 q에 대해 예측 p가 내는 평균 '놀람'이다.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softmax 출력에 cross-entropy를 쓰면 점수(logit)에 대한 기울기가 p − y(예측 확률 − 정답 one-hot)가 된다. 앞 예시: p = [0.665, 0.245, 0.090], 정답 고양이 y = [1, 0, 0] → 기울기 [−0.335, 0.245, 0.090]. 정답 점수는 올리고 오답 점수는 내리는 방향이 자연스럽게 나온다. MSE를 쓰면 확신하고 틀린 경우 기울기가 오히려 작아지는 문제가 있다. PyTorch의 CrossEntropyLoss는 softmax를 내부에서 하므로 logits(softmax 전 점수)를 넣는다 — 원자료 개념 확인 14.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MLP → Transformer의 FFN(토큰마다 적용하는 2층 MLP). ReLU → FFN의 활성화(후속 모델은 GELU 등). softmax + cross-entropy → 다음 토큰 예측: 어휘 |V|개 중 하나를 고르는 분류 문제. 역전파 → 수십억 개 파라미터를 가진 Transformer도 같은 방법으로 기울기를 구한다. 원자료: Q/K/V 투영도 학습 가능한 선형층이지만, 다른 토큰의 정보를 결합하는 것은 Attention 가중합이다(5주차).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Perceptron = 가중합 + 계단 함수, 결정 경계는 직선 (1958) / XOR은 직선 하나로 불가능 — 부등식이 모순 (1969년 한계 분석) / 은닉층은 새 좌표를 만든다 — 단, 층 사이 비선형 활성화가 없으면 하나로 합쳐진다 / 역전파 = 연쇄법칙을 출력부터 거꾸로, 중간값을 재사용해 모든 기울기를 한 번에 (1986 확산) / ‘표현 가능’과 ‘학습으로 찾음’은 다른 질문이다 / 분류 출력은 Softmax, 손실은 Cross-entropy (기울기 p − 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Q2는 원자료 '개념 확인' 01, 02번.</a:t>
            </a:r>
          </a:p>
          <a:p/>
          <a:p>
            <a:r>
              <a:t>[정답]</a:t>
            </a:r>
          </a:p>
          <a:p>
            <a:r>
              <a:t>Q1. 역전파와 optimizer는 각각 무슨 일을 하나? (원자료 개념 확인 01)</a:t>
            </a:r>
          </a:p>
          <a:p>
            <a:r>
              <a:t>  → 역전파는 각 파라미터의 기울기를 계산, optimizer는 그 기울기로 파라미터를 갱신</a:t>
            </a:r>
          </a:p>
          <a:p>
            <a:r>
              <a:t>Q2. 활성화 없이 affine 층을 여러 개 합치면? (개념 확인 02)</a:t>
            </a:r>
          </a:p>
          <a:p>
            <a:r>
              <a:t>  → 하나의 affine 변환과 같다 — 표현할 수 있는 함수 종류가 늘지 않는다</a:t>
            </a:r>
          </a:p>
          <a:p>
            <a:r>
              <a:t>Q3. XOR을 단층 Perceptron으로 못 푸는 이유를 한 문장으로?</a:t>
            </a:r>
          </a:p>
          <a:p>
            <a:r>
              <a:t>  → 네 점이 요구하는 부등식이 모순 — 어떤 직선도 네 점을 모두 가를 수 없다</a:t>
            </a:r>
          </a:p>
          <a:p>
            <a:r>
              <a:t>Q4. ReLU에서 z &lt; 0인 유닛의 기울기는? 무슨 일이 생기나?</a:t>
            </a:r>
          </a:p>
          <a:p>
            <a:r>
              <a:t>  → 0 — 그 입력에서는 해당 유닛의 앞쪽 가중치가 학습되지 않는다</a:t>
            </a:r>
          </a:p>
          <a:p>
            <a:r>
              <a:t>Q5. z = [1, 1, 1]의 softmax와, 정답이 첫째일 때 CE는?</a:t>
            </a:r>
          </a:p>
          <a:p>
            <a:r>
              <a:t>  → [1/3, 1/3, 1/3], CE = −log(1/3) ≈ 1.099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“역전파는 1986년에 처음 발명되었다” → 1970 Linnainmaa, 1974 Werbos 등 선행 연구 — 1986년은 확산의 이정표 / “AI 겨울은 XOR 하나 때문에 왔다” → 기술·연산·기대·투자·평가 등 여러 맥락. 단일 원인으로 서술하지 않는다 / “층을 많이 쌓으면 표현력이 늘어난다” → 비선형 활성화가 없으면 층 수와 무관하게 선형 변환 하나 / “ReLU면 기울기 소실이 모두 사라진다” → 초기화·학습률·입력 분포에 따라 달라진다. 음수 구간 기울기는 0 / “해가 존재하면 학습이 찾아 준다” → 은닉 2개 MLP는 XOR 해가 있어도 20번 중 16번 실패했다 / “softmax 출력은 믿을 만한 확률이다” → 합 1인 양수 비중일 뿐, 잘 보정된 확률이라는 보장은 없다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2회차 산출물: XOR 비교, 한 번의 gradient 업데이트. 과제는 ‘논문 읽고 정리’ 대신 제출 결과가 분명한 질문으로 준다(원자료 운영안). XOR 부등식: OR, AND에 대해 네 부등식을 적고 만족하는 (w1, w2, b)를 하나씩 찾는다. XOR은 왜 모순인지 자기 말로 설명. / 역전파 손계산: 오늘 예제에 편향 b1 = [0, 0], b2 = 0을 넣고 ∂L/∂b1, ∂L/∂b2를 손으로 구한 뒤 autograd와 비교. / XOR 학습 실험: 은닉 크기 2/4/8, 학습률 0.1/0.5로 seed 10개씩 돌려 성공률 표를 만든다. 실패한 경우의 은닉 활성값을 출력해 원인을 추측.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[04] Rosenblatt (1958). The Perceptron: A Probabilistic Model for Information Storage and Organization in the Brain / Minsky &amp; Papert (1969). Perceptrons. MIT Press / [05] Rumelhart, Hinton &amp; Williams (1986). Learning representations by back-propagating errors. Nature / [42] Goodfellow et al. (2016). Deep Learning / PyTorch 튜토리얼: Autograd mechanics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이미지처럼 구조가 있는 큰 입력, 그리고 깊이의 문제. CNN(1989)부터 ResNet(2015)까지. 이번 주에 해결한 것: 비선형 은닉층으로 새 좌표를 만들고 / 역전파로 모든 층을 학습해 / 직선으로 안 되는 경계도 배울 수 있다. 남은 문제: 입력이 이미지(수만 픽셀)면? 모든 입력을 모든 뉴런에 연결하면 파라미터 폭발 / 층을 깊게 쌓으면? 기울기가 곱해지며 사라진다 (sigmoid′ ≤ 0.25). 다음: 공간 구조를 어떻게 쓰고, / 깊은 모델은 어떻게 학습시키나? / CNN · AlexNet · ResNet.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2. Perceptron에서 MLP로</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2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직선으로 안 되는 문제는?</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1958–1986 · Perceptron · XOR · MLP · 역전파 · Softmax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텐서와 shape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모델 ŷ = wx + b, 손실(MSE)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경사하강법으로 </a:t>
            </a:r>
            <a:r>
              <a:rPr sz="1800" b="1">
                <a:solidFill>
                  <a:srgbClr val="1B2A36"/>
                </a:solidFill>
                <a:latin typeface="맑은 고딕"/>
                <a:ea typeface="맑은 고딕"/>
                <a:cs typeface="맑은 고딕"/>
              </a:rPr>
              <a:t>규칙 y = 2x + 1</a:t>
            </a:r>
            <a:r>
              <a:rPr sz="1800" b="0">
                <a:solidFill>
                  <a:srgbClr val="1B2A36"/>
                </a:solidFill>
                <a:latin typeface="맑은 고딕"/>
                <a:ea typeface="맑은 고딕"/>
                <a:cs typeface="맑은 고딕"/>
              </a:rPr>
              <a:t>을 스스로 찾음</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출력이 </a:t>
            </a:r>
            <a:r>
              <a:rPr sz="1800" b="1">
                <a:solidFill>
                  <a:srgbClr val="1B2A36"/>
                </a:solidFill>
                <a:latin typeface="맑은 고딕"/>
                <a:ea typeface="맑은 고딕"/>
                <a:cs typeface="맑은 고딕"/>
              </a:rPr>
              <a:t>예/아니오</a:t>
            </a:r>
            <a:r>
              <a:rPr sz="1800" b="0">
                <a:solidFill>
                  <a:srgbClr val="1B2A36"/>
                </a:solidFill>
                <a:latin typeface="맑은 고딕"/>
                <a:ea typeface="맑은 고딕"/>
                <a:cs typeface="맑은 고딕"/>
              </a:rPr>
              <a:t>(분류)라면?</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가중합 + 임계값 뉴런 </a:t>
            </a:r>
            <a:r>
              <a:rPr sz="1800" b="1">
                <a:solidFill>
                  <a:srgbClr val="1B2A36"/>
                </a:solidFill>
                <a:latin typeface="맑은 고딕"/>
                <a:ea typeface="맑은 고딕"/>
                <a:cs typeface="맑은 고딕"/>
              </a:rPr>
              <a:t>하나</a:t>
            </a:r>
            <a:r>
              <a:rPr sz="1800" b="0">
                <a:solidFill>
                  <a:srgbClr val="1B2A36"/>
                </a:solidFill>
                <a:latin typeface="맑은 고딕"/>
                <a:ea typeface="맑은 고딕"/>
                <a:cs typeface="맑은 고딕"/>
              </a:rPr>
              <a:t>로 모든 규칙을 배울 수 있을까?</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직선으로 안 되는 문제는?</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그 문제를 풀려면 무엇을 바꿔야 하나?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2번째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FFFFF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Perceptron (1958): 분류를 배우는 뉴런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XOR의 벽 (1969): 직선의 한계</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MLP: 층을 쌓아 새 좌표 만들기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역전파 (1986): 은닉층은 무엇을 기준으로 배우나</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확률로 답하기: Softmax와 Cross-entropy</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Perceptron의 </a:t>
            </a:r>
            <a:r>
              <a:rPr sz="1450" b="1">
                <a:solidFill>
                  <a:srgbClr val="1B2A36"/>
                </a:solidFill>
                <a:latin typeface="맑은 고딕"/>
                <a:ea typeface="맑은 고딕"/>
                <a:cs typeface="맑은 고딕"/>
              </a:rPr>
              <a:t>결정 경계</a:t>
            </a:r>
            <a:r>
              <a:rPr sz="1450" b="0">
                <a:solidFill>
                  <a:srgbClr val="1B2A36"/>
                </a:solidFill>
                <a:latin typeface="맑은 고딕"/>
                <a:ea typeface="맑은 고딕"/>
                <a:cs typeface="맑은 고딕"/>
              </a:rPr>
              <a:t>가 직선인 이유를 설명한다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XOR이 직선 하나로 </a:t>
            </a:r>
            <a:r>
              <a:rPr sz="1450" b="1">
                <a:solidFill>
                  <a:srgbClr val="1B2A36"/>
                </a:solidFill>
                <a:latin typeface="맑은 고딕"/>
                <a:ea typeface="맑은 고딕"/>
                <a:cs typeface="맑은 고딕"/>
              </a:rPr>
              <a:t>불가능함</a:t>
            </a:r>
            <a:r>
              <a:rPr sz="1450" b="0">
                <a:solidFill>
                  <a:srgbClr val="1B2A36"/>
                </a:solidFill>
                <a:latin typeface="맑은 고딕"/>
                <a:ea typeface="맑은 고딕"/>
                <a:cs typeface="맑은 고딕"/>
              </a:rPr>
              <a:t>을 부등식으로 보인다</a:t>
            </a:r>
          </a:p>
          <a:p>
            <a:pPr algn="l" marL="256032" indent="-237744">
              <a:lnSpc>
                <a:spcPct val="110000"/>
              </a:lnSpc>
              <a:spcBef>
                <a:spcPts val="0"/>
              </a:spcBef>
              <a:spcAft>
                <a:spcPts val="434"/>
              </a:spcAft>
              <a:buClr>
                <a:srgbClr val="01688F"/>
              </a:buClr>
              <a:buFont typeface="Wingdings" pitchFamily="2" charset="2"/>
              <a:buChar char="§"/>
            </a:pPr>
            <a:r>
              <a:rPr sz="1450" b="1">
                <a:solidFill>
                  <a:srgbClr val="1B2A36"/>
                </a:solidFill>
                <a:latin typeface="맑은 고딕"/>
                <a:ea typeface="맑은 고딕"/>
                <a:cs typeface="맑은 고딕"/>
              </a:rPr>
              <a:t>비선형 활성화</a:t>
            </a:r>
            <a:r>
              <a:rPr sz="1450" b="0">
                <a:solidFill>
                  <a:srgbClr val="1B2A36"/>
                </a:solidFill>
                <a:latin typeface="맑은 고딕"/>
                <a:ea typeface="맑은 고딕"/>
                <a:cs typeface="맑은 고딕"/>
              </a:rPr>
              <a:t>가 없으면 층을 쌓아도 소용없는 이유를 말한다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작은 MLP에서 </a:t>
            </a:r>
            <a:r>
              <a:rPr sz="1450" b="1">
                <a:solidFill>
                  <a:srgbClr val="1B2A36"/>
                </a:solidFill>
                <a:latin typeface="맑은 고딕"/>
                <a:ea typeface="맑은 고딕"/>
                <a:cs typeface="맑은 고딕"/>
              </a:rPr>
              <a:t>역전파</a:t>
            </a:r>
            <a:r>
              <a:rPr sz="1450" b="0">
                <a:solidFill>
                  <a:srgbClr val="1B2A36"/>
                </a:solidFill>
                <a:latin typeface="맑은 고딕"/>
                <a:ea typeface="맑은 고딕"/>
                <a:cs typeface="맑은 고딕"/>
              </a:rPr>
              <a:t>를 손으로 계산한다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Softmax와 </a:t>
            </a:r>
            <a:r>
              <a:rPr sz="1450" b="1">
                <a:solidFill>
                  <a:srgbClr val="1B2A36"/>
                </a:solidFill>
                <a:latin typeface="맑은 고딕"/>
                <a:ea typeface="맑은 고딕"/>
                <a:cs typeface="맑은 고딕"/>
              </a:rPr>
              <a:t>Cross-entropy</a:t>
            </a:r>
            <a:r>
              <a:rPr sz="1450" b="0">
                <a:solidFill>
                  <a:srgbClr val="1B2A36"/>
                </a:solidFill>
                <a:latin typeface="맑은 고딕"/>
                <a:ea typeface="맑은 고딕"/>
                <a:cs typeface="맑은 고딕"/>
              </a:rPr>
              <a:t>를 숫자로 계산한다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374136"/>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분류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입력을 정해진 범주 중 하나로 고르는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스팸 / 정상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결정 경계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예측이 0과 1로 바뀌는 경계선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지도 위의 국경선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선형 분리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직선(초평면) 하나로 두 부류를 나눌 수 있음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자 하나로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활성화 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층 사이에 넣는 비선형 함수 (ReLU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직선을 구부리는 관절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은닉층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입력과 출력 사이의 중간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문제를 풀기 쉬운 새 좌표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연쇄법칙으로 모든 기울기를 한 번에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책임을 거꾸로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Softmax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점수들을 합이 1인 양수 비중으로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득표수 → 득표율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Cross-entropy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 확률의 −log — 분류용 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확신하고 틀리면 큰 벌점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Perceptron: 분류를 배우는 뉴런 (1958)</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지난주의 가중합에 ‘예/아니오’를 붙이면?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회귀에서 분류로</a:t>
            </a:r>
          </a:p>
        </p:txBody>
      </p:sp>
      <p:sp>
        <p:nvSpPr>
          <p:cNvPr id="3" name="Content Placeholder 2"/>
          <p:cNvSpPr>
            <a:spLocks noGrp="1"/>
          </p:cNvSpPr>
          <p:nvPr>
            <p:ph idx="1"/>
          </p:nvPr>
        </p:nvSpPr>
        <p:spPr>
          <a:xfrm>
            <a:off x="457200" y="4816983"/>
            <a:ext cx="11274552" cy="1565529"/>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앞부분 w·x + b는 </a:t>
            </a:r>
            <a:r>
              <a:rPr sz="1700" b="1">
                <a:solidFill>
                  <a:srgbClr val="1B2A36"/>
                </a:solidFill>
              </a:rPr>
              <a:t>1주차 선형 모델 그대로</a:t>
            </a:r>
            <a:r>
              <a:rPr sz="1700" b="0">
                <a:solidFill>
                  <a:srgbClr val="1B2A36"/>
                </a:solidFill>
              </a:rPr>
              <a:t>, 뒤에 ‘0 이상이면 1’이라는 </a:t>
            </a:r>
            <a:r>
              <a:rPr sz="1700" b="1">
                <a:solidFill>
                  <a:srgbClr val="1B2A36"/>
                </a:solidFill>
              </a:rPr>
              <a:t>판정</a:t>
            </a:r>
            <a:r>
              <a:rPr sz="1700" b="0">
                <a:solidFill>
                  <a:srgbClr val="1B2A36"/>
                </a:solidFill>
              </a:rPr>
              <a:t>만 붙였다</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이 단순한 판정이 무엇을 할 수 있고 </a:t>
            </a:r>
            <a:r>
              <a:rPr sz="1700" b="1">
                <a:solidFill>
                  <a:srgbClr val="1B2A36"/>
                </a:solidFill>
              </a:rPr>
              <a:t>무엇을 못 하는지</a:t>
            </a:r>
            <a:r>
              <a:rPr sz="1700" b="0">
                <a:solidFill>
                  <a:srgbClr val="1B2A36"/>
                </a:solidFill>
              </a:rPr>
              <a:t>가 오늘의 이야기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출력이 숫자가 아니라 ‘범주’라면 — 가중합 뒤에 판정을 붙인다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회귀 (1주차)</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 연속된 숫자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예: 공부 시간 → </a:t>
            </a:r>
            <a:r>
              <a:rPr sz="1700" b="1">
                <a:solidFill>
                  <a:srgbClr val="1B2A36"/>
                </a:solidFill>
                <a:latin typeface="맑은 고딕"/>
                <a:ea typeface="맑은 고딕"/>
                <a:cs typeface="맑은 고딕"/>
              </a:rPr>
              <a:t>점수 7.0</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손실: MSE</a:t>
            </a:r>
          </a:p>
        </p:txBody>
      </p:sp>
      <p:sp>
        <p:nvSpPr>
          <p:cNvPr id="12" name="Rounded Rectangle 11"/>
          <p:cNvSpPr/>
          <p:nvPr/>
        </p:nvSpPr>
        <p:spPr>
          <a:xfrm>
            <a:off x="6208776" y="140817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분류 (2주차)</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 범주 (0 또는 1, 혹은 여러 개 중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예: 메일 → </a:t>
            </a:r>
            <a:r>
              <a:rPr sz="1700" b="1">
                <a:solidFill>
                  <a:srgbClr val="1B2A36"/>
                </a:solidFill>
                <a:latin typeface="맑은 고딕"/>
                <a:ea typeface="맑은 고딕"/>
                <a:cs typeface="맑은 고딕"/>
              </a:rPr>
              <a:t>스팸(1) / 정상(0)</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손실: 틀린 개수? 확률? → Part 5</a:t>
            </a:r>
          </a:p>
        </p:txBody>
      </p:sp>
      <p:sp>
        <p:nvSpPr>
          <p:cNvPr id="15" name="Rounded Rectangle 14"/>
          <p:cNvSpPr/>
          <p:nvPr/>
        </p:nvSpPr>
        <p:spPr>
          <a:xfrm>
            <a:off x="457200" y="3673982"/>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73982"/>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z = w · x + b   →   ŷ = 1 (z ≥ 0),  0 (z &lt;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Perceptron의 구조</a:t>
            </a:r>
          </a:p>
        </p:txBody>
      </p:sp>
      <p:sp>
        <p:nvSpPr>
          <p:cNvPr id="3" name="Content Placeholder 2"/>
          <p:cNvSpPr>
            <a:spLocks noGrp="1"/>
          </p:cNvSpPr>
          <p:nvPr>
            <p:ph idx="1"/>
          </p:nvPr>
        </p:nvSpPr>
        <p:spPr>
          <a:xfrm>
            <a:off x="6802221" y="1408176"/>
            <a:ext cx="4929530"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z = w1·x1 + w2·x2 + b</a:t>
            </a:r>
            <a:r>
              <a:rPr sz="1800" b="0">
                <a:solidFill>
                  <a:srgbClr val="1B2A36"/>
                </a:solidFill>
              </a:rPr>
              <a:t> (가중합)</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ŷ = 1[z ≥ 0]</a:t>
            </a:r>
            <a:r>
              <a:rPr sz="1800" b="0">
                <a:solidFill>
                  <a:srgbClr val="1B2A36"/>
                </a:solidFill>
              </a:rPr>
              <a:t> (계단 함수)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 = 항상 1인 입력에 붙은 가중치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1943 M-P 뉴런과 계산은 같다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다른 점: w, b를 </a:t>
            </a:r>
            <a:r>
              <a:rPr sz="1800" b="1">
                <a:solidFill>
                  <a:srgbClr val="1B2A36"/>
                </a:solidFill>
              </a:rPr>
              <a:t>데이터로 학습</a:t>
            </a:r>
          </a:p>
          <a:p>
            <a:pPr algn="l" marL="566928" indent="-237744">
              <a:lnSpc>
                <a:spcPct val="110000"/>
              </a:lnSpc>
              <a:spcBef>
                <a:spcPts val="0"/>
              </a:spcBef>
              <a:spcAft>
                <a:spcPts val="775"/>
              </a:spcAft>
              <a:buClr>
                <a:srgbClr val="01688F"/>
              </a:buClr>
              <a:buFont typeface="Arial"/>
              <a:buChar char="-"/>
            </a:pPr>
            <a:r>
              <a:rPr sz="1550" b="0">
                <a:solidFill>
                  <a:srgbClr val="1B2A36"/>
                </a:solidFill>
              </a:rPr>
              <a:t>Rosenblatt (1958)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가중합 → 계단 함수 → 0 또는 1. McCulloch–Pitts와 다른 점은 ‘학습 규칙’</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perceptron.png"/>
          <p:cNvPicPr>
            <a:picLocks noChangeAspect="1"/>
          </p:cNvPicPr>
          <p:nvPr/>
        </p:nvPicPr>
        <p:blipFill>
          <a:blip r:embed="rId3"/>
          <a:stretch>
            <a:fillRect/>
          </a:stretch>
        </p:blipFill>
        <p:spPr>
          <a:xfrm>
            <a:off x="457200" y="2176546"/>
            <a:ext cx="6024981" cy="343759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결정 경계는 직선이다</a:t>
            </a:r>
          </a:p>
        </p:txBody>
      </p:sp>
      <p:sp>
        <p:nvSpPr>
          <p:cNvPr id="3" name="Content Placeholder 2"/>
          <p:cNvSpPr>
            <a:spLocks noGrp="1"/>
          </p:cNvSpPr>
          <p:nvPr>
            <p:ph idx="1"/>
          </p:nvPr>
        </p:nvSpPr>
        <p:spPr>
          <a:xfrm>
            <a:off x="6254496" y="1408176"/>
            <a:ext cx="547725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예: w = (1, 1), b = −1.5</a:t>
            </a:r>
          </a:p>
          <a:p>
            <a:pPr algn="l" marL="566928" indent="-237744">
              <a:lnSpc>
                <a:spcPct val="110000"/>
              </a:lnSpc>
              <a:spcBef>
                <a:spcPts val="0"/>
              </a:spcBef>
              <a:spcAft>
                <a:spcPts val="775"/>
              </a:spcAft>
              <a:buClr>
                <a:srgbClr val="01688F"/>
              </a:buClr>
              <a:buFont typeface="Arial"/>
              <a:buChar char="-"/>
            </a:pPr>
            <a:r>
              <a:rPr sz="1550" b="0">
                <a:solidFill>
                  <a:srgbClr val="1B2A36"/>
                </a:solidFill>
              </a:rPr>
              <a:t>경계: x1 + x2 − 1.5 = 0 (직선)</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w는 경계에 </a:t>
            </a:r>
            <a:r>
              <a:rPr sz="1800" b="1">
                <a:solidFill>
                  <a:srgbClr val="1B2A36"/>
                </a:solidFill>
              </a:rPr>
              <a:t>수직</a:t>
            </a:r>
            <a:r>
              <a:rPr sz="1800" b="0">
                <a:solidFill>
                  <a:srgbClr val="1B2A36"/>
                </a:solidFill>
              </a:rPr>
              <a:t>, w 쪽이 ŷ = 1</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입력 3개 → 평면, 더 많으면 </a:t>
            </a:r>
            <a:r>
              <a:rPr sz="1800" b="1">
                <a:solidFill>
                  <a:srgbClr val="1B2A36"/>
                </a:solidFill>
              </a:rPr>
              <a:t>초평면</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Perceptron = 입력 공간을 </a:t>
            </a:r>
            <a:r>
              <a:rPr sz="1800" b="1">
                <a:solidFill>
                  <a:srgbClr val="1B2A36"/>
                </a:solidFill>
              </a:rPr>
              <a:t>평평한 칼 하나</a:t>
            </a:r>
            <a:r>
              <a:rPr sz="1800" b="0">
                <a:solidFill>
                  <a:srgbClr val="1B2A36"/>
                </a:solidFill>
              </a:rPr>
              <a:t>로 자르는 모델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w·x + b = 0 인 점들이 경계 — 2차원 입력이면 항상 직선</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halfplane.png"/>
          <p:cNvPicPr>
            <a:picLocks noChangeAspect="1"/>
          </p:cNvPicPr>
          <p:nvPr/>
        </p:nvPicPr>
        <p:blipFill>
          <a:blip r:embed="rId3"/>
          <a:stretch>
            <a:fillRect/>
          </a:stretch>
        </p:blipFill>
        <p:spPr>
          <a:xfrm>
            <a:off x="528179" y="1408176"/>
            <a:ext cx="5335296" cy="49743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 학습 규칙</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맞으면 그대로, 틀리면 틀린 쪽으로 w를 조금 옮긴다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w ← w + η · (y − ŷ) · x        b ← b + η · (y − ŷ)</a:t>
            </a:r>
          </a:p>
        </p:txBody>
      </p:sp>
      <p:graphicFrame>
        <p:nvGraphicFramePr>
          <p:cNvPr id="11" name="Table 10"/>
          <p:cNvGraphicFramePr>
            <a:graphicFrameLocks noGrp="1"/>
          </p:cNvGraphicFramePr>
          <p:nvPr/>
        </p:nvGraphicFramePr>
        <p:xfrm>
          <a:off x="457200" y="2596896"/>
          <a:ext cx="5454396" cy="1819652"/>
        </p:xfrm>
        <a:graphic>
          <a:graphicData uri="http://schemas.openxmlformats.org/drawingml/2006/table">
            <a:tbl>
              <a:tblPr firstRow="1" bandRow="0">
                <a:tableStyleId>{5940675A-B579-460E-94D1-54222C63F5DA}</a:tableStyleId>
              </a:tblPr>
              <a:tblGrid>
                <a:gridCol w="1818132"/>
                <a:gridCol w="1818132"/>
                <a:gridCol w="1818132"/>
              </a:tblGrid>
              <a:tr h="352043">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상황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y − 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변화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맞힘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5778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1인데 0이라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커짐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5778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0인데 1이라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작아짐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457200" y="4700016"/>
            <a:ext cx="5454396" cy="1072515"/>
          </a:xfrm>
          <a:prstGeom prst="roundRect">
            <a:avLst>
              <a:gd name="adj" fmla="val 852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계단 함수는 미분할 수 없다(기울기가 0 아니면 정의 안 됨) → 경사하강법 대신 이 </a:t>
            </a:r>
            <a:r>
              <a:rPr sz="1500" b="1">
                <a:solidFill>
                  <a:srgbClr val="1B2A36"/>
                </a:solidFill>
                <a:latin typeface="맑은 고딕"/>
                <a:ea typeface="맑은 고딕"/>
                <a:cs typeface="맑은 고딕"/>
              </a:rPr>
              <a:t>오류 교정 규칙</a:t>
            </a:r>
            <a:r>
              <a:rPr sz="1500" b="0">
                <a:solidFill>
                  <a:srgbClr val="1B2A36"/>
                </a:solidFill>
                <a:latin typeface="맑은 고딕"/>
                <a:ea typeface="맑은 고딕"/>
                <a:cs typeface="맑은 고딕"/>
              </a:rPr>
              <a:t>을 쓴다.</a:t>
            </a:r>
          </a:p>
        </p:txBody>
      </p:sp>
      <p:sp>
        <p:nvSpPr>
          <p:cNvPr id="13" name="Rounded Rectangle 12"/>
          <p:cNvSpPr/>
          <p:nvPr/>
        </p:nvSpPr>
        <p:spPr>
          <a:xfrm>
            <a:off x="6277356" y="2596896"/>
            <a:ext cx="5454396" cy="2077212"/>
          </a:xfrm>
          <a:prstGeom prst="roundRect">
            <a:avLst>
              <a:gd name="adj" fmla="val 440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1948" y="272491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숫자로 확인 (η = 1)</a:t>
            </a:r>
          </a:p>
        </p:txBody>
      </p:sp>
      <p:sp>
        <p:nvSpPr>
          <p:cNvPr id="15" name="TextBox 14"/>
          <p:cNvSpPr txBox="1"/>
          <p:nvPr/>
        </p:nvSpPr>
        <p:spPr>
          <a:xfrm>
            <a:off x="6441948" y="3182112"/>
            <a:ext cx="5125212" cy="136398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시작 w = (0, 0), b = 0</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(0, 1), 정답 0 → z = 0 → ŷ = 1 ✘</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y − ŷ = −1 → w = (0, −1), b = −1</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다시 z = −1 − 1 = −2 → ŷ = 0 ✔</a:t>
            </a:r>
          </a:p>
        </p:txBody>
      </p:sp>
      <p:sp>
        <p:nvSpPr>
          <p:cNvPr id="16" name="Rounded Rectangle 15"/>
          <p:cNvSpPr/>
          <p:nvPr/>
        </p:nvSpPr>
        <p:spPr>
          <a:xfrm>
            <a:off x="6277356" y="4902708"/>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틀린 쪽으로 w가 </a:t>
            </a:r>
            <a:r>
              <a:rPr sz="1500" b="1">
                <a:solidFill>
                  <a:srgbClr val="1B2A36"/>
                </a:solidFill>
                <a:latin typeface="맑은 고딕"/>
                <a:ea typeface="맑은 고딕"/>
                <a:cs typeface="맑은 고딕"/>
              </a:rPr>
              <a:t>x만큼</a:t>
            </a:r>
            <a:r>
              <a:rPr sz="1500" b="0">
                <a:solidFill>
                  <a:srgbClr val="1B2A36"/>
                </a:solidFill>
                <a:latin typeface="맑은 고딕"/>
                <a:ea typeface="맑은 고딕"/>
                <a:cs typeface="맑은 고딕"/>
              </a:rPr>
              <a:t> 움직인다 — 1주차 경사하강법의 ‘틀린 만큼 고친다’와 같은 정신</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AND를 배우는 과정</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갱신할 때마다 경계선이 이동</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몇 번 만에 AND의 네 점을 모두 맞힘</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수렴 정리</a:t>
            </a:r>
            <a:r>
              <a:rPr sz="1800" b="0">
                <a:solidFill>
                  <a:srgbClr val="1B2A36"/>
                </a:solidFill>
              </a:rPr>
              <a:t>: 선형 분리 </a:t>
            </a:r>
            <a:r>
              <a:rPr sz="1800" b="1">
                <a:solidFill>
                  <a:srgbClr val="1B2A36"/>
                </a:solidFill>
              </a:rPr>
              <a:t>가능</a:t>
            </a:r>
            <a:r>
              <a:rPr sz="1800" b="0">
                <a:solidFill>
                  <a:srgbClr val="1B2A36"/>
                </a:solidFill>
              </a:rPr>
              <a:t>하면 유한 번에 찾는다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불가능하면? → 규칙이 끝없이 흔들린다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OR도 같은 방식으로 학습된다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선형으로 나뉘는 문제라면 규칙을 반복하는 것만으로 경계를 찾는다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perceptron_train.png"/>
          <p:cNvPicPr>
            <a:picLocks noChangeAspect="1"/>
          </p:cNvPicPr>
          <p:nvPr/>
        </p:nvPicPr>
        <p:blipFill>
          <a:blip r:embed="rId3"/>
          <a:stretch>
            <a:fillRect/>
          </a:stretch>
        </p:blipFill>
        <p:spPr>
          <a:xfrm>
            <a:off x="1119857" y="1408176"/>
            <a:ext cx="5028301" cy="49743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XOR의 벽 (1969)</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직선 하나로는 절대 나눌 수 없는 문제가 있다면?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 · OR · XOR</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XOR은 ‘둘 중 하나만 1일 때 1’ — 양성 두 점이 대각선으로 엇갈린다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and_or_xor.png"/>
          <p:cNvPicPr>
            <a:picLocks noChangeAspect="1"/>
          </p:cNvPicPr>
          <p:nvPr/>
        </p:nvPicPr>
        <p:blipFill>
          <a:blip r:embed="rId3"/>
          <a:stretch>
            <a:fillRect/>
          </a:stretch>
        </p:blipFill>
        <p:spPr>
          <a:xfrm>
            <a:off x="2204862" y="1408176"/>
            <a:ext cx="7779226" cy="2834640"/>
          </a:xfrm>
          <a:prstGeom prst="rect">
            <a:avLst/>
          </a:prstGeom>
        </p:spPr>
      </p:pic>
      <p:graphicFrame>
        <p:nvGraphicFramePr>
          <p:cNvPr id="10" name="Table 9"/>
          <p:cNvGraphicFramePr>
            <a:graphicFrameLocks noGrp="1"/>
          </p:cNvGraphicFramePr>
          <p:nvPr/>
        </p:nvGraphicFramePr>
        <p:xfrm>
          <a:off x="2743200" y="4471416"/>
          <a:ext cx="6702550" cy="1798320"/>
        </p:xfrm>
        <a:graphic>
          <a:graphicData uri="http://schemas.openxmlformats.org/drawingml/2006/table">
            <a:tbl>
              <a:tblPr firstRow="1" bandRow="0">
                <a:tableStyleId>{5940675A-B579-460E-94D1-54222C63F5DA}</a:tableStyleId>
              </a:tblPr>
              <a:tblGrid>
                <a:gridCol w="1340510"/>
                <a:gridCol w="1340510"/>
                <a:gridCol w="1340510"/>
                <a:gridCol w="1340510"/>
                <a:gridCol w="1340510"/>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AND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XOR이 직선으로 불가능한 이유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네 점이 요구하는 조건을 적으면 서로 모순된다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학습을 오래 한다고 풀리지 않는다 — 이 모델이 ‘표현할 수 없는’ 함수다</a:t>
            </a:r>
          </a:p>
        </p:txBody>
      </p:sp>
      <p:graphicFrame>
        <p:nvGraphicFramePr>
          <p:cNvPr id="10" name="Table 9"/>
          <p:cNvGraphicFramePr>
            <a:graphicFrameLocks noGrp="1"/>
          </p:cNvGraphicFramePr>
          <p:nvPr/>
        </p:nvGraphicFramePr>
        <p:xfrm>
          <a:off x="457200" y="1408176"/>
          <a:ext cx="5236218" cy="2194560"/>
        </p:xfrm>
        <a:graphic>
          <a:graphicData uri="http://schemas.openxmlformats.org/drawingml/2006/table">
            <a:tbl>
              <a:tblPr firstRow="1" bandRow="0">
                <a:tableStyleId>{5940675A-B579-460E-94D1-54222C63F5DA}</a:tableStyleId>
              </a:tblPr>
              <a:tblGrid>
                <a:gridCol w="1745406"/>
                <a:gridCol w="1745406"/>
                <a:gridCol w="174540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필요한 조건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w2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w1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w1 + w2 + 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1" name="Rounded Rectangle 10"/>
          <p:cNvSpPr/>
          <p:nvPr/>
        </p:nvSpPr>
        <p:spPr>
          <a:xfrm>
            <a:off x="6059180" y="1408176"/>
            <a:ext cx="5672571" cy="4242816"/>
          </a:xfrm>
          <a:prstGeom prst="roundRect">
            <a:avLst>
              <a:gd name="adj" fmla="val 215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23772" y="1536192"/>
            <a:ext cx="5343387"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모순 찾기</a:t>
            </a:r>
          </a:p>
        </p:txBody>
      </p:sp>
      <p:sp>
        <p:nvSpPr>
          <p:cNvPr id="13" name="TextBox 12"/>
          <p:cNvSpPr txBox="1"/>
          <p:nvPr/>
        </p:nvSpPr>
        <p:spPr>
          <a:xfrm>
            <a:off x="6223772" y="1993392"/>
            <a:ext cx="5343387" cy="3529584"/>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가운데 두 식을 더하면</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w1 + w2 + 2b ≥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 w1 + w2 + b ≥ −b</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b &lt; 0 이므로 −b &gt;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 w1 + w2 + b </a:t>
            </a:r>
            <a:r>
              <a:rPr sz="1700" b="1">
                <a:solidFill>
                  <a:srgbClr val="1B2A36"/>
                </a:solidFill>
                <a:latin typeface="맑은 고딕"/>
                <a:ea typeface="맑은 고딕"/>
                <a:cs typeface="맑은 고딕"/>
              </a:rPr>
              <a:t>&gt;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하지만 넷째 조건은 </a:t>
            </a:r>
            <a:r>
              <a:rPr sz="1700" b="1">
                <a:solidFill>
                  <a:srgbClr val="1B2A36"/>
                </a:solidFill>
                <a:latin typeface="맑은 고딕"/>
                <a:ea typeface="맑은 고딕"/>
                <a:cs typeface="맑은 고딕"/>
              </a:rPr>
              <a:t>&lt; 0</a:t>
            </a:r>
            <a:r>
              <a:rPr sz="1700" b="0">
                <a:solidFill>
                  <a:srgbClr val="1B2A36"/>
                </a:solidFill>
                <a:latin typeface="맑은 고딕"/>
                <a:ea typeface="맑은 고딕"/>
                <a:cs typeface="맑은 고딕"/>
              </a:rPr>
              <a:t> → </a:t>
            </a:r>
            <a:r>
              <a:rPr sz="1700" b="1">
                <a:solidFill>
                  <a:srgbClr val="E97132"/>
                </a:solidFill>
                <a:latin typeface="맑은 고딕"/>
                <a:ea typeface="맑은 고딕"/>
                <a:cs typeface="맑은 고딕"/>
              </a:rPr>
              <a:t>모순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실험: 직선의 최선은 3/4</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왼쪽: 직선 w = (1, 1), b = −0.5</a:t>
            </a:r>
          </a:p>
          <a:p>
            <a:pPr algn="l" marL="566928" indent="-237744">
              <a:lnSpc>
                <a:spcPct val="110000"/>
              </a:lnSpc>
              <a:spcBef>
                <a:spcPts val="0"/>
              </a:spcBef>
              <a:spcAft>
                <a:spcPts val="775"/>
              </a:spcAft>
              <a:buClr>
                <a:srgbClr val="01688F"/>
              </a:buClr>
              <a:buFont typeface="Arial"/>
              <a:buChar char="-"/>
            </a:pPr>
            <a:r>
              <a:rPr sz="1550" b="0">
                <a:solidFill>
                  <a:srgbClr val="1B2A36"/>
                </a:solidFill>
              </a:rPr>
              <a:t>(1, 1)을 틀림 → </a:t>
            </a:r>
            <a:r>
              <a:rPr sz="1550" b="1">
                <a:solidFill>
                  <a:srgbClr val="1B2A36"/>
                </a:solidFill>
              </a:rPr>
              <a:t>3/4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오른쪽: 비선형 함수</a:t>
            </a:r>
          </a:p>
          <a:p>
            <a:pPr algn="l" marL="566928" indent="-237744">
              <a:lnSpc>
                <a:spcPct val="110000"/>
              </a:lnSpc>
              <a:spcBef>
                <a:spcPts val="0"/>
              </a:spcBef>
              <a:spcAft>
                <a:spcPts val="775"/>
              </a:spcAft>
              <a:buClr>
                <a:srgbClr val="01688F"/>
              </a:buClr>
              <a:buFont typeface="Arial"/>
              <a:buChar char="-"/>
            </a:pPr>
            <a:r>
              <a:rPr sz="1550" b="0">
                <a:solidFill>
                  <a:srgbClr val="1B2A36"/>
                </a:solidFill>
              </a:rPr>
              <a:t>ReLU(s) − 2·ReLU(s − 1)</a:t>
            </a:r>
          </a:p>
          <a:p>
            <a:pPr algn="l" marL="566928" indent="-237744">
              <a:lnSpc>
                <a:spcPct val="110000"/>
              </a:lnSpc>
              <a:spcBef>
                <a:spcPts val="0"/>
              </a:spcBef>
              <a:spcAft>
                <a:spcPts val="775"/>
              </a:spcAft>
              <a:buClr>
                <a:srgbClr val="01688F"/>
              </a:buClr>
              <a:buFont typeface="Arial"/>
              <a:buChar char="-"/>
            </a:pPr>
            <a:r>
              <a:rPr sz="1550" b="0">
                <a:solidFill>
                  <a:srgbClr val="1B2A36"/>
                </a:solidFill>
              </a:rPr>
              <a:t>네 점 모두 → </a:t>
            </a:r>
            <a:r>
              <a:rPr sz="1550" b="1">
                <a:solidFill>
                  <a:srgbClr val="1B2A36"/>
                </a:solidFill>
              </a:rPr>
              <a:t>4/4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이 함수는 어디서 왔나? → Part 3</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경계는 기껏해야 세 점, 비선형 경계는 네 점 모두</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xor_experiment.png"/>
          <p:cNvPicPr>
            <a:picLocks noChangeAspect="1"/>
          </p:cNvPicPr>
          <p:nvPr/>
        </p:nvPicPr>
        <p:blipFill>
          <a:blip r:embed="rId3"/>
          <a:stretch>
            <a:fillRect/>
          </a:stretch>
        </p:blipFill>
        <p:spPr>
          <a:xfrm>
            <a:off x="457200" y="2189593"/>
            <a:ext cx="6791797" cy="34115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1969 『Perceptrons』와 그 이후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단층 Perceptron의 한계가 분석되었다 — 하지만 ‘AI 겨울’의 원인은 하나가 아니다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043684"/>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1958</a:t>
            </a:r>
          </a:p>
        </p:txBody>
      </p:sp>
      <p:sp>
        <p:nvSpPr>
          <p:cNvPr id="11" name="Oval 10"/>
          <p:cNvSpPr/>
          <p:nvPr/>
        </p:nvSpPr>
        <p:spPr>
          <a:xfrm>
            <a:off x="1701927"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Perceptron</a:t>
            </a:r>
          </a:p>
        </p:txBody>
      </p:sp>
      <p:sp>
        <p:nvSpPr>
          <p:cNvPr id="14" name="TextBox 13"/>
          <p:cNvSpPr txBox="1"/>
          <p:nvPr/>
        </p:nvSpPr>
        <p:spPr>
          <a:xfrm>
            <a:off x="530352"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가중치를 학습하는 단층 뉴런</a:t>
            </a:r>
          </a:p>
        </p:txBody>
      </p:sp>
      <p:sp>
        <p:nvSpPr>
          <p:cNvPr id="15" name="TextBox 14"/>
          <p:cNvSpPr txBox="1"/>
          <p:nvPr/>
        </p:nvSpPr>
        <p:spPr>
          <a:xfrm>
            <a:off x="3312414"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1969</a:t>
            </a:r>
          </a:p>
        </p:txBody>
      </p:sp>
      <p:sp>
        <p:nvSpPr>
          <p:cNvPr id="16" name="Oval 15"/>
          <p:cNvSpPr/>
          <p:nvPr/>
        </p:nvSpPr>
        <p:spPr>
          <a:xfrm>
            <a:off x="4557141" y="1956815"/>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340863"/>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『Perceptrons』</a:t>
            </a:r>
          </a:p>
        </p:txBody>
      </p:sp>
      <p:sp>
        <p:nvSpPr>
          <p:cNvPr id="19" name="TextBox 18"/>
          <p:cNvSpPr txBox="1"/>
          <p:nvPr/>
        </p:nvSpPr>
        <p:spPr>
          <a:xfrm>
            <a:off x="3385566"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Minsky &amp; Papert: 단층의 표현 한계(parity 등) 분석</a:t>
            </a:r>
          </a:p>
        </p:txBody>
      </p:sp>
      <p:sp>
        <p:nvSpPr>
          <p:cNvPr id="20" name="TextBox 19"/>
          <p:cNvSpPr txBox="1"/>
          <p:nvPr/>
        </p:nvSpPr>
        <p:spPr>
          <a:xfrm>
            <a:off x="6167628"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1970s–80s</a:t>
            </a:r>
          </a:p>
        </p:txBody>
      </p:sp>
      <p:sp>
        <p:nvSpPr>
          <p:cNvPr id="21" name="Oval 20"/>
          <p:cNvSpPr/>
          <p:nvPr/>
        </p:nvSpPr>
        <p:spPr>
          <a:xfrm>
            <a:off x="7412355"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규칙 기반 AI</a:t>
            </a:r>
          </a:p>
        </p:txBody>
      </p:sp>
      <p:sp>
        <p:nvSpPr>
          <p:cNvPr id="24" name="TextBox 23"/>
          <p:cNvSpPr txBox="1"/>
          <p:nvPr/>
        </p:nvSpPr>
        <p:spPr>
          <a:xfrm>
            <a:off x="6240780"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전문가 시스템(MYCIN, R1/XCON) — 사람이 지식을 규칙으로 작성</a:t>
            </a:r>
          </a:p>
        </p:txBody>
      </p:sp>
      <p:sp>
        <p:nvSpPr>
          <p:cNvPr id="25" name="TextBox 24"/>
          <p:cNvSpPr txBox="1"/>
          <p:nvPr/>
        </p:nvSpPr>
        <p:spPr>
          <a:xfrm>
            <a:off x="9022842"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1986</a:t>
            </a:r>
          </a:p>
        </p:txBody>
      </p:sp>
      <p:sp>
        <p:nvSpPr>
          <p:cNvPr id="26" name="Oval 25"/>
          <p:cNvSpPr/>
          <p:nvPr/>
        </p:nvSpPr>
        <p:spPr>
          <a:xfrm>
            <a:off x="10267569"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역전파 확산</a:t>
            </a:r>
          </a:p>
        </p:txBody>
      </p:sp>
      <p:sp>
        <p:nvSpPr>
          <p:cNvPr id="29" name="TextBox 28"/>
          <p:cNvSpPr txBox="1"/>
          <p:nvPr/>
        </p:nvSpPr>
        <p:spPr>
          <a:xfrm>
            <a:off x="9095994"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다층 신경망의 은닉 표현 학습 (→ Part 4)</a:t>
            </a:r>
          </a:p>
        </p:txBody>
      </p:sp>
      <p:sp>
        <p:nvSpPr>
          <p:cNvPr id="30" name="Rounded Rectangle 29"/>
          <p:cNvSpPr/>
          <p:nvPr/>
        </p:nvSpPr>
        <p:spPr>
          <a:xfrm>
            <a:off x="457200" y="4562856"/>
            <a:ext cx="11274552" cy="834390"/>
          </a:xfrm>
          <a:prstGeom prst="roundRect">
            <a:avLst>
              <a:gd name="adj" fmla="val 1095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“AI 겨울은 XOR 하나 때문?” → 아니다. 기술·연산·기대·투자·평가 등 여러 맥락을 분리해서 본다. 이 수업은 역사적 인과보다 ‘어떤 표현이 어떤 문제를 풀 수 있는가’를 직접 확인하는 데 집중한다.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MLP: 층을 쌓아 새 좌표 만들기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입력을 다른 좌표로 옮기면, 직선 하나로 나뉘지 않을까?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아이디어: 좌표를 바꾸면 직선으로 나뉜다</a:t>
            </a:r>
          </a:p>
        </p:txBody>
      </p:sp>
      <p:sp>
        <p:nvSpPr>
          <p:cNvPr id="3" name="Content Placeholder 2"/>
          <p:cNvSpPr>
            <a:spLocks noGrp="1"/>
          </p:cNvSpPr>
          <p:nvPr>
            <p:ph idx="1"/>
          </p:nvPr>
        </p:nvSpPr>
        <p:spPr>
          <a:xfrm>
            <a:off x="7349947" y="3785616"/>
            <a:ext cx="4381804" cy="259689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h1 = ReLU(x1 + x2)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h2 = ReLU(x1 + x2 − 1)</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새 좌표에서는 </a:t>
            </a:r>
            <a:r>
              <a:rPr sz="1600" b="1">
                <a:solidFill>
                  <a:srgbClr val="1B2A36"/>
                </a:solidFill>
              </a:rPr>
              <a:t>직선 하나</a:t>
            </a:r>
            <a:r>
              <a:rPr sz="1600" b="0">
                <a:solidFill>
                  <a:srgbClr val="1B2A36"/>
                </a:solidFill>
              </a:rPr>
              <a:t>로 분리</a:t>
            </a:r>
          </a:p>
          <a:p>
            <a:pPr algn="l" marL="566928" indent="-237744">
              <a:lnSpc>
                <a:spcPct val="110000"/>
              </a:lnSpc>
              <a:spcBef>
                <a:spcPts val="0"/>
              </a:spcBef>
              <a:spcAft>
                <a:spcPts val="675"/>
              </a:spcAft>
              <a:buClr>
                <a:srgbClr val="01688F"/>
              </a:buClr>
              <a:buFont typeface="Arial"/>
              <a:buChar char="-"/>
            </a:pPr>
            <a:r>
              <a:rPr sz="1350" b="0">
                <a:solidFill>
                  <a:srgbClr val="1B2A36"/>
                </a:solidFill>
              </a:rPr>
              <a:t>h1 − 2·h2 = 0.5</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(0,1)과 (1,0)이 </a:t>
            </a:r>
            <a:r>
              <a:rPr sz="1600" b="1">
                <a:solidFill>
                  <a:srgbClr val="1B2A36"/>
                </a:solidFill>
              </a:rPr>
              <a:t>같은 점</a:t>
            </a:r>
            <a:r>
              <a:rPr sz="1600" b="0">
                <a:solidFill>
                  <a:srgbClr val="1B2A36"/>
                </a:solidFill>
              </a:rPr>
              <a:t>으로 모인다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은닉층 = 문제를 풀기 쉬운 새 좌표를 만드는 층</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hidden_space.png"/>
          <p:cNvPicPr>
            <a:picLocks noChangeAspect="1"/>
          </p:cNvPicPr>
          <p:nvPr/>
        </p:nvPicPr>
        <p:blipFill>
          <a:blip r:embed="rId3"/>
          <a:stretch>
            <a:fillRect/>
          </a:stretch>
        </p:blipFill>
        <p:spPr>
          <a:xfrm>
            <a:off x="457200" y="2438490"/>
            <a:ext cx="6572707" cy="2913707"/>
          </a:xfrm>
          <a:prstGeom prst="rect">
            <a:avLst/>
          </a:prstGeom>
        </p:spPr>
      </p:pic>
      <p:graphicFrame>
        <p:nvGraphicFramePr>
          <p:cNvPr id="10" name="Table 9"/>
          <p:cNvGraphicFramePr>
            <a:graphicFrameLocks noGrp="1"/>
          </p:cNvGraphicFramePr>
          <p:nvPr/>
        </p:nvGraphicFramePr>
        <p:xfrm>
          <a:off x="7349947" y="1408176"/>
          <a:ext cx="4381804" cy="1722120"/>
        </p:xfrm>
        <a:graphic>
          <a:graphicData uri="http://schemas.openxmlformats.org/drawingml/2006/table">
            <a:tbl>
              <a:tblPr firstRow="1" bandRow="0">
                <a:tableStyleId>{5940675A-B579-460E-94D1-54222C63F5DA}</a:tableStyleId>
              </a:tblPr>
              <a:tblGrid>
                <a:gridCol w="1095451"/>
                <a:gridCol w="1095451"/>
                <a:gridCol w="1095451"/>
                <a:gridCol w="1095451"/>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그런데 선형층만 쌓으면?</a:t>
            </a:r>
          </a:p>
        </p:txBody>
      </p:sp>
      <p:sp>
        <p:nvSpPr>
          <p:cNvPr id="3" name="Content Placeholder 2"/>
          <p:cNvSpPr>
            <a:spLocks noGrp="1"/>
          </p:cNvSpPr>
          <p:nvPr>
            <p:ph idx="1"/>
          </p:nvPr>
        </p:nvSpPr>
        <p:spPr>
          <a:xfrm>
            <a:off x="6781647" y="2688336"/>
            <a:ext cx="4950104" cy="369417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층을 100개 쌓아도 </a:t>
            </a:r>
            <a:r>
              <a:rPr sz="1800" b="1">
                <a:solidFill>
                  <a:srgbClr val="1B2A36"/>
                </a:solidFill>
              </a:rPr>
              <a:t>직선 하나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해결책: 층 사이에 </a:t>
            </a:r>
            <a:r>
              <a:rPr sz="1800" b="1">
                <a:solidFill>
                  <a:srgbClr val="1B2A36"/>
                </a:solidFill>
              </a:rPr>
              <a:t>비선형 함수</a:t>
            </a:r>
          </a:p>
          <a:p>
            <a:pPr algn="l" marL="566928" indent="-237744">
              <a:lnSpc>
                <a:spcPct val="110000"/>
              </a:lnSpc>
              <a:spcBef>
                <a:spcPts val="0"/>
              </a:spcBef>
              <a:spcAft>
                <a:spcPts val="775"/>
              </a:spcAft>
              <a:buClr>
                <a:srgbClr val="01688F"/>
              </a:buClr>
              <a:buFont typeface="Arial"/>
              <a:buChar char="-"/>
            </a:pPr>
            <a:r>
              <a:rPr sz="1550" b="0">
                <a:solidFill>
                  <a:srgbClr val="1B2A36"/>
                </a:solidFill>
              </a:rPr>
              <a:t>= 활성화 함수 (activation)</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직선을 ‘구부리는 관절’ 역할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변환을 여러 번 합성해도 결국 선형 변환 하나 — 직선은 직선이다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11274552" cy="1005840"/>
          </a:xfrm>
          <a:prstGeom prst="roundRect">
            <a:avLst>
              <a:gd name="adj" fmla="val 909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00584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(x W1 + b1) W2 + b2  =  x (W1 W2) + (b1 W2 + b2)</a:t>
            </a:r>
          </a:p>
          <a:p>
            <a:pPr algn="ctr" marL="0" indent="0">
              <a:buNone/>
            </a:pPr>
            <a:r>
              <a:rPr sz="2100" b="1">
                <a:solidFill>
                  <a:srgbClr val="1B2A36"/>
                </a:solidFill>
                <a:latin typeface="Courier New"/>
                <a:ea typeface="맑은 고딕"/>
                <a:cs typeface="Courier New"/>
              </a:rPr>
              <a:t>=  x W' + b'    ← 선형층 하나와 같다</a:t>
            </a:r>
          </a:p>
        </p:txBody>
      </p:sp>
      <p:sp>
        <p:nvSpPr>
          <p:cNvPr id="11" name="Rounded Rectangle 10"/>
          <p:cNvSpPr/>
          <p:nvPr/>
        </p:nvSpPr>
        <p:spPr>
          <a:xfrm>
            <a:off x="457200" y="2688336"/>
            <a:ext cx="6050127"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798064"/>
            <a:ext cx="5830671"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l1 = torch.nn.Linear(2, 3)</a:t>
            </a:r>
          </a:p>
          <a:p>
            <a:pPr marL="0" indent="0">
              <a:lnSpc>
                <a:spcPct val="100000"/>
              </a:lnSpc>
              <a:buNone/>
            </a:pPr>
            <a:r>
              <a:rPr sz="1300">
                <a:solidFill>
                  <a:srgbClr val="1B2A36"/>
                </a:solidFill>
                <a:latin typeface="Courier New"/>
                <a:ea typeface="맑은 고딕"/>
                <a:cs typeface="Courier New"/>
              </a:rPr>
              <a:t>l2 = torch.nn.Linear(3, 1)</a:t>
            </a:r>
          </a:p>
          <a:p>
            <a:pPr marL="0" indent="0">
              <a:lnSpc>
                <a:spcPct val="100000"/>
              </a:lnSpc>
              <a:buNone/>
            </a:pPr>
            <a:r>
              <a:rPr sz="1300">
                <a:solidFill>
                  <a:srgbClr val="1B2A36"/>
                </a:solidFill>
                <a:latin typeface="Courier New"/>
                <a:ea typeface="맑은 고딕"/>
                <a:cs typeface="Courier New"/>
              </a:rPr>
              <a:t>W = l1.weight.T @ l2.weight.T      </a:t>
            </a:r>
            <a:r>
              <a:rPr sz="1300">
                <a:solidFill>
                  <a:srgbClr val="3F8A6E"/>
                </a:solidFill>
                <a:latin typeface="Courier New"/>
                <a:ea typeface="맑은 고딕"/>
                <a:cs typeface="Courier New"/>
              </a:rPr>
              <a:t># 합친 행렬</a:t>
            </a:r>
          </a:p>
          <a:p>
            <a:pPr marL="0" indent="0">
              <a:lnSpc>
                <a:spcPct val="100000"/>
              </a:lnSpc>
              <a:buNone/>
            </a:pPr>
            <a:r>
              <a:rPr sz="1300">
                <a:solidFill>
                  <a:srgbClr val="1B2A36"/>
                </a:solidFill>
                <a:latin typeface="Courier New"/>
                <a:ea typeface="맑은 고딕"/>
                <a:cs typeface="Courier New"/>
              </a:rPr>
              <a:t>b = l1.bias @ l2.weight.T + l2.bias</a:t>
            </a:r>
          </a:p>
          <a:p>
            <a:pPr marL="0" indent="0">
              <a:lnSpc>
                <a:spcPct val="100000"/>
              </a:lnSpc>
              <a:buNone/>
            </a:pPr>
            <a:r>
              <a:rPr sz="1300">
                <a:solidFill>
                  <a:srgbClr val="1B2A36"/>
                </a:solidFill>
                <a:latin typeface="Courier New"/>
                <a:ea typeface="맑은 고딕"/>
                <a:cs typeface="Courier New"/>
              </a:rPr>
              <a:t>x = torch.randn(5, 2)</a:t>
            </a:r>
          </a:p>
          <a:p>
            <a:pPr marL="0" indent="0">
              <a:lnSpc>
                <a:spcPct val="100000"/>
              </a:lnSpc>
              <a:buNone/>
            </a:pPr>
            <a:r>
              <a:rPr sz="1300">
                <a:solidFill>
                  <a:srgbClr val="1B2A36"/>
                </a:solidFill>
                <a:latin typeface="Courier New"/>
                <a:ea typeface="맑은 고딕"/>
                <a:cs typeface="Courier New"/>
              </a:rPr>
              <a:t>print(torch.allclose(l2(l1(x)), x @ W + b))</a:t>
            </a:r>
          </a:p>
          <a:p>
            <a:pPr marL="0" indent="0">
              <a:lnSpc>
                <a:spcPct val="100000"/>
              </a:lnSpc>
              <a:buNone/>
            </a:pPr>
            <a:r>
              <a:rPr sz="1300">
                <a:solidFill>
                  <a:srgbClr val="3F8A6E"/>
                </a:solidFill>
                <a:latin typeface="Courier New"/>
                <a:ea typeface="맑은 고딕"/>
                <a:cs typeface="Courier New"/>
              </a:rPr>
              <a:t># True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활성화 함수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층 사이의 비선형 함수 — 모양보다 ‘기울기가 어떻게 전달되나’가 중요</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activations.png"/>
          <p:cNvPicPr>
            <a:picLocks noChangeAspect="1"/>
          </p:cNvPicPr>
          <p:nvPr/>
        </p:nvPicPr>
        <p:blipFill>
          <a:blip r:embed="rId3"/>
          <a:stretch>
            <a:fillRect/>
          </a:stretch>
        </p:blipFill>
        <p:spPr>
          <a:xfrm>
            <a:off x="2128050" y="1408176"/>
            <a:ext cx="7932851" cy="2926080"/>
          </a:xfrm>
          <a:prstGeom prst="rect">
            <a:avLst/>
          </a:prstGeom>
        </p:spPr>
      </p:pic>
      <p:graphicFrame>
        <p:nvGraphicFramePr>
          <p:cNvPr id="10" name="Table 9"/>
          <p:cNvGraphicFramePr>
            <a:graphicFrameLocks noGrp="1"/>
          </p:cNvGraphicFramePr>
          <p:nvPr/>
        </p:nvGraphicFramePr>
        <p:xfrm>
          <a:off x="457200" y="4562856"/>
          <a:ext cx="11274552" cy="1652016"/>
        </p:xfrm>
        <a:graphic>
          <a:graphicData uri="http://schemas.openxmlformats.org/drawingml/2006/table">
            <a:tbl>
              <a:tblPr firstRow="1" bandRow="0">
                <a:tableStyleId>{5940675A-B579-460E-94D1-54222C63F5DA}</a:tableStyleId>
              </a:tblPr>
              <a:tblGrid>
                <a:gridCol w="2818638"/>
                <a:gridCol w="2818638"/>
                <a:gridCol w="2818638"/>
                <a:gridCol w="2818638"/>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출력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기울기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sigmoid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0.25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tanh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(e^z − e^−z)/(e^z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ReLU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max(0,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또는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손으로 만든 XOR 해</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은닉 유닛 2개 + 출력 가중치 (1, −2)</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 </a:t>
            </a:r>
            <a:r>
              <a:rPr sz="1800" b="1">
                <a:solidFill>
                  <a:srgbClr val="1B2A36"/>
                </a:solidFill>
              </a:rPr>
              <a:t>MLP</a:t>
            </a:r>
            <a:r>
              <a:rPr sz="1800" b="0">
                <a:solidFill>
                  <a:srgbClr val="1B2A36"/>
                </a:solidFill>
              </a:rPr>
              <a:t> (Multi-Layer Perceptron)</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존재한다 ≠ 학습으로 찾는다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‘표현 가능’과 ‘학습 가능’은 다른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ReLU 두 개를 조합하면 XOR을 정확히 표현한다 — 학습 결과가 아니라 직접 구성한 해</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f(x) = ReLU(s) − 2 · ReLU(s − 1),     s = x1 + x2</a:t>
            </a:r>
          </a:p>
        </p:txBody>
      </p:sp>
      <p:graphicFrame>
        <p:nvGraphicFramePr>
          <p:cNvPr id="11" name="Table 10"/>
          <p:cNvGraphicFramePr>
            <a:graphicFrameLocks noGrp="1"/>
          </p:cNvGraphicFramePr>
          <p:nvPr/>
        </p:nvGraphicFramePr>
        <p:xfrm>
          <a:off x="457200" y="2596896"/>
          <a:ext cx="5999832" cy="2331718"/>
        </p:xfrm>
        <a:graphic>
          <a:graphicData uri="http://schemas.openxmlformats.org/drawingml/2006/table">
            <a:tbl>
              <a:tblPr firstRow="1" bandRow="0">
                <a:tableStyleId>{5940675A-B579-460E-94D1-54222C63F5DA}</a:tableStyleId>
              </a:tblPr>
              <a:tblGrid>
                <a:gridCol w="1164147"/>
                <a:gridCol w="537298"/>
                <a:gridCol w="1074597"/>
                <a:gridCol w="1253696"/>
                <a:gridCol w="1253696"/>
                <a:gridCol w="716398"/>
              </a:tblGrid>
              <a:tr h="603503">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(x1, 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2 − 2 = </a:t>
                      </a:r>
                      <a:r>
                        <a:rPr sz="15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MLP의 구조와 shape</a:t>
            </a:r>
          </a:p>
        </p:txBody>
      </p:sp>
      <p:sp>
        <p:nvSpPr>
          <p:cNvPr id="3" name="Content Placeholder 2"/>
          <p:cNvSpPr>
            <a:spLocks noGrp="1"/>
          </p:cNvSpPr>
          <p:nvPr>
            <p:ph idx="1"/>
          </p:nvPr>
        </p:nvSpPr>
        <p:spPr>
          <a:xfrm>
            <a:off x="457200" y="4882896"/>
            <a:ext cx="5454396" cy="1499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파라미터: W1 (2, m), b1 (m,), W2 (m, 1), b2 (1,)</a:t>
            </a:r>
          </a:p>
          <a:p>
            <a:pPr algn="l" marL="566928" indent="-237744">
              <a:lnSpc>
                <a:spcPct val="110000"/>
              </a:lnSpc>
              <a:spcBef>
                <a:spcPts val="0"/>
              </a:spcBef>
              <a:spcAft>
                <a:spcPts val="675"/>
              </a:spcAft>
              <a:buClr>
                <a:srgbClr val="01688F"/>
              </a:buClr>
              <a:buFont typeface="Arial"/>
              <a:buChar char="-"/>
            </a:pPr>
            <a:r>
              <a:rPr sz="1350" b="0">
                <a:solidFill>
                  <a:srgbClr val="1B2A36"/>
                </a:solidFill>
              </a:rPr>
              <a:t>총 4m + 1개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 비선형 → 선형. 배치 B개를 한 번에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입력 x</a:t>
            </a:r>
          </a:p>
        </p:txBody>
      </p:sp>
      <p:sp>
        <p:nvSpPr>
          <p:cNvPr id="11" name="TextBox 10"/>
          <p:cNvSpPr txBox="1"/>
          <p:nvPr/>
        </p:nvSpPr>
        <p:spPr>
          <a:xfrm>
            <a:off x="548640"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a:t>
            </a:r>
          </a:p>
        </p:txBody>
      </p:sp>
      <p:cxnSp>
        <p:nvCxnSpPr>
          <p:cNvPr id="12" name="Connector 11"/>
          <p:cNvCxnSpPr/>
          <p:nvPr/>
        </p:nvCxnSpPr>
        <p:spPr>
          <a:xfrm>
            <a:off x="2501798"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6118"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7558"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W1, b1</a:t>
            </a:r>
          </a:p>
        </p:txBody>
      </p:sp>
      <p:sp>
        <p:nvSpPr>
          <p:cNvPr id="15" name="TextBox 14"/>
          <p:cNvSpPr txBox="1"/>
          <p:nvPr/>
        </p:nvSpPr>
        <p:spPr>
          <a:xfrm>
            <a:off x="2867558"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 → (B, m)</a:t>
            </a:r>
          </a:p>
        </p:txBody>
      </p:sp>
      <p:cxnSp>
        <p:nvCxnSpPr>
          <p:cNvPr id="16" name="Connector 15"/>
          <p:cNvCxnSpPr/>
          <p:nvPr/>
        </p:nvCxnSpPr>
        <p:spPr>
          <a:xfrm>
            <a:off x="4820716"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5036" y="140817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6476"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ReLU</a:t>
            </a:r>
          </a:p>
        </p:txBody>
      </p:sp>
      <p:sp>
        <p:nvSpPr>
          <p:cNvPr id="19" name="TextBox 18"/>
          <p:cNvSpPr txBox="1"/>
          <p:nvPr/>
        </p:nvSpPr>
        <p:spPr>
          <a:xfrm>
            <a:off x="5186476"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비선형</a:t>
            </a:r>
          </a:p>
        </p:txBody>
      </p:sp>
      <p:cxnSp>
        <p:nvCxnSpPr>
          <p:cNvPr id="20" name="Connector 19"/>
          <p:cNvCxnSpPr/>
          <p:nvPr/>
        </p:nvCxnSpPr>
        <p:spPr>
          <a:xfrm>
            <a:off x="7139635"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13955"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5395"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W2, b2</a:t>
            </a:r>
          </a:p>
        </p:txBody>
      </p:sp>
      <p:sp>
        <p:nvSpPr>
          <p:cNvPr id="23" name="TextBox 22"/>
          <p:cNvSpPr txBox="1"/>
          <p:nvPr/>
        </p:nvSpPr>
        <p:spPr>
          <a:xfrm>
            <a:off x="7505395"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 (B, 1)</a:t>
            </a:r>
          </a:p>
        </p:txBody>
      </p:sp>
      <p:cxnSp>
        <p:nvCxnSpPr>
          <p:cNvPr id="24" name="Connector 23"/>
          <p:cNvCxnSpPr/>
          <p:nvPr/>
        </p:nvCxnSpPr>
        <p:spPr>
          <a:xfrm>
            <a:off x="9458553"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732873" y="140817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4313"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출력 ŷ</a:t>
            </a:r>
          </a:p>
        </p:txBody>
      </p:sp>
      <p:sp>
        <p:nvSpPr>
          <p:cNvPr id="27" name="TextBox 26"/>
          <p:cNvSpPr txBox="1"/>
          <p:nvPr/>
        </p:nvSpPr>
        <p:spPr>
          <a:xfrm>
            <a:off x="9824313"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1)</a:t>
            </a:r>
          </a:p>
        </p:txBody>
      </p:sp>
      <p:sp>
        <p:nvSpPr>
          <p:cNvPr id="28" name="Rounded Rectangle 27"/>
          <p:cNvSpPr/>
          <p:nvPr/>
        </p:nvSpPr>
        <p:spPr>
          <a:xfrm>
            <a:off x="457200" y="3419856"/>
            <a:ext cx="5454396" cy="1280160"/>
          </a:xfrm>
          <a:prstGeom prst="roundRect">
            <a:avLst>
              <a:gd name="adj" fmla="val 7142"/>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3419856"/>
            <a:ext cx="5180076" cy="128016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h = ReLU(x W1 + b1)</a:t>
            </a:r>
          </a:p>
          <a:p>
            <a:pPr algn="ctr" marL="0" indent="0">
              <a:buNone/>
            </a:pPr>
            <a:r>
              <a:rPr sz="2200" b="1">
                <a:solidFill>
                  <a:srgbClr val="1B2A36"/>
                </a:solidFill>
                <a:latin typeface="Courier New"/>
                <a:ea typeface="맑은 고딕"/>
                <a:cs typeface="Courier New"/>
              </a:rPr>
              <a:t>ŷ = h W2 + b2</a:t>
            </a:r>
          </a:p>
        </p:txBody>
      </p:sp>
      <p:sp>
        <p:nvSpPr>
          <p:cNvPr id="30" name="Rounded Rectangle 29"/>
          <p:cNvSpPr/>
          <p:nvPr/>
        </p:nvSpPr>
        <p:spPr>
          <a:xfrm>
            <a:off x="6277356" y="3419856"/>
            <a:ext cx="5454396" cy="937259"/>
          </a:xfrm>
          <a:prstGeom prst="roundRect">
            <a:avLst>
              <a:gd name="adj" fmla="val 975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60"/>
              </a:spcAft>
              <a:buNone/>
            </a:pPr>
            <a:r>
              <a:rPr sz="1800" b="0">
                <a:solidFill>
                  <a:srgbClr val="1B2A36"/>
                </a:solidFill>
                <a:latin typeface="맑은 고딕"/>
                <a:ea typeface="맑은 고딕"/>
                <a:cs typeface="맑은 고딕"/>
              </a:rPr>
              <a:t>6주차 연결: Transformer의 </a:t>
            </a:r>
            <a:r>
              <a:rPr sz="1800" b="1">
                <a:solidFill>
                  <a:srgbClr val="1B2A36"/>
                </a:solidFill>
                <a:latin typeface="맑은 고딕"/>
                <a:ea typeface="맑은 고딕"/>
                <a:cs typeface="맑은 고딕"/>
              </a:rPr>
              <a:t>FFN</a:t>
            </a:r>
            <a:r>
              <a:rPr sz="1800" b="0">
                <a:solidFill>
                  <a:srgbClr val="1B2A36"/>
                </a:solidFill>
                <a:latin typeface="맑은 고딕"/>
                <a:ea typeface="맑은 고딕"/>
                <a:cs typeface="맑은 고딕"/>
              </a:rPr>
              <a:t>은 이 MLP를 </a:t>
            </a:r>
            <a:r>
              <a:rPr sz="1800" b="1">
                <a:solidFill>
                  <a:srgbClr val="1B2A36"/>
                </a:solidFill>
                <a:latin typeface="맑은 고딕"/>
                <a:ea typeface="맑은 고딕"/>
                <a:cs typeface="맑은 고딕"/>
              </a:rPr>
              <a:t>토큰마다</a:t>
            </a:r>
            <a:r>
              <a:rPr sz="1800" b="0">
                <a:solidFill>
                  <a:srgbClr val="1B2A36"/>
                </a:solidFill>
                <a:latin typeface="맑은 고딕"/>
                <a:ea typeface="맑은 고딕"/>
                <a:cs typeface="맑은 고딕"/>
              </a:rPr>
              <a:t> 적용한다 (d → d_ff → 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역전파: 은닉층은 무엇을 기준으로 배우나 (1986)</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정답은 출력에만 있다 — 은닉층 가중치의 책임은 어떻게 계산할까?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책임 나누기 문제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출력의 오차는 알지만, 은닉층 가중치가 얼마나 책임이 있는지는 간접적이다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방법 1 · 하나씩 흔들어 보기</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가중치 하나를 +0.001 → 손실 변화 측정</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파라미터 P개면 forward </a:t>
            </a:r>
            <a:r>
              <a:rPr sz="1700" b="1">
                <a:solidFill>
                  <a:srgbClr val="1B2A36"/>
                </a:solidFill>
                <a:latin typeface="맑은 고딕"/>
                <a:ea typeface="맑은 고딕"/>
                <a:cs typeface="맑은 고딕"/>
              </a:rPr>
              <a:t>P + 1번</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GPT급 모델(수십억 개)이면 불가능</a:t>
            </a:r>
          </a:p>
        </p:txBody>
      </p:sp>
      <p:sp>
        <p:nvSpPr>
          <p:cNvPr id="12" name="Rounded Rectangle 11"/>
          <p:cNvSpPr/>
          <p:nvPr/>
        </p:nvSpPr>
        <p:spPr>
          <a:xfrm>
            <a:off x="6208776" y="1408176"/>
            <a:ext cx="5522976"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방법 2 · 역전파</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forward </a:t>
            </a:r>
            <a:r>
              <a:rPr sz="1700" b="1">
                <a:solidFill>
                  <a:srgbClr val="1B2A36"/>
                </a:solidFill>
                <a:latin typeface="맑은 고딕"/>
                <a:ea typeface="맑은 고딕"/>
                <a:cs typeface="맑은 고딕"/>
              </a:rPr>
              <a:t>1번</a:t>
            </a:r>
            <a:r>
              <a:rPr sz="1700" b="0">
                <a:solidFill>
                  <a:srgbClr val="1B2A36"/>
                </a:solidFill>
                <a:latin typeface="맑은 고딕"/>
                <a:ea typeface="맑은 고딕"/>
                <a:cs typeface="맑은 고딕"/>
              </a:rPr>
              <a:t> + backward </a:t>
            </a:r>
            <a:r>
              <a:rPr sz="1700" b="1">
                <a:solidFill>
                  <a:srgbClr val="1B2A36"/>
                </a:solidFill>
                <a:latin typeface="맑은 고딕"/>
                <a:ea typeface="맑은 고딕"/>
                <a:cs typeface="맑은 고딕"/>
              </a:rPr>
              <a:t>1번</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출력에서 입력 쪽으로 </a:t>
            </a:r>
            <a:r>
              <a:rPr sz="1700" b="1">
                <a:solidFill>
                  <a:srgbClr val="1B2A36"/>
                </a:solidFill>
                <a:latin typeface="맑은 고딕"/>
                <a:ea typeface="맑은 고딕"/>
                <a:cs typeface="맑은 고딕"/>
              </a:rPr>
              <a:t>연쇄법칙</a:t>
            </a:r>
            <a:r>
              <a:rPr sz="1700" b="0">
                <a:solidFill>
                  <a:srgbClr val="1B2A36"/>
                </a:solidFill>
                <a:latin typeface="맑은 고딕"/>
                <a:ea typeface="맑은 고딕"/>
                <a:cs typeface="맑은 고딕"/>
              </a:rPr>
              <a:t>을 따라감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모든 파라미터의 기울기를 한꺼번에</a:t>
            </a:r>
          </a:p>
        </p:txBody>
      </p:sp>
      <p:sp>
        <p:nvSpPr>
          <p:cNvPr id="15" name="Rounded Rectangle 14"/>
          <p:cNvSpPr/>
          <p:nvPr/>
        </p:nvSpPr>
        <p:spPr>
          <a:xfrm>
            <a:off x="457200" y="367398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핵심 도구는 고등학교 미분의 </a:t>
            </a:r>
            <a:r>
              <a:rPr sz="1700" b="1">
                <a:solidFill>
                  <a:srgbClr val="FFFFFF"/>
                </a:solidFill>
                <a:latin typeface="맑은 고딕"/>
                <a:ea typeface="맑은 고딕"/>
                <a:cs typeface="맑은 고딕"/>
              </a:rPr>
              <a:t>연쇄법칙</a:t>
            </a:r>
            <a:r>
              <a:rPr sz="1700" b="1">
                <a:solidFill>
                  <a:srgbClr val="FFFFFF"/>
                </a:solidFill>
                <a:latin typeface="맑은 고딕"/>
                <a:ea typeface="맑은 고딕"/>
                <a:cs typeface="맑은 고딕"/>
              </a:rPr>
              <a:t> 하나다.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연쇄법칙: 변화율은 곱해진다</a:t>
            </a:r>
          </a:p>
        </p:txBody>
      </p:sp>
      <p:sp>
        <p:nvSpPr>
          <p:cNvPr id="3" name="Content Placeholder 2"/>
          <p:cNvSpPr>
            <a:spLocks noGrp="1"/>
          </p:cNvSpPr>
          <p:nvPr>
            <p:ph idx="1"/>
          </p:nvPr>
        </p:nvSpPr>
        <p:spPr>
          <a:xfrm>
            <a:off x="457200" y="4757927"/>
            <a:ext cx="11274552" cy="1624584"/>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역전파 = 이 곱셈을 </a:t>
            </a:r>
            <a:r>
              <a:rPr sz="1700" b="1">
                <a:solidFill>
                  <a:srgbClr val="1B2A36"/>
                </a:solidFill>
              </a:rPr>
              <a:t>출력 쪽부터</a:t>
            </a:r>
            <a:r>
              <a:rPr sz="1700" b="0">
                <a:solidFill>
                  <a:srgbClr val="1B2A36"/>
                </a:solidFill>
              </a:rPr>
              <a:t> 차례로, </a:t>
            </a:r>
            <a:r>
              <a:rPr sz="1700" b="1">
                <a:solidFill>
                  <a:srgbClr val="1B2A36"/>
                </a:solidFill>
              </a:rPr>
              <a:t>중간 결과를 재사용</a:t>
            </a:r>
            <a:r>
              <a:rPr sz="1700" b="0">
                <a:solidFill>
                  <a:srgbClr val="1B2A36"/>
                </a:solidFill>
              </a:rPr>
              <a:t>하며 계산하는 방법</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A가 B를, B가 C를 바꾸면 — A가 C를 바꾸는 비율은 두 비율의 곱</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∂L/∂w = ∂L/∂ŷ × ∂ŷ/∂h × ∂h/∂w</a:t>
            </a:r>
          </a:p>
        </p:txBody>
      </p:sp>
      <p:sp>
        <p:nvSpPr>
          <p:cNvPr id="11" name="Rounded Rectangle 10"/>
          <p:cNvSpPr/>
          <p:nvPr/>
        </p:nvSpPr>
        <p:spPr>
          <a:xfrm>
            <a:off x="457200" y="2642615"/>
            <a:ext cx="5522976" cy="1840991"/>
          </a:xfrm>
          <a:prstGeom prst="roundRect">
            <a:avLst>
              <a:gd name="adj" fmla="val 496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7063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톱니바퀴 비유</a:t>
            </a:r>
          </a:p>
        </p:txBody>
      </p:sp>
      <p:sp>
        <p:nvSpPr>
          <p:cNvPr id="13" name="TextBox 12"/>
          <p:cNvSpPr txBox="1"/>
          <p:nvPr/>
        </p:nvSpPr>
        <p:spPr>
          <a:xfrm>
            <a:off x="621792"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 1칸 → B 2칸, B 1칸 → C 3칸</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 1칸 → C </a:t>
            </a:r>
            <a:r>
              <a:rPr sz="1600" b="1">
                <a:solidFill>
                  <a:srgbClr val="1B2A36"/>
                </a:solidFill>
                <a:latin typeface="맑은 고딕"/>
                <a:ea typeface="맑은 고딕"/>
                <a:cs typeface="맑은 고딕"/>
              </a:rPr>
              <a:t>2 × 3 = 6칸</a:t>
            </a:r>
          </a:p>
        </p:txBody>
      </p:sp>
      <p:sp>
        <p:nvSpPr>
          <p:cNvPr id="14" name="Rounded Rectangle 13"/>
          <p:cNvSpPr/>
          <p:nvPr/>
        </p:nvSpPr>
        <p:spPr>
          <a:xfrm>
            <a:off x="6208776" y="2642615"/>
            <a:ext cx="5522976" cy="1840991"/>
          </a:xfrm>
          <a:prstGeom prst="roundRect">
            <a:avLst>
              <a:gd name="adj" fmla="val 4966"/>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277063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지난주 예제로 확인</a:t>
            </a:r>
          </a:p>
        </p:txBody>
      </p:sp>
      <p:sp>
        <p:nvSpPr>
          <p:cNvPr id="16" name="TextBox 15"/>
          <p:cNvSpPr txBox="1"/>
          <p:nvPr/>
        </p:nvSpPr>
        <p:spPr>
          <a:xfrm>
            <a:off x="6373368"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ŷ = wx, L = ½(ŷ − y)², x=2, y=6, w=1</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∂L/∂ŷ = ŷ − y = −4,  ∂ŷ/∂w = x = 2</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∂L/∂w = −4 × 2 = </a:t>
            </a:r>
            <a:r>
              <a:rPr sz="1600" b="1">
                <a:solidFill>
                  <a:srgbClr val="1B2A36"/>
                </a:solidFill>
                <a:latin typeface="맑은 고딕"/>
                <a:ea typeface="맑은 고딕"/>
                <a:cs typeface="맑은 고딕"/>
              </a:rPr>
              <a:t>−8</a:t>
            </a:r>
            <a:r>
              <a:rPr sz="1600" b="0">
                <a:solidFill>
                  <a:srgbClr val="1B2A36"/>
                </a:solidFill>
                <a:latin typeface="맑은 고딕"/>
                <a:ea typeface="맑은 고딕"/>
                <a:cs typeface="맑은 고딕"/>
              </a:rPr>
              <a:t> (1주차와 같다)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예제 MLP: forward</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 → 은닉 → 출력 → 손실. 각 단계의 값을 저장해 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graph.png"/>
          <p:cNvPicPr>
            <a:picLocks noChangeAspect="1"/>
          </p:cNvPicPr>
          <p:nvPr/>
        </p:nvPicPr>
        <p:blipFill>
          <a:blip r:embed="rId3"/>
          <a:stretch>
            <a:fillRect/>
          </a:stretch>
        </p:blipFill>
        <p:spPr>
          <a:xfrm>
            <a:off x="3051965" y="1408176"/>
            <a:ext cx="6085021" cy="2651760"/>
          </a:xfrm>
          <a:prstGeom prst="rect">
            <a:avLst/>
          </a:prstGeom>
        </p:spPr>
      </p:pic>
      <p:graphicFrame>
        <p:nvGraphicFramePr>
          <p:cNvPr id="10" name="Table 9"/>
          <p:cNvGraphicFramePr>
            <a:graphicFrameLocks noGrp="1"/>
          </p:cNvGraphicFramePr>
          <p:nvPr/>
        </p:nvGraphicFramePr>
        <p:xfrm>
          <a:off x="457200" y="4242816"/>
          <a:ext cx="11274550" cy="1798320"/>
        </p:xfrm>
        <a:graphic>
          <a:graphicData uri="http://schemas.openxmlformats.org/drawingml/2006/table">
            <a:tbl>
              <a:tblPr firstRow="1" bandRow="0">
                <a:tableStyleId>{5940675A-B579-460E-94D1-54222C63F5DA}</a:tableStyleId>
              </a:tblPr>
              <a:tblGrid>
                <a:gridCol w="2909561"/>
                <a:gridCol w="5819123"/>
                <a:gridCol w="2545866"/>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z = x 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[1·1 + 1·0.5,  1·(−1) + 1·0.5]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h = ReLU(z)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음수는 0으로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ŷ = h 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1.5·2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 = ½(ŷ − y)²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½(3 − 2)²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Backward: 기울기를 거꾸로 전달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단계는 ‘위에서 받은 기울기 × 자기 국소 미분’만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각 노드는 ‘받은 기울기 × 국소 미분’만 알면 된다 — 그래서 아무리 깊어도 계산할 수 있다</a:t>
            </a:r>
          </a:p>
        </p:txBody>
      </p:sp>
      <p:graphicFrame>
        <p:nvGraphicFramePr>
          <p:cNvPr id="10" name="Table 9"/>
          <p:cNvGraphicFramePr>
            <a:graphicFrameLocks noGrp="1"/>
          </p:cNvGraphicFramePr>
          <p:nvPr/>
        </p:nvGraphicFramePr>
        <p:xfrm>
          <a:off x="457200" y="1408176"/>
          <a:ext cx="11274550" cy="2340864"/>
        </p:xfrm>
        <a:graphic>
          <a:graphicData uri="http://schemas.openxmlformats.org/drawingml/2006/table">
            <a:tbl>
              <a:tblPr firstRow="1" bandRow="0">
                <a:tableStyleId>{5940675A-B579-460E-94D1-54222C63F5DA}</a:tableStyleId>
              </a:tblPr>
              <a:tblGrid>
                <a:gridCol w="2147533"/>
                <a:gridCol w="6174159"/>
                <a:gridCol w="2952858"/>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거꾸로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규칙</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ŷ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∂L/∂ŷ × W2ᵀ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∂L/∂h × ReLU′(z)  (z &gt; 0 → 1, 아니면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hᵀ × ∂L/∂ŷ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xᵀ × ∂L/∂z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0], [2,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번의 업데이트</a:t>
            </a:r>
          </a:p>
        </p:txBody>
      </p:sp>
      <p:sp>
        <p:nvSpPr>
          <p:cNvPr id="3" name="Content Placeholder 2"/>
          <p:cNvSpPr>
            <a:spLocks noGrp="1"/>
          </p:cNvSpPr>
          <p:nvPr>
            <p:ph idx="1"/>
          </p:nvPr>
        </p:nvSpPr>
        <p:spPr>
          <a:xfrm>
            <a:off x="6277356" y="1408176"/>
            <a:ext cx="545439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정답 y = 2에 </a:t>
            </a:r>
            <a:r>
              <a:rPr sz="1800" b="1">
                <a:solidFill>
                  <a:srgbClr val="1B2A36"/>
                </a:solidFill>
              </a:rPr>
              <a:t>거의 도착</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두 번째 은닉 유닛(ReLU = 0)은 이번엔 변화 없음</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역전파는 기울기 </a:t>
            </a:r>
            <a:r>
              <a:rPr sz="1800" b="1">
                <a:solidFill>
                  <a:srgbClr val="1B2A36"/>
                </a:solidFill>
              </a:rPr>
              <a:t>계산</a:t>
            </a:r>
            <a:r>
              <a:rPr sz="1800" b="0">
                <a:solidFill>
                  <a:srgbClr val="1B2A36"/>
                </a:solidFill>
              </a:rPr>
              <a:t>, 갱신은 </a:t>
            </a:r>
            <a:r>
              <a:rPr sz="1800" b="1">
                <a:solidFill>
                  <a:srgbClr val="1B2A36"/>
                </a:solidFill>
              </a:rPr>
              <a:t>optimizer</a:t>
            </a:r>
            <a:r>
              <a:rPr sz="1800" b="0">
                <a:solidFill>
                  <a:srgbClr val="1B2A36"/>
                </a:solidFill>
              </a:rPr>
              <a:t> — 1주차 구분 그대로</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이 과정을 수천 번 반복 = 학습</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기울기를 받으면 지난주와 똑같이 W ← W − η·∇W</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5454396" cy="2331718"/>
        </p:xfrm>
        <a:graphic>
          <a:graphicData uri="http://schemas.openxmlformats.org/drawingml/2006/table">
            <a:tbl>
              <a:tblPr firstRow="1" bandRow="0">
                <a:tableStyleId>{5940675A-B579-460E-94D1-54222C63F5DA}</a:tableStyleId>
              </a:tblPr>
              <a:tblGrid>
                <a:gridCol w="1818132"/>
                <a:gridCol w="1818132"/>
                <a:gridCol w="1818132"/>
              </a:tblGrid>
              <a:tr h="603503">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후 (η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 [0.5,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[[0.8, −1], [0.3,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[[1.85],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2.035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손실 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0.0006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4334256"/>
            <a:ext cx="11274552"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forward → backward → update를 </a:t>
            </a:r>
            <a:r>
              <a:rPr sz="1600" b="1">
                <a:solidFill>
                  <a:srgbClr val="FFFFFF"/>
                </a:solidFill>
                <a:latin typeface="맑은 고딕"/>
                <a:ea typeface="맑은 고딕"/>
                <a:cs typeface="맑은 고딕"/>
              </a:rPr>
              <a:t>수천 번 반복</a:t>
            </a:r>
            <a:r>
              <a:rPr sz="1600" b="1">
                <a:solidFill>
                  <a:srgbClr val="FFFFFF"/>
                </a:solidFill>
                <a:latin typeface="맑은 고딕"/>
                <a:ea typeface="맑은 고딕"/>
                <a:cs typeface="맑은 고딕"/>
              </a:rPr>
              <a:t>하면 — 다음 장: 실제로 XOR을 학습시켜 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학습으로 XOR 찾기</a:t>
            </a:r>
          </a:p>
        </p:txBody>
      </p:sp>
      <p:sp>
        <p:nvSpPr>
          <p:cNvPr id="3" name="Content Placeholder 2"/>
          <p:cNvSpPr>
            <a:spLocks noGrp="1"/>
          </p:cNvSpPr>
          <p:nvPr>
            <p:ph idx="1"/>
          </p:nvPr>
        </p:nvSpPr>
        <p:spPr>
          <a:xfrm>
            <a:off x="7130856" y="3282696"/>
            <a:ext cx="4600895" cy="309981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설정: ReLU, BCE, SGD lr 0.5, 3000 step</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은닉 2개로도 해는 </a:t>
            </a:r>
            <a:r>
              <a:rPr sz="1500" b="1">
                <a:solidFill>
                  <a:srgbClr val="1B2A36"/>
                </a:solidFill>
              </a:rPr>
              <a:t>존재</a:t>
            </a:r>
            <a:r>
              <a:rPr sz="1500" b="0">
                <a:solidFill>
                  <a:srgbClr val="1B2A36"/>
                </a:solidFill>
              </a:rPr>
              <a:t>하지만 자주 못 찾는다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원인 예: ReLU가 0에 갇힌 유닛 → 기울기 0</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표현할 수 있다고 해서 항상 찾아지는 것은 아니다 — 은닉층 크기가 성공률을 바꾼다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mlp_trained.png"/>
          <p:cNvPicPr>
            <a:picLocks noChangeAspect="1"/>
          </p:cNvPicPr>
          <p:nvPr/>
        </p:nvPicPr>
        <p:blipFill>
          <a:blip r:embed="rId3"/>
          <a:stretch>
            <a:fillRect/>
          </a:stretch>
        </p:blipFill>
        <p:spPr>
          <a:xfrm>
            <a:off x="457200" y="2544939"/>
            <a:ext cx="6353616" cy="2700809"/>
          </a:xfrm>
          <a:prstGeom prst="rect">
            <a:avLst/>
          </a:prstGeom>
        </p:spPr>
      </p:pic>
      <p:graphicFrame>
        <p:nvGraphicFramePr>
          <p:cNvPr id="10" name="Table 9"/>
          <p:cNvGraphicFramePr>
            <a:graphicFrameLocks noGrp="1"/>
          </p:cNvGraphicFramePr>
          <p:nvPr/>
        </p:nvGraphicFramePr>
        <p:xfrm>
          <a:off x="7130856" y="1408176"/>
          <a:ext cx="4600894" cy="1560576"/>
        </p:xfrm>
        <a:graphic>
          <a:graphicData uri="http://schemas.openxmlformats.org/drawingml/2006/table">
            <a:tbl>
              <a:tblPr firstRow="1" bandRow="0">
                <a:tableStyleId>{5940675A-B579-460E-94D1-54222C63F5DA}</a:tableStyleId>
              </a:tblPr>
              <a:tblGrid>
                <a:gridCol w="2300447"/>
                <a:gridCol w="2300447"/>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은닉 유닛 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성공 (20회 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모델 부족인가, 학습 실패인가</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성능이 낮을 때 두 원인을 분리해서 점검한다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0" cy="1950720"/>
        </p:xfrm>
        <a:graphic>
          <a:graphicData uri="http://schemas.openxmlformats.org/drawingml/2006/table">
            <a:tbl>
              <a:tblPr firstRow="1" bandRow="0">
                <a:tableStyleId>{5940675A-B579-460E-94D1-54222C63F5DA}</a:tableStyleId>
              </a:tblPr>
              <a:tblGrid>
                <a:gridCol w="1610650"/>
                <a:gridCol w="4831950"/>
                <a:gridCol w="4831950"/>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모델이 부족 (표현력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학습이 실패 (최적화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어떤 파라미터로도 원하는 함수를 못 만든다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만들 수 있는 파라미터가 있는데 못 찾았다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단층 Perceptron으로 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은닉 2개 MLP가 XOR에서 실패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확인 방법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직접 해를 구성해 보기 · 이론적 분석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같은 모델로 해를 직접 넣어 보기 · 여러 seed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처방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구조를 바꾼다 (층, 비선형성)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구현 · 초기화 · 학습률 · 반복 수 · 크기 점검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425696"/>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수업 팁: 직접 구성한 XOR 해를 먼저 보여 준 뒤, 학습형 MLP가 실패하면 구현 · 초기화 · 학습률 · 반복 수를 차례로 점검하게 한다. 6주차 Transformer 실험에서도 같은 구분을 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역전파의 계보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1986년은 ‘발명’이 아니라 은닉 표현 학습을 보여주며 ‘확산’된 해</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043684"/>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a:t>
            </a:r>
          </a:p>
        </p:txBody>
      </p:sp>
      <p:sp>
        <p:nvSpPr>
          <p:cNvPr id="11" name="Oval 10"/>
          <p:cNvSpPr/>
          <p:nvPr/>
        </p:nvSpPr>
        <p:spPr>
          <a:xfrm>
            <a:off x="1701927"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Linnainmaa</a:t>
            </a:r>
          </a:p>
        </p:txBody>
      </p:sp>
      <p:sp>
        <p:nvSpPr>
          <p:cNvPr id="14" name="TextBox 13"/>
          <p:cNvSpPr txBox="1"/>
          <p:nvPr/>
        </p:nvSpPr>
        <p:spPr>
          <a:xfrm>
            <a:off x="530352"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역방향 자동 미분 (reverse-mode AD)의 아이디어</a:t>
            </a:r>
          </a:p>
        </p:txBody>
      </p:sp>
      <p:sp>
        <p:nvSpPr>
          <p:cNvPr id="15" name="TextBox 14"/>
          <p:cNvSpPr txBox="1"/>
          <p:nvPr/>
        </p:nvSpPr>
        <p:spPr>
          <a:xfrm>
            <a:off x="3312414"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1974</a:t>
            </a:r>
          </a:p>
        </p:txBody>
      </p:sp>
      <p:sp>
        <p:nvSpPr>
          <p:cNvPr id="16" name="Oval 15"/>
          <p:cNvSpPr/>
          <p:nvPr/>
        </p:nvSpPr>
        <p:spPr>
          <a:xfrm>
            <a:off x="4557141"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Werbos</a:t>
            </a:r>
          </a:p>
        </p:txBody>
      </p:sp>
      <p:sp>
        <p:nvSpPr>
          <p:cNvPr id="19" name="TextBox 18"/>
          <p:cNvSpPr txBox="1"/>
          <p:nvPr/>
        </p:nvSpPr>
        <p:spPr>
          <a:xfrm>
            <a:off x="3385566"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박사 논문: 신경망 학습에 적용 가능성 제시</a:t>
            </a:r>
          </a:p>
        </p:txBody>
      </p:sp>
      <p:sp>
        <p:nvSpPr>
          <p:cNvPr id="20" name="TextBox 19"/>
          <p:cNvSpPr txBox="1"/>
          <p:nvPr/>
        </p:nvSpPr>
        <p:spPr>
          <a:xfrm>
            <a:off x="6167628"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1986</a:t>
            </a:r>
          </a:p>
        </p:txBody>
      </p:sp>
      <p:sp>
        <p:nvSpPr>
          <p:cNvPr id="21" name="Oval 20"/>
          <p:cNvSpPr/>
          <p:nvPr/>
        </p:nvSpPr>
        <p:spPr>
          <a:xfrm>
            <a:off x="7412355" y="1956815"/>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340863"/>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Rumelhart · Hinton · Williams</a:t>
            </a:r>
          </a:p>
        </p:txBody>
      </p:sp>
      <p:sp>
        <p:nvSpPr>
          <p:cNvPr id="24" name="TextBox 23"/>
          <p:cNvSpPr txBox="1"/>
          <p:nvPr/>
        </p:nvSpPr>
        <p:spPr>
          <a:xfrm>
            <a:off x="6240780"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Nature 논문 — 은닉층이 </a:t>
            </a:r>
            <a:r>
              <a:rPr sz="1500" b="1">
                <a:solidFill>
                  <a:srgbClr val="1B2A36"/>
                </a:solidFill>
                <a:latin typeface="맑은 고딕"/>
                <a:ea typeface="맑은 고딕"/>
                <a:cs typeface="맑은 고딕"/>
              </a:rPr>
              <a:t>내부 표현</a:t>
            </a:r>
            <a:r>
              <a:rPr sz="1500" b="0">
                <a:solidFill>
                  <a:srgbClr val="1B2A36"/>
                </a:solidFill>
                <a:latin typeface="맑은 고딕"/>
                <a:ea typeface="맑은 고딕"/>
                <a:cs typeface="맑은 고딕"/>
              </a:rPr>
              <a:t>을 학습함을 보여주며 확산</a:t>
            </a:r>
          </a:p>
        </p:txBody>
      </p:sp>
      <p:sp>
        <p:nvSpPr>
          <p:cNvPr id="25" name="TextBox 24"/>
          <p:cNvSpPr txBox="1"/>
          <p:nvPr/>
        </p:nvSpPr>
        <p:spPr>
          <a:xfrm>
            <a:off x="9022842"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오늘</a:t>
            </a:r>
          </a:p>
        </p:txBody>
      </p:sp>
      <p:sp>
        <p:nvSpPr>
          <p:cNvPr id="26" name="Oval 25"/>
          <p:cNvSpPr/>
          <p:nvPr/>
        </p:nvSpPr>
        <p:spPr>
          <a:xfrm>
            <a:off x="10267569"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autograd</a:t>
            </a:r>
          </a:p>
        </p:txBody>
      </p:sp>
      <p:sp>
        <p:nvSpPr>
          <p:cNvPr id="29" name="TextBox 28"/>
          <p:cNvSpPr txBox="1"/>
          <p:nvPr/>
        </p:nvSpPr>
        <p:spPr>
          <a:xfrm>
            <a:off x="9095994"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PyTorch 등 모든 딥러닝 프레임워크의 핵심</a:t>
            </a:r>
          </a:p>
        </p:txBody>
      </p:sp>
      <p:sp>
        <p:nvSpPr>
          <p:cNvPr id="30" name="Rounded Rectangle 29"/>
          <p:cNvSpPr/>
          <p:nvPr/>
        </p:nvSpPr>
        <p:spPr>
          <a:xfrm>
            <a:off x="457200" y="4654296"/>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배울 것: 연쇄법칙, 계산 그래프, 그리고 ‘표현력’(무엇을 만들 수 있나)과 ‘학습 알고리즘’(어떻게 찾나)의 구분.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autograd로 확인</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requires_grad=True</a:t>
            </a:r>
            <a:r>
              <a:rPr sz="1800" b="0">
                <a:solidFill>
                  <a:srgbClr val="1B2A36"/>
                </a:solidFill>
              </a:rPr>
              <a:t>: 기울기를 추적</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forward 중 </a:t>
            </a:r>
            <a:r>
              <a:rPr sz="1800" b="1">
                <a:solidFill>
                  <a:srgbClr val="1B2A36"/>
                </a:solidFill>
              </a:rPr>
              <a:t>계산 그래프</a:t>
            </a:r>
            <a:r>
              <a:rPr sz="1800" b="0">
                <a:solidFill>
                  <a:srgbClr val="1B2A36"/>
                </a:solidFill>
              </a:rPr>
              <a:t> 기록</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backward()</a:t>
            </a:r>
            <a:r>
              <a:rPr sz="1800" b="0">
                <a:solidFill>
                  <a:srgbClr val="1B2A36"/>
                </a:solidFill>
              </a:rPr>
              <a:t>: 역전파로 </a:t>
            </a:r>
            <a:r>
              <a:rPr sz="1800" b="0">
                <a:solidFill>
                  <a:srgbClr val="1B2A36"/>
                </a:solidFill>
                <a:latin typeface="Courier New"/>
                <a:ea typeface="맑은 고딕"/>
                <a:cs typeface="Courier New"/>
              </a:rPr>
              <a:t>.grad</a:t>
            </a:r>
            <a:r>
              <a:rPr sz="1800" b="0">
                <a:solidFill>
                  <a:srgbClr val="1B2A36"/>
                </a:solidFill>
              </a:rPr>
              <a:t> 채움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갱신은 따로: </a:t>
            </a:r>
            <a:r>
              <a:rPr sz="1800" b="0">
                <a:solidFill>
                  <a:srgbClr val="1B2A36"/>
                </a:solidFill>
                <a:latin typeface="Courier New"/>
                <a:ea typeface="맑은 고딕"/>
                <a:cs typeface="Courier New"/>
              </a:rPr>
              <a:t>opt.step()</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loss.backward() 한 줄이 방금 손으로 한 backward 표 전체</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572707" cy="2782823"/>
          </a:xfrm>
          <a:prstGeom prst="roundRect">
            <a:avLst>
              <a:gd name="adj" fmla="val 197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353251" cy="2599943"/>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x  = torch.tensor([[1., 1.]])</a:t>
            </a:r>
          </a:p>
          <a:p>
            <a:pPr marL="0" indent="0">
              <a:lnSpc>
                <a:spcPct val="100000"/>
              </a:lnSpc>
              <a:buNone/>
            </a:pPr>
            <a:r>
              <a:rPr sz="1300">
                <a:solidFill>
                  <a:srgbClr val="1B2A36"/>
                </a:solidFill>
                <a:latin typeface="Courier New"/>
                <a:ea typeface="맑은 고딕"/>
                <a:cs typeface="Courier New"/>
              </a:rPr>
              <a:t>W1 = torch.tensor([[1., -1.], [0.5, 0.5]], requires_grad=True)</a:t>
            </a:r>
          </a:p>
          <a:p>
            <a:pPr marL="0" indent="0">
              <a:lnSpc>
                <a:spcPct val="100000"/>
              </a:lnSpc>
              <a:buNone/>
            </a:pPr>
            <a:r>
              <a:rPr sz="1300">
                <a:solidFill>
                  <a:srgbClr val="1B2A36"/>
                </a:solidFill>
                <a:latin typeface="Courier New"/>
                <a:ea typeface="맑은 고딕"/>
                <a:cs typeface="Courier New"/>
              </a:rPr>
              <a:t>W2 = torch.tensor([[2.], [1.]], requires_grad=True)</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h = torch.relu(x @ W1)        </a:t>
            </a:r>
            <a:r>
              <a:rPr sz="1300">
                <a:solidFill>
                  <a:srgbClr val="3F8A6E"/>
                </a:solidFill>
                <a:latin typeface="Courier New"/>
                <a:ea typeface="맑은 고딕"/>
                <a:cs typeface="Courier New"/>
              </a:rPr>
              <a:t># [[1.5, 0.0]]</a:t>
            </a:r>
          </a:p>
          <a:p>
            <a:pPr marL="0" indent="0">
              <a:lnSpc>
                <a:spcPct val="100000"/>
              </a:lnSpc>
              <a:buNone/>
            </a:pPr>
            <a:r>
              <a:rPr sz="1300">
                <a:solidFill>
                  <a:srgbClr val="1B2A36"/>
                </a:solidFill>
                <a:latin typeface="Courier New"/>
                <a:ea typeface="맑은 고딕"/>
                <a:cs typeface="Courier New"/>
              </a:rPr>
              <a:t>y_hat = h @ W2                </a:t>
            </a:r>
            <a:r>
              <a:rPr sz="1300">
                <a:solidFill>
                  <a:srgbClr val="3F8A6E"/>
                </a:solidFill>
                <a:latin typeface="Courier New"/>
                <a:ea typeface="맑은 고딕"/>
                <a:cs typeface="Courier New"/>
              </a:rPr>
              <a:t># [[3.0]]</a:t>
            </a:r>
          </a:p>
          <a:p>
            <a:pPr marL="0" indent="0">
              <a:lnSpc>
                <a:spcPct val="100000"/>
              </a:lnSpc>
              <a:buNone/>
            </a:pPr>
            <a:r>
              <a:rPr sz="1300">
                <a:solidFill>
                  <a:srgbClr val="1B2A36"/>
                </a:solidFill>
                <a:latin typeface="Courier New"/>
                <a:ea typeface="맑은 고딕"/>
                <a:cs typeface="Courier New"/>
              </a:rPr>
              <a:t>L = 0.5 * (y_hat - 2) ** 2    </a:t>
            </a:r>
            <a:r>
              <a:rPr sz="1300">
                <a:solidFill>
                  <a:srgbClr val="3F8A6E"/>
                </a:solidFill>
                <a:latin typeface="Courier New"/>
                <a:ea typeface="맑은 고딕"/>
                <a:cs typeface="Courier New"/>
              </a:rPr>
              <a:t># 0.5</a:t>
            </a:r>
          </a:p>
          <a:p>
            <a:pPr marL="0" indent="0">
              <a:lnSpc>
                <a:spcPct val="100000"/>
              </a:lnSpc>
              <a:buNone/>
            </a:pPr>
            <a:r>
              <a:rPr sz="1300">
                <a:solidFill>
                  <a:srgbClr val="1B2A36"/>
                </a:solidFill>
                <a:latin typeface="Courier New"/>
                <a:ea typeface="맑은 고딕"/>
                <a:cs typeface="Courier New"/>
              </a:rPr>
              <a:t>L.backward()</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print(W1.grad)  </a:t>
            </a:r>
            <a:r>
              <a:rPr sz="1300">
                <a:solidFill>
                  <a:srgbClr val="3F8A6E"/>
                </a:solidFill>
                <a:latin typeface="Courier New"/>
                <a:ea typeface="맑은 고딕"/>
                <a:cs typeface="Courier New"/>
              </a:rPr>
              <a:t># [[2., 0.], [2., 0.]]</a:t>
            </a:r>
          </a:p>
          <a:p>
            <a:pPr marL="0" indent="0">
              <a:lnSpc>
                <a:spcPct val="100000"/>
              </a:lnSpc>
              <a:buNone/>
            </a:pPr>
            <a:r>
              <a:rPr sz="1300">
                <a:solidFill>
                  <a:srgbClr val="1B2A36"/>
                </a:solidFill>
                <a:latin typeface="Courier New"/>
                <a:ea typeface="맑은 고딕"/>
                <a:cs typeface="Courier New"/>
              </a:rPr>
              <a:t>print(W2.grad)  </a:t>
            </a:r>
            <a:r>
              <a:rPr sz="1300">
                <a:solidFill>
                  <a:srgbClr val="3F8A6E"/>
                </a:solidFill>
                <a:latin typeface="Courier New"/>
                <a:ea typeface="맑은 고딕"/>
                <a:cs typeface="Courier New"/>
              </a:rPr>
              <a:t># [[1.5], [0.]]</a:t>
            </a:r>
          </a:p>
        </p:txBody>
      </p:sp>
      <p:sp>
        <p:nvSpPr>
          <p:cNvPr id="11" name="Rounded Rectangle 10"/>
          <p:cNvSpPr/>
          <p:nvPr/>
        </p:nvSpPr>
        <p:spPr>
          <a:xfrm>
            <a:off x="457200" y="4419600"/>
            <a:ext cx="6572707"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손 계산 표와 완전히 같은 값</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확률로 답하기: Softmax와 Cross-entropy</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‘예/아니오’ 대신 ‘얼마나 확신하는가’, 여러 선택지 중 하나를 고르려면?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Sigmoid: 점수를 확률로</a:t>
            </a:r>
          </a:p>
        </p:txBody>
      </p:sp>
      <p:sp>
        <p:nvSpPr>
          <p:cNvPr id="3" name="Content Placeholder 2"/>
          <p:cNvSpPr>
            <a:spLocks noGrp="1"/>
          </p:cNvSpPr>
          <p:nvPr>
            <p:ph idx="1"/>
          </p:nvPr>
        </p:nvSpPr>
        <p:spPr>
          <a:xfrm>
            <a:off x="6277356" y="2596896"/>
            <a:ext cx="545439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계단 함수와 달리 </a:t>
            </a:r>
            <a:r>
              <a:rPr sz="1800" b="1">
                <a:solidFill>
                  <a:srgbClr val="1B2A36"/>
                </a:solidFill>
              </a:rPr>
              <a:t>미분 가능</a:t>
            </a:r>
            <a:r>
              <a:rPr sz="1800" b="0">
                <a:solidFill>
                  <a:srgbClr val="1B2A36"/>
                </a:solidFill>
              </a:rPr>
              <a:t> → 역전파 OK</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출력을 ‘1일 확률’처럼 읽는다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선택지가 </a:t>
            </a:r>
            <a:r>
              <a:rPr sz="1800" b="1">
                <a:solidFill>
                  <a:srgbClr val="1B2A36"/>
                </a:solidFill>
              </a:rPr>
              <a:t>여러 개</a:t>
            </a:r>
            <a:r>
              <a:rPr sz="1800" b="0">
                <a:solidFill>
                  <a:srgbClr val="1B2A36"/>
                </a:solidFill>
              </a:rPr>
              <a:t>라면? → Softmax</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0~1이라고 ‘잘 보정된 확률’은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계단 함수 대신 부드러운 S자 — 미분할 수 있고, 확신의 정도를 말해 준다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σ(z) = 1 / (1 + e^(−z))</a:t>
            </a:r>
          </a:p>
        </p:txBody>
      </p:sp>
      <p:graphicFrame>
        <p:nvGraphicFramePr>
          <p:cNvPr id="11" name="Table 10"/>
          <p:cNvGraphicFramePr>
            <a:graphicFrameLocks noGrp="1"/>
          </p:cNvGraphicFramePr>
          <p:nvPr/>
        </p:nvGraphicFramePr>
        <p:xfrm>
          <a:off x="457200" y="2596896"/>
          <a:ext cx="5454396" cy="1438656"/>
        </p:xfrm>
        <a:graphic>
          <a:graphicData uri="http://schemas.openxmlformats.org/drawingml/2006/table">
            <a:tbl>
              <a:tblPr firstRow="1" bandRow="0">
                <a:tableStyleId>{5940675A-B579-460E-94D1-54222C63F5DA}</a:tableStyleId>
              </a:tblPr>
              <a:tblGrid>
                <a:gridCol w="1818132"/>
                <a:gridCol w="1818132"/>
                <a:gridCol w="1818132"/>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z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σ(z)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읽는 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1일 가능성 낮음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0.50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반반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0.88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1일 가능성 높음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Softmax: 점수들을 비중으로</a:t>
            </a:r>
          </a:p>
        </p:txBody>
      </p:sp>
      <p:sp>
        <p:nvSpPr>
          <p:cNvPr id="3" name="Content Placeholder 2"/>
          <p:cNvSpPr>
            <a:spLocks noGrp="1"/>
          </p:cNvSpPr>
          <p:nvPr>
            <p:ph idx="1"/>
          </p:nvPr>
        </p:nvSpPr>
        <p:spPr>
          <a:xfrm>
            <a:off x="457200" y="4745736"/>
            <a:ext cx="5672571" cy="16367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합 = 1, 모두 양수</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순서는 점수 순서 그대로</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안정화: </a:t>
            </a:r>
            <a:r>
              <a:rPr sz="1600" b="0">
                <a:solidFill>
                  <a:srgbClr val="1B2A36"/>
                </a:solidFill>
                <a:latin typeface="Courier New"/>
                <a:ea typeface="맑은 고딕"/>
                <a:cs typeface="Courier New"/>
              </a:rPr>
              <a:t>exp(z − max z)</a:t>
            </a:r>
            <a:r>
              <a:rPr sz="1600" b="0">
                <a:solidFill>
                  <a:srgbClr val="1B2A36"/>
                </a:solidFill>
              </a:rPr>
              <a:t>로 계산해도 같다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모든 점수를 exp로 양수로 만든 뒤, 합이 1이 되게 나눈다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p_i = exp(z_i) / Σ_j exp(z_j)</a:t>
            </a:r>
          </a:p>
        </p:txBody>
      </p:sp>
      <p:graphicFrame>
        <p:nvGraphicFramePr>
          <p:cNvPr id="11" name="Table 10"/>
          <p:cNvGraphicFramePr>
            <a:graphicFrameLocks noGrp="1"/>
          </p:cNvGraphicFramePr>
          <p:nvPr/>
        </p:nvGraphicFramePr>
        <p:xfrm>
          <a:off x="457200" y="2642615"/>
          <a:ext cx="5672568" cy="1804416"/>
        </p:xfrm>
        <a:graphic>
          <a:graphicData uri="http://schemas.openxmlformats.org/drawingml/2006/table">
            <a:tbl>
              <a:tblPr firstRow="1" bandRow="0">
                <a:tableStyleId>{5940675A-B579-460E-94D1-54222C63F5DA}</a:tableStyleId>
              </a:tblPr>
              <a:tblGrid>
                <a:gridCol w="1418142"/>
                <a:gridCol w="1418142"/>
                <a:gridCol w="1418142"/>
                <a:gridCol w="1418142"/>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고양이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점수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exp(z)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7.39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 = exp / 11.11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495531" y="2642615"/>
            <a:ext cx="5236220" cy="1172845"/>
          </a:xfrm>
          <a:prstGeom prst="roundRect">
            <a:avLst>
              <a:gd name="adj" fmla="val 779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40"/>
              </a:spcAft>
              <a:buNone/>
            </a:pPr>
            <a:r>
              <a:rPr sz="1700" b="0">
                <a:solidFill>
                  <a:srgbClr val="1B2A36"/>
                </a:solidFill>
                <a:latin typeface="맑은 고딕"/>
                <a:ea typeface="맑은 고딕"/>
                <a:cs typeface="맑은 고딕"/>
              </a:rPr>
              <a:t>5주차 연결: Attention도 ‘비교 점수 → softmax → 비중’으로 어떤 토큰을 얼마나 참고할지 정한다.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Temperature: 분포의 뾰족함</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0.5 → [0.867, 0.117, 0.016]</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1 → [0.665, 0.245, 0.090]</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2 → [0.506, 0.307, 0.186]</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순서는 바뀌지 않는다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쓰임: 생성할 때 무작위성 조절 (6주차)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softmax(z / τ): 순서는 그대로, τ가 작으면 뾰족하게 · 크면 평평하게</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softmax_temp.png"/>
          <p:cNvPicPr>
            <a:picLocks noChangeAspect="1"/>
          </p:cNvPicPr>
          <p:nvPr/>
        </p:nvPicPr>
        <p:blipFill>
          <a:blip r:embed="rId3"/>
          <a:stretch>
            <a:fillRect/>
          </a:stretch>
        </p:blipFill>
        <p:spPr>
          <a:xfrm>
            <a:off x="457200" y="1658823"/>
            <a:ext cx="6572707" cy="447304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Cross-entropy: 분류의 손실</a:t>
            </a:r>
          </a:p>
        </p:txBody>
      </p:sp>
      <p:sp>
        <p:nvSpPr>
          <p:cNvPr id="3" name="Content Placeholder 2"/>
          <p:cNvSpPr>
            <a:spLocks noGrp="1"/>
          </p:cNvSpPr>
          <p:nvPr>
            <p:ph idx="1"/>
          </p:nvPr>
        </p:nvSpPr>
        <p:spPr>
          <a:xfrm>
            <a:off x="6473586" y="4974336"/>
            <a:ext cx="5258165" cy="1408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확신하고 틀리면 </a:t>
            </a:r>
            <a:r>
              <a:rPr sz="1600" b="1">
                <a:solidFill>
                  <a:srgbClr val="1B2A36"/>
                </a:solidFill>
              </a:rPr>
              <a:t>큰 벌점</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정답 클래스에 준 확률의 −log — 확신하고 틀릴수록 벌점이 급격히 커진다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ce_curve.png"/>
          <p:cNvPicPr>
            <a:picLocks noChangeAspect="1"/>
          </p:cNvPicPr>
          <p:nvPr/>
        </p:nvPicPr>
        <p:blipFill>
          <a:blip r:embed="rId3"/>
          <a:stretch>
            <a:fillRect/>
          </a:stretch>
        </p:blipFill>
        <p:spPr>
          <a:xfrm>
            <a:off x="457200" y="1943578"/>
            <a:ext cx="5696346" cy="3903531"/>
          </a:xfrm>
          <a:prstGeom prst="rect">
            <a:avLst/>
          </a:prstGeom>
        </p:spPr>
      </p:pic>
      <p:sp>
        <p:nvSpPr>
          <p:cNvPr id="10" name="Rounded Rectangle 9"/>
          <p:cNvSpPr/>
          <p:nvPr/>
        </p:nvSpPr>
        <p:spPr>
          <a:xfrm>
            <a:off x="6473586" y="1408176"/>
            <a:ext cx="5258165" cy="868680"/>
          </a:xfrm>
          <a:prstGeom prst="roundRect">
            <a:avLst>
              <a:gd name="adj" fmla="val 1052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10746" y="1408176"/>
            <a:ext cx="4983845" cy="86868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L = −log p(정답)</a:t>
            </a:r>
          </a:p>
        </p:txBody>
      </p:sp>
      <p:graphicFrame>
        <p:nvGraphicFramePr>
          <p:cNvPr id="12" name="Table 11"/>
          <p:cNvGraphicFramePr>
            <a:graphicFrameLocks noGrp="1"/>
          </p:cNvGraphicFramePr>
          <p:nvPr/>
        </p:nvGraphicFramePr>
        <p:xfrm>
          <a:off x="6473586" y="2505456"/>
          <a:ext cx="5258164" cy="2249424"/>
        </p:xfrm>
        <a:graphic>
          <a:graphicData uri="http://schemas.openxmlformats.org/drawingml/2006/table">
            <a:tbl>
              <a:tblPr firstRow="1" bandRow="0">
                <a:tableStyleId>{5940675A-B579-460E-94D1-54222C63F5DA}</a:tableStyleId>
              </a:tblPr>
              <a:tblGrid>
                <a:gridCol w="2629082"/>
                <a:gridCol w="262908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정답에 준 확률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0.665 (고양이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0.408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0.693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2.303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4.605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분류에는 Cross-entropy인가</a:t>
            </a:r>
          </a:p>
        </p:txBody>
      </p:sp>
      <p:sp>
        <p:nvSpPr>
          <p:cNvPr id="3" name="Content Placeholder 2"/>
          <p:cNvSpPr>
            <a:spLocks noGrp="1"/>
          </p:cNvSpPr>
          <p:nvPr>
            <p:ph idx="1"/>
          </p:nvPr>
        </p:nvSpPr>
        <p:spPr>
          <a:xfrm>
            <a:off x="457200" y="4517136"/>
            <a:ext cx="5454396" cy="18653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정답 점수는 </a:t>
            </a:r>
            <a:r>
              <a:rPr sz="1600" b="1">
                <a:solidFill>
                  <a:srgbClr val="1B2A36"/>
                </a:solidFill>
              </a:rPr>
              <a:t>올리고</a:t>
            </a:r>
            <a:r>
              <a:rPr sz="1600" b="0">
                <a:solidFill>
                  <a:srgbClr val="1B2A36"/>
                </a:solidFill>
              </a:rPr>
              <a:t>, 오답 점수는 </a:t>
            </a:r>
            <a:r>
              <a:rPr sz="1600" b="1">
                <a:solidFill>
                  <a:srgbClr val="1B2A36"/>
                </a:solidFill>
              </a:rPr>
              <a:t>내린다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 + CE의 기울기는 놀랍도록 단순하다: p − y</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800" b="1">
                <a:solidFill>
                  <a:srgbClr val="1B2A36"/>
                </a:solidFill>
                <a:latin typeface="Courier New"/>
                <a:ea typeface="맑은 고딕"/>
                <a:cs typeface="Courier New"/>
              </a:rPr>
              <a:t>∂L/∂z = p − y</a:t>
            </a:r>
          </a:p>
        </p:txBody>
      </p:sp>
      <p:graphicFrame>
        <p:nvGraphicFramePr>
          <p:cNvPr id="11" name="Table 10"/>
          <p:cNvGraphicFramePr>
            <a:graphicFrameLocks noGrp="1"/>
          </p:cNvGraphicFramePr>
          <p:nvPr/>
        </p:nvGraphicFramePr>
        <p:xfrm>
          <a:off x="457200" y="2596896"/>
          <a:ext cx="5454396" cy="1537716"/>
        </p:xfrm>
        <a:graphic>
          <a:graphicData uri="http://schemas.openxmlformats.org/drawingml/2006/table">
            <a:tbl>
              <a:tblPr firstRow="1" bandRow="0">
                <a:tableStyleId>{5940675A-B579-460E-94D1-54222C63F5DA}</a:tableStyleId>
              </a:tblPr>
              <a:tblGrid>
                <a:gridCol w="1363599"/>
                <a:gridCol w="1363599"/>
                <a:gridCol w="1363599"/>
                <a:gridCol w="1363599"/>
              </a:tblGrid>
              <a:tr h="52730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고양이 (정답)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y (one-hot)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p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−0.335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277356" y="2596896"/>
            <a:ext cx="5454396" cy="2010537"/>
          </a:xfrm>
          <a:prstGeom prst="roundRect">
            <a:avLst>
              <a:gd name="adj" fmla="val 4548"/>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1948" y="272491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실전 주의 (PyTorch)</a:t>
            </a:r>
          </a:p>
        </p:txBody>
      </p:sp>
      <p:sp>
        <p:nvSpPr>
          <p:cNvPr id="14" name="TextBox 13"/>
          <p:cNvSpPr txBox="1"/>
          <p:nvPr/>
        </p:nvSpPr>
        <p:spPr>
          <a:xfrm>
            <a:off x="6441948" y="3182112"/>
            <a:ext cx="5125212" cy="129730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Courier New"/>
                <a:ea typeface="맑은 고딕"/>
                <a:cs typeface="Courier New"/>
              </a:rPr>
              <a:t>nn.CrossEntropyLoss</a:t>
            </a:r>
            <a:r>
              <a:rPr sz="1500" b="0">
                <a:solidFill>
                  <a:srgbClr val="1B2A36"/>
                </a:solidFill>
                <a:latin typeface="맑은 고딕"/>
                <a:ea typeface="맑은 고딕"/>
                <a:cs typeface="맑은 고딕"/>
              </a:rPr>
              <a:t>는 softmax를 </a:t>
            </a:r>
            <a:r>
              <a:rPr sz="1500" b="1">
                <a:solidFill>
                  <a:srgbClr val="1B2A36"/>
                </a:solidFill>
                <a:latin typeface="맑은 고딕"/>
                <a:ea typeface="맑은 고딕"/>
                <a:cs typeface="맑은 고딕"/>
              </a:rPr>
              <a:t>내부에서</a:t>
            </a:r>
            <a:r>
              <a:rPr sz="1500" b="0">
                <a:solidFill>
                  <a:srgbClr val="1B2A36"/>
                </a:solidFill>
                <a:latin typeface="맑은 고딕"/>
                <a:ea typeface="맑은 고딕"/>
                <a:cs typeface="맑은 고딕"/>
              </a:rPr>
              <a:t> 한다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 softmax 전 점수(</a:t>
            </a:r>
            <a:r>
              <a:rPr sz="1500" b="1">
                <a:solidFill>
                  <a:srgbClr val="1B2A36"/>
                </a:solidFill>
                <a:latin typeface="맑은 고딕"/>
                <a:ea typeface="맑은 고딕"/>
                <a:cs typeface="맑은 고딕"/>
              </a:rPr>
              <a:t>logits</a:t>
            </a:r>
            <a:r>
              <a:rPr sz="1500" b="0">
                <a:solidFill>
                  <a:srgbClr val="1B2A36"/>
                </a:solidFill>
                <a:latin typeface="맑은 고딕"/>
                <a:ea typeface="맑은 고딕"/>
                <a:cs typeface="맑은 고딕"/>
              </a:rPr>
              <a:t>)를 넣는다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softmax를 두 번 하면 학습이 이상해진다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Transformer와의 연결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부품들이 6주 뒤 Transformer 안에 그대로 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MLP</a:t>
            </a:r>
          </a:p>
        </p:txBody>
      </p:sp>
      <p:sp>
        <p:nvSpPr>
          <p:cNvPr id="11" name="TextBox 10"/>
          <p:cNvSpPr txBox="1"/>
          <p:nvPr/>
        </p:nvSpPr>
        <p:spPr>
          <a:xfrm>
            <a:off x="621792"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Transformer의 </a:t>
            </a:r>
            <a:r>
              <a:rPr sz="1600" b="1">
                <a:solidFill>
                  <a:srgbClr val="1B2A36"/>
                </a:solidFill>
                <a:latin typeface="맑은 고딕"/>
                <a:ea typeface="맑은 고딕"/>
                <a:cs typeface="맑은 고딕"/>
              </a:rPr>
              <a:t>FFN</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토큰마다 d → d_ff → d</a:t>
            </a:r>
          </a:p>
        </p:txBody>
      </p:sp>
      <p:sp>
        <p:nvSpPr>
          <p:cNvPr id="12" name="Rounded Rectangle 11"/>
          <p:cNvSpPr/>
          <p:nvPr/>
        </p:nvSpPr>
        <p:spPr>
          <a:xfrm>
            <a:off x="3332988"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ReLU</a:t>
            </a:r>
          </a:p>
        </p:txBody>
      </p:sp>
      <p:sp>
        <p:nvSpPr>
          <p:cNvPr id="14" name="TextBox 13"/>
          <p:cNvSpPr txBox="1"/>
          <p:nvPr/>
        </p:nvSpPr>
        <p:spPr>
          <a:xfrm>
            <a:off x="3497580"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FFN의 활성화</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후속 모델은 GELU 등</a:t>
            </a:r>
          </a:p>
        </p:txBody>
      </p:sp>
      <p:sp>
        <p:nvSpPr>
          <p:cNvPr id="15" name="Rounded Rectangle 14"/>
          <p:cNvSpPr/>
          <p:nvPr/>
        </p:nvSpPr>
        <p:spPr>
          <a:xfrm>
            <a:off x="6208776"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153619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 + CE</a:t>
            </a:r>
          </a:p>
        </p:txBody>
      </p:sp>
      <p:sp>
        <p:nvSpPr>
          <p:cNvPr id="17" name="TextBox 16"/>
          <p:cNvSpPr txBox="1"/>
          <p:nvPr/>
        </p:nvSpPr>
        <p:spPr>
          <a:xfrm>
            <a:off x="6373368"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t>
            </a:r>
            <a:r>
              <a:rPr sz="1600" b="1">
                <a:solidFill>
                  <a:srgbClr val="1B2A36"/>
                </a:solidFill>
                <a:latin typeface="맑은 고딕"/>
                <a:ea typeface="맑은 고딕"/>
                <a:cs typeface="맑은 고딕"/>
              </a:rPr>
              <a:t>다음 토큰 예측</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어휘 |V|개 중 하나 고르기</a:t>
            </a:r>
          </a:p>
        </p:txBody>
      </p:sp>
      <p:sp>
        <p:nvSpPr>
          <p:cNvPr id="18" name="Rounded Rectangle 17"/>
          <p:cNvSpPr/>
          <p:nvPr/>
        </p:nvSpPr>
        <p:spPr>
          <a:xfrm>
            <a:off x="9084564" y="1408176"/>
            <a:ext cx="2647188"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역전파</a:t>
            </a:r>
          </a:p>
        </p:txBody>
      </p:sp>
      <p:sp>
        <p:nvSpPr>
          <p:cNvPr id="20" name="TextBox 19"/>
          <p:cNvSpPr txBox="1"/>
          <p:nvPr/>
        </p:nvSpPr>
        <p:spPr>
          <a:xfrm>
            <a:off x="9249156"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수십억 파라미터도</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같은 방법으로 학습</a:t>
            </a:r>
          </a:p>
        </p:txBody>
      </p:sp>
      <p:sp>
        <p:nvSpPr>
          <p:cNvPr id="21" name="Rounded Rectangle 20"/>
          <p:cNvSpPr/>
          <p:nvPr/>
        </p:nvSpPr>
        <p:spPr>
          <a:xfrm>
            <a:off x="457200" y="3602736"/>
            <a:ext cx="11274552" cy="902970"/>
          </a:xfrm>
          <a:prstGeom prst="roundRect">
            <a:avLst>
              <a:gd name="adj" fmla="val 101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40"/>
              </a:spcAft>
              <a:buNone/>
            </a:pPr>
            <a:r>
              <a:rPr sz="1700" b="0">
                <a:solidFill>
                  <a:srgbClr val="1B2A36"/>
                </a:solidFill>
                <a:latin typeface="맑은 고딕"/>
                <a:ea typeface="맑은 고딕"/>
                <a:cs typeface="맑은 고딕"/>
              </a:rPr>
              <a:t>Q/K/V 투영도 학습되는 선형층이다. 하지만 </a:t>
            </a:r>
            <a:r>
              <a:rPr sz="1700" b="1">
                <a:solidFill>
                  <a:srgbClr val="1B2A36"/>
                </a:solidFill>
                <a:latin typeface="맑은 고딕"/>
                <a:ea typeface="맑은 고딕"/>
                <a:cs typeface="맑은 고딕"/>
              </a:rPr>
              <a:t>다른 토큰의 정보를 섞는 것</a:t>
            </a:r>
            <a:r>
              <a:rPr sz="1700" b="0">
                <a:solidFill>
                  <a:srgbClr val="1B2A36"/>
                </a:solidFill>
                <a:latin typeface="맑은 고딕"/>
                <a:ea typeface="맑은 고딕"/>
                <a:cs typeface="맑은 고딕"/>
              </a:rPr>
              <a:t>은 MLP가 아니라 Attention의 가중합이다 (5주차) — MLP는 토큰 하나 안에서만 계산한다.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Perceptron</a:t>
            </a:r>
            <a:r>
              <a:rPr sz="1800" b="0">
                <a:solidFill>
                  <a:srgbClr val="1B2A36"/>
                </a:solidFill>
                <a:latin typeface="맑은 고딕"/>
                <a:ea typeface="맑은 고딕"/>
                <a:cs typeface="맑은 고딕"/>
              </a:rPr>
              <a:t> = 가중합 + 계단 함수, 결정 경계는 </a:t>
            </a:r>
            <a:r>
              <a:rPr sz="1800" b="1">
                <a:solidFill>
                  <a:srgbClr val="1B2A36"/>
                </a:solidFill>
                <a:latin typeface="맑은 고딕"/>
                <a:ea typeface="맑은 고딕"/>
                <a:cs typeface="맑은 고딕"/>
              </a:rPr>
              <a:t>직선</a:t>
            </a:r>
            <a:r>
              <a:rPr sz="1800" b="0">
                <a:solidFill>
                  <a:srgbClr val="1B2A36"/>
                </a:solidFill>
                <a:latin typeface="맑은 고딕"/>
                <a:ea typeface="맑은 고딕"/>
                <a:cs typeface="맑은 고딕"/>
              </a:rPr>
              <a:t> (1958)</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XOR</a:t>
            </a:r>
            <a:r>
              <a:rPr sz="1800" b="0">
                <a:solidFill>
                  <a:srgbClr val="1B2A36"/>
                </a:solidFill>
                <a:latin typeface="맑은 고딕"/>
                <a:ea typeface="맑은 고딕"/>
                <a:cs typeface="맑은 고딕"/>
              </a:rPr>
              <a:t>은 직선 하나로 불가능 — 부등식이 모순 (1969년 한계 분석)</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은닉층은 </a:t>
            </a:r>
            <a:r>
              <a:rPr sz="1800" b="1">
                <a:solidFill>
                  <a:srgbClr val="1B2A36"/>
                </a:solidFill>
                <a:latin typeface="맑은 고딕"/>
                <a:ea typeface="맑은 고딕"/>
                <a:cs typeface="맑은 고딕"/>
              </a:rPr>
              <a:t>새 좌표</a:t>
            </a:r>
            <a:r>
              <a:rPr sz="1800" b="0">
                <a:solidFill>
                  <a:srgbClr val="1B2A36"/>
                </a:solidFill>
                <a:latin typeface="맑은 고딕"/>
                <a:ea typeface="맑은 고딕"/>
                <a:cs typeface="맑은 고딕"/>
              </a:rPr>
              <a:t>를 만든다 — 단, 층 사이 </a:t>
            </a:r>
            <a:r>
              <a:rPr sz="1800" b="1">
                <a:solidFill>
                  <a:srgbClr val="1B2A36"/>
                </a:solidFill>
                <a:latin typeface="맑은 고딕"/>
                <a:ea typeface="맑은 고딕"/>
                <a:cs typeface="맑은 고딕"/>
              </a:rPr>
              <a:t>비선형 활성화</a:t>
            </a:r>
            <a:r>
              <a:rPr sz="1800" b="0">
                <a:solidFill>
                  <a:srgbClr val="1B2A36"/>
                </a:solidFill>
                <a:latin typeface="맑은 고딕"/>
                <a:ea typeface="맑은 고딕"/>
                <a:cs typeface="맑은 고딕"/>
              </a:rPr>
              <a:t>가 없으면 하나로 합쳐진다</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역전파</a:t>
            </a:r>
            <a:r>
              <a:rPr sz="1800" b="0">
                <a:solidFill>
                  <a:srgbClr val="1B2A36"/>
                </a:solidFill>
                <a:latin typeface="맑은 고딕"/>
                <a:ea typeface="맑은 고딕"/>
                <a:cs typeface="맑은 고딕"/>
              </a:rPr>
              <a:t> = 연쇄법칙을 출력부터 거꾸로, 중간값을 재사용해 모든 기울기를 한 번에 (1986 확산)</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a:t>
            </a:r>
            <a:r>
              <a:rPr sz="1800" b="1">
                <a:solidFill>
                  <a:srgbClr val="1B2A36"/>
                </a:solidFill>
                <a:latin typeface="맑은 고딕"/>
                <a:ea typeface="맑은 고딕"/>
                <a:cs typeface="맑은 고딕"/>
              </a:rPr>
              <a:t>표현 가능</a:t>
            </a:r>
            <a:r>
              <a:rPr sz="1800" b="0">
                <a:solidFill>
                  <a:srgbClr val="1B2A36"/>
                </a:solidFill>
                <a:latin typeface="맑은 고딕"/>
                <a:ea typeface="맑은 고딕"/>
                <a:cs typeface="맑은 고딕"/>
              </a:rPr>
              <a:t>’과 ‘</a:t>
            </a:r>
            <a:r>
              <a:rPr sz="1800" b="1">
                <a:solidFill>
                  <a:srgbClr val="1B2A36"/>
                </a:solidFill>
                <a:latin typeface="맑은 고딕"/>
                <a:ea typeface="맑은 고딕"/>
                <a:cs typeface="맑은 고딕"/>
              </a:rPr>
              <a:t>학습으로 찾음</a:t>
            </a:r>
            <a:r>
              <a:rPr sz="1800" b="0">
                <a:solidFill>
                  <a:srgbClr val="1B2A36"/>
                </a:solidFill>
                <a:latin typeface="맑은 고딕"/>
                <a:ea typeface="맑은 고딕"/>
                <a:cs typeface="맑은 고딕"/>
              </a:rPr>
              <a:t>’은 다른 질문이다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분류 출력은 </a:t>
            </a:r>
            <a:r>
              <a:rPr sz="1800" b="1">
                <a:solidFill>
                  <a:srgbClr val="1B2A36"/>
                </a:solidFill>
                <a:latin typeface="맑은 고딕"/>
                <a:ea typeface="맑은 고딕"/>
                <a:cs typeface="맑은 고딕"/>
              </a:rPr>
              <a:t>Softmax</a:t>
            </a:r>
            <a:r>
              <a:rPr sz="1800" b="0">
                <a:solidFill>
                  <a:srgbClr val="1B2A36"/>
                </a:solidFill>
                <a:latin typeface="맑은 고딕"/>
                <a:ea typeface="맑은 고딕"/>
                <a:cs typeface="맑은 고딕"/>
              </a:rPr>
              <a:t>, 손실은 </a:t>
            </a:r>
            <a:r>
              <a:rPr sz="1800" b="1">
                <a:solidFill>
                  <a:srgbClr val="1B2A36"/>
                </a:solidFill>
                <a:latin typeface="맑은 고딕"/>
                <a:ea typeface="맑은 고딕"/>
                <a:cs typeface="맑은 고딕"/>
              </a:rPr>
              <a:t>Cross-entropy</a:t>
            </a:r>
            <a:r>
              <a:rPr sz="1800" b="0">
                <a:solidFill>
                  <a:srgbClr val="1B2A36"/>
                </a:solidFill>
                <a:latin typeface="맑은 고딕"/>
                <a:ea typeface="맑은 고딕"/>
                <a:cs typeface="맑은 고딕"/>
              </a:rPr>
              <a:t> (기울기 p − 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1848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역전파와 optimizer는 각각 무슨 일을 하나? (원자료 개념 확인 01)</a:t>
            </a:r>
          </a:p>
        </p:txBody>
      </p:sp>
      <p:sp>
        <p:nvSpPr>
          <p:cNvPr id="12" name="Rounded Rectangle 11"/>
          <p:cNvSpPr/>
          <p:nvPr/>
        </p:nvSpPr>
        <p:spPr>
          <a:xfrm>
            <a:off x="457200" y="2432304"/>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64261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432304"/>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활성화 없이 affine 층을 여러 개 합치면? (개념 확인 02)</a:t>
            </a:r>
          </a:p>
        </p:txBody>
      </p:sp>
      <p:sp>
        <p:nvSpPr>
          <p:cNvPr id="15" name="Rounded Rectangle 14"/>
          <p:cNvSpPr/>
          <p:nvPr/>
        </p:nvSpPr>
        <p:spPr>
          <a:xfrm>
            <a:off x="457200" y="3456432"/>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66674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456432"/>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XOR을 단층 Perceptron으로 못 푸는 이유를 한 문장으로?</a:t>
            </a:r>
          </a:p>
        </p:txBody>
      </p:sp>
      <p:sp>
        <p:nvSpPr>
          <p:cNvPr id="18" name="Rounded Rectangle 17"/>
          <p:cNvSpPr/>
          <p:nvPr/>
        </p:nvSpPr>
        <p:spPr>
          <a:xfrm>
            <a:off x="457200" y="4480560"/>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69087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480560"/>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ReLU에서 z &lt; 0인 유닛의 기울기는? 무슨 일이 생기나?</a:t>
            </a:r>
          </a:p>
        </p:txBody>
      </p:sp>
      <p:sp>
        <p:nvSpPr>
          <p:cNvPr id="21" name="Rounded Rectangle 20"/>
          <p:cNvSpPr/>
          <p:nvPr/>
        </p:nvSpPr>
        <p:spPr>
          <a:xfrm>
            <a:off x="457200" y="5504688"/>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571500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Q5</a:t>
            </a:r>
          </a:p>
        </p:txBody>
      </p:sp>
      <p:sp>
        <p:nvSpPr>
          <p:cNvPr id="23" name="TextBox 22"/>
          <p:cNvSpPr txBox="1"/>
          <p:nvPr/>
        </p:nvSpPr>
        <p:spPr>
          <a:xfrm>
            <a:off x="1188720" y="5504688"/>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z = [1, 1, 1]의 softmax와, 정답이 첫째일 때 CE는?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3081526"/>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“역전파는 1986년에 처음 발명되었다”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1970 Linnainmaa, 1974 Werbos 등 선행 연구 — 1986년은 </a:t>
                      </a:r>
                      <a:r>
                        <a:rPr sz="1500" b="1">
                          <a:solidFill>
                            <a:srgbClr val="1B2A36"/>
                          </a:solidFill>
                          <a:latin typeface="맑은 고딕"/>
                          <a:ea typeface="맑은 고딕"/>
                          <a:cs typeface="맑은 고딕"/>
                        </a:rPr>
                        <a:t>확산</a:t>
                      </a:r>
                      <a:r>
                        <a:rPr sz="1500" b="0">
                          <a:solidFill>
                            <a:srgbClr val="1B2A36"/>
                          </a:solidFill>
                          <a:latin typeface="맑은 고딕"/>
                          <a:ea typeface="맑은 고딕"/>
                          <a:cs typeface="맑은 고딕"/>
                        </a:rPr>
                        <a:t>의 이정표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“AI 겨울은 XOR 하나 때문에 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기술·연산·기대·투자·평가 등 </a:t>
                      </a:r>
                      <a:r>
                        <a:rPr sz="1500" b="1">
                          <a:solidFill>
                            <a:srgbClr val="1B2A36"/>
                          </a:solidFill>
                          <a:latin typeface="맑은 고딕"/>
                          <a:ea typeface="맑은 고딕"/>
                          <a:cs typeface="맑은 고딕"/>
                        </a:rPr>
                        <a:t>여러 맥락</a:t>
                      </a:r>
                      <a:r>
                        <a:rPr sz="1500" b="0">
                          <a:solidFill>
                            <a:srgbClr val="1B2A36"/>
                          </a:solidFill>
                          <a:latin typeface="맑은 고딕"/>
                          <a:ea typeface="맑은 고딕"/>
                          <a:cs typeface="맑은 고딕"/>
                        </a:rPr>
                        <a:t>. 단일 원인으로 서술하지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“층을 많이 쌓으면 표현력이 늘어난다”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비선형 활성화</a:t>
                      </a:r>
                      <a:r>
                        <a:rPr sz="1500" b="0">
                          <a:solidFill>
                            <a:srgbClr val="1B2A36"/>
                          </a:solidFill>
                          <a:latin typeface="맑은 고딕"/>
                          <a:ea typeface="맑은 고딕"/>
                          <a:cs typeface="맑은 고딕"/>
                        </a:rPr>
                        <a:t>가 없으면 층 수와 무관하게 선형 변환 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“ReLU면 기울기 소실이 모두 사라진다”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초기화·학습률·입력 분포에 따라 달라진다. 음수 구간 기울기는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“해가 존재하면 학습이 찾아 준다”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은닉 2개 MLP는 XOR 해가 있어도 20번 중 16번 실패했다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“softmax 출력은 믿을 만한 확률이다”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합 1인 양수 비중일 뿐, </a:t>
                      </a:r>
                      <a:r>
                        <a:rPr sz="1500" b="1">
                          <a:solidFill>
                            <a:srgbClr val="1B2A36"/>
                          </a:solidFill>
                          <a:latin typeface="맑은 고딕"/>
                          <a:ea typeface="맑은 고딕"/>
                          <a:cs typeface="맑은 고딕"/>
                        </a:rPr>
                        <a:t>잘 보정된 확률</a:t>
                      </a:r>
                      <a:r>
                        <a:rPr sz="1500" b="0">
                          <a:solidFill>
                            <a:srgbClr val="1B2A36"/>
                          </a:solidFill>
                          <a:latin typeface="맑은 고딕"/>
                          <a:ea typeface="맑은 고딕"/>
                          <a:cs typeface="맑은 고딕"/>
                        </a:rPr>
                        <a:t>이라는 보장은 없다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XOR 부등식</a:t>
            </a:r>
          </a:p>
        </p:txBody>
      </p:sp>
      <p:sp>
        <p:nvSpPr>
          <p:cNvPr id="12" name="TextBox 11"/>
          <p:cNvSpPr txBox="1"/>
          <p:nvPr/>
        </p:nvSpPr>
        <p:spPr>
          <a:xfrm>
            <a:off x="621792" y="1993392"/>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OR, AND에 대해 네 부등식을 적고 만족하는 (w1, w2, b)를 하나씩 찾는다. XOR은 왜 모순인지 자기 말로 설명.</a:t>
            </a:r>
          </a:p>
        </p:txBody>
      </p:sp>
      <p:sp>
        <p:nvSpPr>
          <p:cNvPr id="13" name="Rounded Rectangle 12"/>
          <p:cNvSpPr/>
          <p:nvPr/>
        </p:nvSpPr>
        <p:spPr>
          <a:xfrm>
            <a:off x="457200" y="28281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29744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29561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역전파 손계산</a:t>
            </a:r>
          </a:p>
        </p:txBody>
      </p:sp>
      <p:sp>
        <p:nvSpPr>
          <p:cNvPr id="16" name="TextBox 15"/>
          <p:cNvSpPr txBox="1"/>
          <p:nvPr/>
        </p:nvSpPr>
        <p:spPr>
          <a:xfrm>
            <a:off x="621792" y="34133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오늘 예제에 편향 b1 = [0, 0], b2 = 0을 넣고 ∂L/∂b1, ∂L/∂b2를 손으로 구한 뒤 autograd와 비교.</a:t>
            </a:r>
          </a:p>
        </p:txBody>
      </p:sp>
      <p:sp>
        <p:nvSpPr>
          <p:cNvPr id="17" name="Rounded Rectangle 16"/>
          <p:cNvSpPr/>
          <p:nvPr/>
        </p:nvSpPr>
        <p:spPr>
          <a:xfrm>
            <a:off x="457200" y="4248150"/>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3944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3761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XOR 학습 실험</a:t>
            </a:r>
          </a:p>
        </p:txBody>
      </p:sp>
      <p:sp>
        <p:nvSpPr>
          <p:cNvPr id="20" name="TextBox 19"/>
          <p:cNvSpPr txBox="1"/>
          <p:nvPr/>
        </p:nvSpPr>
        <p:spPr>
          <a:xfrm>
            <a:off x="621792" y="4833365"/>
            <a:ext cx="10945368" cy="7067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은닉 크기 2/4/8, 학습률 0.1/0.5로 seed 10개씩 돌려 성공률 표를 만든다. 실패한 경우의 은닉 활성값을 출력해 원인을 추측.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58470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[04] Rosenblatt (1958). The Perceptron: A Probabilistic Model for Information Storage and Organization in the Brain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도입부: 학습 규칙의 아이디어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Minsky &amp; Papert (1969). Perceptrons. MIT Press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단층의 한계 (parity, 연결성) — 보충 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[05] Rumelhart, Hinton &amp; Williams (1986). Learning representations by back-propagating errors. Nature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은닉 표현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[42] Goodfellow et al. (2016). Deep Learning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Ch.6 MLP · 6.5 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PyTorch 튜토리얼: Autograd mechanics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requires_grad, backward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비선형 은닉층으로 </a:t>
            </a:r>
            <a:r>
              <a:rPr sz="1800" b="1">
                <a:solidFill>
                  <a:srgbClr val="1B2A36"/>
                </a:solidFill>
                <a:latin typeface="맑은 고딕"/>
                <a:ea typeface="맑은 고딕"/>
                <a:cs typeface="맑은 고딕"/>
              </a:rPr>
              <a:t>새 좌표</a:t>
            </a:r>
            <a:r>
              <a:rPr sz="1800" b="0">
                <a:solidFill>
                  <a:srgbClr val="1B2A36"/>
                </a:solidFill>
                <a:latin typeface="맑은 고딕"/>
                <a:ea typeface="맑은 고딕"/>
                <a:cs typeface="맑은 고딕"/>
              </a:rPr>
              <a:t>를 만들고</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역전파로 모든 층을 학습해</a:t>
            </a:r>
          </a:p>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직선으로 안 되는 경계</a:t>
            </a:r>
            <a:r>
              <a:rPr sz="1800" b="0">
                <a:solidFill>
                  <a:srgbClr val="1B2A36"/>
                </a:solidFill>
                <a:latin typeface="맑은 고딕"/>
                <a:ea typeface="맑은 고딕"/>
                <a:cs typeface="맑은 고딕"/>
              </a:rPr>
              <a:t>도 배울 수 있다</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입력이 </a:t>
            </a:r>
            <a:r>
              <a:rPr sz="1800" b="1">
                <a:solidFill>
                  <a:srgbClr val="1B2A36"/>
                </a:solidFill>
                <a:latin typeface="맑은 고딕"/>
                <a:ea typeface="맑은 고딕"/>
                <a:cs typeface="맑은 고딕"/>
              </a:rPr>
              <a:t>이미지</a:t>
            </a:r>
            <a:r>
              <a:rPr sz="1800" b="0">
                <a:solidFill>
                  <a:srgbClr val="1B2A36"/>
                </a:solidFill>
                <a:latin typeface="맑은 고딕"/>
                <a:ea typeface="맑은 고딕"/>
                <a:cs typeface="맑은 고딕"/>
              </a:rPr>
              <a:t>(수만 픽셀)면? 모든 입력을 모든 뉴런에 연결하면 파라미터 폭발</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층을 </a:t>
            </a:r>
            <a:r>
              <a:rPr sz="1800" b="1">
                <a:solidFill>
                  <a:srgbClr val="1B2A36"/>
                </a:solidFill>
                <a:latin typeface="맑은 고딕"/>
                <a:ea typeface="맑은 고딕"/>
                <a:cs typeface="맑은 고딕"/>
              </a:rPr>
              <a:t>깊게</a:t>
            </a:r>
            <a:r>
              <a:rPr sz="1800" b="0">
                <a:solidFill>
                  <a:srgbClr val="1B2A36"/>
                </a:solidFill>
                <a:latin typeface="맑은 고딕"/>
                <a:ea typeface="맑은 고딕"/>
                <a:cs typeface="맑은 고딕"/>
              </a:rPr>
              <a:t> 쌓으면? 기울기가 곱해지며 사라진다 (sigmoid′ ≤ 0.25)</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3의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공간 구조를 어떻게 쓰고,</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깊은 모델은 어떻게 학습시키나?</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CNN · AlexNet · ResNet</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