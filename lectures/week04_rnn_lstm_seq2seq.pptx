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2" r:id="rId2"/>
  </p:sldMasterIdLst>
  <p:notesMasterIdLst>
    <p:notesMasterId r:id="rId6"/>
  </p:notesMasterIdLst>
  <p:sldIdLst>
    <p:sldId id="770" r:id="rId3"/>
    <p:sldId id="1002" r:id="rId11"/>
    <p:sldId id="1003" r:id="rId12"/>
    <p:sldId id="1004" r:id="rId13"/>
    <p:sldId id="1005" r:id="rId14"/>
    <p:sldId id="1006" r:id="rId15"/>
    <p:sldId id="1007" r:id="rId16"/>
    <p:sldId id="1008" r:id="rId17"/>
    <p:sldId id="1009" r:id="rId18"/>
    <p:sldId id="1010" r:id="rId19"/>
    <p:sldId id="1011" r:id="rId20"/>
    <p:sldId id="1012" r:id="rId21"/>
    <p:sldId id="1013" r:id="rId22"/>
    <p:sldId id="1014" r:id="rId23"/>
    <p:sldId id="1015" r:id="rId24"/>
    <p:sldId id="1016" r:id="rId25"/>
    <p:sldId id="1017" r:id="rId26"/>
    <p:sldId id="1018" r:id="rId27"/>
    <p:sldId id="1019" r:id="rId28"/>
    <p:sldId id="1020" r:id="rId29"/>
    <p:sldId id="1021" r:id="rId30"/>
    <p:sldId id="1022" r:id="rId31"/>
    <p:sldId id="1023" r:id="rId32"/>
    <p:sldId id="1024" r:id="rId33"/>
    <p:sldId id="1025" r:id="rId34"/>
    <p:sldId id="1026" r:id="rId35"/>
    <p:sldId id="1027" r:id="rId36"/>
    <p:sldId id="1028" r:id="rId37"/>
    <p:sldId id="1029" r:id="rId38"/>
    <p:sldId id="1030" r:id="rId39"/>
    <p:sldId id="1031" r:id="rId40"/>
    <p:sldId id="1032" r:id="rId41"/>
    <p:sldId id="1033" r:id="rId42"/>
    <p:sldId id="1034" r:id="rId43"/>
    <p:sldId id="1035" r:id="rId44"/>
    <p:sldId id="1036" r:id="rId45"/>
    <p:sldId id="1037" r:id="rId46"/>
    <p:sldId id="1038" r:id="rId47"/>
    <p:sldId id="1039" r:id="rId48"/>
    <p:sldId id="1040" r:id="rId49"/>
    <p:sldId id="772" r:id="rId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1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65" autoAdjust="0"/>
    <p:restoredTop sz="73176" autoAdjust="0"/>
  </p:normalViewPr>
  <p:slideViewPr>
    <p:cSldViewPr snapToGrid="0" showGuides="1">
      <p:cViewPr varScale="1">
        <p:scale>
          <a:sx n="85" d="100"/>
          <a:sy n="85" d="100"/>
        </p:scale>
        <p:origin x="1476" y="90"/>
      </p:cViewPr>
      <p:guideLst>
        <p:guide orient="horz" pos="2160"/>
        <p:guide pos="3840"/>
      </p:guideLst>
    </p:cSldViewPr>
  </p:slideViewPr>
  <p:notesTextViewPr>
    <p:cViewPr>
      <p:scale>
        <a:sx n="125" d="100"/>
        <a:sy n="125" d="100"/>
      </p:scale>
      <p:origin x="0" y="0"/>
    </p:cViewPr>
  </p:notesTextViewPr>
  <p:notesViewPr>
    <p:cSldViewPr snapToGrid="0" showGuides="1">
      <p:cViewPr varScale="1">
        <p:scale>
          <a:sx n="118" d="100"/>
          <a:sy n="118" d="100"/>
        </p:scale>
        <p:origin x="3954"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C70FBF-EBC7-48BC-9FF4-60E98111FAF8}" type="datetimeFigureOut">
              <a:rPr lang="ko-KR" altLang="en-US" smtClean="0"/>
              <a:t>2026-09-04</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5A6E62-6464-48E3-A950-8B46B2C8108B}" type="slidenum">
              <a:rPr lang="ko-KR" altLang="en-US" smtClean="0"/>
              <a:t>‹#›</a:t>
            </a:fld>
            <a:endParaRPr lang="ko-KR" altLang="en-US"/>
          </a:p>
        </p:txBody>
      </p:sp>
    </p:spTree>
    <p:extLst>
      <p:ext uri="{BB962C8B-B14F-4D97-AF65-F5344CB8AC3E}">
        <p14:creationId xmlns:p14="http://schemas.microsoft.com/office/powerpoint/2010/main" val="291313675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p:spPr>
        <p:txBody>
          <a:bodyPr/>
          <a:lstStyle/>
          <a:p>
            <a:endParaRPr lang="ko-KR" altLang="en-US"/>
          </a:p>
        </p:txBody>
      </p:sp>
      <p:sp>
        <p:nvSpPr>
          <p:cNvPr id="3" name="슬라이드 노트 개체 틀 2"/>
          <p:cNvSpPr>
            <a:spLocks noGrp="1"/>
          </p:cNvSpPr>
          <p:nvPr>
            <p:ph type="body" idx="1"/>
          </p:nvPr>
        </p:nvSpPr>
        <p:spPr/>
        <p:txBody>
          <a:bodyPr/>
          <a:lstStyle/>
          <a:p>
            <a:pPr lvl="0"/>
            <a:r>
              <a:rPr lang="en-US" altLang="ko-KR" dirty="0"/>
              <a:t> </a:t>
            </a:r>
            <a:r>
              <a:rPr lang="ko-KR" altLang="ko-KR" sz="1200" b="0" u="none" strike="noStrike" kern="1200" dirty="0">
                <a:solidFill>
                  <a:schemeClr val="tx1"/>
                </a:solidFill>
                <a:effectLst/>
                <a:latin typeface="+mn-lt"/>
                <a:ea typeface="+mn-ea"/>
                <a:cs typeface="+mn-cs"/>
              </a:rPr>
              <a:t>오른쪽: →</a:t>
            </a:r>
          </a:p>
          <a:p>
            <a:pPr lvl="0"/>
            <a:r>
              <a:rPr lang="ko-KR" altLang="ko-KR" sz="1200" b="0" u="none" strike="noStrike" kern="1200" dirty="0">
                <a:solidFill>
                  <a:schemeClr val="tx1"/>
                </a:solidFill>
                <a:effectLst/>
                <a:latin typeface="+mn-lt"/>
                <a:ea typeface="+mn-ea"/>
                <a:cs typeface="+mn-cs"/>
              </a:rPr>
              <a:t>왼쪽: ←</a:t>
            </a:r>
          </a:p>
          <a:p>
            <a:pPr lvl="0"/>
            <a:r>
              <a:rPr lang="ko-KR" altLang="ko-KR" sz="1200" b="0" u="none" strike="noStrike" kern="1200" dirty="0">
                <a:solidFill>
                  <a:schemeClr val="tx1"/>
                </a:solidFill>
                <a:effectLst/>
                <a:latin typeface="+mn-lt"/>
                <a:ea typeface="+mn-ea"/>
                <a:cs typeface="+mn-cs"/>
              </a:rPr>
              <a:t>위쪽: ↑</a:t>
            </a:r>
          </a:p>
          <a:p>
            <a:pPr lvl="0"/>
            <a:r>
              <a:rPr lang="ko-KR" altLang="ko-KR" sz="1200" b="0" u="none" strike="noStrike" kern="1200" dirty="0">
                <a:solidFill>
                  <a:schemeClr val="tx1"/>
                </a:solidFill>
                <a:effectLst/>
                <a:latin typeface="+mn-lt"/>
                <a:ea typeface="+mn-ea"/>
                <a:cs typeface="+mn-cs"/>
              </a:rPr>
              <a:t>아래쪽: ↓</a:t>
            </a:r>
          </a:p>
          <a:p>
            <a:pPr lvl="0"/>
            <a:r>
              <a:rPr lang="ko-KR" altLang="ko-KR" sz="1200" b="0" u="none" strike="noStrike" kern="1200" dirty="0">
                <a:solidFill>
                  <a:schemeClr val="tx1"/>
                </a:solidFill>
                <a:effectLst/>
                <a:latin typeface="+mn-lt"/>
                <a:ea typeface="+mn-ea"/>
                <a:cs typeface="+mn-cs"/>
              </a:rPr>
              <a:t>좌우 양방향: ↔ ⇔</a:t>
            </a:r>
          </a:p>
          <a:p>
            <a:pPr lvl="0"/>
            <a:r>
              <a:rPr lang="ko-KR" altLang="ko-KR" sz="1200" b="0" u="none" strike="noStrike" kern="1200" dirty="0">
                <a:solidFill>
                  <a:schemeClr val="tx1"/>
                </a:solidFill>
                <a:effectLst/>
                <a:latin typeface="+mn-lt"/>
                <a:ea typeface="+mn-ea"/>
                <a:cs typeface="+mn-cs"/>
              </a:rPr>
              <a:t>상하 양방향: ↕</a:t>
            </a:r>
          </a:p>
          <a:p>
            <a:pPr lvl="0"/>
            <a:r>
              <a:rPr lang="ko-KR" altLang="ko-KR" sz="1200" b="0" u="none" strike="noStrike" kern="1200" dirty="0">
                <a:solidFill>
                  <a:schemeClr val="tx1"/>
                </a:solidFill>
                <a:effectLst/>
                <a:latin typeface="+mn-lt"/>
                <a:ea typeface="+mn-ea"/>
                <a:cs typeface="+mn-cs"/>
              </a:rPr>
              <a:t>대각선: ↗ ↘ ↖ ↙</a:t>
            </a:r>
          </a:p>
          <a:p>
            <a:endParaRPr lang="ko-KR" altLang="en-US"/>
          </a:p>
          <a:p>
            <a:endParaRPr lang="en-US" altLang="ko-KR"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59F891E5-1CD2-4B05-8178-8C49B58924F9}"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357702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 </a:t>
            </a:r>
            <a:endParaRPr lang="ko-KR" altLang="en-US" dirty="0"/>
          </a:p>
        </p:txBody>
      </p:sp>
      <p:sp>
        <p:nvSpPr>
          <p:cNvPr id="4" name="슬라이드 번호 개체 틀 3"/>
          <p:cNvSpPr>
            <a:spLocks noGrp="1"/>
          </p:cNvSpPr>
          <p:nvPr>
            <p:ph type="sldNum" sz="quarter" idx="5"/>
          </p:nvPr>
        </p:nvSpPr>
        <p:spPr/>
        <p:txBody>
          <a:bodyPr/>
          <a:lstStyle/>
          <a:p>
            <a:fld id="{EE5A6E62-6464-48E3-A950-8B46B2C8108B}" type="slidenum">
              <a:rPr lang="ko-KR" altLang="en-US" smtClean="0"/>
              <a:t>3</a:t>
            </a:fld>
            <a:endParaRPr lang="ko-KR" altLang="en-US"/>
          </a:p>
        </p:txBody>
      </p:sp>
    </p:spTree>
    <p:extLst>
      <p:ext uri="{BB962C8B-B14F-4D97-AF65-F5344CB8AC3E}">
        <p14:creationId xmlns:p14="http://schemas.microsoft.com/office/powerpoint/2010/main" val="1613747473"/>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이미지는 격자였지만 언어는 순서다. 길이도 문장마다 다르고, 멀리 떨어진 단어가 서로 의존한다. 오늘은 문장을 숫자로 바꾸는 법부터 시작해, 순서를 따라 기억을 전달하는 RNN과 LSTM, 그리고 번역을 위한 Seq2Seq까지 간다. 마지막에 Seq2Seq가 남기는 문제가 다음 주 Attention의 출발점이다.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주 복습 — CNN: 지역성·가중치 공유라는 구조적 가정 / 깊은 학습의 조건: 데이터·GPU·ReLU / Residual · LayerNorm. 하지만 남은 문제가 있다: 언어는 격자가 아니라 순서, 길이도 제각각 / “그 책은 … (20단어) … 재미있었다” — 먼 단어의 의존. 이번 주는 이 질문에서 출발한다: 순서를 어떻게 표현하고, / 먼 정보를 어떻게 기억할까?. 학생에게 지난 주 내용을 한 문장씩 먼저 말해 보게 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과정 지도에서 오늘은 4번째 질문이다. 오늘의 순서: 문장을 숫자로: 토큰과 임베딩 / RNN: 순서를 따라 상태 전달 (1986/1990) / 장기 의존성: 왜 먼 정보를 잃나 (1991/1994) / LSTM: 보존·쓰기·읽기의 조절 (1997) / 단어의 의미를 학습하기 (2003/2013) / Seq2Seq: 길이가 다른 입출력 (2014). 끝나면 할 수 있어야 하는 것: 토큰 ID와 임베딩 lookup을 구분하고 shape (B, N) → (B, N, d)를 말한다 / RNN 상태 갱신을 손으로 두세 단계 계산한다 / 장기 의존성이 어려운 세 가지 이유를 구분한다 / LSTM의 c와 h, 덧셈 경로의 역할을 설명한다 / 언어 모델의 목표(다음 토큰 확률)와 아키텍처를 구분한다 / Seq2Seq의 고정 벡터 병목을 설명한다. 수업 마지막에 이 목표를 셀프 체크로 다시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처음 나오는 용어들. 외울 필요는 없고, 설명 중 막히면 이 표로 돌아온다. 토큰: 모델이 처리하는 텍스트 조각 (단어·부분단어·글자) / 어휘 |V|: 토큰의 전체 목록과 그 크기 / 임베딩 E: 토큰마다 하나씩 있는 학습되는 벡터 표 (|V|, d) / 은닉 상태 h: 지금까지 읽은 내용을 요약한 벡터 / 장기 의존성: 멀리 떨어진 위치 사이의 관계 / 게이트: 0~1 비중으로 정보 흐름을 조절하는 값 (계산됨) / 언어 모델: 다음 토큰의 확률을 예측하는 모델 / Encoder-Decoder: 입력을 표현하는 부분과 출력을 생성하는 부분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문장을 tokenizer(토큰화기)로 토큰으로 자르고, 각 토큰에 사전의 번호(ID)를 붙이고, 그 번호로 임베딩 표에서 벡터를 꺼낸다. 배치 B개 문장, 길이 N이면 ID 텐서는 (B, N), 임베딩 후 (B, N, d). 1주차의 (B, N, d)가 바로 여기서 나온다. 예시 ID 숫자는 설명용이다. 오늘 수업의 예문 '나는 학교에 간다'는 어절 단위 3토큰으로 통일해서 쓴다 — 실제 tokenizer는 더 잘게 자른다는 점은 9쪽에서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ID를 그대로 숫자로 계산에 넣으면 '305번 학교가 12번 나보다 크다' 같은 엉뚱한 관계가 생긴다. one-hot: 어휘 크기 |V|의 벡터에서 자기 위치만 1. one-hot 행벡터에 임베딩 표 E(|V|, d)를 곱하면 E의 해당 행이 그대로 나온다 = 행 lookup. 그래서 실제로는 큰 one-hot을 만들지 않고 행을 바로 꺼낸다. E의 값은 학습되는 파라미터이고, 학습을 통해 비슷한 쓰임의 토큰이 비슷한 벡터를 갖게 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단어 단위는 직관적이지만 어휘가 매우 커지고 처음 보는 단어(희귀어)를 다루기 어렵다. 글자/byte 단위는 어휘가 작지만 시퀀스가 길어진다. subword는 그 사이의 절충: 자주 나오는 조각은 통째로, 드문 단어는 쪼갠다. unhappiness → un + happi + ness는 설명용 예시로, 특정 tokenizer의 실제 결과가 아니다. 주의: tokenizer와 모델 가중치는 짝이다. 같은 ID가 다른 토큰을 가리키게 바꾸면 학습한 임베딩과 출력 head의 의미가 어긋난다.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nn.Embedding(num_embeddings=|V|, embedding_dim=d). 어휘 10,000개, d=8이면 파라미터 80,000개. 입력은 정수 ID 텐서 (B, N), 출력은 (B, N, d). 같은 ID는 항상 같은 벡터가 나온다(아직 문맥 없음). 문맥에 따라 표현이 달라지는 것은 이후 계산(RNN, Transformer 블록)의 몫이다 — Part 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'개가 사람을 물었다'와 '사람이 개를 물었다'는 같은 토큰들로 이루어졌지만 뜻이 정반대다. 토큰 벡터를 더하거나 평균 내면 둘이 구분되지 않는다. MLP는 입력 크기가 고정이라 길이가 다른 문장을 그대로 넣을 수 없다. CNN은 고정된 창 크기만큼만 본다 — 먼 단어의 관계를 보려면 층을 많이 쌓아야 한다. 필요한 것: 길이와 무관한 같은 규칙으로, 순서대로 읽으며 지금까지의 내용을 기억하는 구조.</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RNN(순환 신경망)은 토큰을 하나씩 읽으며 은닉 상태 h를 갱신한다. h는 '지금까지 읽은 내용의 요약 메모'. 모든 시점이 같은 가중치 W_x, W_h, b를 쓰므로 길이가 달라도 같은 규칙이 적용된다(CNN이 위치마다 같은 필터를 쓴 것과 비슷한 공유). Jordan(1986)은 출력을 되먹임하는 구조를, Elman(1990) 'Finding Structure in Time'은 은닉 상태를 되먹임하는 단순 순환망을 제시했다. 이전 상태가 다르므로 같은 토큰도 문맥에 따라 다른 표현을 갖게 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1차원 예시: W_x = 1, W_h = 0.5, b = 0, h_0 = 0. 입력 x = (1, 0, 0). t=1: h1 = tanh(1·1 + 0.5·0) = 0.762. t=2: h2 = tanh(0 + 0.5·0.762) = tanh(0.381) = 0.363. t=3: h3 = tanh(0.5·0.363) = 0.180. 첫 입력의 흔적이 매 단계 절반 이하로 줄어든다. W_h를 키우면 오래 남지만 너무 크면 값과 기울기가 폭주한다 — Part 3의 문제로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nn.RNN(input_size=d, hidden_size=d_h, batch_first=True). 입력 (2, 5, 8) → output (2, 5, 16): 모든 시점의 h, h_n (1, 2, 16): 마지막 시점의 h(층 수 1). 파라미터: W_x (8×16) + W_h (16×16) + 편향 2개(16+16) = 416. 길이 N과 무관하다. LSTM은 게이트 4개분이라 1,664개(4배).</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RNN을 시간 방향으로 펼치면 아주 깊은 망이 된다. 50단계 전의 입력에 기울기가 도달하려면 시점마다 W_h와 tanh 도함수의 곱을 50번 거친다. 그 인자가 대략 0.9면 0.9^50 ≈ 0.005로 소실, 1.1이면 1.1^50 ≈ 117로 폭주. 3주차에 깊이 방향에서 본 문제가 시간 방향에서 다시 나타난 것. Hochreiter(1991, 석사 논문)와 Bengio, Simard, Frasconi(1994)가 이 어려움을 분석했다. 원자료 주의: '정보가 오래되면 사라진다'는 비유로 끝내지 말고, 행렬 곱과 활성화 미분이 반복된다는 계산으로 이해한다.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표. ① 학습 신호: 먼 위치까지 기울기가 작아지거나 커진다 → 기억 경로, 게이트, gradient clipping(폭주 시 기울기 크기 제한). ② 정보 표현: 고정 크기 상태 h 하나에 필요한 모든 정보를 담아야 한다 → 상태 설계, 외부 기억, 직접 참조(Attention). ③ 계산 의존성: h_t를 구하려면 h_(t−1)이 먼저 필요 → 순차 계산, 병렬화 어려움 → 비순환 구조(Transformer). 이 세 줄이 이후 LSTM(①), Attention(②), Transformer(③)로 이어지는 지도다.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Hochreiter &amp; Schmidhuber(1997). 핵심은 cell state c라는 별도의 기억 통로. c는 매 시점 '곱하고 더하는' 방식으로만 바뀐다. 게이트 세 개가 비중을 정한다: forget f(이전 기억을 얼마나 보존), input i(새 후보 g를 얼마나 쓸지), output o(기억을 밖으로 얼마나 꺼낼지). c(내부 기억)와 h(밖으로 내보내는 상태)를 구분하는 것이 입문자의 핵심 포인트. 3주차 Residual의 '더하는 지름길'과 닮았다.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 i, o는 sigmoid라 0~1(비중), g는 tanh라 −1~1(새로 쓸 후보 값). 게이트는 사람이 정한 스위치가 아니라 입력과 이전 상태로 매번 계산된다. 원자료 주의: 이 식은 forget gate를 포함한 널리 쓰이는 후속 형태다. forget gate는 Gers, Schmidhuber, Cummins(2000)가 도입했고, 1997년 원형에는 없었다. 입문 단계에서는 식을 외우기보다 c와 h의 차이, 곱으로 조절, 덧셈으로 갱신, 순차 의존이 남는다는 점을 설명할 수 있으면 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 이전 기억 c = 2.0. f = 0.9, i = 0.1, g = 0.5 → c_t = 0.9·2.0 + 0.1·0.5 = 1.85. 기억이 거의 그대로 보존된다. o = 0.5 → h_t = 0.5·tanh(1.85) = 0.5·0.952 = 0.476. f = 0.5였다면 c_t = 1.0 + 0.05 = 1.05로 기억이 절반으로. ⊙는 원소별 곱. 핵심: c_t는 c_(t−1)에 f를 곱하고 무언가를 '더하는' 방식이라, f가 1에 가까우면 기억과 기울기가 오래 유지된다(∂c_t/∂c_(t−1) = 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LSTM은 ① 학습 신호 문제를 크게 줄였고 1997~2014년 음성 인식, 번역 등에서 표준이 되었다. 하지만 ② 정보 표현: 여전히 고정 크기 c, h에 담아야 한다. ③ 계산 의존성: h_t는 h_(t−1)이 있어야 계산된다 — 긴 시퀀스를 병렬로 학습하기 어렵다. 원자료: LSTM은 장기 의존성을 학습하기 위한 설계이지, 모든 긴 문맥을 완벽하게 기억한다는 보장이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사고실험을 실험 설계로: 문장 맨 앞의 숫자를 끝에서 다시 출력하는 과제. 입력 길이를 늘리며 학습과 일반화가 어려워지는 지점을 찾는다. 작은 RNN과 LSTM의 크기·학습량을 같게 통제하고, 길이에 따른 정확도 곡선을 기록한다. 과제 1(복사·반전 과제)에서 학생이 직접 해 본다. 중요: 'Transformer가 항상 이긴다'는 결론을 미리 정하지 않는다. 실험 설계의 태도를 연습하는 과제다.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확률의 연쇄법칙으로 문장 전체의 확률을 '앞 토큰들이 주어졌을 때 다음 토큰의 확률'의 곱으로 쓸 수 있다. 예: P(나는)=0.2, P(학교에|나는)=0.3, P(간다|나는 학교에)=0.5 → 0.03. −log로 쓰면 3.51(2주차 cross-entropy의 합). 텍스트만 있으면 (앞부분 → 다음 토큰) 정답 쌍을 무한히 만들 수 있다 — 자기지도학습. 원자료 주의: 이 확률 분해는 RNN만의 성질이 아니다. 확률 모델의 목표와 그것을 계산하는 아키텍처를 분리해서 본다. 번역처럼 입력 x가 있으면 각 항에 x를 추가로 조건화한다.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Bengio, Ducharme, Vincent, Jauvin(2003) 'A Neural Probabilistic Language Model'. 앞의 n−1개 단어를 임베딩으로 바꾸고, MLP로 다음 단어의 softmax 확률을 예측한다. 임베딩 표 E도 역전파로 함께 학습된다. 결과적으로 비슷한 문맥에 나오는 단어들이 비슷한 벡터(분산 표현)를 갖게 된다. 원자료 주의: '임베딩은 Word2Vec에서 처음 등장했다'는 틀린 말이다.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Mikolov et al.(2013). 목표를 단순화해 수십억 단어 규모에서 빠르게 단어 벡터를 학습했다. CBOW는 주변 단어로 가운데 단어를, Skip-gram은 가운데 단어로 주변 단어를 예측. 유명한 예: king − man + woman ≈ queen. 그림은 설명용 2D 그림이지 실제 학습 벡터가 아니다. 원자료 주의: 특정 벡터 차원이 사람이 붙인 의미(성별, 국가)와 일대일로 대응할 필요는 없다.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임베딩은 같은 토큰에 항상 같은 벡터를 준다(정적). 'river bank'와 'bank account', '배를 먹었다'와 '배를 탔다'의 뜻이 달라지려면 주변 입력을 참조한 뒤의 표현이 필요하다. RNN에서는 h_t가, Transformer에서는 이후 블록들의 출력이 그 역할을 한다. 원자료: '단어 의미가 모두 임베딩 표 안에 저장된다'보다 'lookup과 문맥 계산이 함께 표현을 만든다'가 더 정확하다.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번역, 요약, 질의응답은 입력 길이 S와 출력 길이 T가 다르고, 어순도 다르다. 'I am a student'(S=4) → '나는 학생 이다'(T=3, 토큰화 예시). RNN처럼 시점마다 하나씩 출력하면 길이와 어순을 맞출 수 없다. 해결 아이디어: 먼저 입력 전체를 다 읽고(encode), 그 다음 출력을 한 토큰씩 생성(decode)한다.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Encoder RNN이 입력을 끝까지 읽은 마지막 상태를 문맥 벡터 c로 쓴다. Decoder RNN은 c에서 시작해 BOS(시작) 토큰을 받고 첫 단어를 예측, 그 단어를 다음 입력으로 넣어 다음 단어를 예측… EOS(끝) 토큰이 나오면 멈춘다 — 그래서 출력 길이를 스스로 정한다. 원자료: Encoder-Decoder는 특정 신경망 종류가 아니라 '입력 표현'과 '출력 생성'의 역할 분담이다. Transformer도 이 구조를 쓴다.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 정답 번역의 각 토큰에 대한 −log 확률의 합(cross-entropy). 학습 때는 Decoder 입력에 모델 예측 대신 정답의 이전 토큰을 넣는다(teacher forcing, 6주차 자세히). Sutskever, Vinyals, Le(2014): 4층 LSTM Encoder-Decoder, 입력 문장을 뒤집어 넣는 요령으로 성능 향상, WMT'14 영→프 BLEU 34.8(앙상블), 기존 SMT 후보 재정렬 시 36.5. Cho et al.(2014): RNN Encoder-Decoder와 GRU 제안. 원자료: Bahdanau Attention 논문도 2014년 거의 같은 시기에 공개 — 수업 순서가 긴 역사적 간격을 뜻하지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'나는'을 쓸 때는 'I'가, '학생'을 쓸 때는 'student'가 필요하다. 그런데 Decoder가 받는 것은 문장 전체를 압축한 c 하나뿐이다. 문장이 10단어든 50단어든 c의 크기는 같다 — 긴 문장일수록 정보를 잃는다(Cho et al. 2014의 관찰). Part 3 표의 ② '정보 표현' 문제가 번역에서 가장 선명하게 드러난 것. 다음 주 질문: Encoder의 위치별 표현 h_1…h_S를 버리지 말고, 필요할 때마다 다시 찾아보면?</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요약. 각 줄을 학생이 자기 말로 다시 설명하게 한다: 토큰 ID는 주소, 임베딩 E(|V|, d)가 학습되는 표 — (B, N) → (B, N, d) / RNN: 같은 규칙으로 상태 h를 넘기며 읽는다 — 길이와 무관 / 장기 의존성의 세 어려움: 학습 신호 · 정보 표현 · 계산 의존성 / LSTM: 덧셈 기억 경로 c와 게이트로 ① 학습 신호를 완화 — ②③은 남는다 / 언어 모델 = 다음 토큰 확률의 곱, 임베딩은 이 목표로 함께 학습 (2003, 2013) / Seq2Seq: 길이가 다른 입출력 — 하지만 고정 벡터 c 하나가 병목</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a:t>
            </a:r>
          </a:p>
          <a:p>
            <a:r>
              <a:t>Q1. LSTM 이후에도 남아 있는 핵심 제약은?</a:t>
            </a:r>
          </a:p>
          <a:p>
            <a:r>
              <a:t>  → h_t가 h_(t−1)에 의존하는 순차 계산, 고정 크기 상태에 정보를 담아야 하는 점 (원자료 개념 확인 03)</a:t>
            </a:r>
          </a:p>
          <a:p>
            <a:r>
              <a:t>Q2. 어휘 30,000, d = 512인 임베딩 표의 파라미터 수와, ids (4, 20)의 출력 shape은?</a:t>
            </a:r>
          </a:p>
          <a:p>
            <a:r>
              <a:t>  → 15,360,000개, (4, 20, 512)</a:t>
            </a:r>
          </a:p>
          <a:p>
            <a:r>
              <a:t>Q3. W_h = 0.5인 1차원 RNN에서 첫 입력의 흔적이 줄어드는 이유는?</a:t>
            </a:r>
          </a:p>
          <a:p>
            <a:r>
              <a:t>  → 매 시점 0.5와 tanh를 거치며 곱해지므로 점점 작아진다</a:t>
            </a:r>
          </a:p>
          <a:p>
            <a:r>
              <a:t>Q4. LSTM에서 f = 1, i = 0이면 c_t는?</a:t>
            </a:r>
          </a:p>
          <a:p>
            <a:r>
              <a:t>  → c_(t−1) 그대로 — 기억을 완전히 보존</a:t>
            </a:r>
          </a:p>
          <a:p>
            <a:r>
              <a:t>Q5. Seq2Seq에서 문장이 길수록 번역이 나빠지는 이유는?</a:t>
            </a:r>
          </a:p>
          <a:p>
            <a:r>
              <a:t>  → 입력 전체를 고정 길이 벡터 c 하나로 압축해야 하기 때문 (병목)</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문장이 왜 틀렸는지 계산으로 설명하게 한다. “토큰 ID가 크면 의미도 크다” → ID는 lookup 주소일 뿐, 계산에는 학습된 벡터가 들어간다 / “임베딩은 Word2Vec에서 처음 나왔다” → 2003 신경 언어 모델 등에서 이미 함께 학습되었다 / “단어 의미는 임베딩 표에 모두 저장된다” → lookup과 문맥 계산이 함께 표현을 만든다 / “LSTM은 긴 문맥을 완벽하게 기억한다” → 학습을 쉽게 하는 설계일 뿐, 보장은 없다. 순차 계산도 남는다 / “다음 토큰 확률 분해는 RNN의 성질이다” → 확률 모델의 목표다. Transformer도 같은 목표를 쓴다 / “1997 LSTM에 forget gate가 있었다” → forget gate는 2000년 Gers et al.이 도입한 후속 형태</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 주의: 실제 tokenizer와 교육용 문자 tokenizer를 명확히 구분해 표시한다. 과제 1은 원자료 운영안 5회차의 과제. 과제는 ‘논문 읽고 정리’ 대신 제출 결과가 분명한 질문으로 준다(원자료 운영안). 복사 · 반전 과제 설계 (24쪽 검증 실험): 입력 수열을 그대로/거꾸로 출력하는 데이터셋을 만들고, 길이 5·10·20에서 작은 RNN과 LSTM의 정확도를 비교한다. / RNN 손계산: W_x = 1, W_h = 0.9, 입력 (1, 0, 0, 0, 0)에서 h_1…h_5를 계산하고 W_h = 0.5일 때와 비교한다. / tokenizer 비교: 한국어 문장 하나를 글자 단위와 공개 tokenizer 하나로 나눠 보고 토큰 수를 비교한다 (ID 숫자로 품질을 판단하지 않기).</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번호는 원자료 참고문헌 번호. 처음부터 모든 실험을 읽기보다 표에 적은 절과 그림만 먼저 읽는다. [06] Elman (1990). Finding Structure in Time. Cognitive Science / [08] Bengio, Simard &amp; Frasconi (1994). Learning Long-Term Dependencies with Gradient Descent is Difficult / [09] Hochreiter &amp; Schmidhuber (1997). Long Short-Term Memory · Gers et al. (2000) forget gate / [11] Bengio et al. (2003). A Neural Probabilistic Language Model · [14] Mikolov et al. (2013) Word2Vec / [15] Sutskever, Vinyals &amp; Le (2014) · [16] Cho et al. (2014)</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주: Encoder의 위치별 표현을 남겨 두고, 출력할 때마다 다른 비중으로 다시 참조하는 Attention. 그리고 그것을 모델의 본체로 삼은 Transformer의 핵심 연산. 이번 주에 해결한 것: 토큰 → 임베딩으로 문장을 숫자로 / RNN · LSTM으로 순서와 기억을 / Seq2Seq로 길이가 다른 입출력을. 남은 문제: 모든 입력을 고정 벡터 c 하나로 압축 (병목) / h_t는 h_(t−1)이 필요 — 순차 계산. 다음: 필요할 때 원문을 / 다시 찾아보면? / Attention (2014) → Self-attention.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1.wdp"/></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3252A1B-C763-C9A6-AADD-43FBC3B7C805}"/>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F423261-3F68-B8A6-DA8C-C1B31F16FB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02A705C5-459B-96C8-2CA2-5E12914FA3CB}"/>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86D39F56-7BCA-57D8-9039-ED968753E2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6646A04-24C2-3C45-EE21-FB23BA2FAB74}"/>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2670187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DC6883-1C8A-9E20-19B7-877053834C3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7B08F0A-0E00-18F3-9E65-0314486465CB}"/>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0560133-C35C-8C4F-328E-8E9B79F4019C}"/>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E29A8A1F-82FA-EC9E-A4C5-677BD6CE24C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E6DF691-3C61-A125-27FF-5EF0B518102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9697548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D95DA7-E147-5F92-926F-DEBDF033276E}"/>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FE113DEB-D6E9-DC7D-3B33-DF60095FA2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477413F7-6293-669A-C49C-CBD4B87F49B7}"/>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A659463A-8506-F832-BF63-0AB5383242C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92153CB-E77A-DDE1-B666-3A7483A0575B}"/>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232836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CAB2C3-915D-1F0F-FD8B-8851B2DCE0C0}"/>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0543B65-182A-1AF8-1ADF-73493AE2568B}"/>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E01FC3C4-0188-7117-4A57-48CDCD1BFD70}"/>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75573293-D299-1ACC-B5F6-5249201C598A}"/>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92E0B931-ECD0-9014-3A6C-96A43323538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05D45AC-93A5-F441-B0D9-C72C7D961508}"/>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40617928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8F5203-0A0C-E761-43DC-1E4FCF632863}"/>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14B12E34-F53B-1A87-9EF2-C6C9AD4AF5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4B2005B8-C78F-3258-A421-5AEC2A338E49}"/>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36FCEAEE-2647-1263-6BFA-6783FEEA7D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A19C9D7-D5A0-149F-D2A7-61824E4EF9E3}"/>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FEE39A88-1C17-B89B-34ED-6E5C1BFC2E6C}"/>
              </a:ext>
            </a:extLst>
          </p:cNvPr>
          <p:cNvSpPr>
            <a:spLocks noGrp="1"/>
          </p:cNvSpPr>
          <p:nvPr>
            <p:ph type="dt" sz="half" idx="10"/>
          </p:nvPr>
        </p:nvSpPr>
        <p:spPr/>
        <p:txBody>
          <a:bodyPr/>
          <a:lstStyle/>
          <a:p>
            <a:r>
              <a:rPr lang="en-US" altLang="ko-KR"/>
              <a:t>2026-07-31</a:t>
            </a:r>
            <a:endParaRPr lang="ko-KR" altLang="en-US"/>
          </a:p>
        </p:txBody>
      </p:sp>
      <p:sp>
        <p:nvSpPr>
          <p:cNvPr id="8" name="바닥글 개체 틀 7">
            <a:extLst>
              <a:ext uri="{FF2B5EF4-FFF2-40B4-BE49-F238E27FC236}">
                <a16:creationId xmlns:a16="http://schemas.microsoft.com/office/drawing/2014/main" id="{939754EA-D4D9-36B7-2239-6BD62CA32B0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DA14D8B-D0E2-0987-5C43-F597C8B9EA1D}"/>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9709874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1830CA-B77F-223E-2F40-8194C04C9780}"/>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D32D80-AD85-E48F-7B4C-3514085491DC}"/>
              </a:ext>
            </a:extLst>
          </p:cNvPr>
          <p:cNvSpPr>
            <a:spLocks noGrp="1"/>
          </p:cNvSpPr>
          <p:nvPr>
            <p:ph type="dt" sz="half" idx="10"/>
          </p:nvPr>
        </p:nvSpPr>
        <p:spPr/>
        <p:txBody>
          <a:bodyPr/>
          <a:lstStyle/>
          <a:p>
            <a:r>
              <a:rPr lang="en-US" altLang="ko-KR"/>
              <a:t>2026-07-31</a:t>
            </a:r>
            <a:endParaRPr lang="ko-KR" altLang="en-US"/>
          </a:p>
        </p:txBody>
      </p:sp>
      <p:sp>
        <p:nvSpPr>
          <p:cNvPr id="4" name="바닥글 개체 틀 3">
            <a:extLst>
              <a:ext uri="{FF2B5EF4-FFF2-40B4-BE49-F238E27FC236}">
                <a16:creationId xmlns:a16="http://schemas.microsoft.com/office/drawing/2014/main" id="{09BC26F6-F455-63DE-95C5-F4225A6E755A}"/>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3011D057-29DE-8E21-B820-9373E1D5021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1465805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EE82FB6-0C07-5848-5C12-3916F5909A16}"/>
              </a:ext>
            </a:extLst>
          </p:cNvPr>
          <p:cNvSpPr>
            <a:spLocks noGrp="1"/>
          </p:cNvSpPr>
          <p:nvPr>
            <p:ph type="dt" sz="half" idx="10"/>
          </p:nvPr>
        </p:nvSpPr>
        <p:spPr/>
        <p:txBody>
          <a:bodyPr/>
          <a:lstStyle/>
          <a:p>
            <a:r>
              <a:rPr lang="en-US" altLang="ko-KR"/>
              <a:t>2026-07-31</a:t>
            </a:r>
            <a:endParaRPr lang="ko-KR" altLang="en-US"/>
          </a:p>
        </p:txBody>
      </p:sp>
      <p:sp>
        <p:nvSpPr>
          <p:cNvPr id="3" name="바닥글 개체 틀 2">
            <a:extLst>
              <a:ext uri="{FF2B5EF4-FFF2-40B4-BE49-F238E27FC236}">
                <a16:creationId xmlns:a16="http://schemas.microsoft.com/office/drawing/2014/main" id="{8479ED77-F80B-BC2E-F13C-AB7A6DF0B6DA}"/>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264ADE3-6C32-5057-058C-6C8D737E1948}"/>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60625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03ECFF-667E-1220-0A59-5BE19AED98AC}"/>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5194255F-D651-1764-0366-FBA95DFD9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A834124B-2B82-BDE2-890E-BFD9AA2DEA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2860289-4016-BA2D-B545-D07153FC5F29}"/>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4CF585F0-BA8F-2A7C-DBB7-F2289CD192C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44C75D0-17A4-045E-30A7-0DCE3A8774CD}"/>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529143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4F30D40-10EB-DE9D-C961-CAA1D931B49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D68E722-038F-3A9D-65EF-E5304FA2E3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F9E95962-4F65-7241-5E2C-05F96638FD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22B0918-E7F3-D78C-44EF-462950321D01}"/>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2D36987F-BD53-DD08-6650-29BA313C1CD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921EE29-1D4F-8E30-549E-5034953BA9A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27881758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D828FF4-3094-9A4A-896C-406EBC406D66}"/>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2622EFE7-558D-D0D6-ABB0-E152FCD2D929}"/>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0959EF9-421B-0B42-076F-3EAADFF2E3AB}"/>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5A93E55E-A7CF-31DF-B702-56441B2DDE6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63FED1B-F32D-7F6B-C465-88AC6049622F}"/>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41250459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3380E2CC-C4B8-964B-F70D-8574A5993A8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F1FADE95-344E-A9E2-C2C0-7DA9EBB50DB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5B0CF5E-5337-96DA-CF9F-4B18025AFB39}"/>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AFC46605-06E8-BD79-FC4E-DE74549757F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34CE113-CD48-4415-1206-5002C02997CE}"/>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7059601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1" y="2376766"/>
            <a:ext cx="9144000" cy="855184"/>
          </a:xfrm>
          <a:prstGeom prst="rect">
            <a:avLst/>
          </a:prstGeom>
        </p:spPr>
        <p:txBody>
          <a:bodyPr anchor="b">
            <a:normAutofit/>
          </a:bodyPr>
          <a:lstStyle>
            <a:lvl1pPr algn="ctr">
              <a:defRPr sz="4400" b="1">
                <a:solidFill>
                  <a:srgbClr val="2D3F4E"/>
                </a:solidFill>
                <a:latin typeface="Trebuchet MS" panose="020B0703020202090204" pitchFamily="34" charset="0"/>
              </a:defRPr>
            </a:lvl1pPr>
          </a:lstStyle>
          <a:p>
            <a:r>
              <a:rPr lang="en-US" dirty="0"/>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b="1">
                <a:solidFill>
                  <a:srgbClr val="2D3F4E"/>
                </a:solidFill>
                <a:latin typeface="Trebuchet MS" panose="020B0703020202090204" pitchFamily="34" charset="0"/>
              </a:defRPr>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en-US" dirty="0"/>
              <a:t>Click to edit Master subtitle style</a:t>
            </a:r>
          </a:p>
        </p:txBody>
      </p:sp>
      <p:sp>
        <p:nvSpPr>
          <p:cNvPr id="4" name="부제목 2">
            <a:extLst>
              <a:ext uri="{FF2B5EF4-FFF2-40B4-BE49-F238E27FC236}">
                <a16:creationId xmlns:a16="http://schemas.microsoft.com/office/drawing/2014/main" id="{EB3B124F-36C4-94D5-C22F-6D439133A7B4}"/>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4BDBBFFA-AC6B-4DE0-F991-D9DA483B3EE6}"/>
              </a:ext>
            </a:extLst>
          </p:cNvPr>
          <p:cNvGrpSpPr/>
          <p:nvPr userDrawn="1"/>
        </p:nvGrpSpPr>
        <p:grpSpPr>
          <a:xfrm>
            <a:off x="5196905" y="4977344"/>
            <a:ext cx="1798190" cy="646162"/>
            <a:chOff x="5976117" y="116467"/>
            <a:chExt cx="4341047" cy="1559914"/>
          </a:xfrm>
        </p:grpSpPr>
        <p:sp>
          <p:nvSpPr>
            <p:cNvPr id="6" name="사각형: 둥근 모서리 5">
              <a:extLst>
                <a:ext uri="{FF2B5EF4-FFF2-40B4-BE49-F238E27FC236}">
                  <a16:creationId xmlns:a16="http://schemas.microsoft.com/office/drawing/2014/main" id="{7D01C0DA-7E19-0F85-F60D-470CBEC2E8C3}"/>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사각형: 둥근 모서리 6">
              <a:extLst>
                <a:ext uri="{FF2B5EF4-FFF2-40B4-BE49-F238E27FC236}">
                  <a16:creationId xmlns:a16="http://schemas.microsoft.com/office/drawing/2014/main" id="{ED4AC07B-F602-BF95-CE22-697B01DEE9B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8" name="사각형: 둥근 모서리 34">
              <a:extLst>
                <a:ext uri="{FF2B5EF4-FFF2-40B4-BE49-F238E27FC236}">
                  <a16:creationId xmlns:a16="http://schemas.microsoft.com/office/drawing/2014/main" id="{6FDA9D2B-21BB-4F37-E3AB-497C69ED2087}"/>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8">
              <a:extLst>
                <a:ext uri="{FF2B5EF4-FFF2-40B4-BE49-F238E27FC236}">
                  <a16:creationId xmlns:a16="http://schemas.microsoft.com/office/drawing/2014/main" id="{E135C6C3-D988-0443-168B-FABB6CAB15AB}"/>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6086E433-4747-0B2B-6F82-1F92A460E912}"/>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E9F9AE10-6C32-FE3C-D6FF-0F343E1757E3}"/>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34">
              <a:extLst>
                <a:ext uri="{FF2B5EF4-FFF2-40B4-BE49-F238E27FC236}">
                  <a16:creationId xmlns:a16="http://schemas.microsoft.com/office/drawing/2014/main" id="{5C706ED6-9017-234E-8BAB-E84A527A4F3C}"/>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A7E79BBD-9AB2-7ACC-C325-DE0F17968F3D}"/>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14">
              <a:extLst>
                <a:ext uri="{FF2B5EF4-FFF2-40B4-BE49-F238E27FC236}">
                  <a16:creationId xmlns:a16="http://schemas.microsoft.com/office/drawing/2014/main" id="{3E740AB6-D3B7-E380-7325-A8FCB7E27C43}"/>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58020E3B-C01B-8C60-4008-5C3AE090F73D}"/>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3ADDB6F6-1190-2E66-F4B9-5226221B81CE}"/>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446A6345-87FD-6E5B-7ED2-F7B600F78F01}"/>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5379B5F-0DF1-1253-1ED9-2A52BE662FB2}"/>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81700A3-FD95-7923-E24A-DE44C3B1E20D}"/>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498E65AD-3F00-17C7-D5FC-9360F0D8D83F}"/>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D84E8DEB-2540-8D52-2097-8A0B84519D14}"/>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C3344A89-4809-DD59-23EA-4FD793BECF83}"/>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AC3D8F07-1C02-3E73-01E8-41A155CCDB1D}"/>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F52B978E-9C88-1E75-EF2C-6F071425AA66}"/>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7CCA3927-601C-0089-540E-B40E216428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74ED5022-514D-AC86-79B3-BFB20B0BDA78}"/>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6DF17EFE-4DE7-23E0-83AE-F34E55751FBA}"/>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E99538CC-61E2-1721-E8D1-CDDF420D356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
        <p:nvSpPr>
          <p:cNvPr id="43" name="내용 개체 틀 42">
            <a:extLst>
              <a:ext uri="{FF2B5EF4-FFF2-40B4-BE49-F238E27FC236}">
                <a16:creationId xmlns:a16="http://schemas.microsoft.com/office/drawing/2014/main" id="{7F399805-B9E0-9A92-4145-86CBE2C1A796}"/>
              </a:ext>
            </a:extLst>
          </p:cNvPr>
          <p:cNvSpPr>
            <a:spLocks noGrp="1"/>
          </p:cNvSpPr>
          <p:nvPr>
            <p:ph sz="quarter" idx="10"/>
          </p:nvPr>
        </p:nvSpPr>
        <p:spPr>
          <a:xfrm>
            <a:off x="1524001" y="1299326"/>
            <a:ext cx="9144000" cy="855183"/>
          </a:xfrm>
        </p:spPr>
        <p:txBody>
          <a:bodyPr anchor="b"/>
          <a:lstStyle>
            <a:lvl1pPr marL="0" indent="0" algn="ctr">
              <a:buNone/>
              <a:defRPr sz="4800" b="1">
                <a:latin typeface="Trebuchet MS" panose="020B0603020202020204" pitchFamily="34" charset="0"/>
              </a:defRPr>
            </a:lvl1pPr>
          </a:lstStyle>
          <a:p>
            <a:pPr lvl="0"/>
            <a:r>
              <a:rPr lang="ko-KR" altLang="en-US" dirty="0"/>
              <a:t>마스터 텍스트 스타일</a:t>
            </a:r>
          </a:p>
        </p:txBody>
      </p:sp>
    </p:spTree>
    <p:extLst>
      <p:ext uri="{BB962C8B-B14F-4D97-AF65-F5344CB8AC3E}">
        <p14:creationId xmlns:p14="http://schemas.microsoft.com/office/powerpoint/2010/main" val="3125989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마지막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a:prstGeom prst="rect">
            <a:avLst/>
          </a:prstGeom>
        </p:spPr>
        <p:txBody>
          <a:bodyPr anchor="b"/>
          <a:lstStyle>
            <a:lvl1pPr algn="ctr">
              <a:defRPr sz="4800">
                <a:latin typeface="Trebuchet MS" panose="020B0703020202090204" pitchFamily="34" charset="0"/>
              </a:defRPr>
            </a:lvl1pPr>
          </a:lstStyle>
          <a:p>
            <a:r>
              <a:rPr lang="en-US" dirty="0"/>
              <a:t>Click to edit Master title style</a:t>
            </a:r>
          </a:p>
        </p:txBody>
      </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pic>
        <p:nvPicPr>
          <p:cNvPr id="35" name="그림 34">
            <a:extLst>
              <a:ext uri="{FF2B5EF4-FFF2-40B4-BE49-F238E27FC236}">
                <a16:creationId xmlns:a16="http://schemas.microsoft.com/office/drawing/2014/main" id="{4538A30A-D7A1-6521-A4C9-7B9DA3C4F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46080"/>
            <a:ext cx="1311920" cy="1311920"/>
          </a:xfrm>
          <a:prstGeom prst="rect">
            <a:avLst/>
          </a:prstGeom>
        </p:spPr>
      </p:pic>
      <p:sp>
        <p:nvSpPr>
          <p:cNvPr id="36" name="직사각형 35">
            <a:extLst>
              <a:ext uri="{FF2B5EF4-FFF2-40B4-BE49-F238E27FC236}">
                <a16:creationId xmlns:a16="http://schemas.microsoft.com/office/drawing/2014/main" id="{25080A8C-CABB-86CB-451E-4AA69A1125FB}"/>
              </a:ext>
            </a:extLst>
          </p:cNvPr>
          <p:cNvSpPr/>
          <p:nvPr userDrawn="1"/>
        </p:nvSpPr>
        <p:spPr>
          <a:xfrm>
            <a:off x="1197392" y="6516837"/>
            <a:ext cx="2395207" cy="307777"/>
          </a:xfrm>
          <a:prstGeom prst="rect">
            <a:avLst/>
          </a:prstGeom>
        </p:spPr>
        <p:txBody>
          <a:bodyPr wrap="none">
            <a:spAutoFit/>
          </a:bodyPr>
          <a:lstStyle/>
          <a:p>
            <a:r>
              <a:rPr lang="en-US" altLang="ko-KR" sz="1400" b="1" dirty="0">
                <a:latin typeface="Trebuchet MS" panose="020B0603020202020204" pitchFamily="34" charset="0"/>
              </a:rPr>
              <a:t>Lab: https://aica.ssu.ac.kr</a:t>
            </a:r>
            <a:endParaRPr lang="ko-KR" altLang="en-US" sz="1400" b="1" dirty="0">
              <a:latin typeface="Trebuchet MS" panose="020B0603020202020204" pitchFamily="34" charset="0"/>
            </a:endParaRPr>
          </a:p>
        </p:txBody>
      </p:sp>
      <p:sp>
        <p:nvSpPr>
          <p:cNvPr id="17" name="텍스트 개체 틀 16">
            <a:extLst>
              <a:ext uri="{FF2B5EF4-FFF2-40B4-BE49-F238E27FC236}">
                <a16:creationId xmlns:a16="http://schemas.microsoft.com/office/drawing/2014/main" id="{FB6F3407-DDCF-0C52-4C34-A45338DFBA8D}"/>
              </a:ext>
            </a:extLst>
          </p:cNvPr>
          <p:cNvSpPr>
            <a:spLocks noGrp="1"/>
          </p:cNvSpPr>
          <p:nvPr>
            <p:ph type="body" sz="quarter" idx="10" hasCustomPrompt="1"/>
          </p:nvPr>
        </p:nvSpPr>
        <p:spPr>
          <a:xfrm>
            <a:off x="1197392" y="6261269"/>
            <a:ext cx="3185923" cy="307777"/>
          </a:xfrm>
        </p:spPr>
        <p:txBody>
          <a:bodyPr>
            <a:normAutofit/>
          </a:bodyPr>
          <a:lstStyle>
            <a:lvl1pPr marL="0" indent="0">
              <a:buNone/>
              <a:defRPr sz="1400" b="1">
                <a:latin typeface="Trebuchet MS" panose="020B0603020202020204" pitchFamily="34" charset="0"/>
              </a:defRPr>
            </a:lvl1pPr>
            <a:lvl2pPr marL="457202" indent="0">
              <a:buNone/>
              <a:defRPr/>
            </a:lvl2pPr>
            <a:lvl3pPr marL="914404" indent="0">
              <a:buNone/>
              <a:defRPr/>
            </a:lvl3pPr>
            <a:lvl4pPr marL="1371605" indent="0">
              <a:buNone/>
              <a:defRPr/>
            </a:lvl4pPr>
            <a:lvl5pPr marL="1828807" indent="0">
              <a:buNone/>
              <a:defRPr/>
            </a:lvl5pPr>
          </a:lstStyle>
          <a:p>
            <a:pPr lvl="0"/>
            <a:r>
              <a:rPr lang="ko-KR" altLang="en-US" dirty="0"/>
              <a:t>본인 이메일 주소 </a:t>
            </a:r>
            <a:r>
              <a:rPr lang="en-US" altLang="ko-KR" dirty="0"/>
              <a:t>(E-mail: ~)</a:t>
            </a:r>
            <a:endParaRPr lang="ko-KR" altLang="en-US" dirty="0"/>
          </a:p>
        </p:txBody>
      </p:sp>
      <p:sp>
        <p:nvSpPr>
          <p:cNvPr id="19" name="부제목 2">
            <a:extLst>
              <a:ext uri="{FF2B5EF4-FFF2-40B4-BE49-F238E27FC236}">
                <a16:creationId xmlns:a16="http://schemas.microsoft.com/office/drawing/2014/main" id="{F294413C-AB4A-7E8A-9974-28FF957DA562}"/>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37" name="그룹 36">
            <a:extLst>
              <a:ext uri="{FF2B5EF4-FFF2-40B4-BE49-F238E27FC236}">
                <a16:creationId xmlns:a16="http://schemas.microsoft.com/office/drawing/2014/main" id="{63E9D89E-488B-7C80-8E05-D47E50776676}"/>
              </a:ext>
            </a:extLst>
          </p:cNvPr>
          <p:cNvGrpSpPr/>
          <p:nvPr userDrawn="1"/>
        </p:nvGrpSpPr>
        <p:grpSpPr>
          <a:xfrm>
            <a:off x="5196905" y="4977344"/>
            <a:ext cx="1798190" cy="646162"/>
            <a:chOff x="5976117" y="116467"/>
            <a:chExt cx="4341047" cy="1559914"/>
          </a:xfrm>
        </p:grpSpPr>
        <p:sp>
          <p:nvSpPr>
            <p:cNvPr id="38" name="사각형: 둥근 모서리 37">
              <a:extLst>
                <a:ext uri="{FF2B5EF4-FFF2-40B4-BE49-F238E27FC236}">
                  <a16:creationId xmlns:a16="http://schemas.microsoft.com/office/drawing/2014/main" id="{64ADCAA0-1610-1964-CF41-4AE81DD6BF1C}"/>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9" name="사각형: 둥근 모서리 38">
              <a:extLst>
                <a:ext uri="{FF2B5EF4-FFF2-40B4-BE49-F238E27FC236}">
                  <a16:creationId xmlns:a16="http://schemas.microsoft.com/office/drawing/2014/main" id="{028F6839-7E1F-F31F-B8F7-895801E25D7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0" name="사각형: 둥근 모서리 34">
              <a:extLst>
                <a:ext uri="{FF2B5EF4-FFF2-40B4-BE49-F238E27FC236}">
                  <a16:creationId xmlns:a16="http://schemas.microsoft.com/office/drawing/2014/main" id="{BBD4F966-775A-284D-982D-F7F64523168D}"/>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1" name="사각형: 둥근 모서리 40">
              <a:extLst>
                <a:ext uri="{FF2B5EF4-FFF2-40B4-BE49-F238E27FC236}">
                  <a16:creationId xmlns:a16="http://schemas.microsoft.com/office/drawing/2014/main" id="{983DE28C-A4C4-604E-8D18-D46C51025028}"/>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2" name="사각형: 둥근 모서리 41">
              <a:extLst>
                <a:ext uri="{FF2B5EF4-FFF2-40B4-BE49-F238E27FC236}">
                  <a16:creationId xmlns:a16="http://schemas.microsoft.com/office/drawing/2014/main" id="{8E9AABCB-5098-84DC-87E1-79825A6A9438}"/>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3" name="사각형: 둥근 모서리 42">
              <a:extLst>
                <a:ext uri="{FF2B5EF4-FFF2-40B4-BE49-F238E27FC236}">
                  <a16:creationId xmlns:a16="http://schemas.microsoft.com/office/drawing/2014/main" id="{DEE37C14-9C69-3C23-0179-974AE185B185}"/>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사각형: 둥근 모서리 34">
              <a:extLst>
                <a:ext uri="{FF2B5EF4-FFF2-40B4-BE49-F238E27FC236}">
                  <a16:creationId xmlns:a16="http://schemas.microsoft.com/office/drawing/2014/main" id="{4C38D65E-4FEC-804E-42C0-EF22F51FF0D4}"/>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5" name="사각형: 둥근 모서리 44">
              <a:extLst>
                <a:ext uri="{FF2B5EF4-FFF2-40B4-BE49-F238E27FC236}">
                  <a16:creationId xmlns:a16="http://schemas.microsoft.com/office/drawing/2014/main" id="{7A23E54B-77C3-B58C-2FA5-9844FD869CA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6" name="사각형: 둥근 모서리 45">
              <a:extLst>
                <a:ext uri="{FF2B5EF4-FFF2-40B4-BE49-F238E27FC236}">
                  <a16:creationId xmlns:a16="http://schemas.microsoft.com/office/drawing/2014/main" id="{32D96933-CDA3-3D64-DD04-22498904F2B0}"/>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사각형: 둥근 모서리 46">
              <a:extLst>
                <a:ext uri="{FF2B5EF4-FFF2-40B4-BE49-F238E27FC236}">
                  <a16:creationId xmlns:a16="http://schemas.microsoft.com/office/drawing/2014/main" id="{445C1F95-147E-F882-600A-F515FF5730DA}"/>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8" name="사각형: 둥근 모서리 47">
              <a:extLst>
                <a:ext uri="{FF2B5EF4-FFF2-40B4-BE49-F238E27FC236}">
                  <a16:creationId xmlns:a16="http://schemas.microsoft.com/office/drawing/2014/main" id="{B524C14F-86B3-5F43-5AA4-229B555CD71D}"/>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9" name="사각형: 둥근 모서리 48">
              <a:extLst>
                <a:ext uri="{FF2B5EF4-FFF2-40B4-BE49-F238E27FC236}">
                  <a16:creationId xmlns:a16="http://schemas.microsoft.com/office/drawing/2014/main" id="{93A75C5C-D184-FB1E-4D30-8E0C46ECE9F3}"/>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0" name="사각형: 둥근 모서리 49">
              <a:extLst>
                <a:ext uri="{FF2B5EF4-FFF2-40B4-BE49-F238E27FC236}">
                  <a16:creationId xmlns:a16="http://schemas.microsoft.com/office/drawing/2014/main" id="{70B536F9-A737-7889-1CA1-D9A1DF5D1FEE}"/>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1" name="사각형: 둥근 모서리 50">
              <a:extLst>
                <a:ext uri="{FF2B5EF4-FFF2-40B4-BE49-F238E27FC236}">
                  <a16:creationId xmlns:a16="http://schemas.microsoft.com/office/drawing/2014/main" id="{00B8EB24-2E34-6FC4-3C61-ECC562D3F574}"/>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2" name="사각형: 둥근 모서리 48">
              <a:extLst>
                <a:ext uri="{FF2B5EF4-FFF2-40B4-BE49-F238E27FC236}">
                  <a16:creationId xmlns:a16="http://schemas.microsoft.com/office/drawing/2014/main" id="{C19CBDAA-F316-CB8C-1303-809695D44691}"/>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3" name="사각형: 둥근 모서리 52">
              <a:extLst>
                <a:ext uri="{FF2B5EF4-FFF2-40B4-BE49-F238E27FC236}">
                  <a16:creationId xmlns:a16="http://schemas.microsoft.com/office/drawing/2014/main" id="{3982DA01-DAB2-66E5-E365-CFF5181A0C9C}"/>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4" name="사각형: 둥근 모서리 53">
              <a:extLst>
                <a:ext uri="{FF2B5EF4-FFF2-40B4-BE49-F238E27FC236}">
                  <a16:creationId xmlns:a16="http://schemas.microsoft.com/office/drawing/2014/main" id="{800FCEC9-FF7B-4B9B-DAC4-B3D9BC28F820}"/>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5" name="사각형: 둥근 모서리 54">
              <a:extLst>
                <a:ext uri="{FF2B5EF4-FFF2-40B4-BE49-F238E27FC236}">
                  <a16:creationId xmlns:a16="http://schemas.microsoft.com/office/drawing/2014/main" id="{FE59132D-E0F7-5227-671D-15B4032C34B0}"/>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6" name="사각형: 둥근 모서리 55">
              <a:extLst>
                <a:ext uri="{FF2B5EF4-FFF2-40B4-BE49-F238E27FC236}">
                  <a16:creationId xmlns:a16="http://schemas.microsoft.com/office/drawing/2014/main" id="{20FCFC37-75D1-A1F5-B779-980816D9566F}"/>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7" name="사각형: 둥근 모서리 56">
              <a:extLst>
                <a:ext uri="{FF2B5EF4-FFF2-40B4-BE49-F238E27FC236}">
                  <a16:creationId xmlns:a16="http://schemas.microsoft.com/office/drawing/2014/main" id="{4A451D5E-D275-D412-8599-7730D9FAE2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8" name="사각형: 둥근 모서리 48">
              <a:extLst>
                <a:ext uri="{FF2B5EF4-FFF2-40B4-BE49-F238E27FC236}">
                  <a16:creationId xmlns:a16="http://schemas.microsoft.com/office/drawing/2014/main" id="{9DD62034-9CD4-BE1D-203C-464F0185C4C9}"/>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9" name="사각형: 둥근 모서리 58">
              <a:extLst>
                <a:ext uri="{FF2B5EF4-FFF2-40B4-BE49-F238E27FC236}">
                  <a16:creationId xmlns:a16="http://schemas.microsoft.com/office/drawing/2014/main" id="{9FCA9E36-697C-D30C-2533-FD6768039D7C}"/>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0" name="사각형: 둥근 모서리 59">
              <a:extLst>
                <a:ext uri="{FF2B5EF4-FFF2-40B4-BE49-F238E27FC236}">
                  <a16:creationId xmlns:a16="http://schemas.microsoft.com/office/drawing/2014/main" id="{6E7E9F02-56F7-2C10-9878-B607F9E9684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25466256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2A8795-CAE2-41A2-9830-252F1DB8D40B}"/>
              </a:ext>
            </a:extLst>
          </p:cNvPr>
          <p:cNvSpPr>
            <a:spLocks noGrp="1"/>
          </p:cNvSpPr>
          <p:nvPr>
            <p:ph type="ctrTitle"/>
          </p:nvPr>
        </p:nvSpPr>
        <p:spPr>
          <a:xfrm>
            <a:off x="1524001"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95D3D744-13EB-4EFF-AE30-0C7AE227FE8A}"/>
              </a:ext>
            </a:extLst>
          </p:cNvPr>
          <p:cNvSpPr>
            <a:spLocks noGrp="1"/>
          </p:cNvSpPr>
          <p:nvPr>
            <p:ph type="subTitle" idx="1"/>
          </p:nvPr>
        </p:nvSpPr>
        <p:spPr>
          <a:xfrm>
            <a:off x="1524001" y="3602038"/>
            <a:ext cx="9144000" cy="1655762"/>
          </a:xfrm>
        </p:spPr>
        <p:txBody>
          <a:bodyPr/>
          <a:lstStyle>
            <a:lvl1pPr marL="0" indent="0" algn="ctr">
              <a:buNone/>
              <a:defRPr sz="2400"/>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ko-KR" altLang="en-US"/>
              <a:t>클릭하여 마스터 부제목 스타일 편집</a:t>
            </a:r>
          </a:p>
        </p:txBody>
      </p:sp>
      <p:sp>
        <p:nvSpPr>
          <p:cNvPr id="4" name="부제목 2">
            <a:extLst>
              <a:ext uri="{FF2B5EF4-FFF2-40B4-BE49-F238E27FC236}">
                <a16:creationId xmlns:a16="http://schemas.microsoft.com/office/drawing/2014/main" id="{A9E79BC4-6998-EDEE-667D-B7C17B3A08C0}"/>
              </a:ext>
            </a:extLst>
          </p:cNvPr>
          <p:cNvSpPr txBox="1">
            <a:spLocks/>
          </p:cNvSpPr>
          <p:nvPr userDrawn="1"/>
        </p:nvSpPr>
        <p:spPr>
          <a:xfrm>
            <a:off x="3787205" y="5907650"/>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565CA89F-D0E9-8CE5-22B9-51E7DE7904E7}"/>
              </a:ext>
            </a:extLst>
          </p:cNvPr>
          <p:cNvGrpSpPr/>
          <p:nvPr userDrawn="1"/>
        </p:nvGrpSpPr>
        <p:grpSpPr>
          <a:xfrm>
            <a:off x="5196905" y="5156355"/>
            <a:ext cx="1798190" cy="646162"/>
            <a:chOff x="5976117" y="116467"/>
            <a:chExt cx="4341047" cy="1559914"/>
          </a:xfrm>
        </p:grpSpPr>
        <p:sp>
          <p:nvSpPr>
            <p:cNvPr id="6" name="사각형: 둥근 모서리 5">
              <a:extLst>
                <a:ext uri="{FF2B5EF4-FFF2-40B4-BE49-F238E27FC236}">
                  <a16:creationId xmlns:a16="http://schemas.microsoft.com/office/drawing/2014/main" id="{633F487C-A200-17BE-5341-37611BF8FBFD}"/>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2F47E4AB-6462-333C-8B2F-30524FE22205}"/>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34">
              <a:extLst>
                <a:ext uri="{FF2B5EF4-FFF2-40B4-BE49-F238E27FC236}">
                  <a16:creationId xmlns:a16="http://schemas.microsoft.com/office/drawing/2014/main" id="{0A103168-CD94-921E-63B0-D7B6F62E3E6E}"/>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11">
              <a:extLst>
                <a:ext uri="{FF2B5EF4-FFF2-40B4-BE49-F238E27FC236}">
                  <a16:creationId xmlns:a16="http://schemas.microsoft.com/office/drawing/2014/main" id="{7589D919-CBEB-F8FB-07F2-12CA9E166B19}"/>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7C46F0AE-DB11-EB8B-FE86-FF73BA879CF9}"/>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4" name="사각형: 둥근 모서리 13">
              <a:extLst>
                <a:ext uri="{FF2B5EF4-FFF2-40B4-BE49-F238E27FC236}">
                  <a16:creationId xmlns:a16="http://schemas.microsoft.com/office/drawing/2014/main" id="{2F1B7618-3197-6105-6B9F-CD50533BC4C8}"/>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34">
              <a:extLst>
                <a:ext uri="{FF2B5EF4-FFF2-40B4-BE49-F238E27FC236}">
                  <a16:creationId xmlns:a16="http://schemas.microsoft.com/office/drawing/2014/main" id="{DAEE3283-E646-D165-09D4-A4EBC9383BD5}"/>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FA0B60E4-48DD-E363-AC71-B8FE6390DD39}"/>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7" name="사각형: 둥근 모서리 16">
              <a:extLst>
                <a:ext uri="{FF2B5EF4-FFF2-40B4-BE49-F238E27FC236}">
                  <a16:creationId xmlns:a16="http://schemas.microsoft.com/office/drawing/2014/main" id="{2DBD4F83-0783-F1C4-F273-6EE7BA9AA761}"/>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A22CD0BC-B38F-EAB9-1662-E8974A393956}"/>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사각형: 둥근 모서리 18">
              <a:extLst>
                <a:ext uri="{FF2B5EF4-FFF2-40B4-BE49-F238E27FC236}">
                  <a16:creationId xmlns:a16="http://schemas.microsoft.com/office/drawing/2014/main" id="{4A5B8AFF-1462-C09E-526A-01C1EF6A27BF}"/>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1E327536-D68A-677A-9C59-B2F87215F482}"/>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4437FD44-BC56-6D38-BDF7-4B95F0F58D41}"/>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01FAF00-B3B6-32CC-742D-42EABD4FD45C}"/>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8FC12012-F3C1-1E96-C679-68B7DA64D4C2}"/>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E85CAABF-CB4B-2B7D-A895-75F478F9E0A3}"/>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977AD124-2D48-82D1-BF1E-379401F23CBF}"/>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935C0909-CA27-0C56-8530-67186FB3D7CC}"/>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E9BDEEAD-DED1-28AC-8118-7CB4F7F9A7B3}"/>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A120A2F1-9E2F-DE3C-9C0D-767223CCDCC3}"/>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9C708ECA-1A72-51DA-2BCE-82E60DF885CF}"/>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02233A34-DD1A-0CFF-EE55-E7D78EE182A5}"/>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14AC34DC-FFAD-AE9B-6155-5A249659B17A}"/>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7276A3FC-BAB7-29FF-28AD-B77DB9D0D8E8}"/>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307824EB-7201-2EC4-BDA2-3CA8ECC4C4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D724357C-B669-4A76-895B-80CA83451CEE}"/>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Tree>
    <p:extLst>
      <p:ext uri="{BB962C8B-B14F-4D97-AF65-F5344CB8AC3E}">
        <p14:creationId xmlns:p14="http://schemas.microsoft.com/office/powerpoint/2010/main" val="11523796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1" y="2376766"/>
            <a:ext cx="9144000" cy="855184"/>
          </a:xfrm>
          <a:prstGeom prst="rect">
            <a:avLst/>
          </a:prstGeom>
        </p:spPr>
        <p:txBody>
          <a:bodyPr anchor="b">
            <a:normAutofit/>
          </a:bodyPr>
          <a:lstStyle>
            <a:lvl1pPr algn="ctr">
              <a:defRPr sz="4400" b="1">
                <a:solidFill>
                  <a:srgbClr val="2D3F4E"/>
                </a:solidFill>
                <a:latin typeface="Trebuchet MS" panose="020B0703020202090204" pitchFamily="34" charset="0"/>
              </a:defRPr>
            </a:lvl1pPr>
          </a:lstStyle>
          <a:p>
            <a:r>
              <a:rPr lang="en-US" dirty="0"/>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b="1">
                <a:solidFill>
                  <a:srgbClr val="2D3F4E"/>
                </a:solidFill>
                <a:latin typeface="Trebuchet MS" panose="020B0703020202090204" pitchFamily="34" charset="0"/>
              </a:defRPr>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en-US" dirty="0"/>
              <a:t>Click to edit Master subtitle style</a:t>
            </a:r>
          </a:p>
        </p:txBody>
      </p:sp>
      <p:sp>
        <p:nvSpPr>
          <p:cNvPr id="4" name="부제목 2">
            <a:extLst>
              <a:ext uri="{FF2B5EF4-FFF2-40B4-BE49-F238E27FC236}">
                <a16:creationId xmlns:a16="http://schemas.microsoft.com/office/drawing/2014/main" id="{EB3B124F-36C4-94D5-C22F-6D439133A7B4}"/>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4BDBBFFA-AC6B-4DE0-F991-D9DA483B3EE6}"/>
              </a:ext>
            </a:extLst>
          </p:cNvPr>
          <p:cNvGrpSpPr/>
          <p:nvPr userDrawn="1"/>
        </p:nvGrpSpPr>
        <p:grpSpPr>
          <a:xfrm>
            <a:off x="5196905" y="4977344"/>
            <a:ext cx="1798190" cy="646162"/>
            <a:chOff x="5976117" y="116467"/>
            <a:chExt cx="4341047" cy="1559914"/>
          </a:xfrm>
        </p:grpSpPr>
        <p:sp>
          <p:nvSpPr>
            <p:cNvPr id="6" name="사각형: 둥근 모서리 5">
              <a:extLst>
                <a:ext uri="{FF2B5EF4-FFF2-40B4-BE49-F238E27FC236}">
                  <a16:creationId xmlns:a16="http://schemas.microsoft.com/office/drawing/2014/main" id="{7D01C0DA-7E19-0F85-F60D-470CBEC2E8C3}"/>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사각형: 둥근 모서리 6">
              <a:extLst>
                <a:ext uri="{FF2B5EF4-FFF2-40B4-BE49-F238E27FC236}">
                  <a16:creationId xmlns:a16="http://schemas.microsoft.com/office/drawing/2014/main" id="{ED4AC07B-F602-BF95-CE22-697B01DEE9B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8" name="사각형: 둥근 모서리 34">
              <a:extLst>
                <a:ext uri="{FF2B5EF4-FFF2-40B4-BE49-F238E27FC236}">
                  <a16:creationId xmlns:a16="http://schemas.microsoft.com/office/drawing/2014/main" id="{6FDA9D2B-21BB-4F37-E3AB-497C69ED2087}"/>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8">
              <a:extLst>
                <a:ext uri="{FF2B5EF4-FFF2-40B4-BE49-F238E27FC236}">
                  <a16:creationId xmlns:a16="http://schemas.microsoft.com/office/drawing/2014/main" id="{E135C6C3-D988-0443-168B-FABB6CAB15AB}"/>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6086E433-4747-0B2B-6F82-1F92A460E912}"/>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E9F9AE10-6C32-FE3C-D6FF-0F343E1757E3}"/>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34">
              <a:extLst>
                <a:ext uri="{FF2B5EF4-FFF2-40B4-BE49-F238E27FC236}">
                  <a16:creationId xmlns:a16="http://schemas.microsoft.com/office/drawing/2014/main" id="{5C706ED6-9017-234E-8BAB-E84A527A4F3C}"/>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A7E79BBD-9AB2-7ACC-C325-DE0F17968F3D}"/>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14">
              <a:extLst>
                <a:ext uri="{FF2B5EF4-FFF2-40B4-BE49-F238E27FC236}">
                  <a16:creationId xmlns:a16="http://schemas.microsoft.com/office/drawing/2014/main" id="{3E740AB6-D3B7-E380-7325-A8FCB7E27C43}"/>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58020E3B-C01B-8C60-4008-5C3AE090F73D}"/>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3ADDB6F6-1190-2E66-F4B9-5226221B81CE}"/>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446A6345-87FD-6E5B-7ED2-F7B600F78F01}"/>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5379B5F-0DF1-1253-1ED9-2A52BE662FB2}"/>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81700A3-FD95-7923-E24A-DE44C3B1E20D}"/>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498E65AD-3F00-17C7-D5FC-9360F0D8D83F}"/>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D84E8DEB-2540-8D52-2097-8A0B84519D14}"/>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C3344A89-4809-DD59-23EA-4FD793BECF83}"/>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AC3D8F07-1C02-3E73-01E8-41A155CCDB1D}"/>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F52B978E-9C88-1E75-EF2C-6F071425AA66}"/>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7CCA3927-601C-0089-540E-B40E216428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74ED5022-514D-AC86-79B3-BFB20B0BDA78}"/>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6DF17EFE-4DE7-23E0-83AE-F34E55751FBA}"/>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E99538CC-61E2-1721-E8D1-CDDF420D356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
        <p:nvSpPr>
          <p:cNvPr id="43" name="내용 개체 틀 42">
            <a:extLst>
              <a:ext uri="{FF2B5EF4-FFF2-40B4-BE49-F238E27FC236}">
                <a16:creationId xmlns:a16="http://schemas.microsoft.com/office/drawing/2014/main" id="{7F399805-B9E0-9A92-4145-86CBE2C1A796}"/>
              </a:ext>
            </a:extLst>
          </p:cNvPr>
          <p:cNvSpPr>
            <a:spLocks noGrp="1"/>
          </p:cNvSpPr>
          <p:nvPr>
            <p:ph sz="quarter" idx="10"/>
          </p:nvPr>
        </p:nvSpPr>
        <p:spPr>
          <a:xfrm>
            <a:off x="1524001" y="1299326"/>
            <a:ext cx="9144000" cy="855183"/>
          </a:xfrm>
        </p:spPr>
        <p:txBody>
          <a:bodyPr anchor="b"/>
          <a:lstStyle>
            <a:lvl1pPr marL="0" indent="0" algn="ctr">
              <a:buNone/>
              <a:defRPr sz="4800" b="1">
                <a:latin typeface="Trebuchet MS" panose="020B0603020202020204" pitchFamily="34" charset="0"/>
              </a:defRPr>
            </a:lvl1pPr>
          </a:lstStyle>
          <a:p>
            <a:pPr lvl="0"/>
            <a:r>
              <a:rPr lang="ko-KR" altLang="en-US" dirty="0"/>
              <a:t>마스터 텍스트 스타일</a:t>
            </a:r>
          </a:p>
        </p:txBody>
      </p:sp>
    </p:spTree>
    <p:extLst>
      <p:ext uri="{BB962C8B-B14F-4D97-AF65-F5344CB8AC3E}">
        <p14:creationId xmlns:p14="http://schemas.microsoft.com/office/powerpoint/2010/main" val="18610629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AEBF52-76E9-B938-4862-6D13627AFD4C}"/>
              </a:ext>
            </a:extLst>
          </p:cNvPr>
          <p:cNvSpPr/>
          <p:nvPr userDrawn="1"/>
        </p:nvSpPr>
        <p:spPr>
          <a:xfrm>
            <a:off x="2" y="-1"/>
            <a:ext cx="12191999" cy="681037"/>
          </a:xfrm>
          <a:prstGeom prst="rect">
            <a:avLst/>
          </a:prstGeom>
          <a:gradFill flip="none" rotWithShape="1">
            <a:gsLst>
              <a:gs pos="0">
                <a:srgbClr val="01688F"/>
              </a:gs>
              <a:gs pos="100000">
                <a:schemeClr val="bg1">
                  <a:alpha val="0"/>
                </a:schemeClr>
              </a:gs>
              <a:gs pos="70000">
                <a:srgbClr val="72ABC8"/>
              </a:gs>
              <a:gs pos="85000">
                <a:schemeClr val="accent1">
                  <a:lumMod val="40000"/>
                  <a:lumOff val="6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Trebuchet MS" panose="020B0703020202090204" pitchFamily="34" charset="0"/>
            </a:endParaRPr>
          </a:p>
        </p:txBody>
      </p:sp>
      <p:pic>
        <p:nvPicPr>
          <p:cNvPr id="8" name="그림 7" descr="옥외설치물이(가) 표시된 사진&#10;&#10;자동 생성된 설명">
            <a:extLst>
              <a:ext uri="{FF2B5EF4-FFF2-40B4-BE49-F238E27FC236}">
                <a16:creationId xmlns:a16="http://schemas.microsoft.com/office/drawing/2014/main" id="{F966DF82-ED07-FCE8-124A-FFE8ACAFE184}"/>
              </a:ext>
            </a:extLst>
          </p:cNvPr>
          <p:cNvPicPr>
            <a:picLocks noChangeAspect="1"/>
          </p:cNvPicPr>
          <p:nvPr userDrawn="1"/>
        </p:nvPicPr>
        <p:blipFill rotWithShape="1">
          <a:blip r:embed="rId2" cstate="print">
            <a:alphaModFix amt="70000"/>
            <a:duotone>
              <a:schemeClr val="accent5">
                <a:shade val="45000"/>
                <a:satMod val="135000"/>
              </a:schemeClr>
              <a:prstClr val="white"/>
            </a:duotone>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a:stretch/>
        </p:blipFill>
        <p:spPr>
          <a:xfrm>
            <a:off x="9593627" y="-1"/>
            <a:ext cx="2598373" cy="681037"/>
          </a:xfrm>
          <a:prstGeom prst="rect">
            <a:avLst/>
          </a:prstGeom>
        </p:spPr>
      </p:pic>
      <p:sp>
        <p:nvSpPr>
          <p:cNvPr id="2" name="Title 1"/>
          <p:cNvSpPr>
            <a:spLocks noGrp="1"/>
          </p:cNvSpPr>
          <p:nvPr>
            <p:ph type="title"/>
          </p:nvPr>
        </p:nvSpPr>
        <p:spPr>
          <a:xfrm>
            <a:off x="367749" y="150607"/>
            <a:ext cx="11456504" cy="530430"/>
          </a:xfrm>
          <a:prstGeom prst="rect">
            <a:avLst/>
          </a:prstGeom>
        </p:spPr>
        <p:txBody>
          <a:bodyPr anchor="ctr"/>
          <a:lstStyle>
            <a:lvl1pPr>
              <a:defRPr sz="3200" b="1">
                <a:solidFill>
                  <a:schemeClr val="bg1"/>
                </a:solidFill>
                <a:latin typeface="Trebuchet MS" panose="020B0703020202090204" pitchFamily="34" charset="0"/>
              </a:defRPr>
            </a:lvl1pPr>
          </a:lstStyle>
          <a:p>
            <a:r>
              <a:rPr lang="en-US" dirty="0"/>
              <a:t>Click to edit Master title style</a:t>
            </a:r>
          </a:p>
        </p:txBody>
      </p:sp>
      <p:sp>
        <p:nvSpPr>
          <p:cNvPr id="3" name="Content Placeholder 2"/>
          <p:cNvSpPr>
            <a:spLocks noGrp="1"/>
          </p:cNvSpPr>
          <p:nvPr>
            <p:ph idx="1" hasCustomPrompt="1"/>
          </p:nvPr>
        </p:nvSpPr>
        <p:spPr>
          <a:xfrm>
            <a:off x="367749" y="1172818"/>
            <a:ext cx="11456504" cy="5004146"/>
          </a:xfrm>
        </p:spPr>
        <p:txBody>
          <a:bodyPr>
            <a:normAutofit/>
          </a:bodyPr>
          <a:lstStyle>
            <a:lvl1pPr marL="228601" indent="-228601">
              <a:lnSpc>
                <a:spcPct val="150000"/>
              </a:lnSpc>
              <a:buFont typeface="Wingdings" pitchFamily="2" charset="2"/>
              <a:buChar char="§"/>
              <a:defRPr sz="2000" b="1">
                <a:latin typeface="Trebuchet MS" panose="020B0703020202090204" pitchFamily="34" charset="0"/>
              </a:defRPr>
            </a:lvl1pPr>
            <a:lvl2pPr marL="685803" indent="-228601">
              <a:lnSpc>
                <a:spcPct val="150000"/>
              </a:lnSpc>
              <a:buFont typeface="시스템 서체 일반체"/>
              <a:buChar char="-"/>
              <a:defRPr sz="1600">
                <a:latin typeface="Trebuchet MS" panose="020B0703020202090204" pitchFamily="34" charset="0"/>
              </a:defRPr>
            </a:lvl2pPr>
            <a:lvl3pPr>
              <a:lnSpc>
                <a:spcPct val="150000"/>
              </a:lnSpc>
              <a:defRPr sz="1400">
                <a:latin typeface="Trebuchet MS" panose="020B0703020202090204" pitchFamily="34" charset="0"/>
              </a:defRPr>
            </a:lvl3pPr>
            <a:lvl4pPr marL="1600206" indent="-228601">
              <a:lnSpc>
                <a:spcPct val="150000"/>
              </a:lnSpc>
              <a:buFont typeface="Trebuchet MS" panose="020B0603020202020204" pitchFamily="34" charset="0"/>
              <a:buChar char=":"/>
              <a:defRPr sz="1050">
                <a:latin typeface="Trebuchet MS" panose="020B0703020202090204" pitchFamily="34" charset="0"/>
              </a:defRPr>
            </a:lvl4pPr>
            <a:lvl5pPr marL="2057408" indent="-228601">
              <a:lnSpc>
                <a:spcPct val="150000"/>
              </a:lnSpc>
              <a:buFont typeface="Wingdings" panose="05000000000000000000" pitchFamily="2" charset="2"/>
              <a:buChar char="ü"/>
              <a:defRPr sz="1000">
                <a:latin typeface="Trebuchet MS" panose="020B070302020209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B74EEE4B-5648-1141-8DE7-F35CCED6ABC8}"/>
              </a:ext>
            </a:extLst>
          </p:cNvPr>
          <p:cNvSpPr>
            <a:spLocks noGrp="1"/>
          </p:cNvSpPr>
          <p:nvPr>
            <p:ph type="dt" sz="half" idx="10"/>
          </p:nvPr>
        </p:nvSpPr>
        <p:spPr>
          <a:xfrm>
            <a:off x="1016996" y="6598733"/>
            <a:ext cx="2564404" cy="213734"/>
          </a:xfrm>
          <a:prstGeom prst="rect">
            <a:avLst/>
          </a:prstGeom>
        </p:spPr>
        <p:txBody>
          <a:bodyPr/>
          <a:lstStyle>
            <a:lvl1pPr>
              <a:defRPr>
                <a:latin typeface="Trebuchet MS" panose="020B0703020202090204" pitchFamily="34" charset="0"/>
              </a:defRPr>
            </a:lvl1pPr>
          </a:lstStyle>
          <a:p>
            <a:r>
              <a:rPr lang="en-US" altLang="ko-KR"/>
              <a:t>2026-07-31</a:t>
            </a:r>
            <a:endParaRPr lang="en-US" dirty="0"/>
          </a:p>
        </p:txBody>
      </p:sp>
      <p:sp>
        <p:nvSpPr>
          <p:cNvPr id="14" name="Footer Placeholder 4">
            <a:extLst>
              <a:ext uri="{FF2B5EF4-FFF2-40B4-BE49-F238E27FC236}">
                <a16:creationId xmlns:a16="http://schemas.microsoft.com/office/drawing/2014/main" id="{B95CB966-C0B0-BF40-9B2D-EFD92EBA5955}"/>
              </a:ext>
            </a:extLst>
          </p:cNvPr>
          <p:cNvSpPr>
            <a:spLocks noGrp="1"/>
          </p:cNvSpPr>
          <p:nvPr>
            <p:ph type="ftr" sz="quarter" idx="11"/>
          </p:nvPr>
        </p:nvSpPr>
        <p:spPr>
          <a:xfrm>
            <a:off x="4038601" y="6598733"/>
            <a:ext cx="4114800" cy="213734"/>
          </a:xfrm>
          <a:prstGeom prst="rect">
            <a:avLst/>
          </a:prstGeom>
        </p:spPr>
        <p:txBody>
          <a:bodyPr/>
          <a:lstStyle>
            <a:lvl1pPr>
              <a:defRPr>
                <a:latin typeface="Trebuchet MS" panose="020B0703020202090204" pitchFamily="34" charset="0"/>
              </a:defRPr>
            </a:lvl1pPr>
          </a:lstStyle>
          <a:p>
            <a:endParaRPr lang="en-US" dirty="0"/>
          </a:p>
        </p:txBody>
      </p:sp>
      <p:sp>
        <p:nvSpPr>
          <p:cNvPr id="15" name="Slide Number Placeholder 5">
            <a:extLst>
              <a:ext uri="{FF2B5EF4-FFF2-40B4-BE49-F238E27FC236}">
                <a16:creationId xmlns:a16="http://schemas.microsoft.com/office/drawing/2014/main" id="{812EEE38-D0A6-0A45-82F8-581A904D7C8A}"/>
              </a:ext>
            </a:extLst>
          </p:cNvPr>
          <p:cNvSpPr>
            <a:spLocks noGrp="1"/>
          </p:cNvSpPr>
          <p:nvPr>
            <p:ph type="sldNum" sz="quarter" idx="12"/>
          </p:nvPr>
        </p:nvSpPr>
        <p:spPr>
          <a:xfrm>
            <a:off x="9006309" y="6598733"/>
            <a:ext cx="3110345" cy="213734"/>
          </a:xfrm>
          <a:prstGeom prst="rect">
            <a:avLst/>
          </a:prstGeom>
        </p:spPr>
        <p:txBody>
          <a:bodyPr/>
          <a:lstStyle>
            <a:lvl1pPr>
              <a:defRPr>
                <a:latin typeface="Trebuchet MS" panose="020B0703020202090204" pitchFamily="34" charset="0"/>
              </a:defRPr>
            </a:lvl1pPr>
          </a:lstStyle>
          <a:p>
            <a:r>
              <a:rPr lang="en-US" altLang="ko-KR" dirty="0"/>
              <a:t>Sang-Jun Moon | </a:t>
            </a:r>
            <a:r>
              <a:rPr lang="en-US" altLang="ko-KR" dirty="0">
                <a:solidFill>
                  <a:prstClr val="black">
                    <a:tint val="75000"/>
                  </a:prstClr>
                </a:solidFill>
              </a:rPr>
              <a:t>AICA Lab Meeting</a:t>
            </a:r>
            <a:r>
              <a:rPr lang="en-US" altLang="ko-KR" dirty="0"/>
              <a:t> | </a:t>
            </a:r>
            <a:fld id="{48F63A3B-78C7-47BE-AE5E-E10140E04643}" type="slidenum">
              <a:rPr lang="en-US" smtClean="0"/>
              <a:pPr/>
              <a:t>‹#›</a:t>
            </a:fld>
            <a:endParaRPr lang="en-US" dirty="0"/>
          </a:p>
        </p:txBody>
      </p:sp>
      <p:grpSp>
        <p:nvGrpSpPr>
          <p:cNvPr id="4" name="그룹 3">
            <a:extLst>
              <a:ext uri="{FF2B5EF4-FFF2-40B4-BE49-F238E27FC236}">
                <a16:creationId xmlns:a16="http://schemas.microsoft.com/office/drawing/2014/main" id="{AF465BD3-D334-A698-AE1D-AAE802C779D9}"/>
              </a:ext>
            </a:extLst>
          </p:cNvPr>
          <p:cNvGrpSpPr/>
          <p:nvPr userDrawn="1"/>
        </p:nvGrpSpPr>
        <p:grpSpPr>
          <a:xfrm>
            <a:off x="135856" y="6450684"/>
            <a:ext cx="899987" cy="323081"/>
            <a:chOff x="5976117" y="116467"/>
            <a:chExt cx="4341047" cy="1559914"/>
          </a:xfrm>
        </p:grpSpPr>
        <p:sp>
          <p:nvSpPr>
            <p:cNvPr id="5" name="사각형: 둥근 모서리 4">
              <a:extLst>
                <a:ext uri="{FF2B5EF4-FFF2-40B4-BE49-F238E27FC236}">
                  <a16:creationId xmlns:a16="http://schemas.microsoft.com/office/drawing/2014/main" id="{09E45834-AE31-A9B9-9BE3-8876DD4BFA7F}"/>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 name="사각형: 둥근 모서리 5">
              <a:extLst>
                <a:ext uri="{FF2B5EF4-FFF2-40B4-BE49-F238E27FC236}">
                  <a16:creationId xmlns:a16="http://schemas.microsoft.com/office/drawing/2014/main" id="{09BE6CC6-B0C2-D1F8-C568-1636306F8597}"/>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34">
              <a:extLst>
                <a:ext uri="{FF2B5EF4-FFF2-40B4-BE49-F238E27FC236}">
                  <a16:creationId xmlns:a16="http://schemas.microsoft.com/office/drawing/2014/main" id="{372FB6C3-D418-1840-6AE7-B37D603006F2}"/>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19B36722-692B-8A85-ABBD-C0C3519B7975}"/>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27978080-5DA3-C7AF-D53C-7B04AA55674D}"/>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11">
              <a:extLst>
                <a:ext uri="{FF2B5EF4-FFF2-40B4-BE49-F238E27FC236}">
                  <a16:creationId xmlns:a16="http://schemas.microsoft.com/office/drawing/2014/main" id="{D2E2207A-833C-96F1-DDEA-EAD252C6E34C}"/>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34">
              <a:extLst>
                <a:ext uri="{FF2B5EF4-FFF2-40B4-BE49-F238E27FC236}">
                  <a16:creationId xmlns:a16="http://schemas.microsoft.com/office/drawing/2014/main" id="{B9063DDA-A961-FAC9-63D8-26984466EFA9}"/>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7" name="사각형: 둥근 모서리 16">
              <a:extLst>
                <a:ext uri="{FF2B5EF4-FFF2-40B4-BE49-F238E27FC236}">
                  <a16:creationId xmlns:a16="http://schemas.microsoft.com/office/drawing/2014/main" id="{9449855F-497C-8550-D86C-A828CBDE267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1476E7BE-7201-2BAA-2109-35756C4E0B96}"/>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사각형: 둥근 모서리 18">
              <a:extLst>
                <a:ext uri="{FF2B5EF4-FFF2-40B4-BE49-F238E27FC236}">
                  <a16:creationId xmlns:a16="http://schemas.microsoft.com/office/drawing/2014/main" id="{B59F5F96-C357-E1E5-2993-D5FD41332B5F}"/>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DB242B9F-572D-693F-C111-AAC93D5DB279}"/>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160EE91-D1F0-219D-E7ED-4A5F2BBB074B}"/>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055F6797-B96E-6564-AB39-222EF22DE181}"/>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22">
              <a:extLst>
                <a:ext uri="{FF2B5EF4-FFF2-40B4-BE49-F238E27FC236}">
                  <a16:creationId xmlns:a16="http://schemas.microsoft.com/office/drawing/2014/main" id="{5C206942-3972-3DDD-C25C-F55CC59874CB}"/>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48">
              <a:extLst>
                <a:ext uri="{FF2B5EF4-FFF2-40B4-BE49-F238E27FC236}">
                  <a16:creationId xmlns:a16="http://schemas.microsoft.com/office/drawing/2014/main" id="{45C36541-3C29-52C7-87AA-2CE2ECC800FB}"/>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D08F501E-0785-E0FC-C8AB-E929D4BE4665}"/>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6670ADF1-C53B-D670-DE1C-F0C3990DDD82}"/>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728DC771-DBFE-4F81-F2CA-992EBFCE0D41}"/>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3D8C4B1D-A6E0-AEF3-4AED-22807E641D72}"/>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28">
              <a:extLst>
                <a:ext uri="{FF2B5EF4-FFF2-40B4-BE49-F238E27FC236}">
                  <a16:creationId xmlns:a16="http://schemas.microsoft.com/office/drawing/2014/main" id="{74FAB4B6-B9C7-9AEC-57FF-C2E4371644E2}"/>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48">
              <a:extLst>
                <a:ext uri="{FF2B5EF4-FFF2-40B4-BE49-F238E27FC236}">
                  <a16:creationId xmlns:a16="http://schemas.microsoft.com/office/drawing/2014/main" id="{E70AF9CE-687E-9C42-5294-C1A0274A53D2}"/>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552996F6-B24D-378B-A68E-04BDE56A165D}"/>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2" name="사각형: 둥근 모서리 31">
              <a:extLst>
                <a:ext uri="{FF2B5EF4-FFF2-40B4-BE49-F238E27FC236}">
                  <a16:creationId xmlns:a16="http://schemas.microsoft.com/office/drawing/2014/main" id="{C7522EE9-1A44-8DCD-2F6A-7CD0BF51F0FD}"/>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16997598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마지막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a:prstGeom prst="rect">
            <a:avLst/>
          </a:prstGeom>
        </p:spPr>
        <p:txBody>
          <a:bodyPr anchor="b"/>
          <a:lstStyle>
            <a:lvl1pPr algn="ctr">
              <a:defRPr sz="4800">
                <a:latin typeface="Trebuchet MS" panose="020B0703020202090204" pitchFamily="34" charset="0"/>
              </a:defRPr>
            </a:lvl1pPr>
          </a:lstStyle>
          <a:p>
            <a:r>
              <a:rPr lang="en-US" dirty="0"/>
              <a:t>Click to edit Master title style</a:t>
            </a:r>
          </a:p>
        </p:txBody>
      </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pic>
        <p:nvPicPr>
          <p:cNvPr id="35" name="그림 34">
            <a:extLst>
              <a:ext uri="{FF2B5EF4-FFF2-40B4-BE49-F238E27FC236}">
                <a16:creationId xmlns:a16="http://schemas.microsoft.com/office/drawing/2014/main" id="{4538A30A-D7A1-6521-A4C9-7B9DA3C4F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46080"/>
            <a:ext cx="1311920" cy="1311920"/>
          </a:xfrm>
          <a:prstGeom prst="rect">
            <a:avLst/>
          </a:prstGeom>
        </p:spPr>
      </p:pic>
      <p:sp>
        <p:nvSpPr>
          <p:cNvPr id="36" name="직사각형 35">
            <a:extLst>
              <a:ext uri="{FF2B5EF4-FFF2-40B4-BE49-F238E27FC236}">
                <a16:creationId xmlns:a16="http://schemas.microsoft.com/office/drawing/2014/main" id="{25080A8C-CABB-86CB-451E-4AA69A1125FB}"/>
              </a:ext>
            </a:extLst>
          </p:cNvPr>
          <p:cNvSpPr/>
          <p:nvPr userDrawn="1"/>
        </p:nvSpPr>
        <p:spPr>
          <a:xfrm>
            <a:off x="1197392" y="6516837"/>
            <a:ext cx="2395207" cy="307777"/>
          </a:xfrm>
          <a:prstGeom prst="rect">
            <a:avLst/>
          </a:prstGeom>
        </p:spPr>
        <p:txBody>
          <a:bodyPr wrap="none">
            <a:spAutoFit/>
          </a:bodyPr>
          <a:lstStyle/>
          <a:p>
            <a:r>
              <a:rPr lang="en-US" altLang="ko-KR" sz="1400" b="1" dirty="0">
                <a:latin typeface="Trebuchet MS" panose="020B0603020202020204" pitchFamily="34" charset="0"/>
              </a:rPr>
              <a:t>Lab: https://aica.ssu.ac.kr</a:t>
            </a:r>
            <a:endParaRPr lang="ko-KR" altLang="en-US" sz="1400" b="1" dirty="0">
              <a:latin typeface="Trebuchet MS" panose="020B0603020202020204" pitchFamily="34" charset="0"/>
            </a:endParaRPr>
          </a:p>
        </p:txBody>
      </p:sp>
      <p:sp>
        <p:nvSpPr>
          <p:cNvPr id="17" name="텍스트 개체 틀 16">
            <a:extLst>
              <a:ext uri="{FF2B5EF4-FFF2-40B4-BE49-F238E27FC236}">
                <a16:creationId xmlns:a16="http://schemas.microsoft.com/office/drawing/2014/main" id="{FB6F3407-DDCF-0C52-4C34-A45338DFBA8D}"/>
              </a:ext>
            </a:extLst>
          </p:cNvPr>
          <p:cNvSpPr>
            <a:spLocks noGrp="1"/>
          </p:cNvSpPr>
          <p:nvPr>
            <p:ph type="body" sz="quarter" idx="10" hasCustomPrompt="1"/>
          </p:nvPr>
        </p:nvSpPr>
        <p:spPr>
          <a:xfrm>
            <a:off x="1197392" y="6261269"/>
            <a:ext cx="3185923" cy="307777"/>
          </a:xfrm>
        </p:spPr>
        <p:txBody>
          <a:bodyPr>
            <a:normAutofit/>
          </a:bodyPr>
          <a:lstStyle>
            <a:lvl1pPr marL="0" indent="0">
              <a:buNone/>
              <a:defRPr sz="1400" b="1">
                <a:latin typeface="Trebuchet MS" panose="020B0603020202020204" pitchFamily="34" charset="0"/>
              </a:defRPr>
            </a:lvl1pPr>
            <a:lvl2pPr marL="457202" indent="0">
              <a:buNone/>
              <a:defRPr/>
            </a:lvl2pPr>
            <a:lvl3pPr marL="914404" indent="0">
              <a:buNone/>
              <a:defRPr/>
            </a:lvl3pPr>
            <a:lvl4pPr marL="1371605" indent="0">
              <a:buNone/>
              <a:defRPr/>
            </a:lvl4pPr>
            <a:lvl5pPr marL="1828807" indent="0">
              <a:buNone/>
              <a:defRPr/>
            </a:lvl5pPr>
          </a:lstStyle>
          <a:p>
            <a:pPr lvl="0"/>
            <a:r>
              <a:rPr lang="ko-KR" altLang="en-US" dirty="0"/>
              <a:t>본인 이메일 주소 </a:t>
            </a:r>
            <a:r>
              <a:rPr lang="en-US" altLang="ko-KR" dirty="0"/>
              <a:t>(E-mail: ~)</a:t>
            </a:r>
            <a:endParaRPr lang="ko-KR" altLang="en-US" dirty="0"/>
          </a:p>
        </p:txBody>
      </p:sp>
      <p:sp>
        <p:nvSpPr>
          <p:cNvPr id="19" name="부제목 2">
            <a:extLst>
              <a:ext uri="{FF2B5EF4-FFF2-40B4-BE49-F238E27FC236}">
                <a16:creationId xmlns:a16="http://schemas.microsoft.com/office/drawing/2014/main" id="{F294413C-AB4A-7E8A-9974-28FF957DA562}"/>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37" name="그룹 36">
            <a:extLst>
              <a:ext uri="{FF2B5EF4-FFF2-40B4-BE49-F238E27FC236}">
                <a16:creationId xmlns:a16="http://schemas.microsoft.com/office/drawing/2014/main" id="{63E9D89E-488B-7C80-8E05-D47E50776676}"/>
              </a:ext>
            </a:extLst>
          </p:cNvPr>
          <p:cNvGrpSpPr/>
          <p:nvPr userDrawn="1"/>
        </p:nvGrpSpPr>
        <p:grpSpPr>
          <a:xfrm>
            <a:off x="5196905" y="4977344"/>
            <a:ext cx="1798190" cy="646162"/>
            <a:chOff x="5976117" y="116467"/>
            <a:chExt cx="4341047" cy="1559914"/>
          </a:xfrm>
        </p:grpSpPr>
        <p:sp>
          <p:nvSpPr>
            <p:cNvPr id="38" name="사각형: 둥근 모서리 37">
              <a:extLst>
                <a:ext uri="{FF2B5EF4-FFF2-40B4-BE49-F238E27FC236}">
                  <a16:creationId xmlns:a16="http://schemas.microsoft.com/office/drawing/2014/main" id="{64ADCAA0-1610-1964-CF41-4AE81DD6BF1C}"/>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9" name="사각형: 둥근 모서리 38">
              <a:extLst>
                <a:ext uri="{FF2B5EF4-FFF2-40B4-BE49-F238E27FC236}">
                  <a16:creationId xmlns:a16="http://schemas.microsoft.com/office/drawing/2014/main" id="{028F6839-7E1F-F31F-B8F7-895801E25D7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0" name="사각형: 둥근 모서리 34">
              <a:extLst>
                <a:ext uri="{FF2B5EF4-FFF2-40B4-BE49-F238E27FC236}">
                  <a16:creationId xmlns:a16="http://schemas.microsoft.com/office/drawing/2014/main" id="{BBD4F966-775A-284D-982D-F7F64523168D}"/>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1" name="사각형: 둥근 모서리 40">
              <a:extLst>
                <a:ext uri="{FF2B5EF4-FFF2-40B4-BE49-F238E27FC236}">
                  <a16:creationId xmlns:a16="http://schemas.microsoft.com/office/drawing/2014/main" id="{983DE28C-A4C4-604E-8D18-D46C51025028}"/>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2" name="사각형: 둥근 모서리 41">
              <a:extLst>
                <a:ext uri="{FF2B5EF4-FFF2-40B4-BE49-F238E27FC236}">
                  <a16:creationId xmlns:a16="http://schemas.microsoft.com/office/drawing/2014/main" id="{8E9AABCB-5098-84DC-87E1-79825A6A9438}"/>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3" name="사각형: 둥근 모서리 42">
              <a:extLst>
                <a:ext uri="{FF2B5EF4-FFF2-40B4-BE49-F238E27FC236}">
                  <a16:creationId xmlns:a16="http://schemas.microsoft.com/office/drawing/2014/main" id="{DEE37C14-9C69-3C23-0179-974AE185B185}"/>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사각형: 둥근 모서리 34">
              <a:extLst>
                <a:ext uri="{FF2B5EF4-FFF2-40B4-BE49-F238E27FC236}">
                  <a16:creationId xmlns:a16="http://schemas.microsoft.com/office/drawing/2014/main" id="{4C38D65E-4FEC-804E-42C0-EF22F51FF0D4}"/>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5" name="사각형: 둥근 모서리 44">
              <a:extLst>
                <a:ext uri="{FF2B5EF4-FFF2-40B4-BE49-F238E27FC236}">
                  <a16:creationId xmlns:a16="http://schemas.microsoft.com/office/drawing/2014/main" id="{7A23E54B-77C3-B58C-2FA5-9844FD869CA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6" name="사각형: 둥근 모서리 45">
              <a:extLst>
                <a:ext uri="{FF2B5EF4-FFF2-40B4-BE49-F238E27FC236}">
                  <a16:creationId xmlns:a16="http://schemas.microsoft.com/office/drawing/2014/main" id="{32D96933-CDA3-3D64-DD04-22498904F2B0}"/>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사각형: 둥근 모서리 46">
              <a:extLst>
                <a:ext uri="{FF2B5EF4-FFF2-40B4-BE49-F238E27FC236}">
                  <a16:creationId xmlns:a16="http://schemas.microsoft.com/office/drawing/2014/main" id="{445C1F95-147E-F882-600A-F515FF5730DA}"/>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8" name="사각형: 둥근 모서리 47">
              <a:extLst>
                <a:ext uri="{FF2B5EF4-FFF2-40B4-BE49-F238E27FC236}">
                  <a16:creationId xmlns:a16="http://schemas.microsoft.com/office/drawing/2014/main" id="{B524C14F-86B3-5F43-5AA4-229B555CD71D}"/>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9" name="사각형: 둥근 모서리 48">
              <a:extLst>
                <a:ext uri="{FF2B5EF4-FFF2-40B4-BE49-F238E27FC236}">
                  <a16:creationId xmlns:a16="http://schemas.microsoft.com/office/drawing/2014/main" id="{93A75C5C-D184-FB1E-4D30-8E0C46ECE9F3}"/>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0" name="사각형: 둥근 모서리 49">
              <a:extLst>
                <a:ext uri="{FF2B5EF4-FFF2-40B4-BE49-F238E27FC236}">
                  <a16:creationId xmlns:a16="http://schemas.microsoft.com/office/drawing/2014/main" id="{70B536F9-A737-7889-1CA1-D9A1DF5D1FEE}"/>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1" name="사각형: 둥근 모서리 50">
              <a:extLst>
                <a:ext uri="{FF2B5EF4-FFF2-40B4-BE49-F238E27FC236}">
                  <a16:creationId xmlns:a16="http://schemas.microsoft.com/office/drawing/2014/main" id="{00B8EB24-2E34-6FC4-3C61-ECC562D3F574}"/>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2" name="사각형: 둥근 모서리 48">
              <a:extLst>
                <a:ext uri="{FF2B5EF4-FFF2-40B4-BE49-F238E27FC236}">
                  <a16:creationId xmlns:a16="http://schemas.microsoft.com/office/drawing/2014/main" id="{C19CBDAA-F316-CB8C-1303-809695D44691}"/>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3" name="사각형: 둥근 모서리 52">
              <a:extLst>
                <a:ext uri="{FF2B5EF4-FFF2-40B4-BE49-F238E27FC236}">
                  <a16:creationId xmlns:a16="http://schemas.microsoft.com/office/drawing/2014/main" id="{3982DA01-DAB2-66E5-E365-CFF5181A0C9C}"/>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4" name="사각형: 둥근 모서리 53">
              <a:extLst>
                <a:ext uri="{FF2B5EF4-FFF2-40B4-BE49-F238E27FC236}">
                  <a16:creationId xmlns:a16="http://schemas.microsoft.com/office/drawing/2014/main" id="{800FCEC9-FF7B-4B9B-DAC4-B3D9BC28F820}"/>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5" name="사각형: 둥근 모서리 54">
              <a:extLst>
                <a:ext uri="{FF2B5EF4-FFF2-40B4-BE49-F238E27FC236}">
                  <a16:creationId xmlns:a16="http://schemas.microsoft.com/office/drawing/2014/main" id="{FE59132D-E0F7-5227-671D-15B4032C34B0}"/>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6" name="사각형: 둥근 모서리 55">
              <a:extLst>
                <a:ext uri="{FF2B5EF4-FFF2-40B4-BE49-F238E27FC236}">
                  <a16:creationId xmlns:a16="http://schemas.microsoft.com/office/drawing/2014/main" id="{20FCFC37-75D1-A1F5-B779-980816D9566F}"/>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7" name="사각형: 둥근 모서리 56">
              <a:extLst>
                <a:ext uri="{FF2B5EF4-FFF2-40B4-BE49-F238E27FC236}">
                  <a16:creationId xmlns:a16="http://schemas.microsoft.com/office/drawing/2014/main" id="{4A451D5E-D275-D412-8599-7730D9FAE2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8" name="사각형: 둥근 모서리 48">
              <a:extLst>
                <a:ext uri="{FF2B5EF4-FFF2-40B4-BE49-F238E27FC236}">
                  <a16:creationId xmlns:a16="http://schemas.microsoft.com/office/drawing/2014/main" id="{9DD62034-9CD4-BE1D-203C-464F0185C4C9}"/>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9" name="사각형: 둥근 모서리 58">
              <a:extLst>
                <a:ext uri="{FF2B5EF4-FFF2-40B4-BE49-F238E27FC236}">
                  <a16:creationId xmlns:a16="http://schemas.microsoft.com/office/drawing/2014/main" id="{9FCA9E36-697C-D30C-2533-FD6768039D7C}"/>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0" name="사각형: 둥근 모서리 59">
              <a:extLst>
                <a:ext uri="{FF2B5EF4-FFF2-40B4-BE49-F238E27FC236}">
                  <a16:creationId xmlns:a16="http://schemas.microsoft.com/office/drawing/2014/main" id="{6E7E9F02-56F7-2C10-9878-B607F9E9684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11286820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1736D39C-E17C-A364-3719-16AC7911DC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FEE6840F-8B5F-3FBD-6419-8AFE6AC600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70AEC86-6903-7FA5-5907-91F1DC80DF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ltLang="ko-KR"/>
              <a:t>2026-07-31</a:t>
            </a:r>
            <a:endParaRPr lang="ko-KR" altLang="en-US"/>
          </a:p>
        </p:txBody>
      </p:sp>
      <p:sp>
        <p:nvSpPr>
          <p:cNvPr id="5" name="바닥글 개체 틀 4">
            <a:extLst>
              <a:ext uri="{FF2B5EF4-FFF2-40B4-BE49-F238E27FC236}">
                <a16:creationId xmlns:a16="http://schemas.microsoft.com/office/drawing/2014/main" id="{620C5AA7-AF4B-27BC-291C-EB359758B7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0BDF7195-719B-0ADE-61C3-943AD62275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798033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5E567E6-AE26-4E8E-B312-C95BB81BBEF2}"/>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230C5C33-B2C4-4686-B825-1347A5F7C4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6300B2AC-F741-4F9D-88DA-C2BBCD28AA5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ko-KR"/>
              <a:t>2026-07-31</a:t>
            </a:r>
            <a:endParaRPr lang="ko-KR" altLang="en-US"/>
          </a:p>
        </p:txBody>
      </p:sp>
      <p:sp>
        <p:nvSpPr>
          <p:cNvPr id="5" name="바닥글 개체 틀 4">
            <a:extLst>
              <a:ext uri="{FF2B5EF4-FFF2-40B4-BE49-F238E27FC236}">
                <a16:creationId xmlns:a16="http://schemas.microsoft.com/office/drawing/2014/main" id="{82A871F7-7716-4B35-B16F-5215D47AEF08}"/>
              </a:ext>
            </a:extLst>
          </p:cNvPr>
          <p:cNvSpPr>
            <a:spLocks noGrp="1"/>
          </p:cNvSpPr>
          <p:nvPr>
            <p:ph type="ftr" sz="quarter" idx="3"/>
          </p:nvPr>
        </p:nvSpPr>
        <p:spPr>
          <a:xfrm>
            <a:off x="4038601"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16B17825-BD73-4B44-AE33-E311A76C2BAC}"/>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D3D6F-2C60-4B7A-8BF3-E953E669A38A}" type="slidenum">
              <a:rPr lang="ko-KR" altLang="en-US" smtClean="0"/>
              <a:t>‹#›</a:t>
            </a:fld>
            <a:endParaRPr lang="ko-KR" altLang="en-US"/>
          </a:p>
        </p:txBody>
      </p:sp>
    </p:spTree>
    <p:extLst>
      <p:ext uri="{BB962C8B-B14F-4D97-AF65-F5344CB8AC3E}">
        <p14:creationId xmlns:p14="http://schemas.microsoft.com/office/powerpoint/2010/main" val="152977140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hf hdr="0" ftr="0"/>
  <p:txStyles>
    <p:titleStyle>
      <a:lvl1pPr algn="l" defTabSz="914404"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1" indent="-228601" algn="l" defTabSz="914404"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3" indent="-228601" algn="l" defTabSz="914404"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5" indent="-228601" algn="l" defTabSz="914404"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6"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8"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10"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12"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14"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16"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4" rtl="0" eaLnBrk="1" latinLnBrk="1" hangingPunct="1">
        <a:defRPr sz="1800" kern="1200">
          <a:solidFill>
            <a:schemeClr val="tx1"/>
          </a:solidFill>
          <a:latin typeface="+mn-lt"/>
          <a:ea typeface="+mn-ea"/>
          <a:cs typeface="+mn-cs"/>
        </a:defRPr>
      </a:lvl1pPr>
      <a:lvl2pPr marL="457202" algn="l" defTabSz="914404" rtl="0" eaLnBrk="1" latinLnBrk="1" hangingPunct="1">
        <a:defRPr sz="1800" kern="1200">
          <a:solidFill>
            <a:schemeClr val="tx1"/>
          </a:solidFill>
          <a:latin typeface="+mn-lt"/>
          <a:ea typeface="+mn-ea"/>
          <a:cs typeface="+mn-cs"/>
        </a:defRPr>
      </a:lvl2pPr>
      <a:lvl3pPr marL="914404" algn="l" defTabSz="914404" rtl="0" eaLnBrk="1" latinLnBrk="1" hangingPunct="1">
        <a:defRPr sz="1800" kern="1200">
          <a:solidFill>
            <a:schemeClr val="tx1"/>
          </a:solidFill>
          <a:latin typeface="+mn-lt"/>
          <a:ea typeface="+mn-ea"/>
          <a:cs typeface="+mn-cs"/>
        </a:defRPr>
      </a:lvl3pPr>
      <a:lvl4pPr marL="1371605" algn="l" defTabSz="914404" rtl="0" eaLnBrk="1" latinLnBrk="1" hangingPunct="1">
        <a:defRPr sz="1800" kern="1200">
          <a:solidFill>
            <a:schemeClr val="tx1"/>
          </a:solidFill>
          <a:latin typeface="+mn-lt"/>
          <a:ea typeface="+mn-ea"/>
          <a:cs typeface="+mn-cs"/>
        </a:defRPr>
      </a:lvl4pPr>
      <a:lvl5pPr marL="1828807" algn="l" defTabSz="914404" rtl="0" eaLnBrk="1" latinLnBrk="1" hangingPunct="1">
        <a:defRPr sz="1800" kern="1200">
          <a:solidFill>
            <a:schemeClr val="tx1"/>
          </a:solidFill>
          <a:latin typeface="+mn-lt"/>
          <a:ea typeface="+mn-ea"/>
          <a:cs typeface="+mn-cs"/>
        </a:defRPr>
      </a:lvl5pPr>
      <a:lvl6pPr marL="2286009" algn="l" defTabSz="914404" rtl="0" eaLnBrk="1" latinLnBrk="1" hangingPunct="1">
        <a:defRPr sz="1800" kern="1200">
          <a:solidFill>
            <a:schemeClr val="tx1"/>
          </a:solidFill>
          <a:latin typeface="+mn-lt"/>
          <a:ea typeface="+mn-ea"/>
          <a:cs typeface="+mn-cs"/>
        </a:defRPr>
      </a:lvl6pPr>
      <a:lvl7pPr marL="2743211" algn="l" defTabSz="914404" rtl="0" eaLnBrk="1" latinLnBrk="1" hangingPunct="1">
        <a:defRPr sz="1800" kern="1200">
          <a:solidFill>
            <a:schemeClr val="tx1"/>
          </a:solidFill>
          <a:latin typeface="+mn-lt"/>
          <a:ea typeface="+mn-ea"/>
          <a:cs typeface="+mn-cs"/>
        </a:defRPr>
      </a:lvl7pPr>
      <a:lvl8pPr marL="3200413" algn="l" defTabSz="914404" rtl="0" eaLnBrk="1" latinLnBrk="1" hangingPunct="1">
        <a:defRPr sz="1800" kern="1200">
          <a:solidFill>
            <a:schemeClr val="tx1"/>
          </a:solidFill>
          <a:latin typeface="+mn-lt"/>
          <a:ea typeface="+mn-ea"/>
          <a:cs typeface="+mn-cs"/>
        </a:defRPr>
      </a:lvl8pPr>
      <a:lvl9pPr marL="3657615" algn="l" defTabSz="914404"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E8A260-966E-CEEB-B2DB-29375CB554B9}"/>
              </a:ext>
            </a:extLst>
          </p:cNvPr>
          <p:cNvSpPr>
            <a:spLocks noGrp="1"/>
          </p:cNvSpPr>
          <p:nvPr>
            <p:ph type="ctrTitle"/>
          </p:nvPr>
        </p:nvSpPr>
        <p:spPr>
          <a:xfrm>
            <a:off x="1524000" y="2506243"/>
            <a:ext cx="9144000" cy="855184"/>
          </a:xfrm>
        </p:spPr>
        <p:txBody>
          <a:bodyPr>
            <a:noAutofit/>
          </a:bodyPr>
          <a:lstStyle/>
          <a:p>
            <a:r>
              <a:rPr lang="en-US" altLang="ko-KR" sz="3200" dirty="0"/>
              <a:t>Week 4. 언어·순서·기억: RNN에서 Seq2Seq까지</a:t>
            </a:r>
            <a:endParaRPr lang="ko-KR" altLang="en-US" sz="3200" dirty="0"/>
          </a:p>
        </p:txBody>
      </p:sp>
      <p:sp>
        <p:nvSpPr>
          <p:cNvPr id="3" name="부제목 2">
            <a:extLst>
              <a:ext uri="{FF2B5EF4-FFF2-40B4-BE49-F238E27FC236}">
                <a16:creationId xmlns:a16="http://schemas.microsoft.com/office/drawing/2014/main" id="{3D781DF1-B9BC-46C6-B822-1CB5D8F2272D}"/>
              </a:ext>
            </a:extLst>
          </p:cNvPr>
          <p:cNvSpPr>
            <a:spLocks noGrp="1"/>
          </p:cNvSpPr>
          <p:nvPr>
            <p:ph type="subTitle" idx="1"/>
          </p:nvPr>
        </p:nvSpPr>
        <p:spPr>
          <a:xfrm>
            <a:off x="1537062" y="3602039"/>
            <a:ext cx="9144000" cy="1655762"/>
          </a:xfrm>
        </p:spPr>
        <p:txBody>
          <a:bodyPr/>
          <a:lstStyle/>
          <a:p>
            <a:pPr>
              <a:lnSpc>
                <a:spcPct val="100000"/>
              </a:lnSpc>
              <a:spcBef>
                <a:spcPts val="0"/>
              </a:spcBef>
              <a:defRPr/>
            </a:pPr>
            <a:r>
              <a:rPr lang="en-US" altLang="ko-KR" dirty="0">
                <a:ea typeface="맑은 고딕" panose="020B0503020000020004" pitchFamily="50" charset="-127"/>
                <a:cs typeface="Calibri" panose="020F0502020204030204" pitchFamily="34" charset="0"/>
              </a:rPr>
              <a:t>Yun-Hong Min</a:t>
            </a:r>
          </a:p>
          <a:p>
            <a:pPr>
              <a:lnSpc>
                <a:spcPct val="100000"/>
              </a:lnSpc>
              <a:spcBef>
                <a:spcPts val="0"/>
              </a:spcBef>
              <a:defRPr/>
            </a:pPr>
            <a:r>
              <a:rPr lang="en-US" altLang="ko-KR" dirty="0">
                <a:ea typeface="맑은 고딕" panose="020B0503020000020004" pitchFamily="50" charset="-127"/>
                <a:cs typeface="Calibri" panose="020F0502020204030204" pitchFamily="34" charset="0"/>
              </a:rPr>
              <a:t>(picomin1027@gmail.com)</a:t>
            </a:r>
            <a:endParaRPr lang="ko-KR" altLang="en-US" dirty="0"/>
          </a:p>
        </p:txBody>
      </p:sp>
      <p:sp>
        <p:nvSpPr>
          <p:cNvPr id="4" name="내용 개체 틀 3">
            <a:extLst>
              <a:ext uri="{FF2B5EF4-FFF2-40B4-BE49-F238E27FC236}">
                <a16:creationId xmlns:a16="http://schemas.microsoft.com/office/drawing/2014/main" id="{A71A4431-2231-1E65-66CF-DEB583250F5E}"/>
              </a:ext>
            </a:extLst>
          </p:cNvPr>
          <p:cNvSpPr>
            <a:spLocks noGrp="1"/>
          </p:cNvSpPr>
          <p:nvPr>
            <p:ph sz="quarter" idx="10"/>
          </p:nvPr>
        </p:nvSpPr>
        <p:spPr/>
        <p:txBody>
          <a:bodyPr/>
          <a:lstStyle/>
          <a:p>
            <a:r>
              <a:rPr lang="en-US" altLang="ko-KR" dirty="0"/>
              <a:t>AI Zero 2 Transformer</a:t>
            </a:r>
            <a:endParaRPr lang="ko-KR" altLang="en-US" dirty="0"/>
          </a:p>
        </p:txBody>
      </p:sp>
    </p:spTree>
    <p:extLst>
      <p:ext uri="{BB962C8B-B14F-4D97-AF65-F5344CB8AC3E}">
        <p14:creationId xmlns:p14="http://schemas.microsoft.com/office/powerpoint/2010/main" val="414700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116ECB-EA11-2EAA-88FA-7B43A1F5A66F}"/>
              </a:ext>
            </a:extLst>
          </p:cNvPr>
          <p:cNvSpPr>
            <a:spLocks noGrp="1"/>
          </p:cNvSpPr>
          <p:nvPr>
            <p:ph type="ctrTitle"/>
          </p:nvPr>
        </p:nvSpPr>
        <p:spPr/>
        <p:txBody>
          <a:bodyPr/>
          <a:lstStyle/>
          <a:p>
            <a:r>
              <a:rPr lang="en-US" altLang="ko-KR"/>
              <a:t>Question ?</a:t>
            </a:r>
            <a:endParaRPr lang="ko-KR" altLang="en-US"/>
          </a:p>
        </p:txBody>
      </p:sp>
      <p:sp>
        <p:nvSpPr>
          <p:cNvPr id="3" name="텍스트 개체 틀 2">
            <a:extLst>
              <a:ext uri="{FF2B5EF4-FFF2-40B4-BE49-F238E27FC236}">
                <a16:creationId xmlns:a16="http://schemas.microsoft.com/office/drawing/2014/main" id="{A8D9C941-A705-0CAA-855B-4FB547507C02}"/>
              </a:ext>
            </a:extLst>
          </p:cNvPr>
          <p:cNvSpPr>
            <a:spLocks noGrp="1"/>
          </p:cNvSpPr>
          <p:nvPr>
            <p:ph type="body" sz="quarter" idx="10"/>
          </p:nvPr>
        </p:nvSpPr>
        <p:spPr>
          <a:xfrm>
            <a:off x="1197391" y="6261267"/>
            <a:ext cx="3896261" cy="385267"/>
          </a:xfrm>
        </p:spPr>
        <p:txBody>
          <a:bodyPr vert="horz" lIns="91440" tIns="45720" rIns="91440" bIns="45720" rtlCol="0" anchor="t">
            <a:noAutofit/>
          </a:bodyPr>
          <a:lstStyle/>
          <a:p>
            <a:r>
              <a:rPr lang="en-US" altLang="ko-KR" dirty="0">
                <a:latin typeface="Trebuchet MS"/>
                <a:ea typeface="맑은 고딕"/>
              </a:rPr>
              <a:t>E-mail: picomin1027@gmail.com</a:t>
            </a:r>
            <a:endParaRPr lang="ko-KR" altLang="en-US" dirty="0">
              <a:latin typeface="Trebuchet MS"/>
              <a:ea typeface="맑은 고딕"/>
            </a:endParaRPr>
          </a:p>
        </p:txBody>
      </p:sp>
    </p:spTree>
    <p:extLst>
      <p:ext uri="{BB962C8B-B14F-4D97-AF65-F5344CB8AC3E}">
        <p14:creationId xmlns:p14="http://schemas.microsoft.com/office/powerpoint/2010/main" val="3959509466"/>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Week 4 · 이번 주의 질문</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순서를 어떻게 표현하고,</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먼 정보를 어떻게 기억할까?</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1986–2014 · Token · Embedding · RNN · LSTM · 언어 모델 · Seq2Seq</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지난 주에서 이번 주로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매 주는 지난 주가 남긴 문제에서 출발한다</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도입</a:t>
            </a:r>
          </a:p>
        </p:txBody>
      </p:sp>
      <p:sp>
        <p:nvSpPr>
          <p:cNvPr id="9" name="Rounded Rectangle 8"/>
          <p:cNvSpPr/>
          <p:nvPr/>
        </p:nvSpPr>
        <p:spPr>
          <a:xfrm>
            <a:off x="457200" y="2432304"/>
            <a:ext cx="3422904" cy="3200400"/>
          </a:xfrm>
          <a:prstGeom prst="roundRect">
            <a:avLst>
              <a:gd name="adj" fmla="val 2857"/>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23744"/>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지난 주에 배운 것</a:t>
            </a:r>
          </a:p>
        </p:txBody>
      </p:sp>
      <p:sp>
        <p:nvSpPr>
          <p:cNvPr id="11" name="TextBox 10"/>
          <p:cNvSpPr txBox="1"/>
          <p:nvPr/>
        </p:nvSpPr>
        <p:spPr>
          <a:xfrm>
            <a:off x="548640" y="2965704"/>
            <a:ext cx="3240024" cy="2575560"/>
          </a:xfrm>
          <a:prstGeom prst="rect">
            <a:avLst/>
          </a:prstGeom>
          <a:noFill/>
        </p:spPr>
        <p:txBody>
          <a:bodyPr wrap="square" lIns="18288" rIns="18288" tIns="36576" bIns="36576" anchor="ctr">
            <a:spAutoFit/>
          </a:bodyPr>
          <a:lstStyle/>
          <a:p>
            <a:pPr algn="ctr" marL="0" indent="0">
              <a:lnSpc>
                <a:spcPct val="110000"/>
              </a:lnSpc>
              <a:spcBef>
                <a:spcPts val="0"/>
              </a:spcBef>
              <a:spcAft>
                <a:spcPts val="475"/>
              </a:spcAft>
              <a:buNone/>
            </a:pPr>
            <a:r>
              <a:rPr sz="1900" b="0">
                <a:solidFill>
                  <a:srgbClr val="1B2A36"/>
                </a:solidFill>
                <a:latin typeface="맑은 고딕"/>
                <a:ea typeface="맑은 고딕"/>
                <a:cs typeface="맑은 고딕"/>
              </a:rPr>
              <a:t>CNN: 지역성·가중치 공유라는 </a:t>
            </a:r>
            <a:r>
              <a:rPr sz="1900" b="1">
                <a:solidFill>
                  <a:srgbClr val="1B2A36"/>
                </a:solidFill>
                <a:latin typeface="맑은 고딕"/>
                <a:ea typeface="맑은 고딕"/>
                <a:cs typeface="맑은 고딕"/>
              </a:rPr>
              <a:t>구조적 가정</a:t>
            </a:r>
          </a:p>
          <a:p>
            <a:pPr algn="ctr" marL="0" indent="0">
              <a:lnSpc>
                <a:spcPct val="110000"/>
              </a:lnSpc>
              <a:spcBef>
                <a:spcPts val="0"/>
              </a:spcBef>
              <a:spcAft>
                <a:spcPts val="475"/>
              </a:spcAft>
              <a:buNone/>
            </a:pPr>
            <a:r>
              <a:rPr sz="1900" b="0">
                <a:solidFill>
                  <a:srgbClr val="1B2A36"/>
                </a:solidFill>
                <a:latin typeface="맑은 고딕"/>
                <a:ea typeface="맑은 고딕"/>
                <a:cs typeface="맑은 고딕"/>
              </a:rPr>
              <a:t>깊은 학습의 조건: 데이터·GPU·ReLU</a:t>
            </a:r>
          </a:p>
          <a:p>
            <a:pPr algn="ctr" marL="0" indent="0">
              <a:lnSpc>
                <a:spcPct val="110000"/>
              </a:lnSpc>
              <a:spcBef>
                <a:spcPts val="0"/>
              </a:spcBef>
              <a:spcAft>
                <a:spcPts val="475"/>
              </a:spcAft>
              <a:buNone/>
            </a:pPr>
            <a:r>
              <a:rPr sz="1900" b="1">
                <a:solidFill>
                  <a:srgbClr val="1B2A36"/>
                </a:solidFill>
                <a:latin typeface="맑은 고딕"/>
                <a:ea typeface="맑은 고딕"/>
                <a:cs typeface="맑은 고딕"/>
              </a:rPr>
              <a:t>Residual · LayerNorm</a:t>
            </a:r>
          </a:p>
        </p:txBody>
      </p:sp>
      <p:cxnSp>
        <p:nvCxnSpPr>
          <p:cNvPr id="12" name="Connector 11"/>
          <p:cNvCxnSpPr/>
          <p:nvPr/>
        </p:nvCxnSpPr>
        <p:spPr>
          <a:xfrm>
            <a:off x="3925824" y="4032504"/>
            <a:ext cx="4114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83024" y="2432304"/>
            <a:ext cx="3422904" cy="3200400"/>
          </a:xfrm>
          <a:prstGeom prst="roundRect">
            <a:avLst>
              <a:gd name="adj" fmla="val 2857"/>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4464" y="2523744"/>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E97132"/>
                </a:solidFill>
                <a:latin typeface="맑은 고딕"/>
                <a:ea typeface="맑은 고딕"/>
                <a:cs typeface="맑은 고딕"/>
              </a:rPr>
              <a:t>아직 풀리지 않은 문제</a:t>
            </a:r>
          </a:p>
        </p:txBody>
      </p:sp>
      <p:sp>
        <p:nvSpPr>
          <p:cNvPr id="15" name="TextBox 14"/>
          <p:cNvSpPr txBox="1"/>
          <p:nvPr/>
        </p:nvSpPr>
        <p:spPr>
          <a:xfrm>
            <a:off x="4474464" y="2965704"/>
            <a:ext cx="3240024" cy="2575560"/>
          </a:xfrm>
          <a:prstGeom prst="rect">
            <a:avLst/>
          </a:prstGeom>
          <a:noFill/>
        </p:spPr>
        <p:txBody>
          <a:bodyPr wrap="square" lIns="18288" rIns="18288" tIns="36576" bIns="36576" anchor="ctr">
            <a:spAutoFit/>
          </a:bodyPr>
          <a:lstStyle/>
          <a:p>
            <a:pPr algn="ctr" marL="0" indent="0">
              <a:lnSpc>
                <a:spcPct val="110000"/>
              </a:lnSpc>
              <a:spcBef>
                <a:spcPts val="0"/>
              </a:spcBef>
              <a:spcAft>
                <a:spcPts val="475"/>
              </a:spcAft>
              <a:buNone/>
            </a:pPr>
            <a:r>
              <a:rPr sz="1900" b="1">
                <a:solidFill>
                  <a:srgbClr val="1B2A36"/>
                </a:solidFill>
                <a:latin typeface="맑은 고딕"/>
                <a:ea typeface="맑은 고딕"/>
                <a:cs typeface="맑은 고딕"/>
              </a:rPr>
              <a:t>언어</a:t>
            </a:r>
            <a:r>
              <a:rPr sz="1900" b="0">
                <a:solidFill>
                  <a:srgbClr val="1B2A36"/>
                </a:solidFill>
                <a:latin typeface="맑은 고딕"/>
                <a:ea typeface="맑은 고딕"/>
                <a:cs typeface="맑은 고딕"/>
              </a:rPr>
              <a:t>는 격자가 아니라 순서, 길이도 제각각</a:t>
            </a:r>
          </a:p>
          <a:p>
            <a:pPr algn="ctr" marL="0" indent="0">
              <a:lnSpc>
                <a:spcPct val="110000"/>
              </a:lnSpc>
              <a:spcBef>
                <a:spcPts val="0"/>
              </a:spcBef>
              <a:spcAft>
                <a:spcPts val="475"/>
              </a:spcAft>
              <a:buNone/>
            </a:pPr>
            <a:r>
              <a:rPr sz="1900" b="0">
                <a:solidFill>
                  <a:srgbClr val="1B2A36"/>
                </a:solidFill>
                <a:latin typeface="맑은 고딕"/>
                <a:ea typeface="맑은 고딕"/>
                <a:cs typeface="맑은 고딕"/>
              </a:rPr>
              <a:t>“그 책은 … (20단어) … 재미있었다” — </a:t>
            </a:r>
            <a:r>
              <a:rPr sz="1900" b="1">
                <a:solidFill>
                  <a:srgbClr val="1B2A36"/>
                </a:solidFill>
                <a:latin typeface="맑은 고딕"/>
                <a:ea typeface="맑은 고딕"/>
                <a:cs typeface="맑은 고딕"/>
              </a:rPr>
              <a:t>먼 단어</a:t>
            </a:r>
            <a:r>
              <a:rPr sz="1900" b="0">
                <a:solidFill>
                  <a:srgbClr val="1B2A36"/>
                </a:solidFill>
                <a:latin typeface="맑은 고딕"/>
                <a:ea typeface="맑은 고딕"/>
                <a:cs typeface="맑은 고딕"/>
              </a:rPr>
              <a:t>의 의존</a:t>
            </a:r>
          </a:p>
        </p:txBody>
      </p:sp>
      <p:cxnSp>
        <p:nvCxnSpPr>
          <p:cNvPr id="16" name="Connector 15"/>
          <p:cNvCxnSpPr/>
          <p:nvPr/>
        </p:nvCxnSpPr>
        <p:spPr>
          <a:xfrm>
            <a:off x="7851648" y="4032504"/>
            <a:ext cx="4114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308848" y="2432304"/>
            <a:ext cx="3422904" cy="3200400"/>
          </a:xfrm>
          <a:prstGeom prst="roundRect">
            <a:avLst>
              <a:gd name="adj" fmla="val 2857"/>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00288" y="2523744"/>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이번 주의 질문</a:t>
            </a:r>
          </a:p>
        </p:txBody>
      </p:sp>
      <p:sp>
        <p:nvSpPr>
          <p:cNvPr id="19" name="TextBox 18"/>
          <p:cNvSpPr txBox="1"/>
          <p:nvPr/>
        </p:nvSpPr>
        <p:spPr>
          <a:xfrm>
            <a:off x="8400288" y="2965704"/>
            <a:ext cx="3240024" cy="2575560"/>
          </a:xfrm>
          <a:prstGeom prst="rect">
            <a:avLst/>
          </a:prstGeom>
          <a:noFill/>
        </p:spPr>
        <p:txBody>
          <a:bodyPr wrap="square" lIns="18288" rIns="18288" tIns="36576" bIns="36576" anchor="ctr">
            <a:spAutoFit/>
          </a:bodyPr>
          <a:lstStyle/>
          <a:p>
            <a:pPr algn="ctr" marL="0" indent="0">
              <a:lnSpc>
                <a:spcPct val="110000"/>
              </a:lnSpc>
              <a:spcBef>
                <a:spcPts val="0"/>
              </a:spcBef>
              <a:spcAft>
                <a:spcPts val="475"/>
              </a:spcAft>
              <a:buNone/>
            </a:pPr>
            <a:r>
              <a:rPr sz="1900" b="1">
                <a:solidFill>
                  <a:srgbClr val="FFFFFF"/>
                </a:solidFill>
                <a:latin typeface="맑은 고딕"/>
                <a:ea typeface="맑은 고딕"/>
                <a:cs typeface="맑은 고딕"/>
              </a:rPr>
              <a:t>순서를 어떻게 표현하고,</a:t>
            </a:r>
          </a:p>
          <a:p>
            <a:pPr algn="ctr" marL="0" indent="0">
              <a:lnSpc>
                <a:spcPct val="110000"/>
              </a:lnSpc>
              <a:spcBef>
                <a:spcPts val="0"/>
              </a:spcBef>
              <a:spcAft>
                <a:spcPts val="475"/>
              </a:spcAft>
              <a:buNone/>
            </a:pPr>
            <a:r>
              <a:rPr sz="1900" b="1">
                <a:solidFill>
                  <a:srgbClr val="FFFFFF"/>
                </a:solidFill>
                <a:latin typeface="맑은 고딕"/>
                <a:ea typeface="맑은 고딕"/>
                <a:cs typeface="맑은 고딕"/>
              </a:rPr>
              <a:t>먼 정보를 어떻게 기억할까?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지도</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여섯 질문 중 4번째 — 오늘의 순서와 목표</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도입</a:t>
            </a:r>
          </a:p>
        </p:txBody>
      </p:sp>
      <p:sp>
        <p:nvSpPr>
          <p:cNvPr id="9" name="Rounded Rectangle 8"/>
          <p:cNvSpPr/>
          <p:nvPr/>
        </p:nvSpPr>
        <p:spPr>
          <a:xfrm>
            <a:off x="457200" y="1408176"/>
            <a:ext cx="1711452" cy="1874519"/>
          </a:xfrm>
          <a:prstGeom prst="roundRect">
            <a:avLst>
              <a:gd name="adj" fmla="val 5342"/>
            </a:avLst>
          </a:prstGeom>
          <a:solidFill>
            <a:srgbClr val="D8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1</a:t>
            </a:r>
          </a:p>
        </p:txBody>
      </p:sp>
      <p:sp>
        <p:nvSpPr>
          <p:cNvPr id="11" name="TextBox 10"/>
          <p:cNvSpPr txBox="1"/>
          <p:nvPr/>
        </p:nvSpPr>
        <p:spPr>
          <a:xfrm>
            <a:off x="53035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배울 수</a:t>
            </a:r>
          </a:p>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있을까?</a:t>
            </a:r>
          </a:p>
        </p:txBody>
      </p:sp>
      <p:sp>
        <p:nvSpPr>
          <p:cNvPr id="12" name="TextBox 11"/>
          <p:cNvSpPr txBox="1"/>
          <p:nvPr/>
        </p:nvSpPr>
        <p:spPr>
          <a:xfrm>
            <a:off x="53035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01688F"/>
                </a:solidFill>
                <a:latin typeface="맑은 고딕"/>
                <a:ea typeface="맑은 고딕"/>
                <a:cs typeface="맑은 고딕"/>
              </a:rPr>
              <a:t>Tensor · 학습</a:t>
            </a:r>
          </a:p>
        </p:txBody>
      </p:sp>
      <p:sp>
        <p:nvSpPr>
          <p:cNvPr id="13" name="TextBox 12"/>
          <p:cNvSpPr txBox="1"/>
          <p:nvPr/>
        </p:nvSpPr>
        <p:spPr>
          <a:xfrm>
            <a:off x="53035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1943–1958</a:t>
            </a:r>
          </a:p>
        </p:txBody>
      </p:sp>
      <p:cxnSp>
        <p:nvCxnSpPr>
          <p:cNvPr id="14" name="Connector 13"/>
          <p:cNvCxnSpPr/>
          <p:nvPr/>
        </p:nvCxnSpPr>
        <p:spPr>
          <a:xfrm>
            <a:off x="2186940" y="2345436"/>
            <a:ext cx="164592"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369820" y="1408176"/>
            <a:ext cx="1711452" cy="1874519"/>
          </a:xfrm>
          <a:prstGeom prst="roundRect">
            <a:avLst>
              <a:gd name="adj" fmla="val 5342"/>
            </a:avLst>
          </a:prstGeom>
          <a:solidFill>
            <a:srgbClr val="D8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4297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2</a:t>
            </a:r>
          </a:p>
        </p:txBody>
      </p:sp>
      <p:sp>
        <p:nvSpPr>
          <p:cNvPr id="17" name="TextBox 16"/>
          <p:cNvSpPr txBox="1"/>
          <p:nvPr/>
        </p:nvSpPr>
        <p:spPr>
          <a:xfrm>
            <a:off x="244297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직선으로</a:t>
            </a:r>
          </a:p>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안 되면?</a:t>
            </a:r>
          </a:p>
        </p:txBody>
      </p:sp>
      <p:sp>
        <p:nvSpPr>
          <p:cNvPr id="18" name="TextBox 17"/>
          <p:cNvSpPr txBox="1"/>
          <p:nvPr/>
        </p:nvSpPr>
        <p:spPr>
          <a:xfrm>
            <a:off x="244297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050" b="0">
                <a:solidFill>
                  <a:srgbClr val="01688F"/>
                </a:solidFill>
                <a:latin typeface="맑은 고딕"/>
                <a:ea typeface="맑은 고딕"/>
                <a:cs typeface="맑은 고딕"/>
              </a:rPr>
              <a:t>Perceptron · MLP</a:t>
            </a:r>
          </a:p>
        </p:txBody>
      </p:sp>
      <p:sp>
        <p:nvSpPr>
          <p:cNvPr id="19" name="TextBox 18"/>
          <p:cNvSpPr txBox="1"/>
          <p:nvPr/>
        </p:nvSpPr>
        <p:spPr>
          <a:xfrm>
            <a:off x="244297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1958–1986</a:t>
            </a:r>
          </a:p>
        </p:txBody>
      </p:sp>
      <p:cxnSp>
        <p:nvCxnSpPr>
          <p:cNvPr id="20" name="Connector 19"/>
          <p:cNvCxnSpPr/>
          <p:nvPr/>
        </p:nvCxnSpPr>
        <p:spPr>
          <a:xfrm>
            <a:off x="4099560" y="2345436"/>
            <a:ext cx="164592"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282440" y="1408176"/>
            <a:ext cx="1711452" cy="1874519"/>
          </a:xfrm>
          <a:prstGeom prst="roundRect">
            <a:avLst>
              <a:gd name="adj" fmla="val 5342"/>
            </a:avLst>
          </a:prstGeom>
          <a:solidFill>
            <a:srgbClr val="D8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5559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3</a:t>
            </a:r>
          </a:p>
        </p:txBody>
      </p:sp>
      <p:sp>
        <p:nvSpPr>
          <p:cNvPr id="23" name="TextBox 22"/>
          <p:cNvSpPr txBox="1"/>
          <p:nvPr/>
        </p:nvSpPr>
        <p:spPr>
          <a:xfrm>
            <a:off x="435559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공간과</a:t>
            </a:r>
          </a:p>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깊이는?</a:t>
            </a:r>
          </a:p>
        </p:txBody>
      </p:sp>
      <p:sp>
        <p:nvSpPr>
          <p:cNvPr id="24" name="TextBox 23"/>
          <p:cNvSpPr txBox="1"/>
          <p:nvPr/>
        </p:nvSpPr>
        <p:spPr>
          <a:xfrm>
            <a:off x="435559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01688F"/>
                </a:solidFill>
                <a:latin typeface="맑은 고딕"/>
                <a:ea typeface="맑은 고딕"/>
                <a:cs typeface="맑은 고딕"/>
              </a:rPr>
              <a:t>CNN · ResNet</a:t>
            </a:r>
          </a:p>
        </p:txBody>
      </p:sp>
      <p:sp>
        <p:nvSpPr>
          <p:cNvPr id="25" name="TextBox 24"/>
          <p:cNvSpPr txBox="1"/>
          <p:nvPr/>
        </p:nvSpPr>
        <p:spPr>
          <a:xfrm>
            <a:off x="435559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1989–2016</a:t>
            </a:r>
          </a:p>
        </p:txBody>
      </p:sp>
      <p:cxnSp>
        <p:nvCxnSpPr>
          <p:cNvPr id="26" name="Connector 25"/>
          <p:cNvCxnSpPr/>
          <p:nvPr/>
        </p:nvCxnSpPr>
        <p:spPr>
          <a:xfrm>
            <a:off x="6012180" y="2345436"/>
            <a:ext cx="164592"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195060" y="1408176"/>
            <a:ext cx="1711452" cy="1874519"/>
          </a:xfrm>
          <a:prstGeom prst="roundRect">
            <a:avLst>
              <a:gd name="adj" fmla="val 5342"/>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821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Week 4</a:t>
            </a:r>
          </a:p>
        </p:txBody>
      </p:sp>
      <p:sp>
        <p:nvSpPr>
          <p:cNvPr id="29" name="TextBox 28"/>
          <p:cNvSpPr txBox="1"/>
          <p:nvPr/>
        </p:nvSpPr>
        <p:spPr>
          <a:xfrm>
            <a:off x="626821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먼 정보를</a:t>
            </a:r>
          </a:p>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기억하려면?</a:t>
            </a:r>
          </a:p>
        </p:txBody>
      </p:sp>
      <p:sp>
        <p:nvSpPr>
          <p:cNvPr id="30" name="TextBox 29"/>
          <p:cNvSpPr txBox="1"/>
          <p:nvPr/>
        </p:nvSpPr>
        <p:spPr>
          <a:xfrm>
            <a:off x="626821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FFFFFF"/>
                </a:solidFill>
                <a:latin typeface="맑은 고딕"/>
                <a:ea typeface="맑은 고딕"/>
                <a:cs typeface="맑은 고딕"/>
              </a:rPr>
              <a:t>RNN · LSTM</a:t>
            </a:r>
          </a:p>
        </p:txBody>
      </p:sp>
      <p:sp>
        <p:nvSpPr>
          <p:cNvPr id="31" name="TextBox 30"/>
          <p:cNvSpPr txBox="1"/>
          <p:nvPr/>
        </p:nvSpPr>
        <p:spPr>
          <a:xfrm>
            <a:off x="626821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FFFFFF"/>
                </a:solidFill>
                <a:latin typeface="맑은 고딕"/>
                <a:ea typeface="맑은 고딕"/>
                <a:cs typeface="맑은 고딕"/>
              </a:rPr>
              <a:t>1986–2014</a:t>
            </a:r>
          </a:p>
        </p:txBody>
      </p:sp>
      <p:cxnSp>
        <p:nvCxnSpPr>
          <p:cNvPr id="32" name="Connector 31"/>
          <p:cNvCxnSpPr/>
          <p:nvPr/>
        </p:nvCxnSpPr>
        <p:spPr>
          <a:xfrm>
            <a:off x="7924799" y="2345436"/>
            <a:ext cx="164593"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8107680" y="1408176"/>
            <a:ext cx="1711452" cy="1874519"/>
          </a:xfrm>
          <a:prstGeom prst="roundRect">
            <a:avLst>
              <a:gd name="adj" fmla="val 5342"/>
            </a:avLst>
          </a:prstGeom>
          <a:solidFill>
            <a:srgbClr val="EDF5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8083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5</a:t>
            </a:r>
          </a:p>
        </p:txBody>
      </p:sp>
      <p:sp>
        <p:nvSpPr>
          <p:cNvPr id="35" name="TextBox 34"/>
          <p:cNvSpPr txBox="1"/>
          <p:nvPr/>
        </p:nvSpPr>
        <p:spPr>
          <a:xfrm>
            <a:off x="818083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5E6B75"/>
                </a:solidFill>
                <a:latin typeface="맑은 고딕"/>
                <a:ea typeface="맑은 고딕"/>
                <a:cs typeface="맑은 고딕"/>
              </a:rPr>
              <a:t>원문을</a:t>
            </a:r>
          </a:p>
          <a:p>
            <a:pPr algn="ctr" marL="0" indent="0">
              <a:lnSpc>
                <a:spcPct val="110000"/>
              </a:lnSpc>
              <a:spcBef>
                <a:spcPts val="0"/>
              </a:spcBef>
              <a:spcAft>
                <a:spcPts val="0"/>
              </a:spcAft>
              <a:buNone/>
            </a:pPr>
            <a:r>
              <a:rPr sz="1500" b="1">
                <a:solidFill>
                  <a:srgbClr val="5E6B75"/>
                </a:solidFill>
                <a:latin typeface="맑은 고딕"/>
                <a:ea typeface="맑은 고딕"/>
                <a:cs typeface="맑은 고딕"/>
              </a:rPr>
              <a:t>다시 보면?</a:t>
            </a:r>
          </a:p>
        </p:txBody>
      </p:sp>
      <p:sp>
        <p:nvSpPr>
          <p:cNvPr id="36" name="TextBox 35"/>
          <p:cNvSpPr txBox="1"/>
          <p:nvPr/>
        </p:nvSpPr>
        <p:spPr>
          <a:xfrm>
            <a:off x="818083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5E6B75"/>
                </a:solidFill>
                <a:latin typeface="맑은 고딕"/>
                <a:ea typeface="맑은 고딕"/>
                <a:cs typeface="맑은 고딕"/>
              </a:rPr>
              <a:t>Attention</a:t>
            </a:r>
          </a:p>
        </p:txBody>
      </p:sp>
      <p:sp>
        <p:nvSpPr>
          <p:cNvPr id="37" name="TextBox 36"/>
          <p:cNvSpPr txBox="1"/>
          <p:nvPr/>
        </p:nvSpPr>
        <p:spPr>
          <a:xfrm>
            <a:off x="818083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2014–2017</a:t>
            </a:r>
          </a:p>
        </p:txBody>
      </p:sp>
      <p:cxnSp>
        <p:nvCxnSpPr>
          <p:cNvPr id="38" name="Connector 37"/>
          <p:cNvCxnSpPr/>
          <p:nvPr/>
        </p:nvCxnSpPr>
        <p:spPr>
          <a:xfrm>
            <a:off x="9837420" y="2345436"/>
            <a:ext cx="164592"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10020300" y="1408176"/>
            <a:ext cx="1711452" cy="1874519"/>
          </a:xfrm>
          <a:prstGeom prst="roundRect">
            <a:avLst>
              <a:gd name="adj" fmla="val 5342"/>
            </a:avLst>
          </a:prstGeom>
          <a:solidFill>
            <a:srgbClr val="EDF5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9345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6</a:t>
            </a:r>
          </a:p>
        </p:txBody>
      </p:sp>
      <p:sp>
        <p:nvSpPr>
          <p:cNvPr id="41" name="TextBox 40"/>
          <p:cNvSpPr txBox="1"/>
          <p:nvPr/>
        </p:nvSpPr>
        <p:spPr>
          <a:xfrm>
            <a:off x="1009345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5E6B75"/>
                </a:solidFill>
                <a:latin typeface="맑은 고딕"/>
                <a:ea typeface="맑은 고딕"/>
                <a:cs typeface="맑은 고딕"/>
              </a:rPr>
              <a:t>참조만으로</a:t>
            </a:r>
          </a:p>
          <a:p>
            <a:pPr algn="ctr" marL="0" indent="0">
              <a:lnSpc>
                <a:spcPct val="110000"/>
              </a:lnSpc>
              <a:spcBef>
                <a:spcPts val="0"/>
              </a:spcBef>
              <a:spcAft>
                <a:spcPts val="0"/>
              </a:spcAft>
              <a:buNone/>
            </a:pPr>
            <a:r>
              <a:rPr sz="1500" b="1">
                <a:solidFill>
                  <a:srgbClr val="5E6B75"/>
                </a:solidFill>
                <a:latin typeface="맑은 고딕"/>
                <a:ea typeface="맑은 고딕"/>
                <a:cs typeface="맑은 고딕"/>
              </a:rPr>
              <a:t>만들면?</a:t>
            </a:r>
          </a:p>
        </p:txBody>
      </p:sp>
      <p:sp>
        <p:nvSpPr>
          <p:cNvPr id="42" name="TextBox 41"/>
          <p:cNvSpPr txBox="1"/>
          <p:nvPr/>
        </p:nvSpPr>
        <p:spPr>
          <a:xfrm>
            <a:off x="1009345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5E6B75"/>
                </a:solidFill>
                <a:latin typeface="맑은 고딕"/>
                <a:ea typeface="맑은 고딕"/>
                <a:cs typeface="맑은 고딕"/>
              </a:rPr>
              <a:t>Transformer</a:t>
            </a:r>
          </a:p>
        </p:txBody>
      </p:sp>
      <p:sp>
        <p:nvSpPr>
          <p:cNvPr id="43" name="TextBox 42"/>
          <p:cNvSpPr txBox="1"/>
          <p:nvPr/>
        </p:nvSpPr>
        <p:spPr>
          <a:xfrm>
            <a:off x="1009345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2017–</a:t>
            </a:r>
          </a:p>
        </p:txBody>
      </p:sp>
      <p:sp>
        <p:nvSpPr>
          <p:cNvPr id="44" name="Rounded Rectangle 43"/>
          <p:cNvSpPr/>
          <p:nvPr/>
        </p:nvSpPr>
        <p:spPr>
          <a:xfrm>
            <a:off x="457200" y="3557015"/>
            <a:ext cx="5454396" cy="2825496"/>
          </a:xfrm>
          <a:prstGeom prst="roundRect">
            <a:avLst>
              <a:gd name="adj" fmla="val 3236"/>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3648456"/>
            <a:ext cx="5088636" cy="36576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300" b="1">
                <a:solidFill>
                  <a:srgbClr val="01688F"/>
                </a:solidFill>
                <a:latin typeface="맑은 고딕"/>
                <a:ea typeface="맑은 고딕"/>
                <a:cs typeface="맑은 고딕"/>
              </a:rPr>
              <a:t>오늘의 순서</a:t>
            </a:r>
          </a:p>
        </p:txBody>
      </p:sp>
      <p:sp>
        <p:nvSpPr>
          <p:cNvPr id="46" name="TextBox 45"/>
          <p:cNvSpPr txBox="1"/>
          <p:nvPr/>
        </p:nvSpPr>
        <p:spPr>
          <a:xfrm>
            <a:off x="640080" y="4059935"/>
            <a:ext cx="5088636" cy="2231136"/>
          </a:xfrm>
          <a:prstGeom prst="rect">
            <a:avLst/>
          </a:prstGeom>
          <a:noFill/>
        </p:spPr>
        <p:txBody>
          <a:bodyPr wrap="square" lIns="73152" rIns="73152" tIns="36576" bIns="36576" anchor="t">
            <a:spAutoFit/>
          </a:bodyPr>
          <a:lstStyle/>
          <a:p>
            <a:pPr algn="l" marL="0" indent="0">
              <a:lnSpc>
                <a:spcPct val="110000"/>
              </a:lnSpc>
              <a:spcBef>
                <a:spcPts val="0"/>
              </a:spcBef>
              <a:spcAft>
                <a:spcPts val="450"/>
              </a:spcAft>
              <a:buNone/>
            </a:pPr>
            <a:r>
              <a:rPr sz="1500" b="1">
                <a:solidFill>
                  <a:srgbClr val="1B2A36"/>
                </a:solidFill>
                <a:latin typeface="맑은 고딕"/>
                <a:ea typeface="맑은 고딕"/>
                <a:cs typeface="맑은 고딕"/>
              </a:rPr>
              <a:t>Part 1</a:t>
            </a:r>
            <a:r>
              <a:rPr sz="1500" b="0">
                <a:solidFill>
                  <a:srgbClr val="1B2A36"/>
                </a:solidFill>
                <a:latin typeface="맑은 고딕"/>
                <a:ea typeface="맑은 고딕"/>
                <a:cs typeface="맑은 고딕"/>
              </a:rPr>
              <a:t> 문장을 숫자로: 토큰과 임베딩</a:t>
            </a:r>
          </a:p>
          <a:p>
            <a:pPr algn="l" marL="0" indent="0">
              <a:lnSpc>
                <a:spcPct val="110000"/>
              </a:lnSpc>
              <a:spcBef>
                <a:spcPts val="0"/>
              </a:spcBef>
              <a:spcAft>
                <a:spcPts val="450"/>
              </a:spcAft>
              <a:buNone/>
            </a:pPr>
            <a:r>
              <a:rPr sz="1500" b="1">
                <a:solidFill>
                  <a:srgbClr val="1B2A36"/>
                </a:solidFill>
                <a:latin typeface="맑은 고딕"/>
                <a:ea typeface="맑은 고딕"/>
                <a:cs typeface="맑은 고딕"/>
              </a:rPr>
              <a:t>Part 2</a:t>
            </a:r>
            <a:r>
              <a:rPr sz="1500" b="0">
                <a:solidFill>
                  <a:srgbClr val="1B2A36"/>
                </a:solidFill>
                <a:latin typeface="맑은 고딕"/>
                <a:ea typeface="맑은 고딕"/>
                <a:cs typeface="맑은 고딕"/>
              </a:rPr>
              <a:t> RNN: 순서를 따라 상태 전달 (1986/1990)</a:t>
            </a:r>
          </a:p>
          <a:p>
            <a:pPr algn="l" marL="0" indent="0">
              <a:lnSpc>
                <a:spcPct val="110000"/>
              </a:lnSpc>
              <a:spcBef>
                <a:spcPts val="0"/>
              </a:spcBef>
              <a:spcAft>
                <a:spcPts val="450"/>
              </a:spcAft>
              <a:buNone/>
            </a:pPr>
            <a:r>
              <a:rPr sz="1500" b="1">
                <a:solidFill>
                  <a:srgbClr val="1B2A36"/>
                </a:solidFill>
                <a:latin typeface="맑은 고딕"/>
                <a:ea typeface="맑은 고딕"/>
                <a:cs typeface="맑은 고딕"/>
              </a:rPr>
              <a:t>Part 3</a:t>
            </a:r>
            <a:r>
              <a:rPr sz="1500" b="0">
                <a:solidFill>
                  <a:srgbClr val="1B2A36"/>
                </a:solidFill>
                <a:latin typeface="맑은 고딕"/>
                <a:ea typeface="맑은 고딕"/>
                <a:cs typeface="맑은 고딕"/>
              </a:rPr>
              <a:t> 장기 의존성: 왜 먼 정보를 잃나 (1991/1994)</a:t>
            </a:r>
          </a:p>
          <a:p>
            <a:pPr algn="l" marL="0" indent="0">
              <a:lnSpc>
                <a:spcPct val="110000"/>
              </a:lnSpc>
              <a:spcBef>
                <a:spcPts val="0"/>
              </a:spcBef>
              <a:spcAft>
                <a:spcPts val="450"/>
              </a:spcAft>
              <a:buNone/>
            </a:pPr>
            <a:r>
              <a:rPr sz="1500" b="1">
                <a:solidFill>
                  <a:srgbClr val="1B2A36"/>
                </a:solidFill>
                <a:latin typeface="맑은 고딕"/>
                <a:ea typeface="맑은 고딕"/>
                <a:cs typeface="맑은 고딕"/>
              </a:rPr>
              <a:t>Part 4</a:t>
            </a:r>
            <a:r>
              <a:rPr sz="1500" b="0">
                <a:solidFill>
                  <a:srgbClr val="1B2A36"/>
                </a:solidFill>
                <a:latin typeface="맑은 고딕"/>
                <a:ea typeface="맑은 고딕"/>
                <a:cs typeface="맑은 고딕"/>
              </a:rPr>
              <a:t> LSTM: 보존·쓰기·읽기의 조절 (1997)</a:t>
            </a:r>
          </a:p>
          <a:p>
            <a:pPr algn="l" marL="0" indent="0">
              <a:lnSpc>
                <a:spcPct val="110000"/>
              </a:lnSpc>
              <a:spcBef>
                <a:spcPts val="0"/>
              </a:spcBef>
              <a:spcAft>
                <a:spcPts val="450"/>
              </a:spcAft>
              <a:buNone/>
            </a:pPr>
            <a:r>
              <a:rPr sz="1500" b="1">
                <a:solidFill>
                  <a:srgbClr val="1B2A36"/>
                </a:solidFill>
                <a:latin typeface="맑은 고딕"/>
                <a:ea typeface="맑은 고딕"/>
                <a:cs typeface="맑은 고딕"/>
              </a:rPr>
              <a:t>Part 5</a:t>
            </a:r>
            <a:r>
              <a:rPr sz="1500" b="0">
                <a:solidFill>
                  <a:srgbClr val="1B2A36"/>
                </a:solidFill>
                <a:latin typeface="맑은 고딕"/>
                <a:ea typeface="맑은 고딕"/>
                <a:cs typeface="맑은 고딕"/>
              </a:rPr>
              <a:t> 단어의 의미를 학습하기 (2003/2013)</a:t>
            </a:r>
          </a:p>
          <a:p>
            <a:pPr algn="l" marL="0" indent="0">
              <a:lnSpc>
                <a:spcPct val="110000"/>
              </a:lnSpc>
              <a:spcBef>
                <a:spcPts val="0"/>
              </a:spcBef>
              <a:spcAft>
                <a:spcPts val="450"/>
              </a:spcAft>
              <a:buNone/>
            </a:pPr>
            <a:r>
              <a:rPr sz="1500" b="1">
                <a:solidFill>
                  <a:srgbClr val="1B2A36"/>
                </a:solidFill>
                <a:latin typeface="맑은 고딕"/>
                <a:ea typeface="맑은 고딕"/>
                <a:cs typeface="맑은 고딕"/>
              </a:rPr>
              <a:t>Part 6</a:t>
            </a:r>
            <a:r>
              <a:rPr sz="1500" b="0">
                <a:solidFill>
                  <a:srgbClr val="1B2A36"/>
                </a:solidFill>
                <a:latin typeface="맑은 고딕"/>
                <a:ea typeface="맑은 고딕"/>
                <a:cs typeface="맑은 고딕"/>
              </a:rPr>
              <a:t> Seq2Seq: 길이가 다른 입출력 (2014)</a:t>
            </a:r>
          </a:p>
        </p:txBody>
      </p:sp>
      <p:sp>
        <p:nvSpPr>
          <p:cNvPr id="47" name="Rounded Rectangle 46"/>
          <p:cNvSpPr/>
          <p:nvPr/>
        </p:nvSpPr>
        <p:spPr>
          <a:xfrm>
            <a:off x="6277356" y="3557015"/>
            <a:ext cx="5454396" cy="2825496"/>
          </a:xfrm>
          <a:prstGeom prst="roundRect">
            <a:avLst>
              <a:gd name="adj" fmla="val 3236"/>
            </a:avLst>
          </a:prstGeom>
          <a:solidFill>
            <a:srgbClr val="FFFFFF"/>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60236" y="3648456"/>
            <a:ext cx="5088636" cy="36576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300" b="1">
                <a:solidFill>
                  <a:srgbClr val="01688F"/>
                </a:solidFill>
                <a:latin typeface="맑은 고딕"/>
                <a:ea typeface="맑은 고딕"/>
                <a:cs typeface="맑은 고딕"/>
              </a:rPr>
              <a:t>끝나면 할 수 있는 것</a:t>
            </a:r>
          </a:p>
        </p:txBody>
      </p:sp>
      <p:sp>
        <p:nvSpPr>
          <p:cNvPr id="49" name="TextBox 48"/>
          <p:cNvSpPr txBox="1"/>
          <p:nvPr/>
        </p:nvSpPr>
        <p:spPr>
          <a:xfrm>
            <a:off x="6460236" y="4059935"/>
            <a:ext cx="5088636" cy="2231136"/>
          </a:xfrm>
          <a:prstGeom prst="rect">
            <a:avLst/>
          </a:prstGeom>
          <a:noFill/>
        </p:spPr>
        <p:txBody>
          <a:bodyPr wrap="square" lIns="73152" rIns="73152" tIns="36576" bIns="36576" anchor="t">
            <a:spAutoFit/>
          </a:bodyPr>
          <a:lstStyle/>
          <a:p>
            <a:pPr algn="l" marL="256032" indent="-237744">
              <a:lnSpc>
                <a:spcPct val="110000"/>
              </a:lnSpc>
              <a:spcBef>
                <a:spcPts val="0"/>
              </a:spcBef>
              <a:spcAft>
                <a:spcPts val="420"/>
              </a:spcAft>
              <a:buClr>
                <a:srgbClr val="01688F"/>
              </a:buClr>
              <a:buFont typeface="Wingdings" pitchFamily="2" charset="2"/>
              <a:buChar char="§"/>
            </a:pPr>
            <a:r>
              <a:rPr sz="1400" b="0">
                <a:solidFill>
                  <a:srgbClr val="1B2A36"/>
                </a:solidFill>
                <a:latin typeface="맑은 고딕"/>
                <a:ea typeface="맑은 고딕"/>
                <a:cs typeface="맑은 고딕"/>
              </a:rPr>
              <a:t>토큰 ID와 </a:t>
            </a:r>
            <a:r>
              <a:rPr sz="1400" b="1">
                <a:solidFill>
                  <a:srgbClr val="1B2A36"/>
                </a:solidFill>
                <a:latin typeface="맑은 고딕"/>
                <a:ea typeface="맑은 고딕"/>
                <a:cs typeface="맑은 고딕"/>
              </a:rPr>
              <a:t>임베딩 lookup</a:t>
            </a:r>
            <a:r>
              <a:rPr sz="1400" b="0">
                <a:solidFill>
                  <a:srgbClr val="1B2A36"/>
                </a:solidFill>
                <a:latin typeface="맑은 고딕"/>
                <a:ea typeface="맑은 고딕"/>
                <a:cs typeface="맑은 고딕"/>
              </a:rPr>
              <a:t>을 구분하고 shape (B, N) → (B, N, d)를 말한다</a:t>
            </a:r>
          </a:p>
          <a:p>
            <a:pPr algn="l" marL="256032" indent="-237744">
              <a:lnSpc>
                <a:spcPct val="110000"/>
              </a:lnSpc>
              <a:spcBef>
                <a:spcPts val="0"/>
              </a:spcBef>
              <a:spcAft>
                <a:spcPts val="420"/>
              </a:spcAft>
              <a:buClr>
                <a:srgbClr val="01688F"/>
              </a:buClr>
              <a:buFont typeface="Wingdings" pitchFamily="2" charset="2"/>
              <a:buChar char="§"/>
            </a:pPr>
            <a:r>
              <a:rPr sz="1400" b="0">
                <a:solidFill>
                  <a:srgbClr val="1B2A36"/>
                </a:solidFill>
                <a:latin typeface="맑은 고딕"/>
                <a:ea typeface="맑은 고딕"/>
                <a:cs typeface="맑은 고딕"/>
              </a:rPr>
              <a:t>RNN 상태 갱신을 </a:t>
            </a:r>
            <a:r>
              <a:rPr sz="1400" b="1">
                <a:solidFill>
                  <a:srgbClr val="1B2A36"/>
                </a:solidFill>
                <a:latin typeface="맑은 고딕"/>
                <a:ea typeface="맑은 고딕"/>
                <a:cs typeface="맑은 고딕"/>
              </a:rPr>
              <a:t>손으로</a:t>
            </a:r>
            <a:r>
              <a:rPr sz="1400" b="0">
                <a:solidFill>
                  <a:srgbClr val="1B2A36"/>
                </a:solidFill>
                <a:latin typeface="맑은 고딕"/>
                <a:ea typeface="맑은 고딕"/>
                <a:cs typeface="맑은 고딕"/>
              </a:rPr>
              <a:t> 두세 단계 계산한다</a:t>
            </a:r>
          </a:p>
          <a:p>
            <a:pPr algn="l" marL="256032" indent="-237744">
              <a:lnSpc>
                <a:spcPct val="110000"/>
              </a:lnSpc>
              <a:spcBef>
                <a:spcPts val="0"/>
              </a:spcBef>
              <a:spcAft>
                <a:spcPts val="420"/>
              </a:spcAft>
              <a:buClr>
                <a:srgbClr val="01688F"/>
              </a:buClr>
              <a:buFont typeface="Wingdings" pitchFamily="2" charset="2"/>
              <a:buChar char="§"/>
            </a:pPr>
            <a:r>
              <a:rPr sz="1400" b="0">
                <a:solidFill>
                  <a:srgbClr val="1B2A36"/>
                </a:solidFill>
                <a:latin typeface="맑은 고딕"/>
                <a:ea typeface="맑은 고딕"/>
                <a:cs typeface="맑은 고딕"/>
              </a:rPr>
              <a:t>장기 의존성이 어려운 </a:t>
            </a:r>
            <a:r>
              <a:rPr sz="1400" b="1">
                <a:solidFill>
                  <a:srgbClr val="1B2A36"/>
                </a:solidFill>
                <a:latin typeface="맑은 고딕"/>
                <a:ea typeface="맑은 고딕"/>
                <a:cs typeface="맑은 고딕"/>
              </a:rPr>
              <a:t>세 가지 이유</a:t>
            </a:r>
            <a:r>
              <a:rPr sz="1400" b="0">
                <a:solidFill>
                  <a:srgbClr val="1B2A36"/>
                </a:solidFill>
                <a:latin typeface="맑은 고딕"/>
                <a:ea typeface="맑은 고딕"/>
                <a:cs typeface="맑은 고딕"/>
              </a:rPr>
              <a:t>를 구분한다</a:t>
            </a:r>
          </a:p>
          <a:p>
            <a:pPr algn="l" marL="256032" indent="-237744">
              <a:lnSpc>
                <a:spcPct val="110000"/>
              </a:lnSpc>
              <a:spcBef>
                <a:spcPts val="0"/>
              </a:spcBef>
              <a:spcAft>
                <a:spcPts val="420"/>
              </a:spcAft>
              <a:buClr>
                <a:srgbClr val="01688F"/>
              </a:buClr>
              <a:buFont typeface="Wingdings" pitchFamily="2" charset="2"/>
              <a:buChar char="§"/>
            </a:pPr>
            <a:r>
              <a:rPr sz="1400" b="0">
                <a:solidFill>
                  <a:srgbClr val="1B2A36"/>
                </a:solidFill>
                <a:latin typeface="맑은 고딕"/>
                <a:ea typeface="맑은 고딕"/>
                <a:cs typeface="맑은 고딕"/>
              </a:rPr>
              <a:t>LSTM의 c와 h, </a:t>
            </a:r>
            <a:r>
              <a:rPr sz="1400" b="1">
                <a:solidFill>
                  <a:srgbClr val="1B2A36"/>
                </a:solidFill>
                <a:latin typeface="맑은 고딕"/>
                <a:ea typeface="맑은 고딕"/>
                <a:cs typeface="맑은 고딕"/>
              </a:rPr>
              <a:t>덧셈 경로</a:t>
            </a:r>
            <a:r>
              <a:rPr sz="1400" b="0">
                <a:solidFill>
                  <a:srgbClr val="1B2A36"/>
                </a:solidFill>
                <a:latin typeface="맑은 고딕"/>
                <a:ea typeface="맑은 고딕"/>
                <a:cs typeface="맑은 고딕"/>
              </a:rPr>
              <a:t>의 역할을 설명한다</a:t>
            </a:r>
          </a:p>
          <a:p>
            <a:pPr algn="l" marL="256032" indent="-237744">
              <a:lnSpc>
                <a:spcPct val="110000"/>
              </a:lnSpc>
              <a:spcBef>
                <a:spcPts val="0"/>
              </a:spcBef>
              <a:spcAft>
                <a:spcPts val="420"/>
              </a:spcAft>
              <a:buClr>
                <a:srgbClr val="01688F"/>
              </a:buClr>
              <a:buFont typeface="Wingdings" pitchFamily="2" charset="2"/>
              <a:buChar char="§"/>
            </a:pPr>
            <a:r>
              <a:rPr sz="1400" b="0">
                <a:solidFill>
                  <a:srgbClr val="1B2A36"/>
                </a:solidFill>
                <a:latin typeface="맑은 고딕"/>
                <a:ea typeface="맑은 고딕"/>
                <a:cs typeface="맑은 고딕"/>
              </a:rPr>
              <a:t>언어 모델의 </a:t>
            </a:r>
            <a:r>
              <a:rPr sz="1400" b="1">
                <a:solidFill>
                  <a:srgbClr val="1B2A36"/>
                </a:solidFill>
                <a:latin typeface="맑은 고딕"/>
                <a:ea typeface="맑은 고딕"/>
                <a:cs typeface="맑은 고딕"/>
              </a:rPr>
              <a:t>목표</a:t>
            </a:r>
            <a:r>
              <a:rPr sz="1400" b="0">
                <a:solidFill>
                  <a:srgbClr val="1B2A36"/>
                </a:solidFill>
                <a:latin typeface="맑은 고딕"/>
                <a:ea typeface="맑은 고딕"/>
                <a:cs typeface="맑은 고딕"/>
              </a:rPr>
              <a:t>(다음 토큰 확률)와 </a:t>
            </a:r>
            <a:r>
              <a:rPr sz="1400" b="1">
                <a:solidFill>
                  <a:srgbClr val="1B2A36"/>
                </a:solidFill>
                <a:latin typeface="맑은 고딕"/>
                <a:ea typeface="맑은 고딕"/>
                <a:cs typeface="맑은 고딕"/>
              </a:rPr>
              <a:t>아키텍처</a:t>
            </a:r>
            <a:r>
              <a:rPr sz="1400" b="0">
                <a:solidFill>
                  <a:srgbClr val="1B2A36"/>
                </a:solidFill>
                <a:latin typeface="맑은 고딕"/>
                <a:ea typeface="맑은 고딕"/>
                <a:cs typeface="맑은 고딕"/>
              </a:rPr>
              <a:t>를 구분한다</a:t>
            </a:r>
          </a:p>
          <a:p>
            <a:pPr algn="l" marL="256032" indent="-237744">
              <a:lnSpc>
                <a:spcPct val="110000"/>
              </a:lnSpc>
              <a:spcBef>
                <a:spcPts val="0"/>
              </a:spcBef>
              <a:spcAft>
                <a:spcPts val="420"/>
              </a:spcAft>
              <a:buClr>
                <a:srgbClr val="01688F"/>
              </a:buClr>
              <a:buFont typeface="Wingdings" pitchFamily="2" charset="2"/>
              <a:buChar char="§"/>
            </a:pPr>
            <a:r>
              <a:rPr sz="1400" b="0">
                <a:solidFill>
                  <a:srgbClr val="1B2A36"/>
                </a:solidFill>
                <a:latin typeface="맑은 고딕"/>
                <a:ea typeface="맑은 고딕"/>
                <a:cs typeface="맑은 고딕"/>
              </a:rPr>
              <a:t>Seq2Seq의 </a:t>
            </a:r>
            <a:r>
              <a:rPr sz="1400" b="1">
                <a:solidFill>
                  <a:srgbClr val="1B2A36"/>
                </a:solidFill>
                <a:latin typeface="맑은 고딕"/>
                <a:ea typeface="맑은 고딕"/>
                <a:cs typeface="맑은 고딕"/>
              </a:rPr>
              <a:t>고정 벡터 병목</a:t>
            </a:r>
            <a:r>
              <a:rPr sz="1400" b="0">
                <a:solidFill>
                  <a:srgbClr val="1B2A36"/>
                </a:solidFill>
                <a:latin typeface="맑은 고딕"/>
                <a:ea typeface="맑은 고딕"/>
                <a:cs typeface="맑은 고딕"/>
              </a:rPr>
              <a:t>을 설명한다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새 용어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낯선 단어를 먼저 한 번 보고 시작한다</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도입</a:t>
            </a:r>
          </a:p>
        </p:txBody>
      </p:sp>
      <p:graphicFrame>
        <p:nvGraphicFramePr>
          <p:cNvPr id="9" name="Table 8"/>
          <p:cNvGraphicFramePr>
            <a:graphicFrameLocks noGrp="1"/>
          </p:cNvGraphicFramePr>
          <p:nvPr/>
        </p:nvGraphicFramePr>
        <p:xfrm>
          <a:off x="457200" y="1979677"/>
          <a:ext cx="11274551" cy="3831334"/>
        </p:xfrm>
        <a:graphic>
          <a:graphicData uri="http://schemas.openxmlformats.org/drawingml/2006/table">
            <a:tbl>
              <a:tblPr firstRow="1" bandRow="0">
                <a:tableStyleId>{5940675A-B579-460E-94D1-54222C63F5DA}</a:tableStyleId>
              </a:tblPr>
              <a:tblGrid>
                <a:gridCol w="2016586"/>
                <a:gridCol w="4766477"/>
                <a:gridCol w="4491488"/>
              </a:tblGrid>
              <a:tr h="374904">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용어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한 줄 뜻</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비유 · 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토큰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모델이 처리하는 텍스트 조각 (단어·부분단어·글자)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레고 블록 한 조각</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어휘 |V|</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토큰의 전체 목록과 그 크기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사전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임베딩 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토큰마다 하나씩 있는 학습되는 벡터 표 (|V|, 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사전의 뜻풀이 (숫자판)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은닉 상태 h</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지금까지 읽은 내용을 요약한 벡터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읽으면서 쓰는 메모</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장기 의존성</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멀리 떨어진 위치 사이의 관계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앞 문장의 주어와 뒤의 동사</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게이트</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0~1 비중으로 정보 흐름을 조절하는 값 (계산됨)</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수도꼭지</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언어 모델</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다음 토큰의 확률을 예측하는 모델</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문장 이어 쓰기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Encoder-Decoder</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입력을 표현하는 부분과 출력을 생성하는 부분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통역사의 듣기와 말하기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1</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문장을 숫자로: 토큰과 임베딩</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“나는 학교에 간다”를 모델이 계산할 수 있는 숫자로 바꾸려면?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텍스트가 벡터가 되기까지</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문자열 → 토큰 → 정수 ID → 학습되는 벡터. 모델이 계산하는 것은 마지막 벡터다</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sp>
        <p:nvSpPr>
          <p:cNvPr id="9" name="Rounded Rectangle 8"/>
          <p:cNvSpPr/>
          <p:nvPr/>
        </p:nvSpPr>
        <p:spPr>
          <a:xfrm>
            <a:off x="457200" y="1408176"/>
            <a:ext cx="2530602" cy="2103120"/>
          </a:xfrm>
          <a:prstGeom prst="roundRect">
            <a:avLst>
              <a:gd name="adj" fmla="val 4347"/>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996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문자열</a:t>
            </a:r>
          </a:p>
        </p:txBody>
      </p:sp>
      <p:sp>
        <p:nvSpPr>
          <p:cNvPr id="11" name="TextBox 10"/>
          <p:cNvSpPr txBox="1"/>
          <p:nvPr/>
        </p:nvSpPr>
        <p:spPr>
          <a:xfrm>
            <a:off x="548640" y="1911095"/>
            <a:ext cx="2347722" cy="1508759"/>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“나는 학교에 간다”</a:t>
            </a:r>
          </a:p>
        </p:txBody>
      </p:sp>
      <p:cxnSp>
        <p:nvCxnSpPr>
          <p:cNvPr id="12" name="Connector 11"/>
          <p:cNvCxnSpPr/>
          <p:nvPr/>
        </p:nvCxnSpPr>
        <p:spPr>
          <a:xfrm>
            <a:off x="3033522" y="2459736"/>
            <a:ext cx="292608"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71850" y="1408176"/>
            <a:ext cx="2530602" cy="2103120"/>
          </a:xfrm>
          <a:prstGeom prst="roundRect">
            <a:avLst>
              <a:gd name="adj" fmla="val 4347"/>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63290" y="14996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토큰</a:t>
            </a:r>
          </a:p>
        </p:txBody>
      </p:sp>
      <p:sp>
        <p:nvSpPr>
          <p:cNvPr id="15" name="TextBox 14"/>
          <p:cNvSpPr txBox="1"/>
          <p:nvPr/>
        </p:nvSpPr>
        <p:spPr>
          <a:xfrm>
            <a:off x="3463290" y="1911095"/>
            <a:ext cx="2347722" cy="1508759"/>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[나는, 학교에, 간다]</a:t>
            </a:r>
          </a:p>
        </p:txBody>
      </p:sp>
      <p:cxnSp>
        <p:nvCxnSpPr>
          <p:cNvPr id="16" name="Connector 15"/>
          <p:cNvCxnSpPr/>
          <p:nvPr/>
        </p:nvCxnSpPr>
        <p:spPr>
          <a:xfrm>
            <a:off x="5948172" y="2459736"/>
            <a:ext cx="292608"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86500" y="1408176"/>
            <a:ext cx="2530602" cy="2103120"/>
          </a:xfrm>
          <a:prstGeom prst="roundRect">
            <a:avLst>
              <a:gd name="adj" fmla="val 4347"/>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14996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ID</a:t>
            </a:r>
          </a:p>
        </p:txBody>
      </p:sp>
      <p:sp>
        <p:nvSpPr>
          <p:cNvPr id="19" name="TextBox 18"/>
          <p:cNvSpPr txBox="1"/>
          <p:nvPr/>
        </p:nvSpPr>
        <p:spPr>
          <a:xfrm>
            <a:off x="6377940" y="1911095"/>
            <a:ext cx="2347722" cy="1508759"/>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[12, 305, 88]</a:t>
            </a:r>
          </a:p>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shape (N,) = (3,)</a:t>
            </a:r>
          </a:p>
        </p:txBody>
      </p:sp>
      <p:cxnSp>
        <p:nvCxnSpPr>
          <p:cNvPr id="20" name="Connector 19"/>
          <p:cNvCxnSpPr/>
          <p:nvPr/>
        </p:nvCxnSpPr>
        <p:spPr>
          <a:xfrm>
            <a:off x="8862822" y="2459736"/>
            <a:ext cx="292608"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01150" y="1408176"/>
            <a:ext cx="2530602" cy="2103120"/>
          </a:xfrm>
          <a:prstGeom prst="roundRect">
            <a:avLst>
              <a:gd name="adj" fmla="val 4347"/>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92590" y="14996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벡터</a:t>
            </a:r>
          </a:p>
        </p:txBody>
      </p:sp>
      <p:sp>
        <p:nvSpPr>
          <p:cNvPr id="23" name="TextBox 22"/>
          <p:cNvSpPr txBox="1"/>
          <p:nvPr/>
        </p:nvSpPr>
        <p:spPr>
          <a:xfrm>
            <a:off x="9292590" y="1911095"/>
            <a:ext cx="2347722" cy="1508759"/>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FFFFFF"/>
                </a:solidFill>
                <a:latin typeface="맑은 고딕"/>
                <a:ea typeface="맑은 고딕"/>
                <a:cs typeface="맑은 고딕"/>
              </a:rPr>
              <a:t>E[ID] → (3, d)</a:t>
            </a:r>
          </a:p>
        </p:txBody>
      </p:sp>
      <p:graphicFrame>
        <p:nvGraphicFramePr>
          <p:cNvPr id="24" name="Table 23"/>
          <p:cNvGraphicFramePr>
            <a:graphicFrameLocks noGrp="1"/>
          </p:cNvGraphicFramePr>
          <p:nvPr/>
        </p:nvGraphicFramePr>
        <p:xfrm>
          <a:off x="457200" y="3831335"/>
          <a:ext cx="11274550" cy="1621536"/>
        </p:xfrm>
        <a:graphic>
          <a:graphicData uri="http://schemas.openxmlformats.org/drawingml/2006/table">
            <a:tbl>
              <a:tblPr firstRow="1" bandRow="0">
                <a:tableStyleId>{5940675A-B579-460E-94D1-54222C63F5DA}</a:tableStyleId>
              </a:tblPr>
              <a:tblGrid>
                <a:gridCol w="2437740"/>
                <a:gridCol w="3961329"/>
                <a:gridCol w="4875481"/>
              </a:tblGrid>
              <a:tr h="405384">
                <a:tc>
                  <a:txBody>
                    <a:bodyPr wrap="square" lIns="36576" rIns="36576" tIns="36576" bIns="36576" anchor="t"/>
                    <a:lstStyle/>
                    <a:p>
                      <a:pPr algn="ctr" marL="0" indent="0">
                        <a:lnSpc>
                          <a:spcPct val="110000"/>
                        </a:lnSpc>
                        <a:spcBef>
                          <a:spcPts val="0"/>
                        </a:spcBef>
                        <a:spcAft>
                          <a:spcPts val="0"/>
                        </a:spcAft>
                        <a:buNone/>
                      </a:pPr>
                      <a:r>
                        <a:rPr sz="1700" b="1">
                          <a:solidFill>
                            <a:srgbClr val="FFFFFF"/>
                          </a:solidFill>
                          <a:latin typeface="맑은 고딕"/>
                          <a:ea typeface="맑은 고딕"/>
                          <a:cs typeface="맑은 고딕"/>
                        </a:rPr>
                        <a:t>단계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700" b="1">
                          <a:solidFill>
                            <a:srgbClr val="FFFFFF"/>
                          </a:solidFill>
                          <a:latin typeface="맑은 고딕"/>
                          <a:ea typeface="맑은 고딕"/>
                          <a:cs typeface="맑은 고딕"/>
                        </a:rPr>
                        <a:t>shape (배치 B, 길이 N)</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700" b="1">
                          <a:solidFill>
                            <a:srgbClr val="FFFFFF"/>
                          </a:solidFill>
                          <a:latin typeface="맑은 고딕"/>
                          <a:ea typeface="맑은 고딕"/>
                          <a:cs typeface="맑은 고딕"/>
                        </a:rPr>
                        <a:t>학습되나?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405384">
                <a:tc>
                  <a:txBody>
                    <a:bodyPr wrap="square" lIns="36576" rIns="36576" tIns="36576" bIns="36576" anchor="t"/>
                    <a:lstStyle/>
                    <a:p>
                      <a:pPr algn="l" marL="0" indent="0">
                        <a:lnSpc>
                          <a:spcPct val="110000"/>
                        </a:lnSpc>
                        <a:spcBef>
                          <a:spcPts val="0"/>
                        </a:spcBef>
                        <a:spcAft>
                          <a:spcPts val="0"/>
                        </a:spcAft>
                        <a:buNone/>
                      </a:pPr>
                      <a:r>
                        <a:rPr sz="1700" b="1">
                          <a:solidFill>
                            <a:srgbClr val="1B2A36"/>
                          </a:solidFill>
                          <a:latin typeface="맑은 고딕"/>
                          <a:ea typeface="맑은 고딕"/>
                          <a:cs typeface="맑은 고딕"/>
                        </a:rPr>
                        <a:t>토큰 ID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(B, N) — 정수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아니오 — tokenizer (토큰화기)가 정함</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405384">
                <a:tc>
                  <a:txBody>
                    <a:bodyPr wrap="square" lIns="36576" rIns="36576" tIns="36576" bIns="36576" anchor="t"/>
                    <a:lstStyle/>
                    <a:p>
                      <a:pPr algn="l" marL="0" indent="0">
                        <a:lnSpc>
                          <a:spcPct val="110000"/>
                        </a:lnSpc>
                        <a:spcBef>
                          <a:spcPts val="0"/>
                        </a:spcBef>
                        <a:spcAft>
                          <a:spcPts val="0"/>
                        </a:spcAft>
                        <a:buNone/>
                      </a:pPr>
                      <a:r>
                        <a:rPr sz="1700" b="1">
                          <a:solidFill>
                            <a:srgbClr val="1B2A36"/>
                          </a:solidFill>
                          <a:latin typeface="맑은 고딕"/>
                          <a:ea typeface="맑은 고딕"/>
                          <a:cs typeface="맑은 고딕"/>
                        </a:rPr>
                        <a:t>임베딩 표 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(|V|, 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700" b="1">
                          <a:solidFill>
                            <a:srgbClr val="1B2A36"/>
                          </a:solidFill>
                          <a:latin typeface="맑은 고딕"/>
                          <a:ea typeface="맑은 고딕"/>
                          <a:cs typeface="맑은 고딕"/>
                        </a:rPr>
                        <a:t>예</a:t>
                      </a:r>
                      <a:r>
                        <a:rPr sz="1700" b="0">
                          <a:solidFill>
                            <a:srgbClr val="1B2A36"/>
                          </a:solidFill>
                          <a:latin typeface="맑은 고딕"/>
                          <a:ea typeface="맑은 고딕"/>
                          <a:cs typeface="맑은 고딕"/>
                        </a:rPr>
                        <a:t> — 파라미터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405384">
                <a:tc>
                  <a:txBody>
                    <a:bodyPr wrap="square" lIns="36576" rIns="36576" tIns="36576" bIns="36576" anchor="t"/>
                    <a:lstStyle/>
                    <a:p>
                      <a:pPr algn="l" marL="0" indent="0">
                        <a:lnSpc>
                          <a:spcPct val="110000"/>
                        </a:lnSpc>
                        <a:spcBef>
                          <a:spcPts val="0"/>
                        </a:spcBef>
                        <a:spcAft>
                          <a:spcPts val="0"/>
                        </a:spcAft>
                        <a:buNone/>
                      </a:pPr>
                      <a:r>
                        <a:rPr sz="1700" b="1">
                          <a:solidFill>
                            <a:srgbClr val="1B2A36"/>
                          </a:solidFill>
                          <a:latin typeface="맑은 고딕"/>
                          <a:ea typeface="맑은 고딕"/>
                          <a:cs typeface="맑은 고딕"/>
                        </a:rPr>
                        <a:t>임베딩 결과</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(B, N, 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E에서 꺼낸 값 (활성값)</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
        <p:nvSpPr>
          <p:cNvPr id="25" name="TextBox 24"/>
          <p:cNvSpPr txBox="1"/>
          <p:nvPr/>
        </p:nvSpPr>
        <p:spPr>
          <a:xfrm>
            <a:off x="457200" y="5562599"/>
            <a:ext cx="11274552" cy="411480"/>
          </a:xfrm>
          <a:prstGeom prst="rect">
            <a:avLst/>
          </a:prstGeom>
          <a:noFill/>
        </p:spPr>
        <p:txBody>
          <a:bodyPr wrap="square" lIns="73152" rIns="73152" tIns="36576" bIns="36576" anchor="t">
            <a:spAutoFit/>
          </a:bodyPr>
          <a:lstStyle/>
          <a:p>
            <a:pPr algn="l" marL="0" indent="0">
              <a:lnSpc>
                <a:spcPct val="110000"/>
              </a:lnSpc>
              <a:spcBef>
                <a:spcPts val="0"/>
              </a:spcBef>
              <a:spcAft>
                <a:spcPts val="0"/>
              </a:spcAft>
              <a:buNone/>
            </a:pPr>
            <a:r>
              <a:rPr sz="1500" b="0">
                <a:solidFill>
                  <a:srgbClr val="5E6B75"/>
                </a:solidFill>
                <a:latin typeface="맑은 고딕"/>
                <a:ea typeface="맑은 고딕"/>
                <a:cs typeface="맑은 고딕"/>
              </a:rPr>
              <a:t>(여기서는 어절 단위 — 실제 tokenizer는 더 잘게 자른다, 9쪽)</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번호는 의미가 아니다</a:t>
            </a:r>
          </a:p>
        </p:txBody>
      </p:sp>
      <p:sp>
        <p:nvSpPr>
          <p:cNvPr id="3" name="Content Placeholder 2"/>
          <p:cNvSpPr>
            <a:spLocks noGrp="1"/>
          </p:cNvSpPr>
          <p:nvPr>
            <p:ph idx="1"/>
          </p:nvPr>
        </p:nvSpPr>
        <p:spPr>
          <a:xfrm>
            <a:off x="8007217" y="1408176"/>
            <a:ext cx="3724534" cy="497433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ID를 그대로 쓰면 크기 관계가 </a:t>
            </a:r>
            <a:r>
              <a:rPr sz="1800" b="1">
                <a:solidFill>
                  <a:srgbClr val="1B2A36"/>
                </a:solidFill>
              </a:rPr>
              <a:t>엉터리</a:t>
            </a:r>
          </a:p>
          <a:p>
            <a:pPr algn="l" marL="256032" indent="-237744">
              <a:lnSpc>
                <a:spcPct val="110000"/>
              </a:lnSpc>
              <a:spcBef>
                <a:spcPts val="0"/>
              </a:spcBef>
              <a:spcAft>
                <a:spcPts val="900"/>
              </a:spcAft>
              <a:buClr>
                <a:srgbClr val="01688F"/>
              </a:buClr>
              <a:buFont typeface="Wingdings" pitchFamily="2" charset="2"/>
              <a:buChar char="§"/>
            </a:pPr>
            <a:r>
              <a:rPr sz="1800" b="1">
                <a:solidFill>
                  <a:srgbClr val="1B2A36"/>
                </a:solidFill>
              </a:rPr>
              <a:t>one-hot</a:t>
            </a:r>
            <a:r>
              <a:rPr sz="1800" b="0">
                <a:solidFill>
                  <a:srgbClr val="1B2A36"/>
                </a:solidFill>
              </a:rPr>
              <a:t>: 자기 자리만 1인 벡터</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one-hot @ E = E의 </a:t>
            </a:r>
            <a:r>
              <a:rPr sz="1800" b="1">
                <a:solidFill>
                  <a:srgbClr val="1B2A36"/>
                </a:solidFill>
              </a:rPr>
              <a:t>그 행</a:t>
            </a:r>
          </a:p>
          <a:p>
            <a:pPr algn="l" marL="566928" indent="-237744">
              <a:lnSpc>
                <a:spcPct val="110000"/>
              </a:lnSpc>
              <a:spcBef>
                <a:spcPts val="0"/>
              </a:spcBef>
              <a:spcAft>
                <a:spcPts val="775"/>
              </a:spcAft>
              <a:buClr>
                <a:srgbClr val="01688F"/>
              </a:buClr>
              <a:buFont typeface="Arial"/>
              <a:buChar char="-"/>
            </a:pPr>
            <a:r>
              <a:rPr sz="1550" b="0">
                <a:solidFill>
                  <a:srgbClr val="1B2A36"/>
                </a:solidFill>
              </a:rPr>
              <a:t>수학적으로 같다 → 실제로는 행을 바로 꺼냄 (lookup)</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E (|V|, d)는 </a:t>
            </a:r>
            <a:r>
              <a:rPr sz="1800" b="1">
                <a:solidFill>
                  <a:srgbClr val="1B2A36"/>
                </a:solidFill>
              </a:rPr>
              <a:t>학습되는 파라미터</a:t>
            </a:r>
          </a:p>
          <a:p>
            <a:pPr algn="l" marL="566928" indent="-237744">
              <a:lnSpc>
                <a:spcPct val="110000"/>
              </a:lnSpc>
              <a:spcBef>
                <a:spcPts val="0"/>
              </a:spcBef>
              <a:spcAft>
                <a:spcPts val="775"/>
              </a:spcAft>
              <a:buClr>
                <a:srgbClr val="01688F"/>
              </a:buClr>
              <a:buFont typeface="Arial"/>
              <a:buChar char="-"/>
            </a:pPr>
            <a:r>
              <a:rPr sz="1550" b="0">
                <a:solidFill>
                  <a:srgbClr val="1B2A36"/>
                </a:solidFill>
              </a:rPr>
              <a:t>그림은 설명용 작은 어휘 (|V| = 5)</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ID 100이 ID 10보다 ‘열 배’인 것은 아니다 — ID는 표에서 벡터를 꺼내는 주소</a:t>
            </a:r>
          </a:p>
        </p:txBody>
      </p:sp>
      <p:sp>
        <p:nvSpPr>
          <p:cNvPr id="8" name="Rounded Rectangle 7"/>
          <p:cNvSpPr/>
          <p:nvPr/>
        </p:nvSpPr>
        <p:spPr>
          <a:xfrm>
            <a:off x="10543032" y="914400"/>
            <a:ext cx="1188720" cy="365760"/>
          </a:xfrm>
          <a:prstGeom prst="roundRect">
            <a:avLst>
              <a:gd name="adj" fmla="val 5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문제</a:t>
            </a:r>
          </a:p>
        </p:txBody>
      </p:sp>
      <p:pic>
        <p:nvPicPr>
          <p:cNvPr id="9" name="Picture 8" descr="onehot_lookup.png"/>
          <p:cNvPicPr>
            <a:picLocks noChangeAspect="1"/>
          </p:cNvPicPr>
          <p:nvPr/>
        </p:nvPicPr>
        <p:blipFill>
          <a:blip r:embed="rId3"/>
          <a:stretch>
            <a:fillRect/>
          </a:stretch>
        </p:blipFill>
        <p:spPr>
          <a:xfrm>
            <a:off x="457199" y="2119679"/>
            <a:ext cx="7229977" cy="355132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단어와 토큰은 항상 같지 않다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어떤 단위로 자르느냐는 어휘 크기와 시퀀스 길이 사이의 절충</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graphicFrame>
        <p:nvGraphicFramePr>
          <p:cNvPr id="9" name="Table 8"/>
          <p:cNvGraphicFramePr>
            <a:graphicFrameLocks noGrp="1"/>
          </p:cNvGraphicFramePr>
          <p:nvPr/>
        </p:nvGraphicFramePr>
        <p:xfrm>
          <a:off x="457200" y="2124964"/>
          <a:ext cx="11274550" cy="1804416"/>
        </p:xfrm>
        <a:graphic>
          <a:graphicData uri="http://schemas.openxmlformats.org/drawingml/2006/table">
            <a:tbl>
              <a:tblPr firstRow="1" bandRow="0">
                <a:tableStyleId>{5940675A-B579-460E-94D1-54222C63F5DA}</a:tableStyleId>
              </a:tblPr>
              <a:tblGrid>
                <a:gridCol w="2296668"/>
                <a:gridCol w="4488941"/>
                <a:gridCol w="4488941"/>
              </a:tblGrid>
              <a:tr h="390144">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단위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장점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비용</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단어 (word)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익숙한 의미 단위, 짧은 시퀀스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큰 어휘 · 희귀어 문제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글자 · byte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작은 어휘, 어떤 문자열도 표현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시퀀스가 </a:t>
                      </a:r>
                      <a:r>
                        <a:rPr sz="1600" b="1">
                          <a:solidFill>
                            <a:srgbClr val="1B2A36"/>
                          </a:solidFill>
                          <a:latin typeface="맑은 고딕"/>
                          <a:ea typeface="맑은 고딕"/>
                          <a:cs typeface="맑은 고딕"/>
                        </a:rPr>
                        <a:t>길어진다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63398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부분단어 (subword)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어휘 크기와 길이의 </a:t>
                      </a:r>
                      <a:r>
                        <a:rPr sz="1600" b="1">
                          <a:solidFill>
                            <a:srgbClr val="1B2A36"/>
                          </a:solidFill>
                          <a:latin typeface="맑은 고딕"/>
                          <a:ea typeface="맑은 고딕"/>
                          <a:cs typeface="맑은 고딕"/>
                        </a:rPr>
                        <a:t>절충</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언어·학습 데이터에 따라 분할이 달라짐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
        <p:nvSpPr>
          <p:cNvPr id="10" name="Rounded Rectangle 9"/>
          <p:cNvSpPr/>
          <p:nvPr/>
        </p:nvSpPr>
        <p:spPr>
          <a:xfrm>
            <a:off x="457200" y="4502404"/>
            <a:ext cx="5454396" cy="1163320"/>
          </a:xfrm>
          <a:prstGeom prst="roundRect">
            <a:avLst>
              <a:gd name="adj" fmla="val 7860"/>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20"/>
              </a:spcAft>
              <a:buNone/>
            </a:pPr>
            <a:r>
              <a:rPr sz="1600" b="0">
                <a:solidFill>
                  <a:srgbClr val="1B2A36"/>
                </a:solidFill>
                <a:latin typeface="맑은 고딕"/>
                <a:ea typeface="맑은 고딕"/>
                <a:cs typeface="맑은 고딕"/>
              </a:rPr>
              <a:t>예: unhappiness → un + happi + ness</a:t>
            </a:r>
          </a:p>
          <a:p>
            <a:pPr algn="l" marL="0" indent="0">
              <a:lnSpc>
                <a:spcPct val="110000"/>
              </a:lnSpc>
              <a:spcBef>
                <a:spcPts val="0"/>
              </a:spcBef>
              <a:spcAft>
                <a:spcPts val="320"/>
              </a:spcAft>
              <a:buNone/>
            </a:pPr>
            <a:r>
              <a:rPr sz="1600" b="0">
                <a:solidFill>
                  <a:srgbClr val="1B2A36"/>
                </a:solidFill>
                <a:latin typeface="맑은 고딕"/>
                <a:ea typeface="맑은 고딕"/>
                <a:cs typeface="맑은 고딕"/>
              </a:rPr>
              <a:t>(분할 설명용 예시 — 특정 tokenizer의 실제 결과가 아님)</a:t>
            </a:r>
          </a:p>
        </p:txBody>
      </p:sp>
      <p:sp>
        <p:nvSpPr>
          <p:cNvPr id="11" name="Rounded Rectangle 10"/>
          <p:cNvSpPr/>
          <p:nvPr/>
        </p:nvSpPr>
        <p:spPr>
          <a:xfrm>
            <a:off x="6277356" y="4502404"/>
            <a:ext cx="5454396" cy="1122680"/>
          </a:xfrm>
          <a:prstGeom prst="roundRect">
            <a:avLst>
              <a:gd name="adj" fmla="val 8144"/>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20"/>
              </a:spcAft>
              <a:buNone/>
            </a:pPr>
            <a:r>
              <a:rPr sz="1600" b="1">
                <a:solidFill>
                  <a:srgbClr val="E97132"/>
                </a:solidFill>
                <a:latin typeface="맑은 고딕"/>
                <a:ea typeface="맑은 고딕"/>
                <a:cs typeface="맑은 고딕"/>
              </a:rPr>
              <a:t>주의</a:t>
            </a:r>
            <a:r>
              <a:rPr sz="1600" b="0">
                <a:solidFill>
                  <a:srgbClr val="1B2A36"/>
                </a:solidFill>
                <a:latin typeface="맑은 고딕"/>
                <a:ea typeface="맑은 고딕"/>
                <a:cs typeface="맑은 고딕"/>
              </a:rPr>
              <a:t> tokenizer와 모델 가중치는 </a:t>
            </a:r>
            <a:r>
              <a:rPr sz="1600" b="1">
                <a:solidFill>
                  <a:srgbClr val="1B2A36"/>
                </a:solidFill>
                <a:latin typeface="맑은 고딕"/>
                <a:ea typeface="맑은 고딕"/>
                <a:cs typeface="맑은 고딕"/>
              </a:rPr>
              <a:t>짝</a:t>
            </a:r>
            <a:r>
              <a:rPr sz="1600" b="0">
                <a:solidFill>
                  <a:srgbClr val="1B2A36"/>
                </a:solidFill>
                <a:latin typeface="맑은 고딕"/>
                <a:ea typeface="맑은 고딕"/>
                <a:cs typeface="맑은 고딕"/>
              </a:rPr>
              <a:t>이다. ID 매핑을 바꾸면 학습한 임베딩과 출력의 의미가 어긋난다.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PyTorch: nn.Embedding</a:t>
            </a:r>
          </a:p>
        </p:txBody>
      </p:sp>
      <p:sp>
        <p:nvSpPr>
          <p:cNvPr id="3" name="Content Placeholder 2"/>
          <p:cNvSpPr>
            <a:spLocks noGrp="1"/>
          </p:cNvSpPr>
          <p:nvPr>
            <p:ph idx="1"/>
          </p:nvPr>
        </p:nvSpPr>
        <p:spPr>
          <a:xfrm>
            <a:off x="7349947" y="1408176"/>
            <a:ext cx="4381804" cy="497433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Courier New"/>
                <a:ea typeface="맑은 고딕"/>
                <a:cs typeface="Courier New"/>
              </a:rPr>
              <a:t>emb(ids)</a:t>
            </a:r>
            <a:r>
              <a:rPr sz="1800" b="0">
                <a:solidFill>
                  <a:srgbClr val="1B2A36"/>
                </a:solidFill>
              </a:rPr>
              <a:t> = 표에서 </a:t>
            </a:r>
            <a:r>
              <a:rPr sz="1800" b="1">
                <a:solidFill>
                  <a:srgbClr val="1B2A36"/>
                </a:solidFill>
              </a:rPr>
              <a:t>행 꺼내기</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Courier New"/>
                <a:ea typeface="맑은 고딕"/>
                <a:cs typeface="Courier New"/>
              </a:rPr>
              <a:t>x[0, 1]</a:t>
            </a:r>
            <a:r>
              <a:rPr sz="1800" b="0">
                <a:solidFill>
                  <a:srgbClr val="1B2A36"/>
                </a:solidFill>
              </a:rPr>
              <a:t> = </a:t>
            </a:r>
            <a:r>
              <a:rPr sz="1800" b="0">
                <a:solidFill>
                  <a:srgbClr val="1B2A36"/>
                </a:solidFill>
                <a:latin typeface="Courier New"/>
                <a:ea typeface="맑은 고딕"/>
                <a:cs typeface="Courier New"/>
              </a:rPr>
              <a:t>emb.weight[7]</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파라미터 = |V| × d</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같은 ID → 항상 </a:t>
            </a:r>
            <a:r>
              <a:rPr sz="1800" b="1">
                <a:solidFill>
                  <a:srgbClr val="1B2A36"/>
                </a:solidFill>
              </a:rPr>
              <a:t>같은 벡터</a:t>
            </a:r>
          </a:p>
          <a:p>
            <a:pPr algn="l" marL="566928" indent="-237744">
              <a:lnSpc>
                <a:spcPct val="110000"/>
              </a:lnSpc>
              <a:spcBef>
                <a:spcPts val="0"/>
              </a:spcBef>
              <a:spcAft>
                <a:spcPts val="775"/>
              </a:spcAft>
              <a:buClr>
                <a:srgbClr val="01688F"/>
              </a:buClr>
              <a:buFont typeface="Arial"/>
              <a:buChar char="-"/>
            </a:pPr>
            <a:r>
              <a:rPr sz="1550" b="0">
                <a:solidFill>
                  <a:srgbClr val="1B2A36"/>
                </a:solidFill>
              </a:rPr>
              <a:t>문맥 반영은 이후 계산의 몫</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(B, N) 정수 → (B, N, d) 벡터. 파라미터는 |V| × d</a:t>
            </a:r>
          </a:p>
        </p:txBody>
      </p:sp>
      <p:sp>
        <p:nvSpPr>
          <p:cNvPr id="8" name="Rounded Rectangle 7"/>
          <p:cNvSpPr/>
          <p:nvPr/>
        </p:nvSpPr>
        <p:spPr>
          <a:xfrm>
            <a:off x="10543032" y="914400"/>
            <a:ext cx="1188720" cy="365760"/>
          </a:xfrm>
          <a:prstGeom prst="roundRect">
            <a:avLst>
              <a:gd name="adj" fmla="val 50000"/>
            </a:avLst>
          </a:prstGeom>
          <a:solidFill>
            <a:srgbClr val="1B2A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코드</a:t>
            </a:r>
          </a:p>
        </p:txBody>
      </p:sp>
      <p:sp>
        <p:nvSpPr>
          <p:cNvPr id="9" name="Rounded Rectangle 8"/>
          <p:cNvSpPr/>
          <p:nvPr/>
        </p:nvSpPr>
        <p:spPr>
          <a:xfrm>
            <a:off x="457200" y="1408176"/>
            <a:ext cx="6572707" cy="2225040"/>
          </a:xfrm>
          <a:prstGeom prst="roundRect">
            <a:avLst>
              <a:gd name="adj" fmla="val 2465"/>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517904"/>
            <a:ext cx="6353251" cy="2042159"/>
          </a:xfrm>
          <a:prstGeom prst="rect">
            <a:avLst/>
          </a:prstGeom>
          <a:noFill/>
        </p:spPr>
        <p:txBody>
          <a:bodyPr wrap="square">
            <a:spAutoFit/>
          </a:bodyPr>
          <a:lstStyle/>
          <a:p>
            <a:pPr marL="0" indent="0">
              <a:lnSpc>
                <a:spcPct val="100000"/>
              </a:lnSpc>
              <a:buNone/>
            </a:pPr>
            <a:r>
              <a:rPr sz="1500">
                <a:solidFill>
                  <a:srgbClr val="1B2A36"/>
                </a:solidFill>
                <a:latin typeface="Courier New"/>
                <a:ea typeface="맑은 고딕"/>
                <a:cs typeface="Courier New"/>
              </a:rPr>
              <a:t>import torch, torch.nn as nn</a:t>
            </a:r>
          </a:p>
          <a:p>
            <a:pPr marL="0" indent="0">
              <a:lnSpc>
                <a:spcPct val="100000"/>
              </a:lnSpc>
              <a:buNone/>
            </a:pPr>
            <a:r>
              <a:rPr sz="1500">
                <a:solidFill>
                  <a:srgbClr val="1B2A36"/>
                </a:solidFill>
                <a:latin typeface="Courier New"/>
                <a:ea typeface="맑은 고딕"/>
                <a:cs typeface="Courier New"/>
              </a:rPr>
              <a:t>emb = nn.Embedding(10000, 8)      </a:t>
            </a:r>
            <a:r>
              <a:rPr sz="1500">
                <a:solidFill>
                  <a:srgbClr val="3F8A6E"/>
                </a:solidFill>
                <a:latin typeface="Courier New"/>
                <a:ea typeface="맑은 고딕"/>
                <a:cs typeface="Courier New"/>
              </a:rPr>
              <a:t># |V| = 10000, d = 8</a:t>
            </a:r>
          </a:p>
          <a:p>
            <a:pPr marL="0" indent="0">
              <a:lnSpc>
                <a:spcPct val="100000"/>
              </a:lnSpc>
              <a:buNone/>
            </a:pPr>
            <a:r>
              <a:rPr sz="1500">
                <a:solidFill>
                  <a:srgbClr val="1B2A36"/>
                </a:solidFill>
                <a:latin typeface="Courier New"/>
                <a:ea typeface="맑은 고딕"/>
                <a:cs typeface="Courier New"/>
              </a:rPr>
              <a:t>ids = torch.tensor([[12, 7, 305, 9, 88],</a:t>
            </a:r>
          </a:p>
          <a:p>
            <a:pPr marL="0" indent="0">
              <a:lnSpc>
                <a:spcPct val="100000"/>
              </a:lnSpc>
              <a:buNone/>
            </a:pPr>
            <a:r>
              <a:rPr sz="1500">
                <a:solidFill>
                  <a:srgbClr val="1B2A36"/>
                </a:solidFill>
                <a:latin typeface="Courier New"/>
                <a:ea typeface="맑은 고딕"/>
                <a:cs typeface="Courier New"/>
              </a:rPr>
              <a:t>                    [ 4, 51,  6, 0,  0]])  </a:t>
            </a:r>
            <a:r>
              <a:rPr sz="1500">
                <a:solidFill>
                  <a:srgbClr val="3F8A6E"/>
                </a:solidFill>
                <a:latin typeface="Courier New"/>
                <a:ea typeface="맑은 고딕"/>
                <a:cs typeface="Courier New"/>
              </a:rPr>
              <a:t># 0 = PAD</a:t>
            </a:r>
          </a:p>
          <a:p>
            <a:pPr marL="0" indent="0">
              <a:lnSpc>
                <a:spcPct val="100000"/>
              </a:lnSpc>
              <a:buNone/>
            </a:pPr>
            <a:r>
              <a:rPr sz="1500">
                <a:solidFill>
                  <a:srgbClr val="1B2A36"/>
                </a:solidFill>
                <a:latin typeface="Courier New"/>
                <a:ea typeface="맑은 고딕"/>
                <a:cs typeface="Courier New"/>
              </a:rPr>
              <a:t>x = emb(ids)</a:t>
            </a:r>
          </a:p>
          <a:p>
            <a:pPr marL="0" indent="0">
              <a:lnSpc>
                <a:spcPct val="100000"/>
              </a:lnSpc>
              <a:buNone/>
            </a:pPr>
            <a:r>
              <a:rPr sz="1500">
                <a:solidFill>
                  <a:srgbClr val="1B2A36"/>
                </a:solidFill>
                <a:latin typeface="Courier New"/>
                <a:ea typeface="맑은 고딕"/>
                <a:cs typeface="Courier New"/>
              </a:rPr>
              <a:t>print(ids.shape, x.shape)  </a:t>
            </a:r>
            <a:r>
              <a:rPr sz="1500">
                <a:solidFill>
                  <a:srgbClr val="3F8A6E"/>
                </a:solidFill>
                <a:latin typeface="Courier New"/>
                <a:ea typeface="맑은 고딕"/>
                <a:cs typeface="Courier New"/>
              </a:rPr>
              <a:t># (2, 5)  (2, 5, 8)</a:t>
            </a:r>
          </a:p>
          <a:p>
            <a:pPr marL="0" indent="0">
              <a:lnSpc>
                <a:spcPct val="100000"/>
              </a:lnSpc>
              <a:buNone/>
            </a:pPr>
            <a:r>
              <a:rPr sz="1500">
                <a:solidFill>
                  <a:srgbClr val="1B2A36"/>
                </a:solidFill>
                <a:latin typeface="Courier New"/>
                <a:ea typeface="맑은 고딕"/>
                <a:cs typeface="Courier New"/>
              </a:rPr>
              <a:t>print(emb.weight.shape)    </a:t>
            </a:r>
            <a:r>
              <a:rPr sz="1500">
                <a:solidFill>
                  <a:srgbClr val="3F8A6E"/>
                </a:solidFill>
                <a:latin typeface="Courier New"/>
                <a:ea typeface="맑은 고딕"/>
                <a:cs typeface="Courier New"/>
              </a:rPr>
              <a:t># (10000, 8) -&gt; 80,000개</a:t>
            </a:r>
          </a:p>
          <a:p>
            <a:pPr marL="0" indent="0">
              <a:lnSpc>
                <a:spcPct val="100000"/>
              </a:lnSpc>
              <a:buNone/>
            </a:pPr>
            <a:r>
              <a:rPr sz="1500">
                <a:solidFill>
                  <a:srgbClr val="1B2A36"/>
                </a:solidFill>
                <a:latin typeface="Courier New"/>
                <a:ea typeface="맑은 고딕"/>
                <a:cs typeface="Courier New"/>
              </a:rPr>
              <a:t>print(torch.equal(x[0, 1], emb.weight[7]))  </a:t>
            </a:r>
            <a:r>
              <a:rPr sz="1500">
                <a:solidFill>
                  <a:srgbClr val="3F8A6E"/>
                </a:solidFill>
                <a:latin typeface="Courier New"/>
                <a:ea typeface="맑은 고딕"/>
                <a:cs typeface="Courier New"/>
              </a:rPr>
              <a:t># True</a:t>
            </a:r>
          </a:p>
        </p:txBody>
      </p:sp>
      <p:sp>
        <p:nvSpPr>
          <p:cNvPr id="11" name="Rounded Rectangle 10"/>
          <p:cNvSpPr/>
          <p:nvPr/>
        </p:nvSpPr>
        <p:spPr>
          <a:xfrm>
            <a:off x="457200" y="3861815"/>
            <a:ext cx="6572707" cy="640080"/>
          </a:xfrm>
          <a:prstGeom prst="roundRect">
            <a:avLst>
              <a:gd name="adj" fmla="val 14285"/>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10"/>
              </a:spcAft>
              <a:buNone/>
            </a:pPr>
            <a:r>
              <a:rPr sz="1550" b="0">
                <a:solidFill>
                  <a:srgbClr val="1B2A36"/>
                </a:solidFill>
                <a:latin typeface="맑은 고딕"/>
                <a:ea typeface="맑은 고딕"/>
                <a:cs typeface="맑은 고딕"/>
              </a:rPr>
              <a:t>짧은 문장은 PAD 토큰으로 길이를 맞춘다 (1주차 batch 그림).</a:t>
            </a:r>
          </a:p>
        </p:txBody>
      </p:sp>
      <p:sp>
        <p:nvSpPr>
          <p:cNvPr id="12" name="Rounded Rectangle 11"/>
          <p:cNvSpPr/>
          <p:nvPr/>
        </p:nvSpPr>
        <p:spPr>
          <a:xfrm>
            <a:off x="457200" y="4776215"/>
            <a:ext cx="1886102" cy="640080"/>
          </a:xfrm>
          <a:prstGeom prst="roundRect">
            <a:avLst>
              <a:gd name="adj" fmla="val 1428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867655"/>
            <a:ext cx="1703222" cy="457199"/>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600" b="1">
                <a:solidFill>
                  <a:srgbClr val="01688F"/>
                </a:solidFill>
                <a:latin typeface="맑은 고딕"/>
                <a:ea typeface="맑은 고딕"/>
                <a:cs typeface="맑은 고딕"/>
              </a:rPr>
              <a:t>ids  (B, N)</a:t>
            </a:r>
          </a:p>
        </p:txBody>
      </p:sp>
      <p:cxnSp>
        <p:nvCxnSpPr>
          <p:cNvPr id="14" name="Connector 13"/>
          <p:cNvCxnSpPr/>
          <p:nvPr/>
        </p:nvCxnSpPr>
        <p:spPr>
          <a:xfrm>
            <a:off x="2389022" y="5096255"/>
            <a:ext cx="36576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00502" y="4776215"/>
            <a:ext cx="1886102" cy="640080"/>
          </a:xfrm>
          <a:prstGeom prst="roundRect">
            <a:avLst>
              <a:gd name="adj" fmla="val 14285"/>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91942" y="4867655"/>
            <a:ext cx="1703222" cy="457199"/>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50" b="1">
                <a:solidFill>
                  <a:srgbClr val="FFFFFF"/>
                </a:solidFill>
                <a:latin typeface="맑은 고딕"/>
                <a:ea typeface="맑은 고딕"/>
                <a:cs typeface="맑은 고딕"/>
              </a:rPr>
              <a:t>nn.Embedding</a:t>
            </a:r>
          </a:p>
        </p:txBody>
      </p:sp>
      <p:cxnSp>
        <p:nvCxnSpPr>
          <p:cNvPr id="17" name="Connector 16"/>
          <p:cNvCxnSpPr/>
          <p:nvPr/>
        </p:nvCxnSpPr>
        <p:spPr>
          <a:xfrm>
            <a:off x="4732324" y="5096255"/>
            <a:ext cx="36576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43804" y="4776215"/>
            <a:ext cx="1886102" cy="640080"/>
          </a:xfrm>
          <a:prstGeom prst="roundRect">
            <a:avLst>
              <a:gd name="adj" fmla="val 1428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35244" y="4867655"/>
            <a:ext cx="1703222" cy="457199"/>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600" b="1">
                <a:solidFill>
                  <a:srgbClr val="01688F"/>
                </a:solidFill>
                <a:latin typeface="맑은 고딕"/>
                <a:ea typeface="맑은 고딕"/>
                <a:cs typeface="맑은 고딕"/>
              </a:rPr>
              <a:t>x  (B, N, 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2</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RNN: 순서를 따라 상태 전달</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1986 · 1990 — 길이가 제각각이고 순서가 의미를 바꾸는 입력을 어떻게 처리할까?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MLP나 CNN으로 문장을 읽으면?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같은 단어라도 순서가 바뀌면 뜻이 바뀐다. 문장마다 길이도 다르다</a:t>
            </a:r>
          </a:p>
        </p:txBody>
      </p:sp>
      <p:sp>
        <p:nvSpPr>
          <p:cNvPr id="8" name="Rounded Rectangle 7"/>
          <p:cNvSpPr/>
          <p:nvPr/>
        </p:nvSpPr>
        <p:spPr>
          <a:xfrm>
            <a:off x="10543032" y="914400"/>
            <a:ext cx="1188720" cy="365760"/>
          </a:xfrm>
          <a:prstGeom prst="roundRect">
            <a:avLst>
              <a:gd name="adj" fmla="val 5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문제</a:t>
            </a:r>
          </a:p>
        </p:txBody>
      </p:sp>
      <p:sp>
        <p:nvSpPr>
          <p:cNvPr id="9" name="Rounded Rectangle 8"/>
          <p:cNvSpPr/>
          <p:nvPr/>
        </p:nvSpPr>
        <p:spPr>
          <a:xfrm>
            <a:off x="457200" y="1408176"/>
            <a:ext cx="3605784" cy="2743200"/>
          </a:xfrm>
          <a:prstGeom prst="roundRect">
            <a:avLst>
              <a:gd name="adj" fmla="val 333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536192"/>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2000" b="1">
                <a:solidFill>
                  <a:srgbClr val="01688F"/>
                </a:solidFill>
                <a:latin typeface="맑은 고딕"/>
                <a:ea typeface="맑은 고딕"/>
                <a:cs typeface="맑은 고딕"/>
              </a:rPr>
              <a:t>순서가 의미를 바꾼다</a:t>
            </a:r>
          </a:p>
        </p:txBody>
      </p:sp>
      <p:sp>
        <p:nvSpPr>
          <p:cNvPr id="11" name="TextBox 10"/>
          <p:cNvSpPr txBox="1"/>
          <p:nvPr/>
        </p:nvSpPr>
        <p:spPr>
          <a:xfrm>
            <a:off x="621792" y="1993392"/>
            <a:ext cx="3276600" cy="2029968"/>
          </a:xfrm>
          <a:prstGeom prst="rect">
            <a:avLst/>
          </a:prstGeom>
          <a:noFill/>
        </p:spPr>
        <p:txBody>
          <a:bodyPr wrap="square" lIns="18288" rIns="18288" tIns="36576" bIns="36576" anchor="t">
            <a:spAutoFit/>
          </a:bodyPr>
          <a:lstStyle/>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“개가 사람을 물었다”</a:t>
            </a:r>
          </a:p>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“사람이 개를 물었다”</a:t>
            </a:r>
          </a:p>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 토큰 집합은 같다</a:t>
            </a:r>
          </a:p>
        </p:txBody>
      </p:sp>
      <p:sp>
        <p:nvSpPr>
          <p:cNvPr id="12" name="Rounded Rectangle 11"/>
          <p:cNvSpPr/>
          <p:nvPr/>
        </p:nvSpPr>
        <p:spPr>
          <a:xfrm>
            <a:off x="4291584" y="1408176"/>
            <a:ext cx="3605784" cy="2743200"/>
          </a:xfrm>
          <a:prstGeom prst="roundRect">
            <a:avLst>
              <a:gd name="adj" fmla="val 333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6176" y="1536192"/>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2000" b="1">
                <a:solidFill>
                  <a:srgbClr val="01688F"/>
                </a:solidFill>
                <a:latin typeface="맑은 고딕"/>
                <a:ea typeface="맑은 고딕"/>
                <a:cs typeface="맑은 고딕"/>
              </a:rPr>
              <a:t>길이가 제각각</a:t>
            </a:r>
          </a:p>
        </p:txBody>
      </p:sp>
      <p:sp>
        <p:nvSpPr>
          <p:cNvPr id="14" name="TextBox 13"/>
          <p:cNvSpPr txBox="1"/>
          <p:nvPr/>
        </p:nvSpPr>
        <p:spPr>
          <a:xfrm>
            <a:off x="4456176" y="1993392"/>
            <a:ext cx="3276600" cy="2029968"/>
          </a:xfrm>
          <a:prstGeom prst="rect">
            <a:avLst/>
          </a:prstGeom>
          <a:noFill/>
        </p:spPr>
        <p:txBody>
          <a:bodyPr wrap="square" lIns="18288" rIns="18288" tIns="36576" bIns="36576" anchor="t">
            <a:spAutoFit/>
          </a:bodyPr>
          <a:lstStyle/>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“안녕” (2토큰)</a:t>
            </a:r>
          </a:p>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“오늘 날씨가 정말 좋네요” (6토큰)</a:t>
            </a:r>
          </a:p>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 MLP는 입력 크기 고정</a:t>
            </a:r>
          </a:p>
        </p:txBody>
      </p:sp>
      <p:sp>
        <p:nvSpPr>
          <p:cNvPr id="15" name="Rounded Rectangle 14"/>
          <p:cNvSpPr/>
          <p:nvPr/>
        </p:nvSpPr>
        <p:spPr>
          <a:xfrm>
            <a:off x="8125968" y="1408176"/>
            <a:ext cx="3605784" cy="2743200"/>
          </a:xfrm>
          <a:prstGeom prst="roundRect">
            <a:avLst>
              <a:gd name="adj" fmla="val 3333"/>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560" y="1536192"/>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2000" b="1">
                <a:solidFill>
                  <a:srgbClr val="E97132"/>
                </a:solidFill>
                <a:latin typeface="맑은 고딕"/>
                <a:ea typeface="맑은 고딕"/>
                <a:cs typeface="맑은 고딕"/>
              </a:rPr>
              <a:t>먼 단어의 의존</a:t>
            </a:r>
          </a:p>
        </p:txBody>
      </p:sp>
      <p:sp>
        <p:nvSpPr>
          <p:cNvPr id="17" name="TextBox 16"/>
          <p:cNvSpPr txBox="1"/>
          <p:nvPr/>
        </p:nvSpPr>
        <p:spPr>
          <a:xfrm>
            <a:off x="8290560" y="1993392"/>
            <a:ext cx="3276600" cy="2029968"/>
          </a:xfrm>
          <a:prstGeom prst="rect">
            <a:avLst/>
          </a:prstGeom>
          <a:noFill/>
        </p:spPr>
        <p:txBody>
          <a:bodyPr wrap="square" lIns="18288" rIns="18288" tIns="36576" bIns="36576" anchor="t">
            <a:spAutoFit/>
          </a:bodyPr>
          <a:lstStyle/>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“그 </a:t>
            </a:r>
            <a:r>
              <a:rPr sz="1800" b="1">
                <a:solidFill>
                  <a:srgbClr val="1B2A36"/>
                </a:solidFill>
                <a:latin typeface="맑은 고딕"/>
                <a:ea typeface="맑은 고딕"/>
                <a:cs typeface="맑은 고딕"/>
              </a:rPr>
              <a:t>책</a:t>
            </a:r>
            <a:r>
              <a:rPr sz="1800" b="0">
                <a:solidFill>
                  <a:srgbClr val="1B2A36"/>
                </a:solidFill>
                <a:latin typeface="맑은 고딕"/>
                <a:ea typeface="맑은 고딕"/>
                <a:cs typeface="맑은 고딕"/>
              </a:rPr>
              <a:t>은 … (20단어) … </a:t>
            </a:r>
            <a:r>
              <a:rPr sz="1800" b="1">
                <a:solidFill>
                  <a:srgbClr val="1B2A36"/>
                </a:solidFill>
                <a:latin typeface="맑은 고딕"/>
                <a:ea typeface="맑은 고딕"/>
                <a:cs typeface="맑은 고딕"/>
              </a:rPr>
              <a:t>재미있었다</a:t>
            </a:r>
            <a:r>
              <a:rPr sz="1800" b="0">
                <a:solidFill>
                  <a:srgbClr val="1B2A36"/>
                </a:solidFill>
                <a:latin typeface="맑은 고딕"/>
                <a:ea typeface="맑은 고딕"/>
                <a:cs typeface="맑은 고딕"/>
              </a:rPr>
              <a:t>”</a:t>
            </a:r>
          </a:p>
          <a:p>
            <a:pPr algn="l" marL="256032" indent="-237744">
              <a:lnSpc>
                <a:spcPct val="110000"/>
              </a:lnSpc>
              <a:spcBef>
                <a:spcPts val="0"/>
              </a:spcBef>
              <a:spcAft>
                <a:spcPts val="630"/>
              </a:spcAft>
              <a:buClr>
                <a:srgbClr val="01688F"/>
              </a:buClr>
              <a:buFont typeface="Wingdings" pitchFamily="2" charset="2"/>
              <a:buChar char="§"/>
            </a:pPr>
            <a:r>
              <a:rPr sz="1800" b="0">
                <a:solidFill>
                  <a:srgbClr val="1B2A36"/>
                </a:solidFill>
                <a:latin typeface="맑은 고딕"/>
                <a:ea typeface="맑은 고딕"/>
                <a:cs typeface="맑은 고딕"/>
              </a:rPr>
              <a:t>→ CNN은 고정된 창만 본다</a:t>
            </a:r>
          </a:p>
        </p:txBody>
      </p:sp>
      <p:sp>
        <p:nvSpPr>
          <p:cNvPr id="18" name="Rounded Rectangle 17"/>
          <p:cNvSpPr/>
          <p:nvPr/>
        </p:nvSpPr>
        <p:spPr>
          <a:xfrm>
            <a:off x="457200" y="4425696"/>
            <a:ext cx="11274552" cy="614680"/>
          </a:xfrm>
          <a:prstGeom prst="roundRect">
            <a:avLst>
              <a:gd name="adj" fmla="val 14876"/>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20"/>
              </a:spcAft>
              <a:buNone/>
            </a:pPr>
            <a:r>
              <a:rPr sz="1600" b="0">
                <a:solidFill>
                  <a:srgbClr val="1B2A36"/>
                </a:solidFill>
                <a:latin typeface="맑은 고딕"/>
                <a:ea typeface="맑은 고딕"/>
                <a:cs typeface="맑은 고딕"/>
              </a:rPr>
              <a:t>토큰 벡터를 </a:t>
            </a:r>
            <a:r>
              <a:rPr sz="1600" b="1">
                <a:solidFill>
                  <a:srgbClr val="1B2A36"/>
                </a:solidFill>
                <a:latin typeface="맑은 고딕"/>
                <a:ea typeface="맑은 고딕"/>
                <a:cs typeface="맑은 고딕"/>
              </a:rPr>
              <a:t>더하거나 평균</a:t>
            </a:r>
            <a:r>
              <a:rPr sz="1600" b="0">
                <a:solidFill>
                  <a:srgbClr val="1B2A36"/>
                </a:solidFill>
                <a:latin typeface="맑은 고딕"/>
                <a:ea typeface="맑은 고딕"/>
                <a:cs typeface="맑은 고딕"/>
              </a:rPr>
              <a:t> 내면 “개가 사람을” = “사람이 개를” — 순서 정보가 사라진다 (bag of words)</a:t>
            </a:r>
          </a:p>
        </p:txBody>
      </p:sp>
      <p:sp>
        <p:nvSpPr>
          <p:cNvPr id="19" name="Rounded Rectangle 18"/>
          <p:cNvSpPr/>
          <p:nvPr/>
        </p:nvSpPr>
        <p:spPr>
          <a:xfrm>
            <a:off x="457200" y="5268976"/>
            <a:ext cx="11274552" cy="651510"/>
          </a:xfrm>
          <a:prstGeom prst="roundRect">
            <a:avLst>
              <a:gd name="adj" fmla="val 14035"/>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60"/>
              </a:spcAft>
              <a:buNone/>
            </a:pPr>
            <a:r>
              <a:rPr sz="1800" b="1">
                <a:solidFill>
                  <a:srgbClr val="FFFFFF"/>
                </a:solidFill>
                <a:latin typeface="맑은 고딕"/>
                <a:ea typeface="맑은 고딕"/>
                <a:cs typeface="맑은 고딕"/>
              </a:rPr>
              <a:t>필요한 것: 길이와 무관한 </a:t>
            </a:r>
            <a:r>
              <a:rPr sz="1800" b="1">
                <a:solidFill>
                  <a:srgbClr val="FFFFFF"/>
                </a:solidFill>
                <a:latin typeface="맑은 고딕"/>
                <a:ea typeface="맑은 고딕"/>
                <a:cs typeface="맑은 고딕"/>
              </a:rPr>
              <a:t>같은 규칙</a:t>
            </a:r>
            <a:r>
              <a:rPr sz="1800" b="1">
                <a:solidFill>
                  <a:srgbClr val="FFFFFF"/>
                </a:solidFill>
                <a:latin typeface="맑은 고딕"/>
                <a:ea typeface="맑은 고딕"/>
                <a:cs typeface="맑은 고딕"/>
              </a:rPr>
              <a:t>으로, </a:t>
            </a:r>
            <a:r>
              <a:rPr sz="1800" b="1">
                <a:solidFill>
                  <a:srgbClr val="FFFFFF"/>
                </a:solidFill>
                <a:latin typeface="맑은 고딕"/>
                <a:ea typeface="맑은 고딕"/>
                <a:cs typeface="맑은 고딕"/>
              </a:rPr>
              <a:t>순서대로</a:t>
            </a:r>
            <a:r>
              <a:rPr sz="1800" b="1">
                <a:solidFill>
                  <a:srgbClr val="FFFFFF"/>
                </a:solidFill>
                <a:latin typeface="맑은 고딕"/>
                <a:ea typeface="맑은 고딕"/>
                <a:cs typeface="맑은 고딕"/>
              </a:rPr>
              <a:t> 읽으며 지금까지를 </a:t>
            </a:r>
            <a:r>
              <a:rPr sz="1800" b="1">
                <a:solidFill>
                  <a:srgbClr val="FFFFFF"/>
                </a:solidFill>
                <a:latin typeface="맑은 고딕"/>
                <a:ea typeface="맑은 고딕"/>
                <a:cs typeface="맑은 고딕"/>
              </a:rPr>
              <a:t>기억</a:t>
            </a:r>
            <a:r>
              <a:rPr sz="1800" b="1">
                <a:solidFill>
                  <a:srgbClr val="FFFFFF"/>
                </a:solidFill>
                <a:latin typeface="맑은 고딕"/>
                <a:ea typeface="맑은 고딕"/>
                <a:cs typeface="맑은 고딕"/>
              </a:rPr>
              <a:t>하는 구조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아이디어: 같은 셀을 반복하며 상태를 넘긴다</a:t>
            </a:r>
          </a:p>
        </p:txBody>
      </p:sp>
      <p:sp>
        <p:nvSpPr>
          <p:cNvPr id="3" name="Content Placeholder 2"/>
          <p:cNvSpPr>
            <a:spLocks noGrp="1"/>
          </p:cNvSpPr>
          <p:nvPr>
            <p:ph idx="1"/>
          </p:nvPr>
        </p:nvSpPr>
        <p:spPr>
          <a:xfrm>
            <a:off x="457200" y="4059936"/>
            <a:ext cx="11274552" cy="2322576"/>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h = 지금까지 읽은 내용의 </a:t>
            </a:r>
            <a:r>
              <a:rPr sz="1600" b="1">
                <a:solidFill>
                  <a:srgbClr val="1B2A36"/>
                </a:solidFill>
              </a:rPr>
              <a:t>요약 메모</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모든 시점이 </a:t>
            </a:r>
            <a:r>
              <a:rPr sz="1600" b="1">
                <a:solidFill>
                  <a:srgbClr val="1B2A36"/>
                </a:solidFill>
              </a:rPr>
              <a:t>같은 W_x, W_h, b</a:t>
            </a:r>
            <a:r>
              <a:rPr sz="1600" b="0">
                <a:solidFill>
                  <a:srgbClr val="1B2A36"/>
                </a:solidFill>
              </a:rPr>
              <a:t> — 길이가 달라도 같은 규칙</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이전 상태가 다르므로 </a:t>
            </a:r>
            <a:r>
              <a:rPr sz="1600" b="1">
                <a:solidFill>
                  <a:srgbClr val="1B2A36"/>
                </a:solidFill>
              </a:rPr>
              <a:t>같은 토큰도 다른 표현</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Jordan (1986) · </a:t>
            </a:r>
            <a:r>
              <a:rPr sz="1600" b="1">
                <a:solidFill>
                  <a:srgbClr val="1B2A36"/>
                </a:solidFill>
              </a:rPr>
              <a:t>Elman (1990)</a:t>
            </a:r>
            <a:r>
              <a:rPr sz="1600" b="0">
                <a:solidFill>
                  <a:srgbClr val="1B2A36"/>
                </a:solidFill>
              </a:rPr>
              <a:t> ‘Finding Structure in Time’</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각 시점에서 (현재 입력, 이전 상태) → 새 상태. 같은 가중치를 모든 시점에 재사용</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pic>
        <p:nvPicPr>
          <p:cNvPr id="9" name="Picture 8" descr="rnn_unrolled.png"/>
          <p:cNvPicPr>
            <a:picLocks noChangeAspect="1"/>
          </p:cNvPicPr>
          <p:nvPr/>
        </p:nvPicPr>
        <p:blipFill>
          <a:blip r:embed="rId3"/>
          <a:stretch>
            <a:fillRect/>
          </a:stretch>
        </p:blipFill>
        <p:spPr>
          <a:xfrm>
            <a:off x="3124265" y="1408176"/>
            <a:ext cx="5940421" cy="237744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RNN 상태 갱신을 손으로</a:t>
            </a:r>
          </a:p>
        </p:txBody>
      </p:sp>
      <p:sp>
        <p:nvSpPr>
          <p:cNvPr id="3" name="Content Placeholder 2"/>
          <p:cNvSpPr>
            <a:spLocks noGrp="1"/>
          </p:cNvSpPr>
          <p:nvPr>
            <p:ph idx="1"/>
          </p:nvPr>
        </p:nvSpPr>
        <p:spPr>
          <a:xfrm>
            <a:off x="457200" y="4401312"/>
            <a:ext cx="5999835" cy="731520"/>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설정: W_x = 1, W_h = 0.5, b = 0, h_0 = 0</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h_t = tanh(x_t W_x + h_(t−1) W_h + b) — 첫 입력의 흔적이 점점 옅어진다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sp>
        <p:nvSpPr>
          <p:cNvPr id="9" name="Rounded Rectangle 8"/>
          <p:cNvSpPr/>
          <p:nvPr/>
        </p:nvSpPr>
        <p:spPr>
          <a:xfrm>
            <a:off x="457200" y="1408176"/>
            <a:ext cx="11274552" cy="914400"/>
          </a:xfrm>
          <a:prstGeom prst="roundRect">
            <a:avLst>
              <a:gd name="adj" fmla="val 10000"/>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914400"/>
          </a:xfrm>
          <a:prstGeom prst="rect">
            <a:avLst/>
          </a:prstGeom>
          <a:noFill/>
        </p:spPr>
        <p:txBody>
          <a:bodyPr wrap="square" anchor="ctr">
            <a:spAutoFit/>
          </a:bodyPr>
          <a:lstStyle/>
          <a:p>
            <a:pPr algn="ctr" marL="0" indent="0">
              <a:buNone/>
            </a:pPr>
            <a:r>
              <a:rPr sz="2400" b="1">
                <a:solidFill>
                  <a:srgbClr val="1B2A36"/>
                </a:solidFill>
                <a:latin typeface="Courier New"/>
                <a:ea typeface="맑은 고딕"/>
                <a:cs typeface="Courier New"/>
              </a:rPr>
              <a:t>h_t = tanh( x_t · W_x  +  h_(t−1) · W_h  +  b )</a:t>
            </a:r>
          </a:p>
        </p:txBody>
      </p:sp>
      <p:graphicFrame>
        <p:nvGraphicFramePr>
          <p:cNvPr id="11" name="Table 10"/>
          <p:cNvGraphicFramePr>
            <a:graphicFrameLocks noGrp="1"/>
          </p:cNvGraphicFramePr>
          <p:nvPr/>
        </p:nvGraphicFramePr>
        <p:xfrm>
          <a:off x="457200" y="2596896"/>
          <a:ext cx="5999834" cy="1621536"/>
        </p:xfrm>
        <a:graphic>
          <a:graphicData uri="http://schemas.openxmlformats.org/drawingml/2006/table">
            <a:tbl>
              <a:tblPr firstRow="1" bandRow="0">
                <a:tableStyleId>{5940675A-B579-460E-94D1-54222C63F5DA}</a:tableStyleId>
              </a:tblPr>
              <a:tblGrid>
                <a:gridCol w="724118"/>
                <a:gridCol w="1344790"/>
                <a:gridCol w="2689581"/>
                <a:gridCol w="1241345"/>
              </a:tblGrid>
              <a:tr h="405384">
                <a:tc>
                  <a:txBody>
                    <a:bodyPr wrap="square" lIns="36576" rIns="36576" tIns="36576" bIns="36576" anchor="t"/>
                    <a:lstStyle/>
                    <a:p>
                      <a:pPr algn="ctr" marL="0" indent="0">
                        <a:lnSpc>
                          <a:spcPct val="110000"/>
                        </a:lnSpc>
                        <a:spcBef>
                          <a:spcPts val="0"/>
                        </a:spcBef>
                        <a:spcAft>
                          <a:spcPts val="0"/>
                        </a:spcAft>
                        <a:buNone/>
                      </a:pPr>
                      <a:r>
                        <a:rPr sz="1700" b="1">
                          <a:solidFill>
                            <a:srgbClr val="FFFFFF"/>
                          </a:solidFill>
                          <a:latin typeface="맑은 고딕"/>
                          <a:ea typeface="맑은 고딕"/>
                          <a:cs typeface="맑은 고딕"/>
                        </a:rPr>
                        <a:t>t</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700" b="1">
                          <a:solidFill>
                            <a:srgbClr val="FFFFFF"/>
                          </a:solidFill>
                          <a:latin typeface="맑은 고딕"/>
                          <a:ea typeface="맑은 고딕"/>
                          <a:cs typeface="맑은 고딕"/>
                        </a:rPr>
                        <a:t>입력 x_t</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700" b="1">
                          <a:solidFill>
                            <a:srgbClr val="FFFFFF"/>
                          </a:solidFill>
                          <a:latin typeface="맑은 고딕"/>
                          <a:ea typeface="맑은 고딕"/>
                          <a:cs typeface="맑은 고딕"/>
                        </a:rPr>
                        <a:t>계산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700" b="1">
                          <a:solidFill>
                            <a:srgbClr val="FFFFFF"/>
                          </a:solidFill>
                          <a:latin typeface="맑은 고딕"/>
                          <a:ea typeface="맑은 고딕"/>
                          <a:cs typeface="맑은 고딕"/>
                        </a:rPr>
                        <a:t>h_t</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405384">
                <a:tc>
                  <a:txBody>
                    <a:bodyPr wrap="square" lIns="36576" rIns="36576" tIns="36576" bIns="36576" anchor="t"/>
                    <a:lstStyle/>
                    <a:p>
                      <a:pPr algn="ctr" marL="0" indent="0">
                        <a:lnSpc>
                          <a:spcPct val="110000"/>
                        </a:lnSpc>
                        <a:spcBef>
                          <a:spcPts val="0"/>
                        </a:spcBef>
                        <a:spcAft>
                          <a:spcPts val="0"/>
                        </a:spcAft>
                        <a:buNone/>
                      </a:pPr>
                      <a:r>
                        <a:rPr sz="1700" b="1">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7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700" b="0">
                          <a:solidFill>
                            <a:srgbClr val="1B2A36"/>
                          </a:solidFill>
                          <a:latin typeface="맑은 고딕"/>
                          <a:ea typeface="맑은 고딕"/>
                          <a:cs typeface="맑은 고딕"/>
                        </a:rPr>
                        <a:t>tanh(1·1 + 0.5·0)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700" b="1">
                          <a:solidFill>
                            <a:srgbClr val="1B2A36"/>
                          </a:solidFill>
                          <a:latin typeface="맑은 고딕"/>
                          <a:ea typeface="맑은 고딕"/>
                          <a:cs typeface="맑은 고딕"/>
                        </a:rPr>
                        <a:t>0.762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405384">
                <a:tc>
                  <a:txBody>
                    <a:bodyPr wrap="square" lIns="36576" rIns="36576" tIns="36576" bIns="36576" anchor="t"/>
                    <a:lstStyle/>
                    <a:p>
                      <a:pPr algn="ctr" marL="0" indent="0">
                        <a:lnSpc>
                          <a:spcPct val="110000"/>
                        </a:lnSpc>
                        <a:spcBef>
                          <a:spcPts val="0"/>
                        </a:spcBef>
                        <a:spcAft>
                          <a:spcPts val="0"/>
                        </a:spcAft>
                        <a:buNone/>
                      </a:pPr>
                      <a:r>
                        <a:rPr sz="1700" b="1">
                          <a:solidFill>
                            <a:srgbClr val="1B2A36"/>
                          </a:solidFill>
                          <a:latin typeface="맑은 고딕"/>
                          <a:ea typeface="맑은 고딕"/>
                          <a:cs typeface="맑은 고딕"/>
                        </a:rPr>
                        <a:t>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7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700" b="0">
                          <a:solidFill>
                            <a:srgbClr val="1B2A36"/>
                          </a:solidFill>
                          <a:latin typeface="맑은 고딕"/>
                          <a:ea typeface="맑은 고딕"/>
                          <a:cs typeface="맑은 고딕"/>
                        </a:rPr>
                        <a:t>tanh(0 + 0.5·0.762)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700" b="1">
                          <a:solidFill>
                            <a:srgbClr val="1B2A36"/>
                          </a:solidFill>
                          <a:latin typeface="맑은 고딕"/>
                          <a:ea typeface="맑은 고딕"/>
                          <a:cs typeface="맑은 고딕"/>
                        </a:rPr>
                        <a:t>0.363</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405384">
                <a:tc>
                  <a:txBody>
                    <a:bodyPr wrap="square" lIns="36576" rIns="36576" tIns="36576" bIns="36576" anchor="t"/>
                    <a:lstStyle/>
                    <a:p>
                      <a:pPr algn="ctr" marL="0" indent="0">
                        <a:lnSpc>
                          <a:spcPct val="110000"/>
                        </a:lnSpc>
                        <a:spcBef>
                          <a:spcPts val="0"/>
                        </a:spcBef>
                        <a:spcAft>
                          <a:spcPts val="0"/>
                        </a:spcAft>
                        <a:buNone/>
                      </a:pPr>
                      <a:r>
                        <a:rPr sz="1700" b="1">
                          <a:solidFill>
                            <a:srgbClr val="1B2A36"/>
                          </a:solidFill>
                          <a:latin typeface="맑은 고딕"/>
                          <a:ea typeface="맑은 고딕"/>
                          <a:cs typeface="맑은 고딕"/>
                        </a:rPr>
                        <a:t>3</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7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700" b="0">
                          <a:solidFill>
                            <a:srgbClr val="1B2A36"/>
                          </a:solidFill>
                          <a:latin typeface="맑은 고딕"/>
                          <a:ea typeface="맑은 고딕"/>
                          <a:cs typeface="맑은 고딕"/>
                        </a:rPr>
                        <a:t>tanh(0 + 0.5·0.363)</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700" b="1">
                          <a:solidFill>
                            <a:srgbClr val="1B2A36"/>
                          </a:solidFill>
                          <a:latin typeface="맑은 고딕"/>
                          <a:ea typeface="맑은 고딕"/>
                          <a:cs typeface="맑은 고딕"/>
                        </a:rPr>
                        <a:t>0.180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
        <p:nvSpPr>
          <p:cNvPr id="12" name="TextBox 11"/>
          <p:cNvSpPr txBox="1"/>
          <p:nvPr/>
        </p:nvSpPr>
        <p:spPr>
          <a:xfrm>
            <a:off x="6822795" y="2596896"/>
            <a:ext cx="4908956" cy="3785616"/>
          </a:xfrm>
          <a:prstGeom prst="rect">
            <a:avLst/>
          </a:prstGeom>
          <a:noFill/>
        </p:spPr>
        <p:txBody>
          <a:bodyPr wrap="square" lIns="73152" rIns="73152" tIns="36576" bIns="36576" anchor="t">
            <a:sp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맑은 고딕"/>
                <a:ea typeface="맑은 고딕"/>
                <a:cs typeface="맑은 고딕"/>
              </a:rPr>
              <a:t>첫 입력의 흔적이 </a:t>
            </a:r>
            <a:r>
              <a:rPr sz="1800" b="1">
                <a:solidFill>
                  <a:srgbClr val="1B2A36"/>
                </a:solidFill>
                <a:latin typeface="맑은 고딕"/>
                <a:ea typeface="맑은 고딕"/>
                <a:cs typeface="맑은 고딕"/>
              </a:rPr>
              <a:t>점점 옅어진다</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맑은 고딕"/>
                <a:ea typeface="맑은 고딕"/>
                <a:cs typeface="맑은 고딕"/>
              </a:rPr>
              <a:t>W_h를 키우면 오래 남지만</a:t>
            </a:r>
          </a:p>
          <a:p>
            <a:pPr algn="l" marL="566928" indent="-237744">
              <a:lnSpc>
                <a:spcPct val="110000"/>
              </a:lnSpc>
              <a:spcBef>
                <a:spcPts val="0"/>
              </a:spcBef>
              <a:spcAft>
                <a:spcPts val="775"/>
              </a:spcAft>
              <a:buClr>
                <a:srgbClr val="01688F"/>
              </a:buClr>
              <a:buFont typeface="Arial"/>
              <a:buChar char="-"/>
            </a:pPr>
            <a:r>
              <a:rPr sz="1550" b="0">
                <a:solidFill>
                  <a:srgbClr val="1B2A36"/>
                </a:solidFill>
                <a:latin typeface="맑은 고딕"/>
                <a:ea typeface="맑은 고딕"/>
                <a:cs typeface="맑은 고딕"/>
              </a:rPr>
              <a:t>너무 크면 값·기울기가 </a:t>
            </a:r>
            <a:r>
              <a:rPr sz="1550" b="1">
                <a:solidFill>
                  <a:srgbClr val="1B2A36"/>
                </a:solidFill>
                <a:latin typeface="맑은 고딕"/>
                <a:ea typeface="맑은 고딕"/>
                <a:cs typeface="맑은 고딕"/>
              </a:rPr>
              <a:t>폭주</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맑은 고딕"/>
                <a:ea typeface="맑은 고딕"/>
                <a:cs typeface="맑은 고딕"/>
              </a:rPr>
              <a:t>→ 먼 정보를 다루기 어려운 이유 (Part 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PyTorch: nn.RNN의 shape</a:t>
            </a:r>
          </a:p>
        </p:txBody>
      </p:sp>
      <p:sp>
        <p:nvSpPr>
          <p:cNvPr id="3" name="Content Placeholder 2"/>
          <p:cNvSpPr>
            <a:spLocks noGrp="1"/>
          </p:cNvSpPr>
          <p:nvPr>
            <p:ph idx="1"/>
          </p:nvPr>
        </p:nvSpPr>
        <p:spPr>
          <a:xfrm>
            <a:off x="7349947" y="1408176"/>
            <a:ext cx="4381804" cy="497433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Courier New"/>
                <a:ea typeface="맑은 고딕"/>
                <a:cs typeface="Courier New"/>
              </a:rPr>
              <a:t>out</a:t>
            </a:r>
            <a:r>
              <a:rPr sz="1800" b="0">
                <a:solidFill>
                  <a:srgbClr val="1B2A36"/>
                </a:solidFill>
              </a:rPr>
              <a:t>: 시점마다의 h → 문맥 표현</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Courier New"/>
                <a:ea typeface="맑은 고딕"/>
                <a:cs typeface="Courier New"/>
              </a:rPr>
              <a:t>h_n</a:t>
            </a:r>
            <a:r>
              <a:rPr sz="1800" b="0">
                <a:solidFill>
                  <a:srgbClr val="1B2A36"/>
                </a:solidFill>
              </a:rPr>
              <a:t>: 마지막 h → 문장 </a:t>
            </a:r>
            <a:r>
              <a:rPr sz="1800" b="1">
                <a:solidFill>
                  <a:srgbClr val="1B2A36"/>
                </a:solidFill>
              </a:rPr>
              <a:t>요약</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파라미터 416 = 8·16 + 16·16 + 16 + 16</a:t>
            </a:r>
          </a:p>
          <a:p>
            <a:pPr algn="l" marL="566928" indent="-237744">
              <a:lnSpc>
                <a:spcPct val="110000"/>
              </a:lnSpc>
              <a:spcBef>
                <a:spcPts val="0"/>
              </a:spcBef>
              <a:spcAft>
                <a:spcPts val="775"/>
              </a:spcAft>
              <a:buClr>
                <a:srgbClr val="01688F"/>
              </a:buClr>
              <a:buFont typeface="Arial"/>
              <a:buChar char="-"/>
            </a:pPr>
            <a:r>
              <a:rPr sz="1550" b="0">
                <a:solidFill>
                  <a:srgbClr val="1B2A36"/>
                </a:solidFill>
              </a:rPr>
              <a:t>길이 N과 </a:t>
            </a:r>
            <a:r>
              <a:rPr sz="1550" b="1">
                <a:solidFill>
                  <a:srgbClr val="1B2A36"/>
                </a:solidFill>
              </a:rPr>
              <a:t>무관</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nn.LSTM은 4배: 1,664</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(B, N, d) 입력 → 모든 시점의 상태 (B, N, d_h) + 마지막 상태</a:t>
            </a:r>
          </a:p>
        </p:txBody>
      </p:sp>
      <p:sp>
        <p:nvSpPr>
          <p:cNvPr id="8" name="Rounded Rectangle 7"/>
          <p:cNvSpPr/>
          <p:nvPr/>
        </p:nvSpPr>
        <p:spPr>
          <a:xfrm>
            <a:off x="10543032" y="914400"/>
            <a:ext cx="1188720" cy="365760"/>
          </a:xfrm>
          <a:prstGeom prst="roundRect">
            <a:avLst>
              <a:gd name="adj" fmla="val 50000"/>
            </a:avLst>
          </a:prstGeom>
          <a:solidFill>
            <a:srgbClr val="1B2A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코드</a:t>
            </a:r>
          </a:p>
        </p:txBody>
      </p:sp>
      <p:sp>
        <p:nvSpPr>
          <p:cNvPr id="9" name="Rounded Rectangle 8"/>
          <p:cNvSpPr/>
          <p:nvPr/>
        </p:nvSpPr>
        <p:spPr>
          <a:xfrm>
            <a:off x="457200" y="1408176"/>
            <a:ext cx="6572707" cy="2225040"/>
          </a:xfrm>
          <a:prstGeom prst="roundRect">
            <a:avLst>
              <a:gd name="adj" fmla="val 2465"/>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517904"/>
            <a:ext cx="6353251" cy="2042159"/>
          </a:xfrm>
          <a:prstGeom prst="rect">
            <a:avLst/>
          </a:prstGeom>
          <a:noFill/>
        </p:spPr>
        <p:txBody>
          <a:bodyPr wrap="square">
            <a:spAutoFit/>
          </a:bodyPr>
          <a:lstStyle/>
          <a:p>
            <a:pPr marL="0" indent="0">
              <a:lnSpc>
                <a:spcPct val="100000"/>
              </a:lnSpc>
              <a:buNone/>
            </a:pPr>
            <a:r>
              <a:rPr sz="1500">
                <a:solidFill>
                  <a:srgbClr val="1B2A36"/>
                </a:solidFill>
                <a:latin typeface="Courier New"/>
                <a:ea typeface="맑은 고딕"/>
                <a:cs typeface="Courier New"/>
              </a:rPr>
              <a:t>import torch, torch.nn as nn</a:t>
            </a:r>
          </a:p>
          <a:p>
            <a:pPr marL="0" indent="0">
              <a:lnSpc>
                <a:spcPct val="100000"/>
              </a:lnSpc>
              <a:buNone/>
            </a:pPr>
            <a:r>
              <a:rPr sz="1500">
                <a:solidFill>
                  <a:srgbClr val="1B2A36"/>
                </a:solidFill>
                <a:latin typeface="Courier New"/>
                <a:ea typeface="맑은 고딕"/>
                <a:cs typeface="Courier New"/>
              </a:rPr>
              <a:t>rnn = nn.RNN(input_size=8, hidden_size=16,</a:t>
            </a:r>
          </a:p>
          <a:p>
            <a:pPr marL="0" indent="0">
              <a:lnSpc>
                <a:spcPct val="100000"/>
              </a:lnSpc>
              <a:buNone/>
            </a:pPr>
            <a:r>
              <a:rPr sz="1500">
                <a:solidFill>
                  <a:srgbClr val="1B2A36"/>
                </a:solidFill>
                <a:latin typeface="Courier New"/>
                <a:ea typeface="맑은 고딕"/>
                <a:cs typeface="Courier New"/>
              </a:rPr>
              <a:t>             batch_first=True)</a:t>
            </a:r>
          </a:p>
          <a:p>
            <a:pPr marL="0" indent="0">
              <a:lnSpc>
                <a:spcPct val="100000"/>
              </a:lnSpc>
              <a:buNone/>
            </a:pPr>
            <a:r>
              <a:rPr sz="1500">
                <a:solidFill>
                  <a:srgbClr val="1B2A36"/>
                </a:solidFill>
                <a:latin typeface="Courier New"/>
                <a:ea typeface="맑은 고딕"/>
                <a:cs typeface="Courier New"/>
              </a:rPr>
              <a:t>x = torch.randn(2, 5, 8)         </a:t>
            </a:r>
            <a:r>
              <a:rPr sz="1500">
                <a:solidFill>
                  <a:srgbClr val="3F8A6E"/>
                </a:solidFill>
                <a:latin typeface="Courier New"/>
                <a:ea typeface="맑은 고딕"/>
                <a:cs typeface="Courier New"/>
              </a:rPr>
              <a:t># (B, N, d)</a:t>
            </a:r>
          </a:p>
          <a:p>
            <a:pPr marL="0" indent="0">
              <a:lnSpc>
                <a:spcPct val="100000"/>
              </a:lnSpc>
              <a:buNone/>
            </a:pPr>
            <a:r>
              <a:rPr sz="1500">
                <a:solidFill>
                  <a:srgbClr val="1B2A36"/>
                </a:solidFill>
                <a:latin typeface="Courier New"/>
                <a:ea typeface="맑은 고딕"/>
                <a:cs typeface="Courier New"/>
              </a:rPr>
              <a:t>out, h_n = rnn(x)</a:t>
            </a:r>
          </a:p>
          <a:p>
            <a:pPr marL="0" indent="0">
              <a:lnSpc>
                <a:spcPct val="100000"/>
              </a:lnSpc>
              <a:buNone/>
            </a:pPr>
            <a:r>
              <a:rPr sz="1500">
                <a:solidFill>
                  <a:srgbClr val="1B2A36"/>
                </a:solidFill>
                <a:latin typeface="Courier New"/>
                <a:ea typeface="맑은 고딕"/>
                <a:cs typeface="Courier New"/>
              </a:rPr>
              <a:t>print(out.shape)   </a:t>
            </a:r>
            <a:r>
              <a:rPr sz="1500">
                <a:solidFill>
                  <a:srgbClr val="3F8A6E"/>
                </a:solidFill>
                <a:latin typeface="Courier New"/>
                <a:ea typeface="맑은 고딕"/>
                <a:cs typeface="Courier New"/>
              </a:rPr>
              <a:t># (2, 5, 16)  모든 시점의 h</a:t>
            </a:r>
          </a:p>
          <a:p>
            <a:pPr marL="0" indent="0">
              <a:lnSpc>
                <a:spcPct val="100000"/>
              </a:lnSpc>
              <a:buNone/>
            </a:pPr>
            <a:r>
              <a:rPr sz="1500">
                <a:solidFill>
                  <a:srgbClr val="1B2A36"/>
                </a:solidFill>
                <a:latin typeface="Courier New"/>
                <a:ea typeface="맑은 고딕"/>
                <a:cs typeface="Courier New"/>
              </a:rPr>
              <a:t>print(h_n.shape)   </a:t>
            </a:r>
            <a:r>
              <a:rPr sz="1500">
                <a:solidFill>
                  <a:srgbClr val="3F8A6E"/>
                </a:solidFill>
                <a:latin typeface="Courier New"/>
                <a:ea typeface="맑은 고딕"/>
                <a:cs typeface="Courier New"/>
              </a:rPr>
              <a:t># (1, 2, 16)  마지막 h</a:t>
            </a:r>
          </a:p>
          <a:p>
            <a:pPr marL="0" indent="0">
              <a:lnSpc>
                <a:spcPct val="100000"/>
              </a:lnSpc>
              <a:buNone/>
            </a:pPr>
            <a:r>
              <a:rPr sz="1500">
                <a:solidFill>
                  <a:srgbClr val="1B2A36"/>
                </a:solidFill>
                <a:latin typeface="Courier New"/>
                <a:ea typeface="맑은 고딕"/>
                <a:cs typeface="Courier New"/>
              </a:rPr>
              <a:t>print(sum(p.numel() for p in rnn.parameters()))  </a:t>
            </a:r>
            <a:r>
              <a:rPr sz="1500">
                <a:solidFill>
                  <a:srgbClr val="3F8A6E"/>
                </a:solidFill>
                <a:latin typeface="Courier New"/>
                <a:ea typeface="맑은 고딕"/>
                <a:cs typeface="Courier New"/>
              </a:rPr>
              <a:t># 416</a:t>
            </a:r>
          </a:p>
        </p:txBody>
      </p:sp>
      <p:sp>
        <p:nvSpPr>
          <p:cNvPr id="11" name="Rounded Rectangle 10"/>
          <p:cNvSpPr/>
          <p:nvPr/>
        </p:nvSpPr>
        <p:spPr>
          <a:xfrm>
            <a:off x="457200" y="3861815"/>
            <a:ext cx="6572707" cy="731520"/>
          </a:xfrm>
          <a:prstGeom prst="roundRect">
            <a:avLst>
              <a:gd name="adj" fmla="val 12500"/>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20"/>
              </a:spcAft>
              <a:buNone/>
            </a:pPr>
            <a:r>
              <a:rPr sz="1600" b="0">
                <a:solidFill>
                  <a:srgbClr val="1B2A36"/>
                </a:solidFill>
                <a:latin typeface="Courier New"/>
                <a:ea typeface="맑은 고딕"/>
                <a:cs typeface="Courier New"/>
              </a:rPr>
              <a:t>out[:, -1]</a:t>
            </a:r>
            <a:r>
              <a:rPr sz="1600" b="0">
                <a:solidFill>
                  <a:srgbClr val="1B2A36"/>
                </a:solidFill>
                <a:latin typeface="맑은 고딕"/>
                <a:ea typeface="맑은 고딕"/>
                <a:cs typeface="맑은 고딕"/>
              </a:rPr>
              <a:t>와 </a:t>
            </a:r>
            <a:r>
              <a:rPr sz="1600" b="0">
                <a:solidFill>
                  <a:srgbClr val="1B2A36"/>
                </a:solidFill>
                <a:latin typeface="Courier New"/>
                <a:ea typeface="맑은 고딕"/>
                <a:cs typeface="Courier New"/>
              </a:rPr>
              <a:t>h_n[0]</a:t>
            </a:r>
            <a:r>
              <a:rPr sz="1600" b="0">
                <a:solidFill>
                  <a:srgbClr val="1B2A36"/>
                </a:solidFill>
                <a:latin typeface="맑은 고딕"/>
                <a:ea typeface="맑은 고딕"/>
                <a:cs typeface="맑은 고딕"/>
              </a:rPr>
              <a:t>은 같은 값이다 (한 층, 단방향) — 직접 확인해 보기</a:t>
            </a:r>
          </a:p>
        </p:txBody>
      </p:sp>
      <p:sp>
        <p:nvSpPr>
          <p:cNvPr id="12" name="Rounded Rectangle 11"/>
          <p:cNvSpPr/>
          <p:nvPr/>
        </p:nvSpPr>
        <p:spPr>
          <a:xfrm>
            <a:off x="457200" y="4867655"/>
            <a:ext cx="1886102" cy="640080"/>
          </a:xfrm>
          <a:prstGeom prst="roundRect">
            <a:avLst>
              <a:gd name="adj" fmla="val 1428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959095"/>
            <a:ext cx="1703222" cy="457199"/>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600" b="1">
                <a:solidFill>
                  <a:srgbClr val="01688F"/>
                </a:solidFill>
                <a:latin typeface="맑은 고딕"/>
                <a:ea typeface="맑은 고딕"/>
                <a:cs typeface="맑은 고딕"/>
              </a:rPr>
              <a:t>x  (B, N, d)</a:t>
            </a:r>
          </a:p>
        </p:txBody>
      </p:sp>
      <p:cxnSp>
        <p:nvCxnSpPr>
          <p:cNvPr id="14" name="Connector 13"/>
          <p:cNvCxnSpPr/>
          <p:nvPr/>
        </p:nvCxnSpPr>
        <p:spPr>
          <a:xfrm>
            <a:off x="2389022" y="5187695"/>
            <a:ext cx="36576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00502" y="4867655"/>
            <a:ext cx="1886102" cy="640080"/>
          </a:xfrm>
          <a:prstGeom prst="roundRect">
            <a:avLst>
              <a:gd name="adj" fmla="val 14285"/>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91942" y="4959095"/>
            <a:ext cx="1703222" cy="457199"/>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nn.RNN</a:t>
            </a:r>
          </a:p>
        </p:txBody>
      </p:sp>
      <p:cxnSp>
        <p:nvCxnSpPr>
          <p:cNvPr id="17" name="Connector 16"/>
          <p:cNvCxnSpPr/>
          <p:nvPr/>
        </p:nvCxnSpPr>
        <p:spPr>
          <a:xfrm>
            <a:off x="4732324" y="5187695"/>
            <a:ext cx="36576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43804" y="4867655"/>
            <a:ext cx="1886102" cy="640080"/>
          </a:xfrm>
          <a:prstGeom prst="roundRect">
            <a:avLst>
              <a:gd name="adj" fmla="val 1428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35244" y="4959095"/>
            <a:ext cx="1703222" cy="457199"/>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400" b="1">
                <a:solidFill>
                  <a:srgbClr val="01688F"/>
                </a:solidFill>
                <a:latin typeface="맑은 고딕"/>
                <a:ea typeface="맑은 고딕"/>
                <a:cs typeface="맑은 고딕"/>
              </a:rPr>
              <a:t>out  (B, N, d_h)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3</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장기 의존성: 왜 먼 정보를 잃나</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1991 · 1994 — “그 책은 … 재미있었다”, 멀리 떨어진 관계도 학습할 수 있을까?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시간을 거슬러 기울기가 곱해진다</a:t>
            </a:r>
          </a:p>
        </p:txBody>
      </p:sp>
      <p:sp>
        <p:nvSpPr>
          <p:cNvPr id="3" name="Content Placeholder 2"/>
          <p:cNvSpPr>
            <a:spLocks noGrp="1"/>
          </p:cNvSpPr>
          <p:nvPr>
            <p:ph idx="1"/>
          </p:nvPr>
        </p:nvSpPr>
        <p:spPr>
          <a:xfrm>
            <a:off x="7130856" y="1408176"/>
            <a:ext cx="4600895" cy="497433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펼친 RNN = 시간 방향으로 </a:t>
            </a:r>
            <a:r>
              <a:rPr sz="1800" b="1">
                <a:solidFill>
                  <a:srgbClr val="1B2A36"/>
                </a:solidFill>
              </a:rPr>
              <a:t>아주 깊은 망</a:t>
            </a:r>
          </a:p>
          <a:p>
            <a:pPr algn="l" marL="566928" indent="-237744">
              <a:lnSpc>
                <a:spcPct val="110000"/>
              </a:lnSpc>
              <a:spcBef>
                <a:spcPts val="0"/>
              </a:spcBef>
              <a:spcAft>
                <a:spcPts val="775"/>
              </a:spcAft>
              <a:buClr>
                <a:srgbClr val="01688F"/>
              </a:buClr>
              <a:buFont typeface="Arial"/>
              <a:buChar char="-"/>
            </a:pPr>
            <a:r>
              <a:rPr sz="1550" b="0">
                <a:solidFill>
                  <a:srgbClr val="1B2A36"/>
                </a:solidFill>
              </a:rPr>
              <a:t>매 시점 곱해지는 인자 ≈ W_h × tanh′(…)</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인자 0.9 → 50단계: </a:t>
            </a:r>
            <a:r>
              <a:rPr sz="1800" b="1">
                <a:solidFill>
                  <a:srgbClr val="1B2A36"/>
                </a:solidFill>
              </a:rPr>
              <a:t>0.005</a:t>
            </a:r>
            <a:r>
              <a:rPr sz="1800" b="0">
                <a:solidFill>
                  <a:srgbClr val="1B2A36"/>
                </a:solidFill>
              </a:rPr>
              <a:t> (소실)</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인자 1.1 → 50단계: </a:t>
            </a:r>
            <a:r>
              <a:rPr sz="1800" b="1">
                <a:solidFill>
                  <a:srgbClr val="1B2A36"/>
                </a:solidFill>
              </a:rPr>
              <a:t>117</a:t>
            </a:r>
            <a:r>
              <a:rPr sz="1800" b="0">
                <a:solidFill>
                  <a:srgbClr val="1B2A36"/>
                </a:solidFill>
              </a:rPr>
              <a:t> (폭주)</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3주차 깊이 문제가 </a:t>
            </a:r>
            <a:r>
              <a:rPr sz="1800" b="1">
                <a:solidFill>
                  <a:srgbClr val="1B2A36"/>
                </a:solidFill>
              </a:rPr>
              <a:t>시간 방향</a:t>
            </a:r>
            <a:r>
              <a:rPr sz="1800" b="0">
                <a:solidFill>
                  <a:srgbClr val="1B2A36"/>
                </a:solidFill>
              </a:rPr>
              <a:t>에서 재등장</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Hochreiter (1991), Bengio et al. (1994)</a:t>
            </a:r>
          </a:p>
          <a:p>
            <a:pPr algn="l" marL="566928" indent="-237744">
              <a:lnSpc>
                <a:spcPct val="110000"/>
              </a:lnSpc>
              <a:spcBef>
                <a:spcPts val="0"/>
              </a:spcBef>
              <a:spcAft>
                <a:spcPts val="775"/>
              </a:spcAft>
              <a:buClr>
                <a:srgbClr val="01688F"/>
              </a:buClr>
              <a:buFont typeface="Arial"/>
              <a:buChar char="-"/>
            </a:pPr>
            <a:r>
              <a:rPr sz="1550" b="0">
                <a:solidFill>
                  <a:srgbClr val="1B2A36"/>
                </a:solidFill>
              </a:rPr>
              <a:t>비유가 아니라 </a:t>
            </a:r>
            <a:r>
              <a:rPr sz="1550" b="1">
                <a:solidFill>
                  <a:srgbClr val="1B2A36"/>
                </a:solidFill>
              </a:rPr>
              <a:t>곱셈의 반복</a:t>
            </a:r>
            <a:r>
              <a:rPr sz="1550" b="0">
                <a:solidFill>
                  <a:srgbClr val="1B2A36"/>
                </a:solidFill>
              </a:rPr>
              <a:t>으로 이해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00" b="1">
                <a:solidFill>
                  <a:srgbClr val="01688F"/>
                </a:solidFill>
                <a:latin typeface="맑은 고딕"/>
                <a:ea typeface="맑은 고딕"/>
                <a:cs typeface="맑은 고딕"/>
              </a:rPr>
              <a:t>k단계 전까지 가려면 같은 종류의 인자를 k번 곱한다 — 0.9⁵⁰ ≈ 0.005, 1.1⁵⁰ ≈ 117</a:t>
            </a:r>
          </a:p>
        </p:txBody>
      </p:sp>
      <p:sp>
        <p:nvSpPr>
          <p:cNvPr id="8" name="Rounded Rectangle 7"/>
          <p:cNvSpPr/>
          <p:nvPr/>
        </p:nvSpPr>
        <p:spPr>
          <a:xfrm>
            <a:off x="10543032" y="914400"/>
            <a:ext cx="1188720" cy="365760"/>
          </a:xfrm>
          <a:prstGeom prst="roundRect">
            <a:avLst>
              <a:gd name="adj" fmla="val 5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문제</a:t>
            </a:r>
          </a:p>
        </p:txBody>
      </p:sp>
      <p:pic>
        <p:nvPicPr>
          <p:cNvPr id="9" name="Picture 8" descr="grad_decay.png"/>
          <p:cNvPicPr>
            <a:picLocks noChangeAspect="1"/>
          </p:cNvPicPr>
          <p:nvPr/>
        </p:nvPicPr>
        <p:blipFill>
          <a:blip r:embed="rId3"/>
          <a:stretch>
            <a:fillRect/>
          </a:stretch>
        </p:blipFill>
        <p:spPr>
          <a:xfrm>
            <a:off x="457199" y="1757549"/>
            <a:ext cx="6353616" cy="427558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장기 의존성이 어려운 이유들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학습 신호 · 정보 표현 · 계산 의존성 — 서로 다른 문제이고, 해결 방향도 다르다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graphicFrame>
        <p:nvGraphicFramePr>
          <p:cNvPr id="9" name="Table 8"/>
          <p:cNvGraphicFramePr>
            <a:graphicFrameLocks noGrp="1"/>
          </p:cNvGraphicFramePr>
          <p:nvPr/>
        </p:nvGraphicFramePr>
        <p:xfrm>
          <a:off x="457200" y="1978596"/>
          <a:ext cx="11274549" cy="2292096"/>
        </p:xfrm>
        <a:graphic>
          <a:graphicData uri="http://schemas.openxmlformats.org/drawingml/2006/table">
            <a:tbl>
              <a:tblPr firstRow="1" bandRow="0">
                <a:tableStyleId>{5940675A-B579-460E-94D1-54222C63F5DA}</a:tableStyleId>
              </a:tblPr>
              <a:tblGrid>
                <a:gridCol w="1666672"/>
                <a:gridCol w="3921583"/>
                <a:gridCol w="3529424"/>
                <a:gridCol w="2156870"/>
              </a:tblGrid>
              <a:tr h="390144">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어려움</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무엇이 문제인가</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해결 방향의 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등장</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63398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① 학습 신호</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먼 위치까지 기울기가 작아지거나 커진다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기억 경로 · 게이트 · gradient clipping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LSTM</a:t>
                      </a:r>
                      <a:r>
                        <a:rPr sz="1600" b="0">
                          <a:solidFill>
                            <a:srgbClr val="1B2A36"/>
                          </a:solidFill>
                          <a:latin typeface="맑은 고딕"/>
                          <a:ea typeface="맑은 고딕"/>
                          <a:cs typeface="맑은 고딕"/>
                        </a:rPr>
                        <a:t> (오늘)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63398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② 정보 표현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고정 크기 상태 하나에 필요한 정보를 다 담아야 한다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상태 설계 · 외부 기억 · </a:t>
                      </a:r>
                      <a:r>
                        <a:rPr sz="1600" b="1">
                          <a:solidFill>
                            <a:srgbClr val="1B2A36"/>
                          </a:solidFill>
                          <a:latin typeface="맑은 고딕"/>
                          <a:ea typeface="맑은 고딕"/>
                          <a:cs typeface="맑은 고딕"/>
                        </a:rPr>
                        <a:t>직접 참조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Attention</a:t>
                      </a:r>
                      <a:r>
                        <a:rPr sz="1600" b="0">
                          <a:solidFill>
                            <a:srgbClr val="1B2A36"/>
                          </a:solidFill>
                          <a:latin typeface="맑은 고딕"/>
                          <a:ea typeface="맑은 고딕"/>
                          <a:cs typeface="맑은 고딕"/>
                        </a:rPr>
                        <a:t> (5주차)</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63398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③ 계산 의존성</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h_t를 구하려면 h_(t−1)이 먼저 필요 — 순차 계산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비순환 · 병렬화 가능한 구조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Transformer</a:t>
                      </a:r>
                      <a:r>
                        <a:rPr sz="1600" b="0">
                          <a:solidFill>
                            <a:srgbClr val="1B2A36"/>
                          </a:solidFill>
                          <a:latin typeface="맑은 고딕"/>
                          <a:ea typeface="맑은 고딕"/>
                          <a:cs typeface="맑은 고딕"/>
                        </a:rPr>
                        <a:t> (5·6주차)</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
        <p:nvSpPr>
          <p:cNvPr id="10" name="Rounded Rectangle 9"/>
          <p:cNvSpPr/>
          <p:nvPr/>
        </p:nvSpPr>
        <p:spPr>
          <a:xfrm>
            <a:off x="457200" y="5178996"/>
            <a:ext cx="11274552" cy="633095"/>
          </a:xfrm>
          <a:prstGeom prst="roundRect">
            <a:avLst>
              <a:gd name="adj" fmla="val 14443"/>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40"/>
              </a:spcAft>
              <a:buNone/>
            </a:pPr>
            <a:r>
              <a:rPr sz="1700" b="1">
                <a:solidFill>
                  <a:srgbClr val="FFFFFF"/>
                </a:solidFill>
                <a:latin typeface="맑은 고딕"/>
                <a:ea typeface="맑은 고딕"/>
                <a:cs typeface="맑은 고딕"/>
              </a:rPr>
              <a:t>이 표가 앞으로 3주의 지도다: ① → LSTM, ② → Attention, ③ → Transformer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4</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LSTM: 보존·쓰기·읽기의 조절</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1997 — 무엇을 지키고, 무엇을 새로 쓰고, 무엇을 꺼낼지 학습하면?</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LSTM 셀 한눈에 보기</a:t>
            </a:r>
          </a:p>
        </p:txBody>
      </p:sp>
      <p:sp>
        <p:nvSpPr>
          <p:cNvPr id="3" name="Content Placeholder 2"/>
          <p:cNvSpPr>
            <a:spLocks noGrp="1"/>
          </p:cNvSpPr>
          <p:nvPr>
            <p:ph idx="1"/>
          </p:nvPr>
        </p:nvSpPr>
        <p:spPr>
          <a:xfrm>
            <a:off x="7569037" y="1408176"/>
            <a:ext cx="4162714" cy="497433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1">
                <a:solidFill>
                  <a:srgbClr val="1B2A36"/>
                </a:solidFill>
              </a:rPr>
              <a:t>c</a:t>
            </a:r>
            <a:r>
              <a:rPr sz="1800" b="0">
                <a:solidFill>
                  <a:srgbClr val="1B2A36"/>
                </a:solidFill>
              </a:rPr>
              <a:t>: 내부 기억 통로 (cell state)</a:t>
            </a:r>
          </a:p>
          <a:p>
            <a:pPr algn="l" marL="256032" indent="-237744">
              <a:lnSpc>
                <a:spcPct val="110000"/>
              </a:lnSpc>
              <a:spcBef>
                <a:spcPts val="0"/>
              </a:spcBef>
              <a:spcAft>
                <a:spcPts val="900"/>
              </a:spcAft>
              <a:buClr>
                <a:srgbClr val="01688F"/>
              </a:buClr>
              <a:buFont typeface="Wingdings" pitchFamily="2" charset="2"/>
              <a:buChar char="§"/>
            </a:pPr>
            <a:r>
              <a:rPr sz="1800" b="1">
                <a:solidFill>
                  <a:srgbClr val="1B2A36"/>
                </a:solidFill>
              </a:rPr>
              <a:t>h</a:t>
            </a:r>
            <a:r>
              <a:rPr sz="1800" b="0">
                <a:solidFill>
                  <a:srgbClr val="1B2A36"/>
                </a:solidFill>
              </a:rPr>
              <a:t>: 밖으로 내보내는 상태</a:t>
            </a:r>
          </a:p>
          <a:p>
            <a:pPr algn="l" marL="256032" indent="-237744">
              <a:lnSpc>
                <a:spcPct val="110000"/>
              </a:lnSpc>
              <a:spcBef>
                <a:spcPts val="0"/>
              </a:spcBef>
              <a:spcAft>
                <a:spcPts val="900"/>
              </a:spcAft>
              <a:buClr>
                <a:srgbClr val="01688F"/>
              </a:buClr>
              <a:buFont typeface="Wingdings" pitchFamily="2" charset="2"/>
              <a:buChar char="§"/>
            </a:pPr>
            <a:r>
              <a:rPr sz="1800" b="1">
                <a:solidFill>
                  <a:srgbClr val="1B2A36"/>
                </a:solidFill>
              </a:rPr>
              <a:t>f</a:t>
            </a:r>
            <a:r>
              <a:rPr sz="1800" b="0">
                <a:solidFill>
                  <a:srgbClr val="1B2A36"/>
                </a:solidFill>
              </a:rPr>
              <a:t> 보존 · </a:t>
            </a:r>
            <a:r>
              <a:rPr sz="1800" b="1">
                <a:solidFill>
                  <a:srgbClr val="1B2A36"/>
                </a:solidFill>
              </a:rPr>
              <a:t>i</a:t>
            </a:r>
            <a:r>
              <a:rPr sz="1800" b="0">
                <a:solidFill>
                  <a:srgbClr val="1B2A36"/>
                </a:solidFill>
              </a:rPr>
              <a:t> 쓰기 · </a:t>
            </a:r>
            <a:r>
              <a:rPr sz="1800" b="1">
                <a:solidFill>
                  <a:srgbClr val="1B2A36"/>
                </a:solidFill>
              </a:rPr>
              <a:t>o</a:t>
            </a:r>
            <a:r>
              <a:rPr sz="1800" b="0">
                <a:solidFill>
                  <a:srgbClr val="1B2A36"/>
                </a:solidFill>
              </a:rPr>
              <a:t> 읽기</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c는 </a:t>
            </a:r>
            <a:r>
              <a:rPr sz="1800" b="1">
                <a:solidFill>
                  <a:srgbClr val="1B2A36"/>
                </a:solidFill>
              </a:rPr>
              <a:t>곱하고 더하는</a:t>
            </a:r>
            <a:r>
              <a:rPr sz="1800" b="0">
                <a:solidFill>
                  <a:srgbClr val="1B2A36"/>
                </a:solidFill>
              </a:rPr>
              <a:t> 방식으로만 갱신</a:t>
            </a:r>
          </a:p>
          <a:p>
            <a:pPr algn="l" marL="566928" indent="-237744">
              <a:lnSpc>
                <a:spcPct val="110000"/>
              </a:lnSpc>
              <a:spcBef>
                <a:spcPts val="0"/>
              </a:spcBef>
              <a:spcAft>
                <a:spcPts val="775"/>
              </a:spcAft>
              <a:buClr>
                <a:srgbClr val="01688F"/>
              </a:buClr>
              <a:buFont typeface="Arial"/>
              <a:buChar char="-"/>
            </a:pPr>
            <a:r>
              <a:rPr sz="1550" b="0">
                <a:solidFill>
                  <a:srgbClr val="1B2A36"/>
                </a:solidFill>
              </a:rPr>
              <a:t>3주차 Residual의 지름길과 닮았다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곱셈으로 조절하고 덧셈으로 갱신하는 ‘기억 통로’ c를 따로 둔다</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pic>
        <p:nvPicPr>
          <p:cNvPr id="9" name="Picture 8" descr="lstm_cell.png"/>
          <p:cNvPicPr>
            <a:picLocks noChangeAspect="1"/>
          </p:cNvPicPr>
          <p:nvPr/>
        </p:nvPicPr>
        <p:blipFill>
          <a:blip r:embed="rId3"/>
          <a:stretch>
            <a:fillRect/>
          </a:stretch>
        </p:blipFill>
        <p:spPr>
          <a:xfrm>
            <a:off x="457200" y="2121002"/>
            <a:ext cx="6791797" cy="3548683"/>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게이트는 입력으로 계산된다</a:t>
            </a:r>
          </a:p>
        </p:txBody>
      </p:sp>
      <p:sp>
        <p:nvSpPr>
          <p:cNvPr id="3" name="Content Placeholder 2"/>
          <p:cNvSpPr>
            <a:spLocks noGrp="1"/>
          </p:cNvSpPr>
          <p:nvPr>
            <p:ph idx="1"/>
          </p:nvPr>
        </p:nvSpPr>
        <p:spPr>
          <a:xfrm>
            <a:off x="6822795" y="3099815"/>
            <a:ext cx="4908956" cy="328269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게이트는 스위치가 아니라 </a:t>
            </a:r>
            <a:r>
              <a:rPr sz="1800" b="1">
                <a:solidFill>
                  <a:srgbClr val="1B2A36"/>
                </a:solidFill>
              </a:rPr>
              <a:t>매번 계산</a:t>
            </a:r>
            <a:r>
              <a:rPr sz="1800" b="0">
                <a:solidFill>
                  <a:srgbClr val="1B2A36"/>
                </a:solidFill>
              </a:rPr>
              <a:t>되는 값</a:t>
            </a:r>
          </a:p>
          <a:p>
            <a:pPr algn="l" marL="256032" indent="-237744">
              <a:lnSpc>
                <a:spcPct val="110000"/>
              </a:lnSpc>
              <a:spcBef>
                <a:spcPts val="0"/>
              </a:spcBef>
              <a:spcAft>
                <a:spcPts val="900"/>
              </a:spcAft>
              <a:buClr>
                <a:srgbClr val="01688F"/>
              </a:buClr>
              <a:buFont typeface="Wingdings" pitchFamily="2" charset="2"/>
              <a:buChar char="§"/>
            </a:pPr>
            <a:r>
              <a:rPr sz="1800" b="1">
                <a:solidFill>
                  <a:srgbClr val="E97132"/>
                </a:solidFill>
              </a:rPr>
              <a:t>주의</a:t>
            </a:r>
            <a:r>
              <a:rPr sz="1800" b="0">
                <a:solidFill>
                  <a:srgbClr val="1B2A36"/>
                </a:solidFill>
              </a:rPr>
              <a:t> forget gate는 </a:t>
            </a:r>
            <a:r>
              <a:rPr sz="1800" b="1">
                <a:solidFill>
                  <a:srgbClr val="1B2A36"/>
                </a:solidFill>
              </a:rPr>
              <a:t>2000년</a:t>
            </a:r>
            <a:r>
              <a:rPr sz="1800" b="0">
                <a:solidFill>
                  <a:srgbClr val="1B2A36"/>
                </a:solidFill>
              </a:rPr>
              <a:t> Gers et al.이 도입</a:t>
            </a:r>
          </a:p>
          <a:p>
            <a:pPr algn="l" marL="566928" indent="-237744">
              <a:lnSpc>
                <a:spcPct val="110000"/>
              </a:lnSpc>
              <a:spcBef>
                <a:spcPts val="0"/>
              </a:spcBef>
              <a:spcAft>
                <a:spcPts val="775"/>
              </a:spcAft>
              <a:buClr>
                <a:srgbClr val="01688F"/>
              </a:buClr>
              <a:buFont typeface="Arial"/>
              <a:buChar char="-"/>
            </a:pPr>
            <a:r>
              <a:rPr sz="1550" b="0">
                <a:solidFill>
                  <a:srgbClr val="1B2A36"/>
                </a:solidFill>
              </a:rPr>
              <a:t>1997 원형에는 없었다</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식 암기보다 </a:t>
            </a:r>
            <a:r>
              <a:rPr sz="1800" b="1">
                <a:solidFill>
                  <a:srgbClr val="1B2A36"/>
                </a:solidFill>
              </a:rPr>
              <a:t>c·h 구분, 곱·덧셈 경로</a:t>
            </a:r>
            <a:r>
              <a:rPr sz="1800" b="0">
                <a:solidFill>
                  <a:srgbClr val="1B2A36"/>
                </a:solidFill>
              </a:rPr>
              <a:t>를 설명할 수 있으면 충분</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네 값 모두 같은 입력 [h_(t−1), x_t]에서, 서로 다른 가중치로</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sp>
        <p:nvSpPr>
          <p:cNvPr id="9" name="Rounded Rectangle 8"/>
          <p:cNvSpPr/>
          <p:nvPr/>
        </p:nvSpPr>
        <p:spPr>
          <a:xfrm>
            <a:off x="457200" y="1408176"/>
            <a:ext cx="11274552" cy="1417320"/>
          </a:xfrm>
          <a:prstGeom prst="roundRect">
            <a:avLst>
              <a:gd name="adj" fmla="val 6451"/>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1417320"/>
          </a:xfrm>
          <a:prstGeom prst="rect">
            <a:avLst/>
          </a:prstGeom>
          <a:noFill/>
        </p:spPr>
        <p:txBody>
          <a:bodyPr wrap="square" anchor="ctr">
            <a:spAutoFit/>
          </a:bodyPr>
          <a:lstStyle/>
          <a:p>
            <a:pPr algn="ctr" marL="0" indent="0">
              <a:buNone/>
            </a:pPr>
            <a:r>
              <a:rPr sz="2000" b="1">
                <a:solidFill>
                  <a:srgbClr val="1B2A36"/>
                </a:solidFill>
                <a:latin typeface="Courier New"/>
                <a:ea typeface="맑은 고딕"/>
                <a:cs typeface="Courier New"/>
              </a:rPr>
              <a:t>f = σ([h, x] W_f + b_f)     i = σ([h, x] W_i + b_i)</a:t>
            </a:r>
          </a:p>
          <a:p>
            <a:pPr algn="ctr" marL="0" indent="0">
              <a:buNone/>
            </a:pPr>
            <a:r>
              <a:rPr sz="2000" b="1">
                <a:solidFill>
                  <a:srgbClr val="1B2A36"/>
                </a:solidFill>
                <a:latin typeface="Courier New"/>
                <a:ea typeface="맑은 고딕"/>
                <a:cs typeface="Courier New"/>
              </a:rPr>
              <a:t>g = tanh([h, x] W_g + b_g)  o = σ([h, x] W_o + b_o)</a:t>
            </a:r>
          </a:p>
        </p:txBody>
      </p:sp>
      <p:sp>
        <p:nvSpPr>
          <p:cNvPr id="11" name="Rounded Rectangle 10"/>
          <p:cNvSpPr/>
          <p:nvPr/>
        </p:nvSpPr>
        <p:spPr>
          <a:xfrm>
            <a:off x="457200" y="3145535"/>
            <a:ext cx="1554480" cy="475488"/>
          </a:xfrm>
          <a:prstGeom prst="roundRect">
            <a:avLst>
              <a:gd name="adj" fmla="val 19230"/>
            </a:avLst>
          </a:prstGeom>
          <a:solidFill>
            <a:srgbClr val="D8EA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lnSpc>
                <a:spcPct val="110000"/>
              </a:lnSpc>
              <a:spcBef>
                <a:spcPts val="0"/>
              </a:spcBef>
              <a:spcAft>
                <a:spcPts val="300"/>
              </a:spcAft>
              <a:buNone/>
            </a:pPr>
            <a:r>
              <a:rPr sz="1500" b="1">
                <a:solidFill>
                  <a:srgbClr val="1B2A36"/>
                </a:solidFill>
                <a:latin typeface="Courier New"/>
                <a:ea typeface="맑은 고딕"/>
                <a:cs typeface="Courier New"/>
              </a:rPr>
              <a:t>f</a:t>
            </a:r>
          </a:p>
        </p:txBody>
      </p:sp>
      <p:sp>
        <p:nvSpPr>
          <p:cNvPr id="12" name="TextBox 11"/>
          <p:cNvSpPr txBox="1"/>
          <p:nvPr/>
        </p:nvSpPr>
        <p:spPr>
          <a:xfrm>
            <a:off x="2121408" y="3099815"/>
            <a:ext cx="4335627" cy="566928"/>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forget: 이전 기억 보존 비중 (0~1)</a:t>
            </a:r>
          </a:p>
        </p:txBody>
      </p:sp>
      <p:sp>
        <p:nvSpPr>
          <p:cNvPr id="13" name="Rounded Rectangle 12"/>
          <p:cNvSpPr/>
          <p:nvPr/>
        </p:nvSpPr>
        <p:spPr>
          <a:xfrm>
            <a:off x="457200" y="3712463"/>
            <a:ext cx="1554480" cy="475488"/>
          </a:xfrm>
          <a:prstGeom prst="roundRect">
            <a:avLst>
              <a:gd name="adj" fmla="val 19230"/>
            </a:avLst>
          </a:prstGeom>
          <a:solidFill>
            <a:srgbClr val="D8EA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lnSpc>
                <a:spcPct val="110000"/>
              </a:lnSpc>
              <a:spcBef>
                <a:spcPts val="0"/>
              </a:spcBef>
              <a:spcAft>
                <a:spcPts val="300"/>
              </a:spcAft>
              <a:buNone/>
            </a:pPr>
            <a:r>
              <a:rPr sz="1500" b="1">
                <a:solidFill>
                  <a:srgbClr val="1B2A36"/>
                </a:solidFill>
                <a:latin typeface="Courier New"/>
                <a:ea typeface="맑은 고딕"/>
                <a:cs typeface="Courier New"/>
              </a:rPr>
              <a:t>i</a:t>
            </a:r>
          </a:p>
        </p:txBody>
      </p:sp>
      <p:sp>
        <p:nvSpPr>
          <p:cNvPr id="14" name="TextBox 13"/>
          <p:cNvSpPr txBox="1"/>
          <p:nvPr/>
        </p:nvSpPr>
        <p:spPr>
          <a:xfrm>
            <a:off x="2121408" y="3666744"/>
            <a:ext cx="4335627" cy="566928"/>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input: 새 후보를 쓰는 비중 (0~1)</a:t>
            </a:r>
          </a:p>
        </p:txBody>
      </p:sp>
      <p:sp>
        <p:nvSpPr>
          <p:cNvPr id="15" name="Rounded Rectangle 14"/>
          <p:cNvSpPr/>
          <p:nvPr/>
        </p:nvSpPr>
        <p:spPr>
          <a:xfrm>
            <a:off x="457200" y="4279392"/>
            <a:ext cx="1554480" cy="475488"/>
          </a:xfrm>
          <a:prstGeom prst="roundRect">
            <a:avLst>
              <a:gd name="adj" fmla="val 19230"/>
            </a:avLst>
          </a:prstGeom>
          <a:solidFill>
            <a:srgbClr val="D8EA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lnSpc>
                <a:spcPct val="110000"/>
              </a:lnSpc>
              <a:spcBef>
                <a:spcPts val="0"/>
              </a:spcBef>
              <a:spcAft>
                <a:spcPts val="300"/>
              </a:spcAft>
              <a:buNone/>
            </a:pPr>
            <a:r>
              <a:rPr sz="1500" b="1">
                <a:solidFill>
                  <a:srgbClr val="1B2A36"/>
                </a:solidFill>
                <a:latin typeface="Courier New"/>
                <a:ea typeface="맑은 고딕"/>
                <a:cs typeface="Courier New"/>
              </a:rPr>
              <a:t>g</a:t>
            </a:r>
          </a:p>
        </p:txBody>
      </p:sp>
      <p:sp>
        <p:nvSpPr>
          <p:cNvPr id="16" name="TextBox 15"/>
          <p:cNvSpPr txBox="1"/>
          <p:nvPr/>
        </p:nvSpPr>
        <p:spPr>
          <a:xfrm>
            <a:off x="2121408" y="4233672"/>
            <a:ext cx="4335627" cy="566928"/>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새로 쓸 후보 값 (−1~1)</a:t>
            </a:r>
          </a:p>
        </p:txBody>
      </p:sp>
      <p:sp>
        <p:nvSpPr>
          <p:cNvPr id="17" name="Rounded Rectangle 16"/>
          <p:cNvSpPr/>
          <p:nvPr/>
        </p:nvSpPr>
        <p:spPr>
          <a:xfrm>
            <a:off x="457200" y="4846320"/>
            <a:ext cx="1554480" cy="475488"/>
          </a:xfrm>
          <a:prstGeom prst="roundRect">
            <a:avLst>
              <a:gd name="adj" fmla="val 19230"/>
            </a:avLst>
          </a:prstGeom>
          <a:solidFill>
            <a:srgbClr val="D8EA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lnSpc>
                <a:spcPct val="110000"/>
              </a:lnSpc>
              <a:spcBef>
                <a:spcPts val="0"/>
              </a:spcBef>
              <a:spcAft>
                <a:spcPts val="300"/>
              </a:spcAft>
              <a:buNone/>
            </a:pPr>
            <a:r>
              <a:rPr sz="1500" b="1">
                <a:solidFill>
                  <a:srgbClr val="1B2A36"/>
                </a:solidFill>
                <a:latin typeface="Courier New"/>
                <a:ea typeface="맑은 고딕"/>
                <a:cs typeface="Courier New"/>
              </a:rPr>
              <a:t>o</a:t>
            </a:r>
          </a:p>
        </p:txBody>
      </p:sp>
      <p:sp>
        <p:nvSpPr>
          <p:cNvPr id="18" name="TextBox 17"/>
          <p:cNvSpPr txBox="1"/>
          <p:nvPr/>
        </p:nvSpPr>
        <p:spPr>
          <a:xfrm>
            <a:off x="2121408" y="4800600"/>
            <a:ext cx="4335627" cy="566928"/>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output: 밖으로 꺼내는 비중 (0~1)</a:t>
            </a:r>
          </a:p>
        </p:txBody>
      </p:sp>
      <p:sp>
        <p:nvSpPr>
          <p:cNvPr id="19" name="Rounded Rectangle 18"/>
          <p:cNvSpPr/>
          <p:nvPr/>
        </p:nvSpPr>
        <p:spPr>
          <a:xfrm>
            <a:off x="457200" y="5413247"/>
            <a:ext cx="1554480" cy="475488"/>
          </a:xfrm>
          <a:prstGeom prst="roundRect">
            <a:avLst>
              <a:gd name="adj" fmla="val 19230"/>
            </a:avLst>
          </a:prstGeom>
          <a:solidFill>
            <a:srgbClr val="D8EA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lnSpc>
                <a:spcPct val="110000"/>
              </a:lnSpc>
              <a:spcBef>
                <a:spcPts val="0"/>
              </a:spcBef>
              <a:spcAft>
                <a:spcPts val="300"/>
              </a:spcAft>
              <a:buNone/>
            </a:pPr>
            <a:r>
              <a:rPr sz="1500" b="1">
                <a:solidFill>
                  <a:srgbClr val="1B2A36"/>
                </a:solidFill>
                <a:latin typeface="Courier New"/>
                <a:ea typeface="맑은 고딕"/>
                <a:cs typeface="Courier New"/>
              </a:rPr>
              <a:t>[h, x]</a:t>
            </a:r>
          </a:p>
        </p:txBody>
      </p:sp>
      <p:sp>
        <p:nvSpPr>
          <p:cNvPr id="20" name="TextBox 19"/>
          <p:cNvSpPr txBox="1"/>
          <p:nvPr/>
        </p:nvSpPr>
        <p:spPr>
          <a:xfrm>
            <a:off x="2121408" y="5367527"/>
            <a:ext cx="4335627" cy="566928"/>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이전 상태와 현재 입력을 이어 붙인 벡터</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셀 갱신을 손으로</a:t>
            </a:r>
          </a:p>
        </p:txBody>
      </p:sp>
      <p:sp>
        <p:nvSpPr>
          <p:cNvPr id="3" name="Content Placeholder 2"/>
          <p:cNvSpPr>
            <a:spLocks noGrp="1"/>
          </p:cNvSpPr>
          <p:nvPr>
            <p:ph idx="1"/>
          </p:nvPr>
        </p:nvSpPr>
        <p:spPr>
          <a:xfrm>
            <a:off x="7368235" y="2596896"/>
            <a:ext cx="4363516" cy="378561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f ≈ 1이면 기억이 </a:t>
            </a:r>
            <a:r>
              <a:rPr sz="1800" b="1">
                <a:solidFill>
                  <a:srgbClr val="1B2A36"/>
                </a:solidFill>
              </a:rPr>
              <a:t>거의 그대로</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c_(t−1)이 조금 변하면 c_t도 </a:t>
            </a:r>
            <a:r>
              <a:rPr sz="1800" b="1">
                <a:solidFill>
                  <a:srgbClr val="1B2A36"/>
                </a:solidFill>
              </a:rPr>
              <a:t>f배</a:t>
            </a:r>
            <a:r>
              <a:rPr sz="1800" b="0">
                <a:solidFill>
                  <a:srgbClr val="1B2A36"/>
                </a:solidFill>
              </a:rPr>
              <a:t>만큼 변한다 (= 기울기가 f)</a:t>
            </a:r>
          </a:p>
          <a:p>
            <a:pPr algn="l" marL="566928" indent="-237744">
              <a:lnSpc>
                <a:spcPct val="110000"/>
              </a:lnSpc>
              <a:spcBef>
                <a:spcPts val="0"/>
              </a:spcBef>
              <a:spcAft>
                <a:spcPts val="775"/>
              </a:spcAft>
              <a:buClr>
                <a:srgbClr val="01688F"/>
              </a:buClr>
              <a:buFont typeface="Arial"/>
              <a:buChar char="-"/>
            </a:pPr>
            <a:r>
              <a:rPr sz="1550" b="0">
                <a:solidFill>
                  <a:srgbClr val="1B2A36"/>
                </a:solidFill>
              </a:rPr>
              <a:t>f ≈ 1 → 기울기도 오래 유지</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RNN은 매번 W_h와 tanh′를 곱했다</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c는 </a:t>
            </a:r>
            <a:r>
              <a:rPr sz="1800" b="1">
                <a:solidFill>
                  <a:srgbClr val="1B2A36"/>
                </a:solidFill>
              </a:rPr>
              <a:t>곱하고 더할 뿐</a:t>
            </a:r>
            <a:r>
              <a:rPr sz="1800" b="0">
                <a:solidFill>
                  <a:srgbClr val="1B2A36"/>
                </a:solidFill>
              </a:rPr>
              <a:t> → 긴 경로에 유리</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c_t = f ⊙ c_(t−1) + i ⊙ g,   h_t = o ⊙ tanh(c_t)</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sp>
        <p:nvSpPr>
          <p:cNvPr id="9" name="Rounded Rectangle 8"/>
          <p:cNvSpPr/>
          <p:nvPr/>
        </p:nvSpPr>
        <p:spPr>
          <a:xfrm>
            <a:off x="457200" y="1408176"/>
            <a:ext cx="11274552" cy="914400"/>
          </a:xfrm>
          <a:prstGeom prst="roundRect">
            <a:avLst>
              <a:gd name="adj" fmla="val 10000"/>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914400"/>
          </a:xfrm>
          <a:prstGeom prst="rect">
            <a:avLst/>
          </a:prstGeom>
          <a:noFill/>
        </p:spPr>
        <p:txBody>
          <a:bodyPr wrap="square" anchor="ctr">
            <a:spAutoFit/>
          </a:bodyPr>
          <a:lstStyle/>
          <a:p>
            <a:pPr algn="ctr" marL="0" indent="0">
              <a:buNone/>
            </a:pPr>
            <a:r>
              <a:rPr sz="2200" b="1">
                <a:solidFill>
                  <a:srgbClr val="1B2A36"/>
                </a:solidFill>
                <a:latin typeface="Courier New"/>
                <a:ea typeface="맑은 고딕"/>
                <a:cs typeface="Courier New"/>
              </a:rPr>
              <a:t>c_t = f ⊙ c_(t−1) + i ⊙ g        h_t = o ⊙ tanh(c_t)</a:t>
            </a:r>
          </a:p>
        </p:txBody>
      </p:sp>
      <p:graphicFrame>
        <p:nvGraphicFramePr>
          <p:cNvPr id="11" name="Table 10"/>
          <p:cNvGraphicFramePr>
            <a:graphicFrameLocks noGrp="1"/>
          </p:cNvGraphicFramePr>
          <p:nvPr/>
        </p:nvGraphicFramePr>
        <p:xfrm>
          <a:off x="457200" y="2596896"/>
          <a:ext cx="6545273" cy="2103119"/>
        </p:xfrm>
        <a:graphic>
          <a:graphicData uri="http://schemas.openxmlformats.org/drawingml/2006/table">
            <a:tbl>
              <a:tblPr firstRow="1" bandRow="0">
                <a:tableStyleId>{5940675A-B579-460E-94D1-54222C63F5DA}</a:tableStyleId>
              </a:tblPr>
              <a:tblGrid>
                <a:gridCol w="3080129"/>
                <a:gridCol w="1732572"/>
                <a:gridCol w="1732572"/>
              </a:tblGrid>
              <a:tr h="374904">
                <a:tc>
                  <a:txBody>
                    <a:bodyPr wrap="square" lIns="36576" rIns="36576" tIns="36576" bIns="36576" anchor="t"/>
                    <a:lstStyle/>
                    <a:p>
                      <a:pPr algn="ctr" marL="0" indent="0">
                        <a:lnSpc>
                          <a:spcPct val="110000"/>
                        </a:lnSpc>
                        <a:spcBef>
                          <a:spcPts val="0"/>
                        </a:spcBef>
                        <a:spcAft>
                          <a:spcPts val="0"/>
                        </a:spcAft>
                        <a:buNone/>
                      </a:pP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f = 0.9 (보존)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f = 0.5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c_(t−1)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2.0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2.0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i, 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0.1, 0.5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0.1, 0.5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c_t = f ⊙ c_(t−1) + i ⊙ 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1.8 + 0.05 = </a:t>
                      </a:r>
                      <a:r>
                        <a:rPr sz="1500" b="1">
                          <a:solidFill>
                            <a:srgbClr val="1B2A36"/>
                          </a:solidFill>
                          <a:latin typeface="맑은 고딕"/>
                          <a:ea typeface="맑은 고딕"/>
                          <a:cs typeface="맑은 고딕"/>
                        </a:rPr>
                        <a:t>1.85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1.0 + 0.05 = </a:t>
                      </a:r>
                      <a:r>
                        <a:rPr sz="1500" b="1">
                          <a:solidFill>
                            <a:srgbClr val="1B2A36"/>
                          </a:solidFill>
                          <a:latin typeface="맑은 고딕"/>
                          <a:ea typeface="맑은 고딕"/>
                          <a:cs typeface="맑은 고딕"/>
                        </a:rPr>
                        <a:t>1.05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h_t = 0.5·tanh(c_t)</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0.476</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0.391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LSTM이 해결한 것과 남은 것</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장기 의존성을 ‘학습하기 쉽게’ 만들었다 — 완벽한 기억도, 병렬 계산도 아니다</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sp>
        <p:nvSpPr>
          <p:cNvPr id="9" name="Rounded Rectangle 8"/>
          <p:cNvSpPr/>
          <p:nvPr/>
        </p:nvSpPr>
        <p:spPr>
          <a:xfrm>
            <a:off x="457200" y="2070036"/>
            <a:ext cx="5522976" cy="2743200"/>
          </a:xfrm>
          <a:prstGeom prst="roundRect">
            <a:avLst>
              <a:gd name="adj" fmla="val 333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198052"/>
            <a:ext cx="5193792"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2000" b="1">
                <a:solidFill>
                  <a:srgbClr val="01688F"/>
                </a:solidFill>
                <a:latin typeface="맑은 고딕"/>
                <a:ea typeface="맑은 고딕"/>
                <a:cs typeface="맑은 고딕"/>
              </a:rPr>
              <a:t>해결한 것</a:t>
            </a:r>
          </a:p>
        </p:txBody>
      </p:sp>
      <p:sp>
        <p:nvSpPr>
          <p:cNvPr id="11" name="TextBox 10"/>
          <p:cNvSpPr txBox="1"/>
          <p:nvPr/>
        </p:nvSpPr>
        <p:spPr>
          <a:xfrm>
            <a:off x="621792" y="2655252"/>
            <a:ext cx="5193792" cy="2029968"/>
          </a:xfrm>
          <a:prstGeom prst="rect">
            <a:avLst/>
          </a:prstGeom>
          <a:noFill/>
        </p:spPr>
        <p:txBody>
          <a:bodyPr wrap="square" lIns="18288" rIns="18288" tIns="36576" bIns="36576" anchor="t">
            <a:spAutoFit/>
          </a:bodyPr>
          <a:lstStyle/>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① </a:t>
            </a:r>
            <a:r>
              <a:rPr sz="1900" b="1">
                <a:solidFill>
                  <a:srgbClr val="1B2A36"/>
                </a:solidFill>
                <a:latin typeface="맑은 고딕"/>
                <a:ea typeface="맑은 고딕"/>
                <a:cs typeface="맑은 고딕"/>
              </a:rPr>
              <a:t>학습 신호</a:t>
            </a:r>
            <a:r>
              <a:rPr sz="1900" b="0">
                <a:solidFill>
                  <a:srgbClr val="1B2A36"/>
                </a:solidFill>
                <a:latin typeface="맑은 고딕"/>
                <a:ea typeface="맑은 고딕"/>
                <a:cs typeface="맑은 고딕"/>
              </a:rPr>
              <a:t>: 덧셈 기억 경로로 긴 의존성 학습이 쉬워짐</a:t>
            </a:r>
          </a:p>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음성 인식 · 번역 등에서 오랫동안 표준</a:t>
            </a:r>
          </a:p>
        </p:txBody>
      </p:sp>
      <p:sp>
        <p:nvSpPr>
          <p:cNvPr id="12" name="Rounded Rectangle 11"/>
          <p:cNvSpPr/>
          <p:nvPr/>
        </p:nvSpPr>
        <p:spPr>
          <a:xfrm>
            <a:off x="6208776" y="2070036"/>
            <a:ext cx="5522976" cy="2743200"/>
          </a:xfrm>
          <a:prstGeom prst="roundRect">
            <a:avLst>
              <a:gd name="adj" fmla="val 3333"/>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2198052"/>
            <a:ext cx="5193791"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2000" b="1">
                <a:solidFill>
                  <a:srgbClr val="E97132"/>
                </a:solidFill>
                <a:latin typeface="맑은 고딕"/>
                <a:ea typeface="맑은 고딕"/>
                <a:cs typeface="맑은 고딕"/>
              </a:rPr>
              <a:t>남은 것</a:t>
            </a:r>
          </a:p>
        </p:txBody>
      </p:sp>
      <p:sp>
        <p:nvSpPr>
          <p:cNvPr id="14" name="TextBox 13"/>
          <p:cNvSpPr txBox="1"/>
          <p:nvPr/>
        </p:nvSpPr>
        <p:spPr>
          <a:xfrm>
            <a:off x="6373368" y="2655252"/>
            <a:ext cx="5193792" cy="2029968"/>
          </a:xfrm>
          <a:prstGeom prst="rect">
            <a:avLst/>
          </a:prstGeom>
          <a:noFill/>
        </p:spPr>
        <p:txBody>
          <a:bodyPr wrap="square" lIns="18288" rIns="18288" tIns="36576" bIns="36576" anchor="t">
            <a:spAutoFit/>
          </a:bodyPr>
          <a:lstStyle/>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② </a:t>
            </a:r>
            <a:r>
              <a:rPr sz="1900" b="1">
                <a:solidFill>
                  <a:srgbClr val="1B2A36"/>
                </a:solidFill>
                <a:latin typeface="맑은 고딕"/>
                <a:ea typeface="맑은 고딕"/>
                <a:cs typeface="맑은 고딕"/>
              </a:rPr>
              <a:t>고정 크기</a:t>
            </a:r>
            <a:r>
              <a:rPr sz="1900" b="0">
                <a:solidFill>
                  <a:srgbClr val="1B2A36"/>
                </a:solidFill>
                <a:latin typeface="맑은 고딕"/>
                <a:ea typeface="맑은 고딕"/>
                <a:cs typeface="맑은 고딕"/>
              </a:rPr>
              <a:t> 상태 c, h에 모든 것을 담아야 한다</a:t>
            </a:r>
          </a:p>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③ h_t는 h_(t−1)이 필요 — </a:t>
            </a:r>
            <a:r>
              <a:rPr sz="1900" b="1">
                <a:solidFill>
                  <a:srgbClr val="1B2A36"/>
                </a:solidFill>
                <a:latin typeface="맑은 고딕"/>
                <a:ea typeface="맑은 고딕"/>
                <a:cs typeface="맑은 고딕"/>
              </a:rPr>
              <a:t>순차 계산</a:t>
            </a:r>
          </a:p>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완벽한 기억을 </a:t>
            </a:r>
            <a:r>
              <a:rPr sz="1900" b="1">
                <a:solidFill>
                  <a:srgbClr val="1B2A36"/>
                </a:solidFill>
                <a:latin typeface="맑은 고딕"/>
                <a:ea typeface="맑은 고딕"/>
                <a:cs typeface="맑은 고딕"/>
              </a:rPr>
              <a:t>보장하지 않는다</a:t>
            </a:r>
          </a:p>
        </p:txBody>
      </p:sp>
      <p:sp>
        <p:nvSpPr>
          <p:cNvPr id="15" name="Rounded Rectangle 14"/>
          <p:cNvSpPr/>
          <p:nvPr/>
        </p:nvSpPr>
        <p:spPr>
          <a:xfrm>
            <a:off x="457200" y="5087556"/>
            <a:ext cx="11274552" cy="633095"/>
          </a:xfrm>
          <a:prstGeom prst="roundRect">
            <a:avLst>
              <a:gd name="adj" fmla="val 14443"/>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40"/>
              </a:spcAft>
              <a:buNone/>
            </a:pPr>
            <a:r>
              <a:rPr sz="1700" b="0">
                <a:solidFill>
                  <a:srgbClr val="1B2A36"/>
                </a:solidFill>
                <a:latin typeface="맑은 고딕"/>
                <a:ea typeface="맑은 고딕"/>
                <a:cs typeface="맑은 고딕"/>
              </a:rPr>
              <a:t>GRU (Cho et al., 2014)는 게이트를 2개로 줄인 변형 — 같은 남은 문제를 공유한다.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검증 실험 설계: 맨 앞 숫자 기억하기</a:t>
            </a:r>
          </a:p>
        </p:txBody>
      </p:sp>
      <p:sp>
        <p:nvSpPr>
          <p:cNvPr id="3" name="Content Placeholder 2"/>
          <p:cNvSpPr>
            <a:spLocks noGrp="1"/>
          </p:cNvSpPr>
          <p:nvPr>
            <p:ph idx="1"/>
          </p:nvPr>
        </p:nvSpPr>
        <p:spPr>
          <a:xfrm>
            <a:off x="457200" y="3465576"/>
            <a:ext cx="11274552" cy="291693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1">
                <a:solidFill>
                  <a:srgbClr val="1B2A36"/>
                </a:solidFill>
              </a:rPr>
              <a:t>통제</a:t>
            </a:r>
            <a:r>
              <a:rPr sz="1800" b="0">
                <a:solidFill>
                  <a:srgbClr val="1B2A36"/>
                </a:solidFill>
              </a:rPr>
              <a:t>: 모델 크기, 학습 step, 데이터 수를 같게</a:t>
            </a:r>
          </a:p>
          <a:p>
            <a:pPr algn="l" marL="256032" indent="-237744">
              <a:lnSpc>
                <a:spcPct val="110000"/>
              </a:lnSpc>
              <a:spcBef>
                <a:spcPts val="0"/>
              </a:spcBef>
              <a:spcAft>
                <a:spcPts val="900"/>
              </a:spcAft>
              <a:buClr>
                <a:srgbClr val="01688F"/>
              </a:buClr>
              <a:buFont typeface="Wingdings" pitchFamily="2" charset="2"/>
              <a:buChar char="§"/>
            </a:pPr>
            <a:r>
              <a:rPr sz="1800" b="1">
                <a:solidFill>
                  <a:srgbClr val="1B2A36"/>
                </a:solidFill>
              </a:rPr>
              <a:t>측정</a:t>
            </a:r>
            <a:r>
              <a:rPr sz="1800" b="0">
                <a:solidFill>
                  <a:srgbClr val="1B2A36"/>
                </a:solidFill>
              </a:rPr>
              <a:t>: 길이별 정확도 곡선 — 어디서 무너지나?</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RNN과 LSTM의 곡선을 비교하고 </a:t>
            </a:r>
            <a:r>
              <a:rPr sz="1800" b="1">
                <a:solidFill>
                  <a:srgbClr val="1B2A36"/>
                </a:solidFill>
              </a:rPr>
              <a:t>이유를 설명</a:t>
            </a:r>
          </a:p>
          <a:p>
            <a:pPr algn="l" marL="256032" indent="-237744">
              <a:lnSpc>
                <a:spcPct val="110000"/>
              </a:lnSpc>
              <a:spcBef>
                <a:spcPts val="0"/>
              </a:spcBef>
              <a:spcAft>
                <a:spcPts val="900"/>
              </a:spcAft>
              <a:buClr>
                <a:srgbClr val="01688F"/>
              </a:buClr>
              <a:buFont typeface="Wingdings" pitchFamily="2" charset="2"/>
              <a:buChar char="§"/>
            </a:pPr>
            <a:r>
              <a:rPr sz="1800" b="1">
                <a:solidFill>
                  <a:srgbClr val="E97132"/>
                </a:solidFill>
              </a:rPr>
              <a:t>주의</a:t>
            </a:r>
            <a:r>
              <a:rPr sz="1800" b="0">
                <a:solidFill>
                  <a:srgbClr val="1B2A36"/>
                </a:solidFill>
              </a:rPr>
              <a:t> ‘새 모델이 항상 이긴다’는 결론을 미리 정하지 않는다</a:t>
            </a:r>
          </a:p>
          <a:p>
            <a:pPr algn="l" marL="256032" indent="-237744">
              <a:lnSpc>
                <a:spcPct val="110000"/>
              </a:lnSpc>
              <a:spcBef>
                <a:spcPts val="0"/>
              </a:spcBef>
              <a:spcAft>
                <a:spcPts val="900"/>
              </a:spcAft>
              <a:buClr>
                <a:srgbClr val="01688F"/>
              </a:buClr>
              <a:buFont typeface="Wingdings" pitchFamily="2" charset="2"/>
              <a:buChar char="§"/>
            </a:pPr>
            <a:r>
              <a:rPr sz="1800" b="1">
                <a:solidFill>
                  <a:srgbClr val="1B2A36"/>
                </a:solidFill>
              </a:rPr>
              <a:t>과제 1</a:t>
            </a:r>
            <a:r>
              <a:rPr sz="1800" b="0">
                <a:solidFill>
                  <a:srgbClr val="1B2A36"/>
                </a:solidFill>
              </a:rPr>
              <a:t>에서 직접 해 본다 (복사·반전 과제)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길이를 5 → 10 → 20 → 40으로 늘리며, 어디서부터 어려워지는지 측정한다</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sp>
        <p:nvSpPr>
          <p:cNvPr id="9" name="Rounded Rectangle 8"/>
          <p:cNvSpPr/>
          <p:nvPr/>
        </p:nvSpPr>
        <p:spPr>
          <a:xfrm>
            <a:off x="457200" y="1408176"/>
            <a:ext cx="2530602" cy="1737360"/>
          </a:xfrm>
          <a:prstGeom prst="roundRect">
            <a:avLst>
              <a:gd name="adj" fmla="val 526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996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입력</a:t>
            </a:r>
          </a:p>
        </p:txBody>
      </p:sp>
      <p:sp>
        <p:nvSpPr>
          <p:cNvPr id="11" name="TextBox 10"/>
          <p:cNvSpPr txBox="1"/>
          <p:nvPr/>
        </p:nvSpPr>
        <p:spPr>
          <a:xfrm>
            <a:off x="548640" y="1911095"/>
            <a:ext cx="2347722"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7, a, c, b, …, d</a:t>
            </a:r>
          </a:p>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(길이 N)</a:t>
            </a:r>
          </a:p>
        </p:txBody>
      </p:sp>
      <p:cxnSp>
        <p:nvCxnSpPr>
          <p:cNvPr id="12" name="Connector 11"/>
          <p:cNvCxnSpPr/>
          <p:nvPr/>
        </p:nvCxnSpPr>
        <p:spPr>
          <a:xfrm>
            <a:off x="3033522" y="2276856"/>
            <a:ext cx="292608"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71850" y="1408176"/>
            <a:ext cx="2530602" cy="1737360"/>
          </a:xfrm>
          <a:prstGeom prst="roundRect">
            <a:avLst>
              <a:gd name="adj" fmla="val 526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63290" y="14996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모델</a:t>
            </a:r>
          </a:p>
        </p:txBody>
      </p:sp>
      <p:sp>
        <p:nvSpPr>
          <p:cNvPr id="15" name="TextBox 14"/>
          <p:cNvSpPr txBox="1"/>
          <p:nvPr/>
        </p:nvSpPr>
        <p:spPr>
          <a:xfrm>
            <a:off x="3463290" y="1911095"/>
            <a:ext cx="2347722"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RNN / LSTM</a:t>
            </a:r>
          </a:p>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(크기·학습량 동일)</a:t>
            </a:r>
          </a:p>
        </p:txBody>
      </p:sp>
      <p:cxnSp>
        <p:nvCxnSpPr>
          <p:cNvPr id="16" name="Connector 15"/>
          <p:cNvCxnSpPr/>
          <p:nvPr/>
        </p:nvCxnSpPr>
        <p:spPr>
          <a:xfrm>
            <a:off x="5948172" y="2276856"/>
            <a:ext cx="292608"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86500" y="1408176"/>
            <a:ext cx="2530602" cy="1737360"/>
          </a:xfrm>
          <a:prstGeom prst="roundRect">
            <a:avLst>
              <a:gd name="adj" fmla="val 526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14996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출력</a:t>
            </a:r>
          </a:p>
        </p:txBody>
      </p:sp>
      <p:sp>
        <p:nvSpPr>
          <p:cNvPr id="19" name="TextBox 18"/>
          <p:cNvSpPr txBox="1"/>
          <p:nvPr/>
        </p:nvSpPr>
        <p:spPr>
          <a:xfrm>
            <a:off x="6377940" y="1911095"/>
            <a:ext cx="2347722"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마지막에 </a:t>
            </a:r>
            <a:r>
              <a:rPr sz="1500" b="1">
                <a:solidFill>
                  <a:srgbClr val="1B2A36"/>
                </a:solidFill>
                <a:latin typeface="맑은 고딕"/>
                <a:ea typeface="맑은 고딕"/>
                <a:cs typeface="맑은 고딕"/>
              </a:rPr>
              <a:t>7</a:t>
            </a:r>
            <a:r>
              <a:rPr sz="1500" b="0">
                <a:solidFill>
                  <a:srgbClr val="1B2A36"/>
                </a:solidFill>
                <a:latin typeface="맑은 고딕"/>
                <a:ea typeface="맑은 고딕"/>
                <a:cs typeface="맑은 고딕"/>
              </a:rPr>
              <a:t>을 다시 출력</a:t>
            </a:r>
          </a:p>
        </p:txBody>
      </p:sp>
      <p:cxnSp>
        <p:nvCxnSpPr>
          <p:cNvPr id="20" name="Connector 19"/>
          <p:cNvCxnSpPr/>
          <p:nvPr/>
        </p:nvCxnSpPr>
        <p:spPr>
          <a:xfrm>
            <a:off x="8862822" y="2276856"/>
            <a:ext cx="292608"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01150" y="1408176"/>
            <a:ext cx="2530602" cy="1737360"/>
          </a:xfrm>
          <a:prstGeom prst="roundRect">
            <a:avLst>
              <a:gd name="adj" fmla="val 5263"/>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92590" y="14996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기록</a:t>
            </a:r>
          </a:p>
        </p:txBody>
      </p:sp>
      <p:sp>
        <p:nvSpPr>
          <p:cNvPr id="23" name="TextBox 22"/>
          <p:cNvSpPr txBox="1"/>
          <p:nvPr/>
        </p:nvSpPr>
        <p:spPr>
          <a:xfrm>
            <a:off x="9292590" y="1911095"/>
            <a:ext cx="2347722"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FFFFFF"/>
                </a:solidFill>
                <a:latin typeface="맑은 고딕"/>
                <a:ea typeface="맑은 고딕"/>
                <a:cs typeface="맑은 고딕"/>
              </a:rPr>
              <a:t>N = 5, 10, 20, 40별 정확도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5</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단어의 의미를 학습하기</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2003 · 2013 — 좋은 단어 벡터는 어디서 오나? 다음 단어를 맞히다 보면</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문장 = 조건부 확률의 연결</a:t>
            </a:r>
          </a:p>
        </p:txBody>
      </p:sp>
      <p:sp>
        <p:nvSpPr>
          <p:cNvPr id="3" name="Content Placeholder 2"/>
          <p:cNvSpPr>
            <a:spLocks noGrp="1"/>
          </p:cNvSpPr>
          <p:nvPr>
            <p:ph idx="1"/>
          </p:nvPr>
        </p:nvSpPr>
        <p:spPr>
          <a:xfrm>
            <a:off x="457200" y="4882896"/>
            <a:ext cx="5672571" cy="1499616"/>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정답 쌍이 텍스트에서 </a:t>
            </a:r>
            <a:r>
              <a:rPr sz="1600" b="1">
                <a:solidFill>
                  <a:srgbClr val="1B2A36"/>
                </a:solidFill>
              </a:rPr>
              <a:t>저절로</a:t>
            </a:r>
            <a:r>
              <a:rPr sz="1600" b="0">
                <a:solidFill>
                  <a:srgbClr val="1B2A36"/>
                </a:solidFill>
              </a:rPr>
              <a:t> 생긴다 → 자기지도학습</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P(문장) = P(첫 단어) × P(둘째 | 첫째) × … — 다음 토큰 예측의 반복</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sp>
        <p:nvSpPr>
          <p:cNvPr id="9" name="Rounded Rectangle 8"/>
          <p:cNvSpPr/>
          <p:nvPr/>
        </p:nvSpPr>
        <p:spPr>
          <a:xfrm>
            <a:off x="457200" y="1408176"/>
            <a:ext cx="11274552" cy="914400"/>
          </a:xfrm>
          <a:prstGeom prst="roundRect">
            <a:avLst>
              <a:gd name="adj" fmla="val 10000"/>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914400"/>
          </a:xfrm>
          <a:prstGeom prst="rect">
            <a:avLst/>
          </a:prstGeom>
          <a:noFill/>
        </p:spPr>
        <p:txBody>
          <a:bodyPr wrap="square" anchor="ctr">
            <a:spAutoFit/>
          </a:bodyPr>
          <a:lstStyle/>
          <a:p>
            <a:pPr algn="ctr" marL="0" indent="0">
              <a:buNone/>
            </a:pPr>
            <a:r>
              <a:rPr sz="2600" b="1">
                <a:solidFill>
                  <a:srgbClr val="1B2A36"/>
                </a:solidFill>
                <a:latin typeface="Courier New"/>
                <a:ea typeface="맑은 고딕"/>
                <a:cs typeface="Courier New"/>
              </a:rPr>
              <a:t>P(y_1, …, y_T) = Π_t  P(y_t | y_&lt;t)</a:t>
            </a:r>
          </a:p>
        </p:txBody>
      </p:sp>
      <p:graphicFrame>
        <p:nvGraphicFramePr>
          <p:cNvPr id="11" name="Table 10"/>
          <p:cNvGraphicFramePr>
            <a:graphicFrameLocks noGrp="1"/>
          </p:cNvGraphicFramePr>
          <p:nvPr/>
        </p:nvGraphicFramePr>
        <p:xfrm>
          <a:off x="457200" y="2596896"/>
          <a:ext cx="5672570" cy="1950720"/>
        </p:xfrm>
        <a:graphic>
          <a:graphicData uri="http://schemas.openxmlformats.org/drawingml/2006/table">
            <a:tbl>
              <a:tblPr firstRow="1" bandRow="0">
                <a:tableStyleId>{5940675A-B579-460E-94D1-54222C63F5DA}</a:tableStyleId>
              </a:tblPr>
              <a:tblGrid>
                <a:gridCol w="2836285"/>
                <a:gridCol w="2836285"/>
              </a:tblGrid>
              <a:tr h="390144">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항</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확률 (예시)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P(나는)</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0.2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P(학교에 | 나는)</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0.3</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P(간다 | 나는 학교에)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0.5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곱 = P(문장)</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1B2A36"/>
                          </a:solidFill>
                          <a:latin typeface="맑은 고딕"/>
                          <a:ea typeface="맑은 고딕"/>
                          <a:cs typeface="맑은 고딕"/>
                        </a:rPr>
                        <a:t>0.03</a:t>
                      </a:r>
                      <a:r>
                        <a:rPr sz="1600" b="0">
                          <a:solidFill>
                            <a:srgbClr val="1B2A36"/>
                          </a:solidFill>
                          <a:latin typeface="맑은 고딕"/>
                          <a:ea typeface="맑은 고딕"/>
                          <a:cs typeface="맑은 고딕"/>
                        </a:rPr>
                        <a:t>  (−log = 3.51)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
        <p:nvSpPr>
          <p:cNvPr id="12" name="TextBox 11"/>
          <p:cNvSpPr txBox="1"/>
          <p:nvPr/>
        </p:nvSpPr>
        <p:spPr>
          <a:xfrm>
            <a:off x="6495531" y="2596896"/>
            <a:ext cx="5236220" cy="3785616"/>
          </a:xfrm>
          <a:prstGeom prst="rect">
            <a:avLst/>
          </a:prstGeom>
          <a:noFill/>
        </p:spPr>
        <p:txBody>
          <a:bodyPr wrap="square" lIns="73152" rIns="73152" tIns="36576" bIns="36576" anchor="t">
            <a:sp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맑은 고딕"/>
                <a:ea typeface="맑은 고딕"/>
                <a:cs typeface="맑은 고딕"/>
              </a:rPr>
              <a:t>(나는) → 학교에</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맑은 고딕"/>
                <a:ea typeface="맑은 고딕"/>
                <a:cs typeface="맑은 고딕"/>
              </a:rPr>
              <a:t>(나는 학교에) → 간다</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맑은 고딕"/>
                <a:ea typeface="맑은 고딕"/>
                <a:cs typeface="맑은 고딕"/>
              </a:rPr>
              <a:t>−log 합 = 2주차 </a:t>
            </a:r>
            <a:r>
              <a:rPr sz="1800" b="1">
                <a:solidFill>
                  <a:srgbClr val="1B2A36"/>
                </a:solidFill>
                <a:latin typeface="맑은 고딕"/>
                <a:ea typeface="맑은 고딕"/>
                <a:cs typeface="맑은 고딕"/>
              </a:rPr>
              <a:t>cross-entropy</a:t>
            </a:r>
          </a:p>
          <a:p>
            <a:pPr algn="l" marL="256032" indent="-237744">
              <a:lnSpc>
                <a:spcPct val="110000"/>
              </a:lnSpc>
              <a:spcBef>
                <a:spcPts val="0"/>
              </a:spcBef>
              <a:spcAft>
                <a:spcPts val="900"/>
              </a:spcAft>
              <a:buClr>
                <a:srgbClr val="01688F"/>
              </a:buClr>
              <a:buFont typeface="Wingdings" pitchFamily="2" charset="2"/>
              <a:buChar char="§"/>
            </a:pPr>
            <a:r>
              <a:rPr sz="1800" b="1">
                <a:solidFill>
                  <a:srgbClr val="E97132"/>
                </a:solidFill>
                <a:latin typeface="맑은 고딕"/>
                <a:ea typeface="맑은 고딕"/>
                <a:cs typeface="맑은 고딕"/>
              </a:rPr>
              <a:t>주의</a:t>
            </a:r>
            <a:r>
              <a:rPr sz="1800" b="0">
                <a:solidFill>
                  <a:srgbClr val="1B2A36"/>
                </a:solidFill>
                <a:latin typeface="맑은 고딕"/>
                <a:ea typeface="맑은 고딕"/>
                <a:cs typeface="맑은 고딕"/>
              </a:rPr>
              <a:t> 목표(확률 분해) ≠ 아키텍처(RNN 등)</a:t>
            </a:r>
          </a:p>
          <a:p>
            <a:pPr algn="l" marL="566928" indent="-237744">
              <a:lnSpc>
                <a:spcPct val="110000"/>
              </a:lnSpc>
              <a:spcBef>
                <a:spcPts val="0"/>
              </a:spcBef>
              <a:spcAft>
                <a:spcPts val="775"/>
              </a:spcAft>
              <a:buClr>
                <a:srgbClr val="01688F"/>
              </a:buClr>
              <a:buFont typeface="Arial"/>
              <a:buChar char="-"/>
            </a:pPr>
            <a:r>
              <a:rPr sz="1550" b="0">
                <a:solidFill>
                  <a:srgbClr val="1B2A36"/>
                </a:solidFill>
                <a:latin typeface="맑은 고딕"/>
                <a:ea typeface="맑은 고딕"/>
                <a:cs typeface="맑은 고딕"/>
              </a:rPr>
              <a:t>Transformer도 같은 목표를 쓴다</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맑은 고딕"/>
                <a:ea typeface="맑은 고딕"/>
                <a:cs typeface="맑은 고딕"/>
              </a:rPr>
              <a:t>번역: 모든 항에 입력 x를 조건으로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2003: 신경망 언어 모델</a:t>
            </a:r>
          </a:p>
        </p:txBody>
      </p:sp>
      <p:sp>
        <p:nvSpPr>
          <p:cNvPr id="3" name="Content Placeholder 2"/>
          <p:cNvSpPr>
            <a:spLocks noGrp="1"/>
          </p:cNvSpPr>
          <p:nvPr>
            <p:ph idx="1"/>
          </p:nvPr>
        </p:nvSpPr>
        <p:spPr>
          <a:xfrm>
            <a:off x="457200" y="3465576"/>
            <a:ext cx="11274552" cy="291693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Bengio et al. (2003) ‘A Neural Probabilistic Language Model’</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임베딩 E도 </a:t>
            </a:r>
            <a:r>
              <a:rPr sz="1800" b="1">
                <a:solidFill>
                  <a:srgbClr val="1B2A36"/>
                </a:solidFill>
              </a:rPr>
              <a:t>역전파로 함께</a:t>
            </a:r>
            <a:r>
              <a:rPr sz="1800" b="0">
                <a:solidFill>
                  <a:srgbClr val="1B2A36"/>
                </a:solidFill>
              </a:rPr>
              <a:t> 학습된다</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비슷한 문맥의 단어 → 비슷한 벡터 (</a:t>
            </a:r>
            <a:r>
              <a:rPr sz="1800" b="1">
                <a:solidFill>
                  <a:srgbClr val="1B2A36"/>
                </a:solidFill>
              </a:rPr>
              <a:t>분산 표현</a:t>
            </a:r>
            <a:r>
              <a:rPr sz="1800" b="0">
                <a:solidFill>
                  <a:srgbClr val="1B2A36"/>
                </a:solidFill>
              </a:rPr>
              <a:t>)</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임베딩 표 E = Part 1의 </a:t>
            </a:r>
            <a:r>
              <a:rPr sz="1800" b="1">
                <a:solidFill>
                  <a:srgbClr val="1B2A36"/>
                </a:solidFill>
              </a:rPr>
              <a:t>nn.Embedding 그 자체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01688F"/>
                </a:solidFill>
                <a:latin typeface="맑은 고딕"/>
                <a:ea typeface="맑은 고딕"/>
                <a:cs typeface="맑은 고딕"/>
              </a:rPr>
              <a:t>단어 벡터와 다음 단어 예측을 함께 학습 — 임베딩은 Word2Vec에서 처음 나온 것이 아니다</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역사</a:t>
            </a:r>
          </a:p>
        </p:txBody>
      </p:sp>
      <p:sp>
        <p:nvSpPr>
          <p:cNvPr id="9" name="Rounded Rectangle 8"/>
          <p:cNvSpPr/>
          <p:nvPr/>
        </p:nvSpPr>
        <p:spPr>
          <a:xfrm>
            <a:off x="457200" y="1408176"/>
            <a:ext cx="2530602" cy="1737360"/>
          </a:xfrm>
          <a:prstGeom prst="roundRect">
            <a:avLst>
              <a:gd name="adj" fmla="val 526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996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앞 단어들</a:t>
            </a:r>
          </a:p>
        </p:txBody>
      </p:sp>
      <p:sp>
        <p:nvSpPr>
          <p:cNvPr id="11" name="TextBox 10"/>
          <p:cNvSpPr txBox="1"/>
          <p:nvPr/>
        </p:nvSpPr>
        <p:spPr>
          <a:xfrm>
            <a:off x="548640" y="1911095"/>
            <a:ext cx="2347722"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“나는 학교에”</a:t>
            </a:r>
          </a:p>
        </p:txBody>
      </p:sp>
      <p:cxnSp>
        <p:nvCxnSpPr>
          <p:cNvPr id="12" name="Connector 11"/>
          <p:cNvCxnSpPr/>
          <p:nvPr/>
        </p:nvCxnSpPr>
        <p:spPr>
          <a:xfrm>
            <a:off x="3033522" y="2276856"/>
            <a:ext cx="292608"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71850" y="1408176"/>
            <a:ext cx="2530602" cy="1737360"/>
          </a:xfrm>
          <a:prstGeom prst="roundRect">
            <a:avLst>
              <a:gd name="adj" fmla="val 526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63290" y="14996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임베딩 lookup</a:t>
            </a:r>
          </a:p>
        </p:txBody>
      </p:sp>
      <p:sp>
        <p:nvSpPr>
          <p:cNvPr id="15" name="TextBox 14"/>
          <p:cNvSpPr txBox="1"/>
          <p:nvPr/>
        </p:nvSpPr>
        <p:spPr>
          <a:xfrm>
            <a:off x="3463290" y="1911095"/>
            <a:ext cx="2347722"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E에서 벡터 꺼내기 (학습됨)</a:t>
            </a:r>
          </a:p>
        </p:txBody>
      </p:sp>
      <p:cxnSp>
        <p:nvCxnSpPr>
          <p:cNvPr id="16" name="Connector 15"/>
          <p:cNvCxnSpPr/>
          <p:nvPr/>
        </p:nvCxnSpPr>
        <p:spPr>
          <a:xfrm>
            <a:off x="5948172" y="2276856"/>
            <a:ext cx="292608"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86500" y="1408176"/>
            <a:ext cx="2530602" cy="1737360"/>
          </a:xfrm>
          <a:prstGeom prst="roundRect">
            <a:avLst>
              <a:gd name="adj" fmla="val 526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14996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MLP</a:t>
            </a:r>
          </a:p>
        </p:txBody>
      </p:sp>
      <p:sp>
        <p:nvSpPr>
          <p:cNvPr id="19" name="TextBox 18"/>
          <p:cNvSpPr txBox="1"/>
          <p:nvPr/>
        </p:nvSpPr>
        <p:spPr>
          <a:xfrm>
            <a:off x="6377940" y="1911095"/>
            <a:ext cx="2347722"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은닉층 (2주차)</a:t>
            </a:r>
          </a:p>
        </p:txBody>
      </p:sp>
      <p:cxnSp>
        <p:nvCxnSpPr>
          <p:cNvPr id="20" name="Connector 19"/>
          <p:cNvCxnSpPr/>
          <p:nvPr/>
        </p:nvCxnSpPr>
        <p:spPr>
          <a:xfrm>
            <a:off x="8862822" y="2276856"/>
            <a:ext cx="292608"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01150" y="1408176"/>
            <a:ext cx="2530602" cy="1737360"/>
          </a:xfrm>
          <a:prstGeom prst="roundRect">
            <a:avLst>
              <a:gd name="adj" fmla="val 5263"/>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92590" y="14996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Softmax</a:t>
            </a:r>
          </a:p>
        </p:txBody>
      </p:sp>
      <p:sp>
        <p:nvSpPr>
          <p:cNvPr id="23" name="TextBox 22"/>
          <p:cNvSpPr txBox="1"/>
          <p:nvPr/>
        </p:nvSpPr>
        <p:spPr>
          <a:xfrm>
            <a:off x="9292590" y="1911095"/>
            <a:ext cx="2347722"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FFFFFF"/>
                </a:solidFill>
                <a:latin typeface="맑은 고딕"/>
                <a:ea typeface="맑은 고딕"/>
                <a:cs typeface="맑은 고딕"/>
              </a:rPr>
              <a:t>다음 단어 확률 |V|개</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2013: Word2Vec</a:t>
            </a:r>
          </a:p>
        </p:txBody>
      </p:sp>
      <p:sp>
        <p:nvSpPr>
          <p:cNvPr id="3" name="Content Placeholder 2"/>
          <p:cNvSpPr>
            <a:spLocks noGrp="1"/>
          </p:cNvSpPr>
          <p:nvPr>
            <p:ph idx="1"/>
          </p:nvPr>
        </p:nvSpPr>
        <p:spPr>
          <a:xfrm>
            <a:off x="6802221" y="2916936"/>
            <a:ext cx="4929530" cy="3465576"/>
          </a:xfrm>
        </p:spPr>
        <p:txBody>
          <a:bodyPr wrap="square" lIns="73152" rIns="73152" tIns="36576" bIns="36576" anchor="t">
            <a:normAutofit/>
          </a:bodyPr>
          <a:lstStyle/>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Mikolov et al. (2013)</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목표를 단순화해 </a:t>
            </a:r>
            <a:r>
              <a:rPr sz="1500" b="1">
                <a:solidFill>
                  <a:srgbClr val="1B2A36"/>
                </a:solidFill>
              </a:rPr>
              <a:t>대규모·고속</a:t>
            </a:r>
            <a:r>
              <a:rPr sz="1500" b="0">
                <a:solidFill>
                  <a:srgbClr val="1B2A36"/>
                </a:solidFill>
              </a:rPr>
              <a:t> 학습</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king − man + woman ≈ queen</a:t>
            </a:r>
          </a:p>
          <a:p>
            <a:pPr algn="l" marL="566928" indent="-237744">
              <a:lnSpc>
                <a:spcPct val="110000"/>
              </a:lnSpc>
              <a:spcBef>
                <a:spcPts val="0"/>
              </a:spcBef>
              <a:spcAft>
                <a:spcPts val="650"/>
              </a:spcAft>
              <a:buClr>
                <a:srgbClr val="01688F"/>
              </a:buClr>
              <a:buFont typeface="Arial"/>
              <a:buChar char="-"/>
            </a:pPr>
            <a:r>
              <a:rPr sz="1300" b="0">
                <a:solidFill>
                  <a:srgbClr val="1B2A36"/>
                </a:solidFill>
              </a:rPr>
              <a:t>그림은 설명용 2D — 실제 벡터 아님</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차원 하나가 사람의 의미와 </a:t>
            </a:r>
            <a:r>
              <a:rPr sz="1500" b="1">
                <a:solidFill>
                  <a:srgbClr val="1B2A36"/>
                </a:solidFill>
              </a:rPr>
              <a:t>일대일일 필요 없다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550" b="1">
                <a:solidFill>
                  <a:srgbClr val="01688F"/>
                </a:solidFill>
                <a:latin typeface="맑은 고딕"/>
                <a:ea typeface="맑은 고딕"/>
                <a:cs typeface="맑은 고딕"/>
              </a:rPr>
              <a:t>주변 문맥으로 단어를(CBOW), 단어로 주변 문맥을(Skip-gram) — 표현 학습을 대규모로 효율적으로</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역사</a:t>
            </a:r>
          </a:p>
        </p:txBody>
      </p:sp>
      <p:pic>
        <p:nvPicPr>
          <p:cNvPr id="9" name="Picture 8" descr="analogy.png"/>
          <p:cNvPicPr>
            <a:picLocks noChangeAspect="1"/>
          </p:cNvPicPr>
          <p:nvPr/>
        </p:nvPicPr>
        <p:blipFill>
          <a:blip r:embed="rId3"/>
          <a:stretch>
            <a:fillRect/>
          </a:stretch>
        </p:blipFill>
        <p:spPr>
          <a:xfrm>
            <a:off x="457199" y="1633008"/>
            <a:ext cx="6024981" cy="4524670"/>
          </a:xfrm>
          <a:prstGeom prst="rect">
            <a:avLst/>
          </a:prstGeom>
        </p:spPr>
      </p:pic>
      <p:graphicFrame>
        <p:nvGraphicFramePr>
          <p:cNvPr id="10" name="Table 9"/>
          <p:cNvGraphicFramePr>
            <a:graphicFrameLocks noGrp="1"/>
          </p:cNvGraphicFramePr>
          <p:nvPr/>
        </p:nvGraphicFramePr>
        <p:xfrm>
          <a:off x="6802221" y="1408176"/>
          <a:ext cx="4929530" cy="1056129"/>
        </p:xfrm>
        <a:graphic>
          <a:graphicData uri="http://schemas.openxmlformats.org/drawingml/2006/table">
            <a:tbl>
              <a:tblPr firstRow="1" bandRow="0">
                <a:tableStyleId>{5940675A-B579-460E-94D1-54222C63F5DA}</a:tableStyleId>
              </a:tblPr>
              <a:tblGrid>
                <a:gridCol w="2464765"/>
                <a:gridCol w="2464765"/>
              </a:tblGrid>
              <a:tr h="352043">
                <a:tc>
                  <a:txBody>
                    <a:bodyPr wrap="square" lIns="36576" rIns="36576" tIns="36576" bIns="36576" anchor="t"/>
                    <a:lstStyle/>
                    <a:p>
                      <a:pPr algn="ctr" marL="0" indent="0">
                        <a:lnSpc>
                          <a:spcPct val="110000"/>
                        </a:lnSpc>
                        <a:spcBef>
                          <a:spcPts val="0"/>
                        </a:spcBef>
                        <a:spcAft>
                          <a:spcPts val="0"/>
                        </a:spcAft>
                        <a:buNone/>
                      </a:pPr>
                      <a:r>
                        <a:rPr sz="1350" b="1">
                          <a:solidFill>
                            <a:srgbClr val="FFFFFF"/>
                          </a:solidFill>
                          <a:latin typeface="맑은 고딕"/>
                          <a:ea typeface="맑은 고딕"/>
                          <a:cs typeface="맑은 고딕"/>
                        </a:rPr>
                        <a:t>방식</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350" b="1">
                          <a:solidFill>
                            <a:srgbClr val="FFFFFF"/>
                          </a:solidFill>
                          <a:latin typeface="맑은 고딕"/>
                          <a:ea typeface="맑은 고딕"/>
                          <a:cs typeface="맑은 고딕"/>
                        </a:rPr>
                        <a:t>입력 → 예측</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52043">
                <a:tc>
                  <a:txBody>
                    <a:bodyPr wrap="square" lIns="36576" rIns="36576" tIns="36576" bIns="36576" anchor="t"/>
                    <a:lstStyle/>
                    <a:p>
                      <a:pPr algn="l" marL="0" indent="0">
                        <a:lnSpc>
                          <a:spcPct val="110000"/>
                        </a:lnSpc>
                        <a:spcBef>
                          <a:spcPts val="0"/>
                        </a:spcBef>
                        <a:spcAft>
                          <a:spcPts val="0"/>
                        </a:spcAft>
                        <a:buNone/>
                      </a:pPr>
                      <a:r>
                        <a:rPr sz="1350" b="1">
                          <a:solidFill>
                            <a:srgbClr val="1B2A36"/>
                          </a:solidFill>
                          <a:latin typeface="맑은 고딕"/>
                          <a:ea typeface="맑은 고딕"/>
                          <a:cs typeface="맑은 고딕"/>
                        </a:rPr>
                        <a:t>CBOW</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350" b="0">
                          <a:solidFill>
                            <a:srgbClr val="1B2A36"/>
                          </a:solidFill>
                          <a:latin typeface="맑은 고딕"/>
                          <a:ea typeface="맑은 고딕"/>
                          <a:cs typeface="맑은 고딕"/>
                        </a:rPr>
                        <a:t>주변 단어 → </a:t>
                      </a:r>
                      <a:r>
                        <a:rPr sz="1350" b="1">
                          <a:solidFill>
                            <a:srgbClr val="1B2A36"/>
                          </a:solidFill>
                          <a:latin typeface="맑은 고딕"/>
                          <a:ea typeface="맑은 고딕"/>
                          <a:cs typeface="맑은 고딕"/>
                        </a:rPr>
                        <a:t>가운데</a:t>
                      </a:r>
                      <a:r>
                        <a:rPr sz="1350" b="0">
                          <a:solidFill>
                            <a:srgbClr val="1B2A36"/>
                          </a:solidFill>
                          <a:latin typeface="맑은 고딕"/>
                          <a:ea typeface="맑은 고딕"/>
                          <a:cs typeface="맑은 고딕"/>
                        </a:rPr>
                        <a:t> 단어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2043">
                <a:tc>
                  <a:txBody>
                    <a:bodyPr wrap="square" lIns="36576" rIns="36576" tIns="36576" bIns="36576" anchor="t"/>
                    <a:lstStyle/>
                    <a:p>
                      <a:pPr algn="l" marL="0" indent="0">
                        <a:lnSpc>
                          <a:spcPct val="110000"/>
                        </a:lnSpc>
                        <a:spcBef>
                          <a:spcPts val="0"/>
                        </a:spcBef>
                        <a:spcAft>
                          <a:spcPts val="0"/>
                        </a:spcAft>
                        <a:buNone/>
                      </a:pPr>
                      <a:r>
                        <a:rPr sz="1350" b="1">
                          <a:solidFill>
                            <a:srgbClr val="1B2A36"/>
                          </a:solidFill>
                          <a:latin typeface="맑은 고딕"/>
                          <a:ea typeface="맑은 고딕"/>
                          <a:cs typeface="맑은 고딕"/>
                        </a:rPr>
                        <a:t>Skip-gram</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350" b="0">
                          <a:solidFill>
                            <a:srgbClr val="1B2A36"/>
                          </a:solidFill>
                          <a:latin typeface="맑은 고딕"/>
                          <a:ea typeface="맑은 고딕"/>
                          <a:cs typeface="맑은 고딕"/>
                        </a:rPr>
                        <a:t>가운데 단어 → </a:t>
                      </a:r>
                      <a:r>
                        <a:rPr sz="1350" b="1">
                          <a:solidFill>
                            <a:srgbClr val="1B2A36"/>
                          </a:solidFill>
                          <a:latin typeface="맑은 고딕"/>
                          <a:ea typeface="맑은 고딕"/>
                          <a:cs typeface="맑은 고딕"/>
                        </a:rPr>
                        <a:t>주변</a:t>
                      </a:r>
                      <a:r>
                        <a:rPr sz="1350" b="0">
                          <a:solidFill>
                            <a:srgbClr val="1B2A36"/>
                          </a:solidFill>
                          <a:latin typeface="맑은 고딕"/>
                          <a:ea typeface="맑은 고딕"/>
                          <a:cs typeface="맑은 고딕"/>
                        </a:rPr>
                        <a:t> 단어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정적 표현 vs 문맥 표현</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50" b="1">
                <a:solidFill>
                  <a:srgbClr val="01688F"/>
                </a:solidFill>
                <a:latin typeface="맑은 고딕"/>
                <a:ea typeface="맑은 고딕"/>
                <a:cs typeface="맑은 고딕"/>
              </a:rPr>
              <a:t>임베딩 직후 ‘배’는 늘 같은 벡터 — 문맥 계산을 거친 뒤에야 먹는 배·타는 배가 갈린다</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sp>
        <p:nvSpPr>
          <p:cNvPr id="9" name="Rounded Rectangle 8"/>
          <p:cNvSpPr/>
          <p:nvPr/>
        </p:nvSpPr>
        <p:spPr>
          <a:xfrm>
            <a:off x="457200" y="2060829"/>
            <a:ext cx="5522976" cy="2743200"/>
          </a:xfrm>
          <a:prstGeom prst="roundRect">
            <a:avLst>
              <a:gd name="adj" fmla="val 3333"/>
            </a:avLst>
          </a:prstGeom>
          <a:solidFill>
            <a:srgbClr val="FFFFFF"/>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188845"/>
            <a:ext cx="5193792"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2000" b="1">
                <a:solidFill>
                  <a:srgbClr val="01688F"/>
                </a:solidFill>
                <a:latin typeface="맑은 고딕"/>
                <a:ea typeface="맑은 고딕"/>
                <a:cs typeface="맑은 고딕"/>
              </a:rPr>
              <a:t>정적 표현 (임베딩 lookup 직후)</a:t>
            </a:r>
          </a:p>
        </p:txBody>
      </p:sp>
      <p:sp>
        <p:nvSpPr>
          <p:cNvPr id="11" name="TextBox 10"/>
          <p:cNvSpPr txBox="1"/>
          <p:nvPr/>
        </p:nvSpPr>
        <p:spPr>
          <a:xfrm>
            <a:off x="621792" y="2646045"/>
            <a:ext cx="5193792" cy="2029968"/>
          </a:xfrm>
          <a:prstGeom prst="rect">
            <a:avLst/>
          </a:prstGeom>
          <a:noFill/>
        </p:spPr>
        <p:txBody>
          <a:bodyPr wrap="square" lIns="18288" rIns="18288" tIns="36576" bIns="36576" anchor="t">
            <a:spAutoFit/>
          </a:bodyPr>
          <a:lstStyle/>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“배를 먹었다” 의 배 = E[배]</a:t>
            </a:r>
          </a:p>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“배를 탔다” 의 배 = E[배]</a:t>
            </a:r>
          </a:p>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 </a:t>
            </a:r>
            <a:r>
              <a:rPr sz="1900" b="1">
                <a:solidFill>
                  <a:srgbClr val="1B2A36"/>
                </a:solidFill>
                <a:latin typeface="맑은 고딕"/>
                <a:ea typeface="맑은 고딕"/>
                <a:cs typeface="맑은 고딕"/>
              </a:rPr>
              <a:t>같은 벡터</a:t>
            </a:r>
          </a:p>
        </p:txBody>
      </p:sp>
      <p:sp>
        <p:nvSpPr>
          <p:cNvPr id="12" name="Rounded Rectangle 11"/>
          <p:cNvSpPr/>
          <p:nvPr/>
        </p:nvSpPr>
        <p:spPr>
          <a:xfrm>
            <a:off x="6208776" y="2060829"/>
            <a:ext cx="5522976" cy="2743200"/>
          </a:xfrm>
          <a:prstGeom prst="roundRect">
            <a:avLst>
              <a:gd name="adj" fmla="val 333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2188845"/>
            <a:ext cx="5193791"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2000" b="1">
                <a:solidFill>
                  <a:srgbClr val="01688F"/>
                </a:solidFill>
                <a:latin typeface="맑은 고딕"/>
                <a:ea typeface="맑은 고딕"/>
                <a:cs typeface="맑은 고딕"/>
              </a:rPr>
              <a:t>문맥 표현 (문맥 계산 이후)</a:t>
            </a:r>
          </a:p>
        </p:txBody>
      </p:sp>
      <p:sp>
        <p:nvSpPr>
          <p:cNvPr id="14" name="TextBox 13"/>
          <p:cNvSpPr txBox="1"/>
          <p:nvPr/>
        </p:nvSpPr>
        <p:spPr>
          <a:xfrm>
            <a:off x="6373368" y="2646045"/>
            <a:ext cx="5193792" cy="2029968"/>
          </a:xfrm>
          <a:prstGeom prst="rect">
            <a:avLst/>
          </a:prstGeom>
          <a:noFill/>
        </p:spPr>
        <p:txBody>
          <a:bodyPr wrap="square" lIns="18288" rIns="18288" tIns="36576" bIns="36576" anchor="t">
            <a:spAutoFit/>
          </a:bodyPr>
          <a:lstStyle/>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RNN: h_t가 앞 내용을 반영</a:t>
            </a:r>
          </a:p>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Transformer: 이후 블록이 주변을 참조</a:t>
            </a:r>
          </a:p>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 </a:t>
            </a:r>
            <a:r>
              <a:rPr sz="1900" b="1">
                <a:solidFill>
                  <a:srgbClr val="1B2A36"/>
                </a:solidFill>
                <a:latin typeface="맑은 고딕"/>
                <a:ea typeface="맑은 고딕"/>
                <a:cs typeface="맑은 고딕"/>
              </a:rPr>
              <a:t>다른 벡터</a:t>
            </a:r>
          </a:p>
        </p:txBody>
      </p:sp>
      <p:sp>
        <p:nvSpPr>
          <p:cNvPr id="15" name="Rounded Rectangle 14"/>
          <p:cNvSpPr/>
          <p:nvPr/>
        </p:nvSpPr>
        <p:spPr>
          <a:xfrm>
            <a:off x="457200" y="5078349"/>
            <a:ext cx="11274552" cy="651510"/>
          </a:xfrm>
          <a:prstGeom prst="roundRect">
            <a:avLst>
              <a:gd name="adj" fmla="val 14035"/>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60"/>
              </a:spcAft>
              <a:buNone/>
            </a:pPr>
            <a:r>
              <a:rPr sz="1800" b="1">
                <a:solidFill>
                  <a:srgbClr val="FFFFFF"/>
                </a:solidFill>
                <a:latin typeface="맑은 고딕"/>
                <a:ea typeface="맑은 고딕"/>
                <a:cs typeface="맑은 고딕"/>
              </a:rPr>
              <a:t>의미는 임베딩 표에 ‘저장’된 것이 아니라, </a:t>
            </a:r>
            <a:r>
              <a:rPr sz="1800" b="1">
                <a:solidFill>
                  <a:srgbClr val="FFFFFF"/>
                </a:solidFill>
                <a:latin typeface="맑은 고딕"/>
                <a:ea typeface="맑은 고딕"/>
                <a:cs typeface="맑은 고딕"/>
              </a:rPr>
              <a:t>lookup + 문맥 계산</a:t>
            </a:r>
            <a:r>
              <a:rPr sz="1800" b="1">
                <a:solidFill>
                  <a:srgbClr val="FFFFFF"/>
                </a:solidFill>
                <a:latin typeface="맑은 고딕"/>
                <a:ea typeface="맑은 고딕"/>
                <a:cs typeface="맑은 고딕"/>
              </a:rPr>
              <a:t>이 함께 만든다.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6</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Seq2Seq: 길이가 다른 입력과 출력</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2014 — “I am a student” → “나는 학생이다”, 길이가 다르면?</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번역: 입력과 출력의 길이가 다르다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RNN은 입력 하나에 출력 하나 — 번역은 S개를 읽고 T개를 써야 한다</a:t>
            </a:r>
          </a:p>
        </p:txBody>
      </p:sp>
      <p:sp>
        <p:nvSpPr>
          <p:cNvPr id="8" name="Rounded Rectangle 7"/>
          <p:cNvSpPr/>
          <p:nvPr/>
        </p:nvSpPr>
        <p:spPr>
          <a:xfrm>
            <a:off x="10543032" y="914400"/>
            <a:ext cx="1188720" cy="365760"/>
          </a:xfrm>
          <a:prstGeom prst="roundRect">
            <a:avLst>
              <a:gd name="adj" fmla="val 5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문제</a:t>
            </a:r>
          </a:p>
        </p:txBody>
      </p:sp>
      <p:sp>
        <p:nvSpPr>
          <p:cNvPr id="9" name="Rounded Rectangle 8"/>
          <p:cNvSpPr/>
          <p:nvPr/>
        </p:nvSpPr>
        <p:spPr>
          <a:xfrm>
            <a:off x="457200" y="2060829"/>
            <a:ext cx="3605784" cy="2743200"/>
          </a:xfrm>
          <a:prstGeom prst="roundRect">
            <a:avLst>
              <a:gd name="adj" fmla="val 3333"/>
            </a:avLst>
          </a:prstGeom>
          <a:solidFill>
            <a:srgbClr val="FFFFFF"/>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188845"/>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2000" b="1">
                <a:solidFill>
                  <a:srgbClr val="01688F"/>
                </a:solidFill>
                <a:latin typeface="맑은 고딕"/>
                <a:ea typeface="맑은 고딕"/>
                <a:cs typeface="맑은 고딕"/>
              </a:rPr>
              <a:t>입력 (영어, S = 4)</a:t>
            </a:r>
          </a:p>
        </p:txBody>
      </p:sp>
      <p:sp>
        <p:nvSpPr>
          <p:cNvPr id="11" name="TextBox 10"/>
          <p:cNvSpPr txBox="1"/>
          <p:nvPr/>
        </p:nvSpPr>
        <p:spPr>
          <a:xfrm>
            <a:off x="621792" y="2646045"/>
            <a:ext cx="3276600" cy="2029968"/>
          </a:xfrm>
          <a:prstGeom prst="rect">
            <a:avLst/>
          </a:prstGeom>
          <a:noFill/>
        </p:spPr>
        <p:txBody>
          <a:bodyPr wrap="square" lIns="18288" rIns="18288" tIns="36576" bIns="36576" anchor="t">
            <a:spAutoFit/>
          </a:bodyPr>
          <a:lstStyle/>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I · am · a · student</a:t>
            </a:r>
          </a:p>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(어절 단위 토큰)</a:t>
            </a:r>
          </a:p>
        </p:txBody>
      </p:sp>
      <p:sp>
        <p:nvSpPr>
          <p:cNvPr id="12" name="Rounded Rectangle 11"/>
          <p:cNvSpPr/>
          <p:nvPr/>
        </p:nvSpPr>
        <p:spPr>
          <a:xfrm>
            <a:off x="4291584" y="2060829"/>
            <a:ext cx="3605784" cy="2743200"/>
          </a:xfrm>
          <a:prstGeom prst="roundRect">
            <a:avLst>
              <a:gd name="adj" fmla="val 333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6176" y="2188845"/>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2000" b="1">
                <a:solidFill>
                  <a:srgbClr val="01688F"/>
                </a:solidFill>
                <a:latin typeface="맑은 고딕"/>
                <a:ea typeface="맑은 고딕"/>
                <a:cs typeface="맑은 고딕"/>
              </a:rPr>
              <a:t>출력 (한국어, T = 3)</a:t>
            </a:r>
          </a:p>
        </p:txBody>
      </p:sp>
      <p:sp>
        <p:nvSpPr>
          <p:cNvPr id="14" name="TextBox 13"/>
          <p:cNvSpPr txBox="1"/>
          <p:nvPr/>
        </p:nvSpPr>
        <p:spPr>
          <a:xfrm>
            <a:off x="4456176" y="2646045"/>
            <a:ext cx="3276600" cy="2029968"/>
          </a:xfrm>
          <a:prstGeom prst="rect">
            <a:avLst/>
          </a:prstGeom>
          <a:noFill/>
        </p:spPr>
        <p:txBody>
          <a:bodyPr wrap="square" lIns="18288" rIns="18288" tIns="36576" bIns="36576" anchor="t">
            <a:spAutoFit/>
          </a:bodyPr>
          <a:lstStyle/>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나는 · 학생 · 이다</a:t>
            </a:r>
          </a:p>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 끝을 알리는 EOS)</a:t>
            </a:r>
          </a:p>
        </p:txBody>
      </p:sp>
      <p:sp>
        <p:nvSpPr>
          <p:cNvPr id="15" name="Rounded Rectangle 14"/>
          <p:cNvSpPr/>
          <p:nvPr/>
        </p:nvSpPr>
        <p:spPr>
          <a:xfrm>
            <a:off x="8125968" y="2060829"/>
            <a:ext cx="3605784" cy="2743200"/>
          </a:xfrm>
          <a:prstGeom prst="roundRect">
            <a:avLst>
              <a:gd name="adj" fmla="val 3333"/>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560" y="2188845"/>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2000" b="1">
                <a:solidFill>
                  <a:srgbClr val="E97132"/>
                </a:solidFill>
                <a:latin typeface="맑은 고딕"/>
                <a:ea typeface="맑은 고딕"/>
                <a:cs typeface="맑은 고딕"/>
              </a:rPr>
              <a:t>어려움</a:t>
            </a:r>
          </a:p>
        </p:txBody>
      </p:sp>
      <p:sp>
        <p:nvSpPr>
          <p:cNvPr id="17" name="TextBox 16"/>
          <p:cNvSpPr txBox="1"/>
          <p:nvPr/>
        </p:nvSpPr>
        <p:spPr>
          <a:xfrm>
            <a:off x="8290560" y="2646045"/>
            <a:ext cx="3276600" cy="2029968"/>
          </a:xfrm>
          <a:prstGeom prst="rect">
            <a:avLst/>
          </a:prstGeom>
          <a:noFill/>
        </p:spPr>
        <p:txBody>
          <a:bodyPr wrap="square" lIns="18288" rIns="18288" tIns="36576" bIns="36576" anchor="t">
            <a:spAutoFit/>
          </a:bodyPr>
          <a:lstStyle/>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길이가 다르다 (S ≠ T)</a:t>
            </a:r>
          </a:p>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어순이 다르다</a:t>
            </a:r>
          </a:p>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시점마다 1:1 출력 불가</a:t>
            </a:r>
          </a:p>
        </p:txBody>
      </p:sp>
      <p:sp>
        <p:nvSpPr>
          <p:cNvPr id="18" name="Rounded Rectangle 17"/>
          <p:cNvSpPr/>
          <p:nvPr/>
        </p:nvSpPr>
        <p:spPr>
          <a:xfrm>
            <a:off x="457200" y="5078349"/>
            <a:ext cx="11274552" cy="651510"/>
          </a:xfrm>
          <a:prstGeom prst="roundRect">
            <a:avLst>
              <a:gd name="adj" fmla="val 14035"/>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60"/>
              </a:spcAft>
              <a:buNone/>
            </a:pPr>
            <a:r>
              <a:rPr sz="1800" b="1">
                <a:solidFill>
                  <a:srgbClr val="FFFFFF"/>
                </a:solidFill>
                <a:latin typeface="맑은 고딕"/>
                <a:ea typeface="맑은 고딕"/>
                <a:cs typeface="맑은 고딕"/>
              </a:rPr>
              <a:t>아이디어: 입력을 </a:t>
            </a:r>
            <a:r>
              <a:rPr sz="1800" b="1">
                <a:solidFill>
                  <a:srgbClr val="FFFFFF"/>
                </a:solidFill>
                <a:latin typeface="맑은 고딕"/>
                <a:ea typeface="맑은 고딕"/>
                <a:cs typeface="맑은 고딕"/>
              </a:rPr>
              <a:t>끝까지 다 읽고</a:t>
            </a:r>
            <a:r>
              <a:rPr sz="1800" b="1">
                <a:solidFill>
                  <a:srgbClr val="FFFFFF"/>
                </a:solidFill>
                <a:latin typeface="맑은 고딕"/>
                <a:ea typeface="맑은 고딕"/>
                <a:cs typeface="맑은 고딕"/>
              </a:rPr>
              <a:t>(Encoder), 그 다음 출력을 </a:t>
            </a:r>
            <a:r>
              <a:rPr sz="1800" b="1">
                <a:solidFill>
                  <a:srgbClr val="FFFFFF"/>
                </a:solidFill>
                <a:latin typeface="맑은 고딕"/>
                <a:ea typeface="맑은 고딕"/>
                <a:cs typeface="맑은 고딕"/>
              </a:rPr>
              <a:t>한 토큰씩</a:t>
            </a:r>
            <a:r>
              <a:rPr sz="1800" b="1">
                <a:solidFill>
                  <a:srgbClr val="FFFFFF"/>
                </a:solidFill>
                <a:latin typeface="맑은 고딕"/>
                <a:ea typeface="맑은 고딕"/>
                <a:cs typeface="맑은 고딕"/>
              </a:rPr>
              <a:t> 생성(Decoder)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Encoder → 문맥 벡터 c → Decoder</a:t>
            </a:r>
          </a:p>
        </p:txBody>
      </p:sp>
      <p:sp>
        <p:nvSpPr>
          <p:cNvPr id="3" name="Content Placeholder 2"/>
          <p:cNvSpPr>
            <a:spLocks noGrp="1"/>
          </p:cNvSpPr>
          <p:nvPr>
            <p:ph idx="1"/>
          </p:nvPr>
        </p:nvSpPr>
        <p:spPr>
          <a:xfrm>
            <a:off x="457200" y="4700016"/>
            <a:ext cx="11274552" cy="1682496"/>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Encoder: 입력 S개를 순서대로 읽고 마지막 상태 = </a:t>
            </a:r>
            <a:r>
              <a:rPr sz="1600" b="1">
                <a:solidFill>
                  <a:srgbClr val="1B2A36"/>
                </a:solidFill>
              </a:rPr>
              <a:t>c</a:t>
            </a:r>
            <a:r>
              <a:rPr sz="1600" b="0">
                <a:solidFill>
                  <a:srgbClr val="1B2A36"/>
                </a:solidFill>
              </a:rPr>
              <a:t> (고정 길이)</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Decoder: c + 이전 출력(직전 출력 → 다음 입력) → 다음 토큰, </a:t>
            </a:r>
            <a:r>
              <a:rPr sz="1600" b="1">
                <a:solidFill>
                  <a:srgbClr val="1B2A36"/>
                </a:solidFill>
              </a:rPr>
              <a:t>EOS</a:t>
            </a:r>
            <a:r>
              <a:rPr sz="1600" b="0">
                <a:solidFill>
                  <a:srgbClr val="1B2A36"/>
                </a:solidFill>
              </a:rPr>
              <a:t>가 나오면 멈춤 — 출력 길이를 스스로 정한다</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Encoder-Decoder는 신경망 종류가 아니라 </a:t>
            </a:r>
            <a:r>
              <a:rPr sz="1600" b="1">
                <a:solidFill>
                  <a:srgbClr val="1B2A36"/>
                </a:solidFill>
              </a:rPr>
              <a:t>역할 분담</a:t>
            </a:r>
            <a:r>
              <a:rPr sz="1600" b="0">
                <a:solidFill>
                  <a:srgbClr val="1B2A36"/>
                </a:solidFill>
              </a:rPr>
              <a:t> — Transformer도 이 구조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650" b="1">
                <a:solidFill>
                  <a:srgbClr val="01688F"/>
                </a:solidFill>
                <a:latin typeface="맑은 고딕"/>
                <a:ea typeface="맑은 고딕"/>
                <a:cs typeface="맑은 고딕"/>
              </a:rPr>
              <a:t>Encoder가 입력을 고정 길이 벡터 c로 요약, Decoder가 c와 이전 출력으로 다음 토큰을 만든다</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pic>
        <p:nvPicPr>
          <p:cNvPr id="9" name="Picture 8" descr="seq2seq.png"/>
          <p:cNvPicPr>
            <a:picLocks noChangeAspect="1"/>
          </p:cNvPicPr>
          <p:nvPr/>
        </p:nvPicPr>
        <p:blipFill>
          <a:blip r:embed="rId3"/>
          <a:stretch>
            <a:fillRect/>
          </a:stretch>
        </p:blipFill>
        <p:spPr>
          <a:xfrm>
            <a:off x="2010937" y="1408176"/>
            <a:ext cx="8167076" cy="301752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학습 목표와 2014년의 논문들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p(y | x) = Π p(y_t | y_&lt;t, c) — 앞에서 본 조건부 확률의 곱에 입력 조건 c를 더했다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sp>
        <p:nvSpPr>
          <p:cNvPr id="9" name="Rounded Rectangle 8"/>
          <p:cNvSpPr/>
          <p:nvPr/>
        </p:nvSpPr>
        <p:spPr>
          <a:xfrm>
            <a:off x="457200" y="1408176"/>
            <a:ext cx="11274552" cy="914400"/>
          </a:xfrm>
          <a:prstGeom prst="roundRect">
            <a:avLst>
              <a:gd name="adj" fmla="val 10000"/>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914400"/>
          </a:xfrm>
          <a:prstGeom prst="rect">
            <a:avLst/>
          </a:prstGeom>
          <a:noFill/>
        </p:spPr>
        <p:txBody>
          <a:bodyPr wrap="square" anchor="ctr">
            <a:spAutoFit/>
          </a:bodyPr>
          <a:lstStyle/>
          <a:p>
            <a:pPr algn="ctr" marL="0" indent="0">
              <a:buNone/>
            </a:pPr>
            <a:r>
              <a:rPr sz="2600" b="1">
                <a:solidFill>
                  <a:srgbClr val="1B2A36"/>
                </a:solidFill>
                <a:latin typeface="Courier New"/>
                <a:ea typeface="맑은 고딕"/>
                <a:cs typeface="Courier New"/>
              </a:rPr>
              <a:t>p(y | x) = Π_t  p(y_t | y_&lt;t, c)</a:t>
            </a:r>
          </a:p>
        </p:txBody>
      </p:sp>
      <p:sp>
        <p:nvSpPr>
          <p:cNvPr id="11" name="Rounded Rectangle 10"/>
          <p:cNvSpPr/>
          <p:nvPr/>
        </p:nvSpPr>
        <p:spPr>
          <a:xfrm>
            <a:off x="457200" y="2596896"/>
            <a:ext cx="3605784" cy="2752344"/>
          </a:xfrm>
          <a:prstGeom prst="roundRect">
            <a:avLst>
              <a:gd name="adj" fmla="val 3322"/>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724912"/>
            <a:ext cx="3276600" cy="563879"/>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01688F"/>
                </a:solidFill>
                <a:latin typeface="맑은 고딕"/>
                <a:ea typeface="맑은 고딕"/>
                <a:cs typeface="맑은 고딕"/>
              </a:rPr>
              <a:t>Sutskever, Vinyals &amp; Le (2014)</a:t>
            </a:r>
          </a:p>
        </p:txBody>
      </p:sp>
      <p:sp>
        <p:nvSpPr>
          <p:cNvPr id="13" name="TextBox 12"/>
          <p:cNvSpPr txBox="1"/>
          <p:nvPr/>
        </p:nvSpPr>
        <p:spPr>
          <a:xfrm>
            <a:off x="621792" y="3361944"/>
            <a:ext cx="3276600" cy="185928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4층 LSTM Encoder-Decoder</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입력 문장을 </a:t>
            </a:r>
            <a:r>
              <a:rPr sz="1600" b="1">
                <a:solidFill>
                  <a:srgbClr val="1B2A36"/>
                </a:solidFill>
                <a:latin typeface="맑은 고딕"/>
                <a:ea typeface="맑은 고딕"/>
                <a:cs typeface="맑은 고딕"/>
              </a:rPr>
              <a:t>뒤집어</a:t>
            </a:r>
            <a:r>
              <a:rPr sz="1600" b="0">
                <a:solidFill>
                  <a:srgbClr val="1B2A36"/>
                </a:solidFill>
                <a:latin typeface="맑은 고딕"/>
                <a:ea typeface="맑은 고딕"/>
                <a:cs typeface="맑은 고딕"/>
              </a:rPr>
              <a:t> 넣는 요령</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WMT’14 영→프 BLEU </a:t>
            </a:r>
            <a:r>
              <a:rPr sz="1600" b="1">
                <a:solidFill>
                  <a:srgbClr val="1B2A36"/>
                </a:solidFill>
                <a:latin typeface="맑은 고딕"/>
                <a:ea typeface="맑은 고딕"/>
                <a:cs typeface="맑은 고딕"/>
              </a:rPr>
              <a:t>34.8</a:t>
            </a:r>
            <a:r>
              <a:rPr sz="1600" b="0">
                <a:solidFill>
                  <a:srgbClr val="1B2A36"/>
                </a:solidFill>
                <a:latin typeface="맑은 고딕"/>
                <a:ea typeface="맑은 고딕"/>
                <a:cs typeface="맑은 고딕"/>
              </a:rPr>
              <a:t> (앙상블)</a:t>
            </a:r>
          </a:p>
        </p:txBody>
      </p:sp>
      <p:sp>
        <p:nvSpPr>
          <p:cNvPr id="14" name="Rounded Rectangle 13"/>
          <p:cNvSpPr/>
          <p:nvPr/>
        </p:nvSpPr>
        <p:spPr>
          <a:xfrm>
            <a:off x="4291584" y="2596896"/>
            <a:ext cx="3605784" cy="2752344"/>
          </a:xfrm>
          <a:prstGeom prst="roundRect">
            <a:avLst>
              <a:gd name="adj" fmla="val 3322"/>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6176" y="2724912"/>
            <a:ext cx="3276600" cy="563879"/>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01688F"/>
                </a:solidFill>
                <a:latin typeface="맑은 고딕"/>
                <a:ea typeface="맑은 고딕"/>
                <a:cs typeface="맑은 고딕"/>
              </a:rPr>
              <a:t>Cho et al. (2014)</a:t>
            </a:r>
          </a:p>
        </p:txBody>
      </p:sp>
      <p:sp>
        <p:nvSpPr>
          <p:cNvPr id="16" name="TextBox 15"/>
          <p:cNvSpPr txBox="1"/>
          <p:nvPr/>
        </p:nvSpPr>
        <p:spPr>
          <a:xfrm>
            <a:off x="4456176" y="3361944"/>
            <a:ext cx="3276600" cy="185928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RNN Encoder-Decoder</a:t>
            </a:r>
          </a:p>
          <a:p>
            <a:pPr algn="l" marL="256032" indent="-237744">
              <a:lnSpc>
                <a:spcPct val="110000"/>
              </a:lnSpc>
              <a:spcBef>
                <a:spcPts val="0"/>
              </a:spcBef>
              <a:spcAft>
                <a:spcPts val="560"/>
              </a:spcAft>
              <a:buClr>
                <a:srgbClr val="01688F"/>
              </a:buClr>
              <a:buFont typeface="Wingdings" pitchFamily="2" charset="2"/>
              <a:buChar char="§"/>
            </a:pPr>
            <a:r>
              <a:rPr sz="1600" b="1">
                <a:solidFill>
                  <a:srgbClr val="1B2A36"/>
                </a:solidFill>
                <a:latin typeface="맑은 고딕"/>
                <a:ea typeface="맑은 고딕"/>
                <a:cs typeface="맑은 고딕"/>
              </a:rPr>
              <a:t>GRU</a:t>
            </a:r>
            <a:r>
              <a:rPr sz="1600" b="0">
                <a:solidFill>
                  <a:srgbClr val="1B2A36"/>
                </a:solidFill>
                <a:latin typeface="맑은 고딕"/>
                <a:ea typeface="맑은 고딕"/>
                <a:cs typeface="맑은 고딕"/>
              </a:rPr>
              <a:t> 제안 (게이트 2개)</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긴 문장에서 성능 저하 관찰</a:t>
            </a:r>
          </a:p>
        </p:txBody>
      </p:sp>
      <p:sp>
        <p:nvSpPr>
          <p:cNvPr id="17" name="Rounded Rectangle 16"/>
          <p:cNvSpPr/>
          <p:nvPr/>
        </p:nvSpPr>
        <p:spPr>
          <a:xfrm>
            <a:off x="8125968" y="2596896"/>
            <a:ext cx="3605784" cy="2752344"/>
          </a:xfrm>
          <a:prstGeom prst="roundRect">
            <a:avLst>
              <a:gd name="adj" fmla="val 3322"/>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560" y="2724912"/>
            <a:ext cx="3276600" cy="563879"/>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E97132"/>
                </a:solidFill>
                <a:latin typeface="맑은 고딕"/>
                <a:ea typeface="맑은 고딕"/>
                <a:cs typeface="맑은 고딕"/>
              </a:rPr>
              <a:t>같은 해의 세 번째 논문 (→ 5주차)</a:t>
            </a:r>
          </a:p>
        </p:txBody>
      </p:sp>
      <p:sp>
        <p:nvSpPr>
          <p:cNvPr id="19" name="TextBox 18"/>
          <p:cNvSpPr txBox="1"/>
          <p:nvPr/>
        </p:nvSpPr>
        <p:spPr>
          <a:xfrm>
            <a:off x="8290560" y="3361944"/>
            <a:ext cx="3276600" cy="185928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Bahdanau et al. (2014) Attention</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거의 </a:t>
            </a:r>
            <a:r>
              <a:rPr sz="1600" b="1">
                <a:solidFill>
                  <a:srgbClr val="1B2A36"/>
                </a:solidFill>
                <a:latin typeface="맑은 고딕"/>
                <a:ea typeface="맑은 고딕"/>
                <a:cs typeface="맑은 고딕"/>
              </a:rPr>
              <a:t>같은 시기</a:t>
            </a:r>
            <a:r>
              <a:rPr sz="1600" b="0">
                <a:solidFill>
                  <a:srgbClr val="1B2A36"/>
                </a:solidFill>
                <a:latin typeface="맑은 고딕"/>
                <a:ea typeface="맑은 고딕"/>
                <a:cs typeface="맑은 고딕"/>
              </a:rPr>
              <a:t>에 공개</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수업 순서 ≠ 긴 시간 간격</a:t>
            </a:r>
          </a:p>
        </p:txBody>
      </p:sp>
      <p:sp>
        <p:nvSpPr>
          <p:cNvPr id="20" name="Rounded Rectangle 19"/>
          <p:cNvSpPr/>
          <p:nvPr/>
        </p:nvSpPr>
        <p:spPr>
          <a:xfrm>
            <a:off x="457200" y="5468112"/>
            <a:ext cx="11274552" cy="777240"/>
          </a:xfrm>
          <a:prstGeom prst="roundRect">
            <a:avLst>
              <a:gd name="adj" fmla="val 11764"/>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20"/>
              </a:spcAft>
              <a:buNone/>
            </a:pPr>
            <a:r>
              <a:rPr sz="1600" b="0">
                <a:solidFill>
                  <a:srgbClr val="1B2A36"/>
                </a:solidFill>
                <a:latin typeface="맑은 고딕"/>
                <a:ea typeface="맑은 고딕"/>
                <a:cs typeface="맑은 고딕"/>
              </a:rPr>
              <a:t>학습: 정답 번역의 각 토큰에 대한 −log 확률의 합 (cross-entropy). 학습 때 Decoder 입력에는 모델 예측 대신 </a:t>
            </a:r>
            <a:r>
              <a:rPr sz="1600" b="1">
                <a:solidFill>
                  <a:srgbClr val="1B2A36"/>
                </a:solidFill>
                <a:latin typeface="맑은 고딕"/>
                <a:ea typeface="맑은 고딕"/>
                <a:cs typeface="맑은 고딕"/>
              </a:rPr>
              <a:t>정답의 이전 토큰</a:t>
            </a:r>
            <a:r>
              <a:rPr sz="1600" b="0">
                <a:solidFill>
                  <a:srgbClr val="1B2A36"/>
                </a:solidFill>
                <a:latin typeface="맑은 고딕"/>
                <a:ea typeface="맑은 고딕"/>
                <a:cs typeface="맑은 고딕"/>
              </a:rPr>
              <a:t>을 넣는다 (teacher forcing, 6주차)</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병목: 질문이 달라도 요약본은 하나</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출력 위치마다 필요한 입력 정보가 다른데, Decoder는 고정 길이 c 하나만 받는다</a:t>
            </a:r>
          </a:p>
        </p:txBody>
      </p:sp>
      <p:sp>
        <p:nvSpPr>
          <p:cNvPr id="8" name="Rounded Rectangle 7"/>
          <p:cNvSpPr/>
          <p:nvPr/>
        </p:nvSpPr>
        <p:spPr>
          <a:xfrm>
            <a:off x="10543032" y="914400"/>
            <a:ext cx="1188720" cy="365760"/>
          </a:xfrm>
          <a:prstGeom prst="roundRect">
            <a:avLst>
              <a:gd name="adj" fmla="val 5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문제</a:t>
            </a:r>
          </a:p>
        </p:txBody>
      </p:sp>
      <p:sp>
        <p:nvSpPr>
          <p:cNvPr id="9" name="Rounded Rectangle 8"/>
          <p:cNvSpPr/>
          <p:nvPr/>
        </p:nvSpPr>
        <p:spPr>
          <a:xfrm>
            <a:off x="457200" y="1929384"/>
            <a:ext cx="3605784" cy="2743200"/>
          </a:xfrm>
          <a:prstGeom prst="roundRect">
            <a:avLst>
              <a:gd name="adj" fmla="val 333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057400"/>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2000" b="1">
                <a:solidFill>
                  <a:srgbClr val="01688F"/>
                </a:solidFill>
                <a:latin typeface="맑은 고딕"/>
                <a:ea typeface="맑은 고딕"/>
                <a:cs typeface="맑은 고딕"/>
              </a:rPr>
              <a:t>“나는”을 쓸 때</a:t>
            </a:r>
          </a:p>
        </p:txBody>
      </p:sp>
      <p:sp>
        <p:nvSpPr>
          <p:cNvPr id="11" name="TextBox 10"/>
          <p:cNvSpPr txBox="1"/>
          <p:nvPr/>
        </p:nvSpPr>
        <p:spPr>
          <a:xfrm>
            <a:off x="621792" y="2514600"/>
            <a:ext cx="3276600" cy="2029968"/>
          </a:xfrm>
          <a:prstGeom prst="rect">
            <a:avLst/>
          </a:prstGeom>
          <a:noFill/>
        </p:spPr>
        <p:txBody>
          <a:bodyPr wrap="square" lIns="18288" rIns="18288" tIns="36576" bIns="36576" anchor="t">
            <a:spAutoFit/>
          </a:bodyPr>
          <a:lstStyle/>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필요한 입력: </a:t>
            </a:r>
            <a:r>
              <a:rPr sz="1900" b="1">
                <a:solidFill>
                  <a:srgbClr val="1B2A36"/>
                </a:solidFill>
                <a:latin typeface="맑은 고딕"/>
                <a:ea typeface="맑은 고딕"/>
                <a:cs typeface="맑은 고딕"/>
              </a:rPr>
              <a:t>I</a:t>
            </a:r>
          </a:p>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(문장 맨 앞)</a:t>
            </a:r>
          </a:p>
        </p:txBody>
      </p:sp>
      <p:sp>
        <p:nvSpPr>
          <p:cNvPr id="12" name="Rounded Rectangle 11"/>
          <p:cNvSpPr/>
          <p:nvPr/>
        </p:nvSpPr>
        <p:spPr>
          <a:xfrm>
            <a:off x="4291584" y="1929384"/>
            <a:ext cx="3605784" cy="2743200"/>
          </a:xfrm>
          <a:prstGeom prst="roundRect">
            <a:avLst>
              <a:gd name="adj" fmla="val 333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6176" y="2057400"/>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2000" b="1">
                <a:solidFill>
                  <a:srgbClr val="01688F"/>
                </a:solidFill>
                <a:latin typeface="맑은 고딕"/>
                <a:ea typeface="맑은 고딕"/>
                <a:cs typeface="맑은 고딕"/>
              </a:rPr>
              <a:t>“학생이다”를 쓸 때</a:t>
            </a:r>
          </a:p>
        </p:txBody>
      </p:sp>
      <p:sp>
        <p:nvSpPr>
          <p:cNvPr id="14" name="TextBox 13"/>
          <p:cNvSpPr txBox="1"/>
          <p:nvPr/>
        </p:nvSpPr>
        <p:spPr>
          <a:xfrm>
            <a:off x="4456176" y="2514600"/>
            <a:ext cx="3276600" cy="2029968"/>
          </a:xfrm>
          <a:prstGeom prst="rect">
            <a:avLst/>
          </a:prstGeom>
          <a:noFill/>
        </p:spPr>
        <p:txBody>
          <a:bodyPr wrap="square" lIns="18288" rIns="18288" tIns="36576" bIns="36576" anchor="t">
            <a:spAutoFit/>
          </a:bodyPr>
          <a:lstStyle/>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필요한 입력: </a:t>
            </a:r>
            <a:r>
              <a:rPr sz="1900" b="1">
                <a:solidFill>
                  <a:srgbClr val="1B2A36"/>
                </a:solidFill>
                <a:latin typeface="맑은 고딕"/>
                <a:ea typeface="맑은 고딕"/>
                <a:cs typeface="맑은 고딕"/>
              </a:rPr>
              <a:t>am a student</a:t>
            </a:r>
          </a:p>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(문장 뒤쪽)</a:t>
            </a:r>
          </a:p>
        </p:txBody>
      </p:sp>
      <p:sp>
        <p:nvSpPr>
          <p:cNvPr id="15" name="Rounded Rectangle 14"/>
          <p:cNvSpPr/>
          <p:nvPr/>
        </p:nvSpPr>
        <p:spPr>
          <a:xfrm>
            <a:off x="8125968" y="1929384"/>
            <a:ext cx="3605784" cy="2743200"/>
          </a:xfrm>
          <a:prstGeom prst="roundRect">
            <a:avLst>
              <a:gd name="adj" fmla="val 3333"/>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560" y="2057400"/>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2000" b="1">
                <a:solidFill>
                  <a:srgbClr val="E97132"/>
                </a:solidFill>
                <a:latin typeface="맑은 고딕"/>
                <a:ea typeface="맑은 고딕"/>
                <a:cs typeface="맑은 고딕"/>
              </a:rPr>
              <a:t>하지만 받는 것은</a:t>
            </a:r>
          </a:p>
        </p:txBody>
      </p:sp>
      <p:sp>
        <p:nvSpPr>
          <p:cNvPr id="17" name="TextBox 16"/>
          <p:cNvSpPr txBox="1"/>
          <p:nvPr/>
        </p:nvSpPr>
        <p:spPr>
          <a:xfrm>
            <a:off x="8290560" y="2514600"/>
            <a:ext cx="3276600" cy="2029968"/>
          </a:xfrm>
          <a:prstGeom prst="rect">
            <a:avLst/>
          </a:prstGeom>
          <a:noFill/>
        </p:spPr>
        <p:txBody>
          <a:bodyPr wrap="square" lIns="18288" rIns="18288" tIns="36576" bIns="36576" anchor="t">
            <a:spAutoFit/>
          </a:bodyPr>
          <a:lstStyle/>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항상 </a:t>
            </a:r>
            <a:r>
              <a:rPr sz="1900" b="1">
                <a:solidFill>
                  <a:srgbClr val="1B2A36"/>
                </a:solidFill>
                <a:latin typeface="맑은 고딕"/>
                <a:ea typeface="맑은 고딕"/>
                <a:cs typeface="맑은 고딕"/>
              </a:rPr>
              <a:t>같은 c 하나</a:t>
            </a:r>
          </a:p>
          <a:p>
            <a:pPr algn="l" marL="256032" indent="-237744">
              <a:lnSpc>
                <a:spcPct val="110000"/>
              </a:lnSpc>
              <a:spcBef>
                <a:spcPts val="0"/>
              </a:spcBef>
              <a:spcAft>
                <a:spcPts val="665"/>
              </a:spcAft>
              <a:buClr>
                <a:srgbClr val="01688F"/>
              </a:buClr>
              <a:buFont typeface="Wingdings" pitchFamily="2" charset="2"/>
              <a:buChar char="§"/>
            </a:pPr>
            <a:r>
              <a:rPr sz="1900" b="0">
                <a:solidFill>
                  <a:srgbClr val="1B2A36"/>
                </a:solidFill>
                <a:latin typeface="맑은 고딕"/>
                <a:ea typeface="맑은 고딕"/>
                <a:cs typeface="맑은 고딕"/>
              </a:rPr>
              <a:t>문장이 길어도 크기 고정</a:t>
            </a:r>
          </a:p>
        </p:txBody>
      </p:sp>
      <p:sp>
        <p:nvSpPr>
          <p:cNvPr id="18" name="Rounded Rectangle 17"/>
          <p:cNvSpPr/>
          <p:nvPr/>
        </p:nvSpPr>
        <p:spPr>
          <a:xfrm>
            <a:off x="457200" y="4946904"/>
            <a:ext cx="11274552" cy="914400"/>
          </a:xfrm>
          <a:prstGeom prst="roundRect">
            <a:avLst>
              <a:gd name="adj" fmla="val 1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60"/>
              </a:spcAft>
              <a:buNone/>
            </a:pPr>
            <a:r>
              <a:rPr sz="1800" b="1">
                <a:solidFill>
                  <a:srgbClr val="FFFFFF"/>
                </a:solidFill>
                <a:latin typeface="맑은 고딕"/>
                <a:ea typeface="맑은 고딕"/>
                <a:cs typeface="맑은 고딕"/>
              </a:rPr>
              <a:t>질문: Encoder의 위치별 표현 h_1 … h_S를 </a:t>
            </a:r>
            <a:r>
              <a:rPr sz="1800" b="1">
                <a:solidFill>
                  <a:srgbClr val="FFFFFF"/>
                </a:solidFill>
                <a:latin typeface="맑은 고딕"/>
                <a:ea typeface="맑은 고딕"/>
                <a:cs typeface="맑은 고딕"/>
              </a:rPr>
              <a:t>버리지 말고</a:t>
            </a:r>
            <a:r>
              <a:rPr sz="1800" b="1">
                <a:solidFill>
                  <a:srgbClr val="FFFFFF"/>
                </a:solidFill>
                <a:latin typeface="맑은 고딕"/>
                <a:ea typeface="맑은 고딕"/>
                <a:cs typeface="맑은 고딕"/>
              </a:rPr>
              <a:t>, 출력할 때마다 </a:t>
            </a:r>
            <a:r>
              <a:rPr sz="1800" b="1">
                <a:solidFill>
                  <a:srgbClr val="FFFFFF"/>
                </a:solidFill>
                <a:latin typeface="맑은 고딕"/>
                <a:ea typeface="맑은 고딕"/>
                <a:cs typeface="맑은 고딕"/>
              </a:rPr>
              <a:t>필요한 곳을 다시 찾아보면?</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한 장 요약</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오늘 배운 것을 한 줄씩</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sp>
        <p:nvSpPr>
          <p:cNvPr id="9" name="Oval 8"/>
          <p:cNvSpPr/>
          <p:nvPr/>
        </p:nvSpPr>
        <p:spPr>
          <a:xfrm>
            <a:off x="457200" y="1540764"/>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1</a:t>
            </a:r>
          </a:p>
        </p:txBody>
      </p:sp>
      <p:sp>
        <p:nvSpPr>
          <p:cNvPr id="10" name="TextBox 9"/>
          <p:cNvSpPr txBox="1"/>
          <p:nvPr/>
        </p:nvSpPr>
        <p:spPr>
          <a:xfrm>
            <a:off x="1143000" y="1408176"/>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토큰 ID는 </a:t>
            </a:r>
            <a:r>
              <a:rPr sz="1800" b="1">
                <a:solidFill>
                  <a:srgbClr val="1B2A36"/>
                </a:solidFill>
                <a:latin typeface="맑은 고딕"/>
                <a:ea typeface="맑은 고딕"/>
                <a:cs typeface="맑은 고딕"/>
              </a:rPr>
              <a:t>주소</a:t>
            </a:r>
            <a:r>
              <a:rPr sz="1800" b="0">
                <a:solidFill>
                  <a:srgbClr val="1B2A36"/>
                </a:solidFill>
                <a:latin typeface="맑은 고딕"/>
                <a:ea typeface="맑은 고딕"/>
                <a:cs typeface="맑은 고딕"/>
              </a:rPr>
              <a:t>, 임베딩 E(|V|, d)가 학습되는 표 — (B, N) → (B, N, d)</a:t>
            </a:r>
          </a:p>
        </p:txBody>
      </p:sp>
      <p:sp>
        <p:nvSpPr>
          <p:cNvPr id="11" name="Oval 10"/>
          <p:cNvSpPr/>
          <p:nvPr/>
        </p:nvSpPr>
        <p:spPr>
          <a:xfrm>
            <a:off x="457200" y="2391156"/>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2</a:t>
            </a:r>
          </a:p>
        </p:txBody>
      </p:sp>
      <p:sp>
        <p:nvSpPr>
          <p:cNvPr id="12" name="TextBox 11"/>
          <p:cNvSpPr txBox="1"/>
          <p:nvPr/>
        </p:nvSpPr>
        <p:spPr>
          <a:xfrm>
            <a:off x="1143000" y="2258568"/>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RNN: 같은 규칙으로 </a:t>
            </a:r>
            <a:r>
              <a:rPr sz="1800" b="1">
                <a:solidFill>
                  <a:srgbClr val="1B2A36"/>
                </a:solidFill>
                <a:latin typeface="맑은 고딕"/>
                <a:ea typeface="맑은 고딕"/>
                <a:cs typeface="맑은 고딕"/>
              </a:rPr>
              <a:t>상태 h</a:t>
            </a:r>
            <a:r>
              <a:rPr sz="1800" b="0">
                <a:solidFill>
                  <a:srgbClr val="1B2A36"/>
                </a:solidFill>
                <a:latin typeface="맑은 고딕"/>
                <a:ea typeface="맑은 고딕"/>
                <a:cs typeface="맑은 고딕"/>
              </a:rPr>
              <a:t>를 넘기며 읽는다 — 길이와 무관</a:t>
            </a:r>
          </a:p>
        </p:txBody>
      </p:sp>
      <p:sp>
        <p:nvSpPr>
          <p:cNvPr id="13" name="Oval 12"/>
          <p:cNvSpPr/>
          <p:nvPr/>
        </p:nvSpPr>
        <p:spPr>
          <a:xfrm>
            <a:off x="457200" y="3241548"/>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3</a:t>
            </a:r>
          </a:p>
        </p:txBody>
      </p:sp>
      <p:sp>
        <p:nvSpPr>
          <p:cNvPr id="14" name="TextBox 13"/>
          <p:cNvSpPr txBox="1"/>
          <p:nvPr/>
        </p:nvSpPr>
        <p:spPr>
          <a:xfrm>
            <a:off x="1143000" y="3108960"/>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장기 의존성의 세 어려움: </a:t>
            </a:r>
            <a:r>
              <a:rPr sz="1800" b="1">
                <a:solidFill>
                  <a:srgbClr val="1B2A36"/>
                </a:solidFill>
                <a:latin typeface="맑은 고딕"/>
                <a:ea typeface="맑은 고딕"/>
                <a:cs typeface="맑은 고딕"/>
              </a:rPr>
              <a:t>학습 신호 · 정보 표현 · 계산 의존성</a:t>
            </a:r>
          </a:p>
        </p:txBody>
      </p:sp>
      <p:sp>
        <p:nvSpPr>
          <p:cNvPr id="15" name="Oval 14"/>
          <p:cNvSpPr/>
          <p:nvPr/>
        </p:nvSpPr>
        <p:spPr>
          <a:xfrm>
            <a:off x="457200" y="4091939"/>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4</a:t>
            </a:r>
          </a:p>
        </p:txBody>
      </p:sp>
      <p:sp>
        <p:nvSpPr>
          <p:cNvPr id="16" name="TextBox 15"/>
          <p:cNvSpPr txBox="1"/>
          <p:nvPr/>
        </p:nvSpPr>
        <p:spPr>
          <a:xfrm>
            <a:off x="1143000" y="3959352"/>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LSTM: </a:t>
            </a:r>
            <a:r>
              <a:rPr sz="1800" b="1">
                <a:solidFill>
                  <a:srgbClr val="1B2A36"/>
                </a:solidFill>
                <a:latin typeface="맑은 고딕"/>
                <a:ea typeface="맑은 고딕"/>
                <a:cs typeface="맑은 고딕"/>
              </a:rPr>
              <a:t>덧셈 기억 경로 c</a:t>
            </a:r>
            <a:r>
              <a:rPr sz="1800" b="0">
                <a:solidFill>
                  <a:srgbClr val="1B2A36"/>
                </a:solidFill>
                <a:latin typeface="맑은 고딕"/>
                <a:ea typeface="맑은 고딕"/>
                <a:cs typeface="맑은 고딕"/>
              </a:rPr>
              <a:t>와 게이트로 ① 학습 신호를 완화 — ②③은 남는다</a:t>
            </a:r>
          </a:p>
        </p:txBody>
      </p:sp>
      <p:sp>
        <p:nvSpPr>
          <p:cNvPr id="17" name="Oval 16"/>
          <p:cNvSpPr/>
          <p:nvPr/>
        </p:nvSpPr>
        <p:spPr>
          <a:xfrm>
            <a:off x="457200" y="4942331"/>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5</a:t>
            </a:r>
          </a:p>
        </p:txBody>
      </p:sp>
      <p:sp>
        <p:nvSpPr>
          <p:cNvPr id="18" name="TextBox 17"/>
          <p:cNvSpPr txBox="1"/>
          <p:nvPr/>
        </p:nvSpPr>
        <p:spPr>
          <a:xfrm>
            <a:off x="1143000" y="4809744"/>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언어 모델 = 다음 토큰 확률의 곱, 임베딩은 이 목표로 </a:t>
            </a:r>
            <a:r>
              <a:rPr sz="1800" b="1">
                <a:solidFill>
                  <a:srgbClr val="1B2A36"/>
                </a:solidFill>
                <a:latin typeface="맑은 고딕"/>
                <a:ea typeface="맑은 고딕"/>
                <a:cs typeface="맑은 고딕"/>
              </a:rPr>
              <a:t>함께 학습</a:t>
            </a:r>
            <a:r>
              <a:rPr sz="1800" b="0">
                <a:solidFill>
                  <a:srgbClr val="1B2A36"/>
                </a:solidFill>
                <a:latin typeface="맑은 고딕"/>
                <a:ea typeface="맑은 고딕"/>
                <a:cs typeface="맑은 고딕"/>
              </a:rPr>
              <a:t> (2003, 2013)</a:t>
            </a:r>
          </a:p>
        </p:txBody>
      </p:sp>
      <p:sp>
        <p:nvSpPr>
          <p:cNvPr id="19" name="Oval 18"/>
          <p:cNvSpPr/>
          <p:nvPr/>
        </p:nvSpPr>
        <p:spPr>
          <a:xfrm>
            <a:off x="457200" y="5792724"/>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6</a:t>
            </a:r>
          </a:p>
        </p:txBody>
      </p:sp>
      <p:sp>
        <p:nvSpPr>
          <p:cNvPr id="20" name="TextBox 19"/>
          <p:cNvSpPr txBox="1"/>
          <p:nvPr/>
        </p:nvSpPr>
        <p:spPr>
          <a:xfrm>
            <a:off x="1143000" y="5660136"/>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Seq2Seq: 길이가 다른 입출력 — 하지만 </a:t>
            </a:r>
            <a:r>
              <a:rPr sz="1800" b="1">
                <a:solidFill>
                  <a:srgbClr val="1B2A36"/>
                </a:solidFill>
                <a:latin typeface="맑은 고딕"/>
                <a:ea typeface="맑은 고딕"/>
                <a:cs typeface="맑은 고딕"/>
              </a:rPr>
              <a:t>고정 벡터 c 하나</a:t>
            </a:r>
            <a:r>
              <a:rPr sz="1800" b="0">
                <a:solidFill>
                  <a:srgbClr val="1B2A36"/>
                </a:solidFill>
                <a:latin typeface="맑은 고딕"/>
                <a:ea typeface="맑은 고딕"/>
                <a:cs typeface="맑은 고딕"/>
              </a:rPr>
              <a:t>가 병목</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셀프 체크</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답을 자기 말로 설명할 수 있는가? (정답은 발표자 노트)</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sp>
        <p:nvSpPr>
          <p:cNvPr id="9" name="Rounded Rectangle 8"/>
          <p:cNvSpPr/>
          <p:nvPr/>
        </p:nvSpPr>
        <p:spPr>
          <a:xfrm>
            <a:off x="457200" y="1408176"/>
            <a:ext cx="11274552" cy="841248"/>
          </a:xfrm>
          <a:prstGeom prst="roundRect">
            <a:avLst>
              <a:gd name="adj" fmla="val 10869"/>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94360" y="1600200"/>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Q1</a:t>
            </a:r>
          </a:p>
        </p:txBody>
      </p:sp>
      <p:sp>
        <p:nvSpPr>
          <p:cNvPr id="11" name="TextBox 10"/>
          <p:cNvSpPr txBox="1"/>
          <p:nvPr/>
        </p:nvSpPr>
        <p:spPr>
          <a:xfrm>
            <a:off x="1188720" y="1408176"/>
            <a:ext cx="10405872" cy="841248"/>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LSTM 이후에도 남아 있는 핵심 제약은?</a:t>
            </a:r>
          </a:p>
        </p:txBody>
      </p:sp>
      <p:sp>
        <p:nvSpPr>
          <p:cNvPr id="12" name="Rounded Rectangle 11"/>
          <p:cNvSpPr/>
          <p:nvPr/>
        </p:nvSpPr>
        <p:spPr>
          <a:xfrm>
            <a:off x="457200" y="2395728"/>
            <a:ext cx="11274552" cy="841248"/>
          </a:xfrm>
          <a:prstGeom prst="roundRect">
            <a:avLst>
              <a:gd name="adj" fmla="val 10869"/>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94360" y="2587752"/>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Q2</a:t>
            </a:r>
          </a:p>
        </p:txBody>
      </p:sp>
      <p:sp>
        <p:nvSpPr>
          <p:cNvPr id="14" name="TextBox 13"/>
          <p:cNvSpPr txBox="1"/>
          <p:nvPr/>
        </p:nvSpPr>
        <p:spPr>
          <a:xfrm>
            <a:off x="1188720" y="2395728"/>
            <a:ext cx="10405872" cy="841248"/>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어휘 30,000, d = 512인 임베딩 표의 파라미터 수와, ids (4, 20)의 출력 shape은?</a:t>
            </a:r>
          </a:p>
        </p:txBody>
      </p:sp>
      <p:sp>
        <p:nvSpPr>
          <p:cNvPr id="15" name="Rounded Rectangle 14"/>
          <p:cNvSpPr/>
          <p:nvPr/>
        </p:nvSpPr>
        <p:spPr>
          <a:xfrm>
            <a:off x="457200" y="3383280"/>
            <a:ext cx="11274552" cy="841248"/>
          </a:xfrm>
          <a:prstGeom prst="roundRect">
            <a:avLst>
              <a:gd name="adj" fmla="val 10869"/>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4360" y="3575304"/>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Q3</a:t>
            </a:r>
          </a:p>
        </p:txBody>
      </p:sp>
      <p:sp>
        <p:nvSpPr>
          <p:cNvPr id="17" name="TextBox 16"/>
          <p:cNvSpPr txBox="1"/>
          <p:nvPr/>
        </p:nvSpPr>
        <p:spPr>
          <a:xfrm>
            <a:off x="1188720" y="3383280"/>
            <a:ext cx="10405872" cy="841248"/>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W_h = 0.5인 1차원 RNN에서 첫 입력의 흔적이 줄어드는 이유는?</a:t>
            </a:r>
          </a:p>
        </p:txBody>
      </p:sp>
      <p:sp>
        <p:nvSpPr>
          <p:cNvPr id="18" name="Rounded Rectangle 17"/>
          <p:cNvSpPr/>
          <p:nvPr/>
        </p:nvSpPr>
        <p:spPr>
          <a:xfrm>
            <a:off x="457200" y="4370832"/>
            <a:ext cx="11274552" cy="841248"/>
          </a:xfrm>
          <a:prstGeom prst="roundRect">
            <a:avLst>
              <a:gd name="adj" fmla="val 10869"/>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94360" y="4562856"/>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Q4</a:t>
            </a:r>
          </a:p>
        </p:txBody>
      </p:sp>
      <p:sp>
        <p:nvSpPr>
          <p:cNvPr id="20" name="TextBox 19"/>
          <p:cNvSpPr txBox="1"/>
          <p:nvPr/>
        </p:nvSpPr>
        <p:spPr>
          <a:xfrm>
            <a:off x="1188720" y="4370832"/>
            <a:ext cx="10405872" cy="841248"/>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LSTM에서 f = 1, i = 0이면 c_t는?</a:t>
            </a:r>
          </a:p>
        </p:txBody>
      </p:sp>
      <p:sp>
        <p:nvSpPr>
          <p:cNvPr id="21" name="Rounded Rectangle 20"/>
          <p:cNvSpPr/>
          <p:nvPr/>
        </p:nvSpPr>
        <p:spPr>
          <a:xfrm>
            <a:off x="457200" y="5358384"/>
            <a:ext cx="11274552" cy="841248"/>
          </a:xfrm>
          <a:prstGeom prst="roundRect">
            <a:avLst>
              <a:gd name="adj" fmla="val 10869"/>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4360" y="5550408"/>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Q5</a:t>
            </a:r>
          </a:p>
        </p:txBody>
      </p:sp>
      <p:sp>
        <p:nvSpPr>
          <p:cNvPr id="23" name="TextBox 22"/>
          <p:cNvSpPr txBox="1"/>
          <p:nvPr/>
        </p:nvSpPr>
        <p:spPr>
          <a:xfrm>
            <a:off x="1188720" y="5358384"/>
            <a:ext cx="10405872" cy="841248"/>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Seq2Seq에서 문장이 길수록 번역이 나빠지는 이유는?</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흔한 오해 바로잡기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틀린 문장을 계산의 언어로 고쳐 쓴다</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graphicFrame>
        <p:nvGraphicFramePr>
          <p:cNvPr id="9" name="Table 8"/>
          <p:cNvGraphicFramePr>
            <a:graphicFrameLocks noGrp="1"/>
          </p:cNvGraphicFramePr>
          <p:nvPr/>
        </p:nvGraphicFramePr>
        <p:xfrm>
          <a:off x="457200" y="2231136"/>
          <a:ext cx="11274551" cy="3081526"/>
        </p:xfrm>
        <a:graphic>
          <a:graphicData uri="http://schemas.openxmlformats.org/drawingml/2006/table">
            <a:tbl>
              <a:tblPr firstRow="1" bandRow="0">
                <a:tableStyleId>{5940675A-B579-460E-94D1-54222C63F5DA}</a:tableStyleId>
              </a:tblPr>
              <a:tblGrid>
                <a:gridCol w="4216499"/>
                <a:gridCol w="7058052"/>
              </a:tblGrid>
              <a:tr h="374904">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자주 듣는 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더 정확한 설명</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“토큰 ID가 크면 의미도 크다”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ID는 </a:t>
                      </a:r>
                      <a:r>
                        <a:rPr sz="1500" b="1">
                          <a:solidFill>
                            <a:srgbClr val="1B2A36"/>
                          </a:solidFill>
                          <a:latin typeface="맑은 고딕"/>
                          <a:ea typeface="맑은 고딕"/>
                          <a:cs typeface="맑은 고딕"/>
                        </a:rPr>
                        <a:t>lookup 주소</a:t>
                      </a:r>
                      <a:r>
                        <a:rPr sz="1500" b="0">
                          <a:solidFill>
                            <a:srgbClr val="1B2A36"/>
                          </a:solidFill>
                          <a:latin typeface="맑은 고딕"/>
                          <a:ea typeface="맑은 고딕"/>
                          <a:cs typeface="맑은 고딕"/>
                        </a:rPr>
                        <a:t>일 뿐, 계산에는 학습된 벡터가 들어간다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“임베딩은 Word2Vec에서 처음 나왔다”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2003 신경 언어 모델 등에서 이미 </a:t>
                      </a:r>
                      <a:r>
                        <a:rPr sz="1500" b="1">
                          <a:solidFill>
                            <a:srgbClr val="1B2A36"/>
                          </a:solidFill>
                          <a:latin typeface="맑은 고딕"/>
                          <a:ea typeface="맑은 고딕"/>
                          <a:cs typeface="맑은 고딕"/>
                        </a:rPr>
                        <a:t>함께 학습</a:t>
                      </a:r>
                      <a:r>
                        <a:rPr sz="1500" b="0">
                          <a:solidFill>
                            <a:srgbClr val="1B2A36"/>
                          </a:solidFill>
                          <a:latin typeface="맑은 고딕"/>
                          <a:ea typeface="맑은 고딕"/>
                          <a:cs typeface="맑은 고딕"/>
                        </a:rPr>
                        <a:t>되었다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“단어 의미는 임베딩 표에 모두 저장된다”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lookup과 </a:t>
                      </a:r>
                      <a:r>
                        <a:rPr sz="1500" b="1">
                          <a:solidFill>
                            <a:srgbClr val="1B2A36"/>
                          </a:solidFill>
                          <a:latin typeface="맑은 고딕"/>
                          <a:ea typeface="맑은 고딕"/>
                          <a:cs typeface="맑은 고딕"/>
                        </a:rPr>
                        <a:t>문맥 계산</a:t>
                      </a:r>
                      <a:r>
                        <a:rPr sz="1500" b="0">
                          <a:solidFill>
                            <a:srgbClr val="1B2A36"/>
                          </a:solidFill>
                          <a:latin typeface="맑은 고딕"/>
                          <a:ea typeface="맑은 고딕"/>
                          <a:cs typeface="맑은 고딕"/>
                        </a:rPr>
                        <a:t>이 함께 표현을 만든다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“LSTM은 긴 문맥을 완벽하게 기억한다”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학습을 </a:t>
                      </a:r>
                      <a:r>
                        <a:rPr sz="1500" b="1">
                          <a:solidFill>
                            <a:srgbClr val="1B2A36"/>
                          </a:solidFill>
                          <a:latin typeface="맑은 고딕"/>
                          <a:ea typeface="맑은 고딕"/>
                          <a:cs typeface="맑은 고딕"/>
                        </a:rPr>
                        <a:t>쉽게</a:t>
                      </a:r>
                      <a:r>
                        <a:rPr sz="1500" b="0">
                          <a:solidFill>
                            <a:srgbClr val="1B2A36"/>
                          </a:solidFill>
                          <a:latin typeface="맑은 고딕"/>
                          <a:ea typeface="맑은 고딕"/>
                          <a:cs typeface="맑은 고딕"/>
                        </a:rPr>
                        <a:t> 하는 설계일 뿐, 보장은 없다. 순차 계산도 남는다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“다음 토큰 확률 분해는 RNN의 성질이다”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확률 모델의 </a:t>
                      </a:r>
                      <a:r>
                        <a:rPr sz="1500" b="1">
                          <a:solidFill>
                            <a:srgbClr val="1B2A36"/>
                          </a:solidFill>
                          <a:latin typeface="맑은 고딕"/>
                          <a:ea typeface="맑은 고딕"/>
                          <a:cs typeface="맑은 고딕"/>
                        </a:rPr>
                        <a:t>목표</a:t>
                      </a:r>
                      <a:r>
                        <a:rPr sz="1500" b="0">
                          <a:solidFill>
                            <a:srgbClr val="1B2A36"/>
                          </a:solidFill>
                          <a:latin typeface="맑은 고딕"/>
                          <a:ea typeface="맑은 고딕"/>
                          <a:cs typeface="맑은 고딕"/>
                        </a:rPr>
                        <a:t>다. Transformer도 같은 목표를 쓴다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“1997 LSTM에 forget gate가 있었다”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forget gate는 2000년 Gers et al.이 도입한 후속 형태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이번 주 과제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제출물이 분명한 과제 — 결과를 보기 전에 먼저 예측해 적는다</a:t>
            </a:r>
          </a:p>
        </p:txBody>
      </p:sp>
      <p:sp>
        <p:nvSpPr>
          <p:cNvPr id="8" name="Rounded Rectangle 7"/>
          <p:cNvSpPr/>
          <p:nvPr/>
        </p:nvSpPr>
        <p:spPr>
          <a:xfrm>
            <a:off x="10543032" y="914400"/>
            <a:ext cx="1188720" cy="365760"/>
          </a:xfrm>
          <a:prstGeom prst="roundRect">
            <a:avLst>
              <a:gd name="adj" fmla="val 50000"/>
            </a:avLst>
          </a:prstGeom>
          <a:solidFill>
            <a:srgbClr val="1B2A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실습</a:t>
            </a:r>
          </a:p>
        </p:txBody>
      </p:sp>
      <p:sp>
        <p:nvSpPr>
          <p:cNvPr id="9" name="Rounded Rectangle 8"/>
          <p:cNvSpPr/>
          <p:nvPr/>
        </p:nvSpPr>
        <p:spPr>
          <a:xfrm>
            <a:off x="457200" y="1408176"/>
            <a:ext cx="11274552" cy="1419986"/>
          </a:xfrm>
          <a:prstGeom prst="roundRect">
            <a:avLst>
              <a:gd name="adj" fmla="val 6439"/>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1554480"/>
            <a:ext cx="384048" cy="384048"/>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40"/>
              </a:spcAft>
              <a:buNone/>
            </a:pPr>
            <a:r>
              <a:rPr sz="1200" b="1">
                <a:solidFill>
                  <a:srgbClr val="FFFFFF"/>
                </a:solidFill>
                <a:latin typeface="맑은 고딕"/>
                <a:ea typeface="맑은 고딕"/>
                <a:cs typeface="맑은 고딕"/>
              </a:rPr>
              <a:t>1</a:t>
            </a:r>
          </a:p>
        </p:txBody>
      </p:sp>
      <p:sp>
        <p:nvSpPr>
          <p:cNvPr id="11" name="TextBox 10"/>
          <p:cNvSpPr txBox="1"/>
          <p:nvPr/>
        </p:nvSpPr>
        <p:spPr>
          <a:xfrm>
            <a:off x="1124712" y="1536192"/>
            <a:ext cx="10442448"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01688F"/>
                </a:solidFill>
                <a:latin typeface="맑은 고딕"/>
                <a:ea typeface="맑은 고딕"/>
                <a:cs typeface="맑은 고딕"/>
              </a:rPr>
              <a:t>복사 · 반전 과제 설계 (24쪽 검증 실험)</a:t>
            </a:r>
          </a:p>
        </p:txBody>
      </p:sp>
      <p:sp>
        <p:nvSpPr>
          <p:cNvPr id="12" name="TextBox 11"/>
          <p:cNvSpPr txBox="1"/>
          <p:nvPr/>
        </p:nvSpPr>
        <p:spPr>
          <a:xfrm>
            <a:off x="621792" y="1993392"/>
            <a:ext cx="10945368" cy="706755"/>
          </a:xfrm>
          <a:prstGeom prst="rect">
            <a:avLst/>
          </a:prstGeom>
          <a:noFill/>
        </p:spPr>
        <p:txBody>
          <a:bodyPr wrap="square" lIns="18288" rIns="18288" tIns="36576" bIns="36576" anchor="t">
            <a:spAutoFit/>
          </a:bodyPr>
          <a:lstStyle/>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입력 수열을 그대로/거꾸로 출력하는 데이터셋을 만들고, 길이 5·10·20에서 작은 RNN과 LSTM의 정확도를 비교한다.</a:t>
            </a:r>
          </a:p>
        </p:txBody>
      </p:sp>
      <p:sp>
        <p:nvSpPr>
          <p:cNvPr id="13" name="Rounded Rectangle 12"/>
          <p:cNvSpPr/>
          <p:nvPr/>
        </p:nvSpPr>
        <p:spPr>
          <a:xfrm>
            <a:off x="457200" y="3056763"/>
            <a:ext cx="11274552" cy="1191387"/>
          </a:xfrm>
          <a:prstGeom prst="roundRect">
            <a:avLst>
              <a:gd name="adj" fmla="val 767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1792" y="3203067"/>
            <a:ext cx="384048" cy="384048"/>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40"/>
              </a:spcAft>
              <a:buNone/>
            </a:pPr>
            <a:r>
              <a:rPr sz="1200" b="1">
                <a:solidFill>
                  <a:srgbClr val="FFFFFF"/>
                </a:solidFill>
                <a:latin typeface="맑은 고딕"/>
                <a:ea typeface="맑은 고딕"/>
                <a:cs typeface="맑은 고딕"/>
              </a:rPr>
              <a:t>2</a:t>
            </a:r>
          </a:p>
        </p:txBody>
      </p:sp>
      <p:sp>
        <p:nvSpPr>
          <p:cNvPr id="15" name="TextBox 14"/>
          <p:cNvSpPr txBox="1"/>
          <p:nvPr/>
        </p:nvSpPr>
        <p:spPr>
          <a:xfrm>
            <a:off x="1124712" y="3184779"/>
            <a:ext cx="10442448"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01688F"/>
                </a:solidFill>
                <a:latin typeface="맑은 고딕"/>
                <a:ea typeface="맑은 고딕"/>
                <a:cs typeface="맑은 고딕"/>
              </a:rPr>
              <a:t>RNN 손계산</a:t>
            </a:r>
          </a:p>
        </p:txBody>
      </p:sp>
      <p:sp>
        <p:nvSpPr>
          <p:cNvPr id="16" name="TextBox 15"/>
          <p:cNvSpPr txBox="1"/>
          <p:nvPr/>
        </p:nvSpPr>
        <p:spPr>
          <a:xfrm>
            <a:off x="621792" y="3641979"/>
            <a:ext cx="10945368" cy="478155"/>
          </a:xfrm>
          <a:prstGeom prst="rect">
            <a:avLst/>
          </a:prstGeom>
          <a:noFill/>
        </p:spPr>
        <p:txBody>
          <a:bodyPr wrap="square" lIns="18288" rIns="18288" tIns="36576" bIns="36576" anchor="t">
            <a:spAutoFit/>
          </a:bodyPr>
          <a:lstStyle/>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W_x = 1, W_h = 0.9, 입력 (1, 0, 0, 0, 0)에서 h_1…h_5를 계산하고 W_h = 0.5일 때와 비교한다.</a:t>
            </a:r>
          </a:p>
        </p:txBody>
      </p:sp>
      <p:sp>
        <p:nvSpPr>
          <p:cNvPr id="17" name="Rounded Rectangle 16"/>
          <p:cNvSpPr/>
          <p:nvPr/>
        </p:nvSpPr>
        <p:spPr>
          <a:xfrm>
            <a:off x="457200" y="4476750"/>
            <a:ext cx="11274552" cy="1419986"/>
          </a:xfrm>
          <a:prstGeom prst="roundRect">
            <a:avLst>
              <a:gd name="adj" fmla="val 6439"/>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4623053"/>
            <a:ext cx="384048" cy="384048"/>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40"/>
              </a:spcAft>
              <a:buNone/>
            </a:pPr>
            <a:r>
              <a:rPr sz="1200" b="1">
                <a:solidFill>
                  <a:srgbClr val="FFFFFF"/>
                </a:solidFill>
                <a:latin typeface="맑은 고딕"/>
                <a:ea typeface="맑은 고딕"/>
                <a:cs typeface="맑은 고딕"/>
              </a:rPr>
              <a:t>3</a:t>
            </a:r>
          </a:p>
        </p:txBody>
      </p:sp>
      <p:sp>
        <p:nvSpPr>
          <p:cNvPr id="19" name="TextBox 18"/>
          <p:cNvSpPr txBox="1"/>
          <p:nvPr/>
        </p:nvSpPr>
        <p:spPr>
          <a:xfrm>
            <a:off x="1124712" y="4604765"/>
            <a:ext cx="10442448"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01688F"/>
                </a:solidFill>
                <a:latin typeface="맑은 고딕"/>
                <a:ea typeface="맑은 고딕"/>
                <a:cs typeface="맑은 고딕"/>
              </a:rPr>
              <a:t>tokenizer 비교</a:t>
            </a:r>
          </a:p>
        </p:txBody>
      </p:sp>
      <p:sp>
        <p:nvSpPr>
          <p:cNvPr id="20" name="TextBox 19"/>
          <p:cNvSpPr txBox="1"/>
          <p:nvPr/>
        </p:nvSpPr>
        <p:spPr>
          <a:xfrm>
            <a:off x="621792" y="5061965"/>
            <a:ext cx="10945368" cy="706754"/>
          </a:xfrm>
          <a:prstGeom prst="rect">
            <a:avLst/>
          </a:prstGeom>
          <a:noFill/>
        </p:spPr>
        <p:txBody>
          <a:bodyPr wrap="square" lIns="18288" rIns="18288" tIns="36576" bIns="36576" anchor="t">
            <a:spAutoFit/>
          </a:bodyPr>
          <a:lstStyle/>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한국어 문장 하나를 글자 단위와 공개 tokenizer 하나로 나눠 보고 토큰 수를 비교한다 (ID 숫자로 품질을 판단하지 않기).</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참고 자료</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원문은 필요한 절만 골라 읽는다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graphicFrame>
        <p:nvGraphicFramePr>
          <p:cNvPr id="9" name="Table 8"/>
          <p:cNvGraphicFramePr>
            <a:graphicFrameLocks noGrp="1"/>
          </p:cNvGraphicFramePr>
          <p:nvPr/>
        </p:nvGraphicFramePr>
        <p:xfrm>
          <a:off x="457200" y="2231136"/>
          <a:ext cx="11274551" cy="2798064"/>
        </p:xfrm>
        <a:graphic>
          <a:graphicData uri="http://schemas.openxmlformats.org/drawingml/2006/table">
            <a:tbl>
              <a:tblPr firstRow="1" bandRow="0">
                <a:tableStyleId>{5940675A-B579-460E-94D1-54222C63F5DA}</a:tableStyleId>
              </a:tblPr>
              <a:tblGrid>
                <a:gridCol w="6691400"/>
                <a:gridCol w="4583151"/>
              </a:tblGrid>
              <a:tr h="359664">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자료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이번 주에 읽을 부분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[06] Elman (1990). Finding Structure in Time. Cognitive Science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단순 순환망의 구조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[08] Bengio, Simard &amp; Frasconi (1994). Learning Long-Term Dependencies with Gradient Descent is Difficult</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도입부</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[09] Hochreiter &amp; Schmidhuber (1997). Long Short-Term Memory · Gers et al. (2000) forget gate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셀 구조 그림</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[11] Bengio et al. (2003). A Neural Probabilistic Language Model · [14] Mikolov et al. (2013) Word2Vec</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모델 구조 그림</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[15] Sutskever, Vinyals &amp; Le (2014) · [16] Cho et al. (2014)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Encoder-Decoder 구조, 길이별 성능</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남은 문제와 다음 질문</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답은 새 문제를 남긴다 — 다음 주는 여기서 출발한다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sp>
        <p:nvSpPr>
          <p:cNvPr id="9" name="Rounded Rectangle 8"/>
          <p:cNvSpPr/>
          <p:nvPr/>
        </p:nvSpPr>
        <p:spPr>
          <a:xfrm>
            <a:off x="457200" y="2432304"/>
            <a:ext cx="3422904" cy="3200400"/>
          </a:xfrm>
          <a:prstGeom prst="roundRect">
            <a:avLst>
              <a:gd name="adj" fmla="val 2857"/>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23744"/>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이번 주에 해결한 것</a:t>
            </a:r>
          </a:p>
        </p:txBody>
      </p:sp>
      <p:sp>
        <p:nvSpPr>
          <p:cNvPr id="11" name="TextBox 10"/>
          <p:cNvSpPr txBox="1"/>
          <p:nvPr/>
        </p:nvSpPr>
        <p:spPr>
          <a:xfrm>
            <a:off x="548640" y="2965704"/>
            <a:ext cx="3240024" cy="2575560"/>
          </a:xfrm>
          <a:prstGeom prst="rect">
            <a:avLst/>
          </a:prstGeom>
          <a:noFill/>
        </p:spPr>
        <p:txBody>
          <a:bodyPr wrap="square" lIns="18288" rIns="18288" tIns="36576" bIns="36576" anchor="ctr">
            <a:spAutoFit/>
          </a:bodyPr>
          <a:lstStyle/>
          <a:p>
            <a:pPr algn="ctr" marL="0" indent="0">
              <a:lnSpc>
                <a:spcPct val="110000"/>
              </a:lnSpc>
              <a:spcBef>
                <a:spcPts val="0"/>
              </a:spcBef>
              <a:spcAft>
                <a:spcPts val="475"/>
              </a:spcAft>
              <a:buNone/>
            </a:pPr>
            <a:r>
              <a:rPr sz="1900" b="0">
                <a:solidFill>
                  <a:srgbClr val="1B2A36"/>
                </a:solidFill>
                <a:latin typeface="맑은 고딕"/>
                <a:ea typeface="맑은 고딕"/>
                <a:cs typeface="맑은 고딕"/>
              </a:rPr>
              <a:t>토큰 → 임베딩으로 문장을 숫자로</a:t>
            </a:r>
          </a:p>
          <a:p>
            <a:pPr algn="ctr" marL="0" indent="0">
              <a:lnSpc>
                <a:spcPct val="110000"/>
              </a:lnSpc>
              <a:spcBef>
                <a:spcPts val="0"/>
              </a:spcBef>
              <a:spcAft>
                <a:spcPts val="475"/>
              </a:spcAft>
              <a:buNone/>
            </a:pPr>
            <a:r>
              <a:rPr sz="1900" b="0">
                <a:solidFill>
                  <a:srgbClr val="1B2A36"/>
                </a:solidFill>
                <a:latin typeface="맑은 고딕"/>
                <a:ea typeface="맑은 고딕"/>
                <a:cs typeface="맑은 고딕"/>
              </a:rPr>
              <a:t>RNN · LSTM으로 </a:t>
            </a:r>
            <a:r>
              <a:rPr sz="1900" b="1">
                <a:solidFill>
                  <a:srgbClr val="1B2A36"/>
                </a:solidFill>
                <a:latin typeface="맑은 고딕"/>
                <a:ea typeface="맑은 고딕"/>
                <a:cs typeface="맑은 고딕"/>
              </a:rPr>
              <a:t>순서와 기억</a:t>
            </a:r>
            <a:r>
              <a:rPr sz="1900" b="0">
                <a:solidFill>
                  <a:srgbClr val="1B2A36"/>
                </a:solidFill>
                <a:latin typeface="맑은 고딕"/>
                <a:ea typeface="맑은 고딕"/>
                <a:cs typeface="맑은 고딕"/>
              </a:rPr>
              <a:t>을</a:t>
            </a:r>
          </a:p>
          <a:p>
            <a:pPr algn="ctr" marL="0" indent="0">
              <a:lnSpc>
                <a:spcPct val="110000"/>
              </a:lnSpc>
              <a:spcBef>
                <a:spcPts val="0"/>
              </a:spcBef>
              <a:spcAft>
                <a:spcPts val="475"/>
              </a:spcAft>
              <a:buNone/>
            </a:pPr>
            <a:r>
              <a:rPr sz="1900" b="0">
                <a:solidFill>
                  <a:srgbClr val="1B2A36"/>
                </a:solidFill>
                <a:latin typeface="맑은 고딕"/>
                <a:ea typeface="맑은 고딕"/>
                <a:cs typeface="맑은 고딕"/>
              </a:rPr>
              <a:t>Seq2Seq로 </a:t>
            </a:r>
            <a:r>
              <a:rPr sz="1900" b="1">
                <a:solidFill>
                  <a:srgbClr val="1B2A36"/>
                </a:solidFill>
                <a:latin typeface="맑은 고딕"/>
                <a:ea typeface="맑은 고딕"/>
                <a:cs typeface="맑은 고딕"/>
              </a:rPr>
              <a:t>길이가 다른</a:t>
            </a:r>
            <a:r>
              <a:rPr sz="1900" b="0">
                <a:solidFill>
                  <a:srgbClr val="1B2A36"/>
                </a:solidFill>
                <a:latin typeface="맑은 고딕"/>
                <a:ea typeface="맑은 고딕"/>
                <a:cs typeface="맑은 고딕"/>
              </a:rPr>
              <a:t> 입출력을</a:t>
            </a:r>
          </a:p>
        </p:txBody>
      </p:sp>
      <p:cxnSp>
        <p:nvCxnSpPr>
          <p:cNvPr id="12" name="Connector 11"/>
          <p:cNvCxnSpPr/>
          <p:nvPr/>
        </p:nvCxnSpPr>
        <p:spPr>
          <a:xfrm>
            <a:off x="3925824" y="4032504"/>
            <a:ext cx="4114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83024" y="2432304"/>
            <a:ext cx="3422904" cy="3200400"/>
          </a:xfrm>
          <a:prstGeom prst="roundRect">
            <a:avLst>
              <a:gd name="adj" fmla="val 2857"/>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4464" y="2523744"/>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E97132"/>
                </a:solidFill>
                <a:latin typeface="맑은 고딕"/>
                <a:ea typeface="맑은 고딕"/>
                <a:cs typeface="맑은 고딕"/>
              </a:rPr>
              <a:t>아직 남은 문제</a:t>
            </a:r>
          </a:p>
        </p:txBody>
      </p:sp>
      <p:sp>
        <p:nvSpPr>
          <p:cNvPr id="15" name="TextBox 14"/>
          <p:cNvSpPr txBox="1"/>
          <p:nvPr/>
        </p:nvSpPr>
        <p:spPr>
          <a:xfrm>
            <a:off x="4474464" y="2965704"/>
            <a:ext cx="3240024" cy="2575560"/>
          </a:xfrm>
          <a:prstGeom prst="rect">
            <a:avLst/>
          </a:prstGeom>
          <a:noFill/>
        </p:spPr>
        <p:txBody>
          <a:bodyPr wrap="square" lIns="18288" rIns="18288" tIns="36576" bIns="36576" anchor="ctr">
            <a:spAutoFit/>
          </a:bodyPr>
          <a:lstStyle/>
          <a:p>
            <a:pPr algn="ctr" marL="0" indent="0">
              <a:lnSpc>
                <a:spcPct val="110000"/>
              </a:lnSpc>
              <a:spcBef>
                <a:spcPts val="0"/>
              </a:spcBef>
              <a:spcAft>
                <a:spcPts val="475"/>
              </a:spcAft>
              <a:buNone/>
            </a:pPr>
            <a:r>
              <a:rPr sz="1900" b="0">
                <a:solidFill>
                  <a:srgbClr val="1B2A36"/>
                </a:solidFill>
                <a:latin typeface="맑은 고딕"/>
                <a:ea typeface="맑은 고딕"/>
                <a:cs typeface="맑은 고딕"/>
              </a:rPr>
              <a:t>모든 입력을 </a:t>
            </a:r>
            <a:r>
              <a:rPr sz="1900" b="1">
                <a:solidFill>
                  <a:srgbClr val="1B2A36"/>
                </a:solidFill>
                <a:latin typeface="맑은 고딕"/>
                <a:ea typeface="맑은 고딕"/>
                <a:cs typeface="맑은 고딕"/>
              </a:rPr>
              <a:t>고정 벡터 c 하나</a:t>
            </a:r>
            <a:r>
              <a:rPr sz="1900" b="0">
                <a:solidFill>
                  <a:srgbClr val="1B2A36"/>
                </a:solidFill>
                <a:latin typeface="맑은 고딕"/>
                <a:ea typeface="맑은 고딕"/>
                <a:cs typeface="맑은 고딕"/>
              </a:rPr>
              <a:t>로 압축 (병목)</a:t>
            </a:r>
          </a:p>
          <a:p>
            <a:pPr algn="ctr" marL="0" indent="0">
              <a:lnSpc>
                <a:spcPct val="110000"/>
              </a:lnSpc>
              <a:spcBef>
                <a:spcPts val="0"/>
              </a:spcBef>
              <a:spcAft>
                <a:spcPts val="475"/>
              </a:spcAft>
              <a:buNone/>
            </a:pPr>
            <a:r>
              <a:rPr sz="1900" b="0">
                <a:solidFill>
                  <a:srgbClr val="1B2A36"/>
                </a:solidFill>
                <a:latin typeface="맑은 고딕"/>
                <a:ea typeface="맑은 고딕"/>
                <a:cs typeface="맑은 고딕"/>
              </a:rPr>
              <a:t>h_t는 h_(t−1)이 필요 — </a:t>
            </a:r>
            <a:r>
              <a:rPr sz="1900" b="1">
                <a:solidFill>
                  <a:srgbClr val="1B2A36"/>
                </a:solidFill>
                <a:latin typeface="맑은 고딕"/>
                <a:ea typeface="맑은 고딕"/>
                <a:cs typeface="맑은 고딕"/>
              </a:rPr>
              <a:t>순차 계산</a:t>
            </a:r>
          </a:p>
        </p:txBody>
      </p:sp>
      <p:cxnSp>
        <p:nvCxnSpPr>
          <p:cNvPr id="16" name="Connector 15"/>
          <p:cNvCxnSpPr/>
          <p:nvPr/>
        </p:nvCxnSpPr>
        <p:spPr>
          <a:xfrm>
            <a:off x="7851648" y="4032504"/>
            <a:ext cx="4114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308848" y="2432304"/>
            <a:ext cx="3422904" cy="3200400"/>
          </a:xfrm>
          <a:prstGeom prst="roundRect">
            <a:avLst>
              <a:gd name="adj" fmla="val 2857"/>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00288" y="2523744"/>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Week 5의 질문</a:t>
            </a:r>
          </a:p>
        </p:txBody>
      </p:sp>
      <p:sp>
        <p:nvSpPr>
          <p:cNvPr id="19" name="TextBox 18"/>
          <p:cNvSpPr txBox="1"/>
          <p:nvPr/>
        </p:nvSpPr>
        <p:spPr>
          <a:xfrm>
            <a:off x="8400288" y="2965704"/>
            <a:ext cx="3240024" cy="2575560"/>
          </a:xfrm>
          <a:prstGeom prst="rect">
            <a:avLst/>
          </a:prstGeom>
          <a:noFill/>
        </p:spPr>
        <p:txBody>
          <a:bodyPr wrap="square" lIns="18288" rIns="18288" tIns="36576" bIns="36576" anchor="ctr">
            <a:spAutoFit/>
          </a:bodyPr>
          <a:lstStyle/>
          <a:p>
            <a:pPr algn="ctr" marL="0" indent="0">
              <a:lnSpc>
                <a:spcPct val="110000"/>
              </a:lnSpc>
              <a:spcBef>
                <a:spcPts val="0"/>
              </a:spcBef>
              <a:spcAft>
                <a:spcPts val="475"/>
              </a:spcAft>
              <a:buNone/>
            </a:pPr>
            <a:r>
              <a:rPr sz="1900" b="1">
                <a:solidFill>
                  <a:srgbClr val="FFFFFF"/>
                </a:solidFill>
                <a:latin typeface="맑은 고딕"/>
                <a:ea typeface="맑은 고딕"/>
                <a:cs typeface="맑은 고딕"/>
              </a:rPr>
              <a:t>필요할 때 원문을</a:t>
            </a:r>
          </a:p>
          <a:p>
            <a:pPr algn="ctr" marL="0" indent="0">
              <a:lnSpc>
                <a:spcPct val="110000"/>
              </a:lnSpc>
              <a:spcBef>
                <a:spcPts val="0"/>
              </a:spcBef>
              <a:spcAft>
                <a:spcPts val="475"/>
              </a:spcAft>
              <a:buNone/>
            </a:pPr>
            <a:r>
              <a:rPr sz="1900" b="1">
                <a:solidFill>
                  <a:srgbClr val="FFFFFF"/>
                </a:solidFill>
                <a:latin typeface="맑은 고딕"/>
                <a:ea typeface="맑은 고딕"/>
                <a:cs typeface="맑은 고딕"/>
              </a:rPr>
              <a:t>다시 찾아보면?</a:t>
            </a:r>
          </a:p>
          <a:p>
            <a:pPr algn="ctr" marL="0" indent="0">
              <a:lnSpc>
                <a:spcPct val="110000"/>
              </a:lnSpc>
              <a:spcBef>
                <a:spcPts val="0"/>
              </a:spcBef>
              <a:spcAft>
                <a:spcPts val="475"/>
              </a:spcAft>
              <a:buNone/>
            </a:pPr>
            <a:r>
              <a:rPr sz="1900" b="0">
                <a:solidFill>
                  <a:srgbClr val="FFFFFF"/>
                </a:solidFill>
                <a:latin typeface="맑은 고딕"/>
                <a:ea typeface="맑은 고딕"/>
                <a:cs typeface="맑은 고딕"/>
              </a:rPr>
              <a:t>Attention (2014) → Self-attention</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991B60C-0B87-4813-A3C9-C04D3D506FA3}">
  <we:reference id="WA200010001" version="1.0.0.1" store="Omex" storeType="OMEX"/>
  <we:alternateReferences>
    <we:reference id="WA200010001" version="1.0.0.1" store="WA200010001" storeType="OMEX"/>
  </we:alternateReferences>
  <we:properties>
    <we:property name="claude.fileId" value="&quot;36273689-c3e2-4185-b47f-e280f0f57d29&quot;"/>
  </we:properties>
  <we:bindings/>
  <we:snapshot xmlns:r="http://schemas.openxmlformats.org/officeDocument/2006/relationships"/>
</we:webextension>
</file>

<file path=ppt/webextensions/webextension2.xml><?xml version="1.0" encoding="utf-8"?>
<we:webextension xmlns:we="http://schemas.microsoft.com/office/webextensions/webextension/2010/11" id="{79D06B6F-593C-4965-A8E3-9778E5C31F9B}">
  <we:reference id="WA200010725" version="1.0.0.1" store="Omex" storeType="OMEX"/>
  <we:alternateReferences>
    <we:reference id="WA200010725" version="1.0.0.1" store="WA200010725" storeType="OMEX"/>
  </we:alternateReferences>
  <we:properties>
    <we:property name="claude.fileId" value="&quot;b6f5a1e2-33ed-4cdb-b763-f3262e0a716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31557</TotalTime>
  <Words>68</Words>
  <Application>Microsoft Office PowerPoint</Application>
  <PresentationFormat>와이드스크린</PresentationFormat>
  <Paragraphs>24</Paragraphs>
  <Slides>3</Slides>
  <Notes>3</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3</vt:i4>
      </vt:variant>
    </vt:vector>
  </HeadingPairs>
  <TitlesOfParts>
    <vt:vector size="10" baseType="lpstr">
      <vt:lpstr>맑은 고딕</vt:lpstr>
      <vt:lpstr>시스템 서체 일반체</vt:lpstr>
      <vt:lpstr>Arial</vt:lpstr>
      <vt:lpstr>Trebuchet MS</vt:lpstr>
      <vt:lpstr>Wingdings</vt:lpstr>
      <vt:lpstr>Office 테마</vt:lpstr>
      <vt:lpstr>2_Office 테마</vt:lpstr>
      <vt:lpstr>subject</vt:lpstr>
      <vt:lpstr>Name</vt:lpstr>
      <vt:lpstr>Question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문상준</dc:creator>
  <cp:lastModifiedBy>민윤홍</cp:lastModifiedBy>
  <cp:revision>1287</cp:revision>
  <cp:lastPrinted>2026-04-30T03:45:43Z</cp:lastPrinted>
  <dcterms:created xsi:type="dcterms:W3CDTF">2026-03-17T00:52:02Z</dcterms:created>
  <dcterms:modified xsi:type="dcterms:W3CDTF">2026-09-03T15:32:22Z</dcterms:modified>
</cp:coreProperties>
</file>